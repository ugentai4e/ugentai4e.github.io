
<file path=[Content_Types].xml><?xml version="1.0" encoding="utf-8"?>
<Types xmlns="http://schemas.openxmlformats.org/package/2006/content-types">
  <Default Extension="emf" ContentType="image/x-emf"/>
  <Default Extension="jpeg" ContentType="image/jpeg"/>
  <Default Extension="jpg" ContentType="image/jpeg"/>
  <Default Extension="png" ContentType="image/png"/>
  <Default Extension="rels" ContentType="application/vnd.openxmlformats-package.relationships+xml"/>
  <Default Extension="svg" ContentType="image/svg+xml"/>
  <Default Extension="wmf" ContentType="image/x-wm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910" r:id="rId1"/>
  </p:sldMasterIdLst>
  <p:notesMasterIdLst>
    <p:notesMasterId r:id="rId47"/>
  </p:notesMasterIdLst>
  <p:handoutMasterIdLst>
    <p:handoutMasterId r:id="rId48"/>
  </p:handoutMasterIdLst>
  <p:sldIdLst>
    <p:sldId id="2145705483" r:id="rId2"/>
    <p:sldId id="2145705501" r:id="rId3"/>
    <p:sldId id="2145705423" r:id="rId4"/>
    <p:sldId id="2145705430" r:id="rId5"/>
    <p:sldId id="2145705429" r:id="rId6"/>
    <p:sldId id="2145705447" r:id="rId7"/>
    <p:sldId id="2145705486" r:id="rId8"/>
    <p:sldId id="2145705484" r:id="rId9"/>
    <p:sldId id="2145705485" r:id="rId10"/>
    <p:sldId id="2145705451" r:id="rId11"/>
    <p:sldId id="2145705487" r:id="rId12"/>
    <p:sldId id="2145705452" r:id="rId13"/>
    <p:sldId id="2145705471" r:id="rId14"/>
    <p:sldId id="2145705502" r:id="rId15"/>
    <p:sldId id="2145705454" r:id="rId16"/>
    <p:sldId id="2145705475" r:id="rId17"/>
    <p:sldId id="2145705476" r:id="rId18"/>
    <p:sldId id="2145705479" r:id="rId19"/>
    <p:sldId id="2145705489" r:id="rId20"/>
    <p:sldId id="2145705503" r:id="rId21"/>
    <p:sldId id="440" r:id="rId22"/>
    <p:sldId id="2145705495" r:id="rId23"/>
    <p:sldId id="2145705504" r:id="rId24"/>
    <p:sldId id="2145705532" r:id="rId25"/>
    <p:sldId id="2145705529" r:id="rId26"/>
    <p:sldId id="2145705531" r:id="rId27"/>
    <p:sldId id="2145705533" r:id="rId28"/>
    <p:sldId id="2145705536" r:id="rId29"/>
    <p:sldId id="2145705537" r:id="rId30"/>
    <p:sldId id="2145705538" r:id="rId31"/>
    <p:sldId id="447" r:id="rId32"/>
    <p:sldId id="448" r:id="rId33"/>
    <p:sldId id="2145705534" r:id="rId34"/>
    <p:sldId id="2145705439" r:id="rId35"/>
    <p:sldId id="2145705440" r:id="rId36"/>
    <p:sldId id="2145705466" r:id="rId37"/>
    <p:sldId id="2145705480" r:id="rId38"/>
    <p:sldId id="2145705458" r:id="rId39"/>
    <p:sldId id="2145705463" r:id="rId40"/>
    <p:sldId id="2145705464" r:id="rId41"/>
    <p:sldId id="2145705481" r:id="rId42"/>
    <p:sldId id="2145705468" r:id="rId43"/>
    <p:sldId id="445" r:id="rId44"/>
    <p:sldId id="2145705490" r:id="rId45"/>
    <p:sldId id="2145705539" r:id="rId46"/>
  </p:sldIdLst>
  <p:sldSz cx="12192000" cy="6858000"/>
  <p:notesSz cx="7315200" cy="9601200"/>
  <p:defaultTextStyle>
    <a:defPPr>
      <a:defRPr lang="en-US"/>
    </a:defPPr>
    <a:lvl1pPr algn="l" rtl="0" fontAlgn="base">
      <a:spcBef>
        <a:spcPct val="0"/>
      </a:spcBef>
      <a:spcAft>
        <a:spcPct val="0"/>
      </a:spcAft>
      <a:defRPr sz="1600" kern="1200">
        <a:solidFill>
          <a:schemeClr val="tx1"/>
        </a:solidFill>
        <a:latin typeface="Arial" charset="0"/>
        <a:ea typeface="+mn-ea"/>
        <a:cs typeface="Arial" charset="0"/>
      </a:defRPr>
    </a:lvl1pPr>
    <a:lvl2pPr marL="457200" algn="l" rtl="0" fontAlgn="base">
      <a:spcBef>
        <a:spcPct val="0"/>
      </a:spcBef>
      <a:spcAft>
        <a:spcPct val="0"/>
      </a:spcAft>
      <a:defRPr sz="1600" kern="1200">
        <a:solidFill>
          <a:schemeClr val="tx1"/>
        </a:solidFill>
        <a:latin typeface="Arial" charset="0"/>
        <a:ea typeface="+mn-ea"/>
        <a:cs typeface="Arial" charset="0"/>
      </a:defRPr>
    </a:lvl2pPr>
    <a:lvl3pPr marL="914400" algn="l" rtl="0" fontAlgn="base">
      <a:spcBef>
        <a:spcPct val="0"/>
      </a:spcBef>
      <a:spcAft>
        <a:spcPct val="0"/>
      </a:spcAft>
      <a:defRPr sz="1600" kern="1200">
        <a:solidFill>
          <a:schemeClr val="tx1"/>
        </a:solidFill>
        <a:latin typeface="Arial" charset="0"/>
        <a:ea typeface="+mn-ea"/>
        <a:cs typeface="Arial" charset="0"/>
      </a:defRPr>
    </a:lvl3pPr>
    <a:lvl4pPr marL="1371600" algn="l" rtl="0" fontAlgn="base">
      <a:spcBef>
        <a:spcPct val="0"/>
      </a:spcBef>
      <a:spcAft>
        <a:spcPct val="0"/>
      </a:spcAft>
      <a:defRPr sz="1600" kern="1200">
        <a:solidFill>
          <a:schemeClr val="tx1"/>
        </a:solidFill>
        <a:latin typeface="Arial" charset="0"/>
        <a:ea typeface="+mn-ea"/>
        <a:cs typeface="Arial" charset="0"/>
      </a:defRPr>
    </a:lvl4pPr>
    <a:lvl5pPr marL="1828800" algn="l" rtl="0" fontAlgn="base">
      <a:spcBef>
        <a:spcPct val="0"/>
      </a:spcBef>
      <a:spcAft>
        <a:spcPct val="0"/>
      </a:spcAft>
      <a:defRPr sz="1600" kern="1200">
        <a:solidFill>
          <a:schemeClr val="tx1"/>
        </a:solidFill>
        <a:latin typeface="Arial" charset="0"/>
        <a:ea typeface="+mn-ea"/>
        <a:cs typeface="Arial" charset="0"/>
      </a:defRPr>
    </a:lvl5pPr>
    <a:lvl6pPr marL="2286000" algn="l" defTabSz="914400" rtl="0" eaLnBrk="1" latinLnBrk="0" hangingPunct="1">
      <a:defRPr sz="1600" kern="1200">
        <a:solidFill>
          <a:schemeClr val="tx1"/>
        </a:solidFill>
        <a:latin typeface="Arial" charset="0"/>
        <a:ea typeface="+mn-ea"/>
        <a:cs typeface="Arial" charset="0"/>
      </a:defRPr>
    </a:lvl6pPr>
    <a:lvl7pPr marL="2743200" algn="l" defTabSz="914400" rtl="0" eaLnBrk="1" latinLnBrk="0" hangingPunct="1">
      <a:defRPr sz="1600" kern="1200">
        <a:solidFill>
          <a:schemeClr val="tx1"/>
        </a:solidFill>
        <a:latin typeface="Arial" charset="0"/>
        <a:ea typeface="+mn-ea"/>
        <a:cs typeface="Arial" charset="0"/>
      </a:defRPr>
    </a:lvl7pPr>
    <a:lvl8pPr marL="3200400" algn="l" defTabSz="914400" rtl="0" eaLnBrk="1" latinLnBrk="0" hangingPunct="1">
      <a:defRPr sz="1600" kern="1200">
        <a:solidFill>
          <a:schemeClr val="tx1"/>
        </a:solidFill>
        <a:latin typeface="Arial" charset="0"/>
        <a:ea typeface="+mn-ea"/>
        <a:cs typeface="Arial" charset="0"/>
      </a:defRPr>
    </a:lvl8pPr>
    <a:lvl9pPr marL="3657600" algn="l" defTabSz="914400" rtl="0" eaLnBrk="1" latinLnBrk="0" hangingPunct="1">
      <a:defRPr sz="1600" kern="1200">
        <a:solidFill>
          <a:schemeClr val="tx1"/>
        </a:solidFill>
        <a:latin typeface="Arial" charset="0"/>
        <a:ea typeface="+mn-ea"/>
        <a:cs typeface="Arial" charset="0"/>
      </a:defRPr>
    </a:lvl9pPr>
  </p:defaultTextStyle>
  <p:extLst>
    <p:ext uri="{521415D9-36F7-43E2-AB2F-B90AF26B5E84}">
      <p14:sectionLst xmlns:p14="http://schemas.microsoft.com/office/powerpoint/2010/main">
        <p14:section name="Main Section" id="{C66AD5F9-26C7-8847-B90A-C8F0A3DA8207}">
          <p14:sldIdLst>
            <p14:sldId id="2145705483"/>
            <p14:sldId id="2145705501"/>
            <p14:sldId id="2145705423"/>
            <p14:sldId id="2145705430"/>
            <p14:sldId id="2145705429"/>
            <p14:sldId id="2145705447"/>
            <p14:sldId id="2145705486"/>
            <p14:sldId id="2145705484"/>
            <p14:sldId id="2145705485"/>
            <p14:sldId id="2145705451"/>
            <p14:sldId id="2145705487"/>
            <p14:sldId id="2145705452"/>
            <p14:sldId id="2145705471"/>
            <p14:sldId id="2145705502"/>
            <p14:sldId id="2145705454"/>
            <p14:sldId id="2145705475"/>
            <p14:sldId id="2145705476"/>
            <p14:sldId id="2145705479"/>
            <p14:sldId id="2145705489"/>
            <p14:sldId id="2145705503"/>
            <p14:sldId id="440"/>
            <p14:sldId id="2145705495"/>
            <p14:sldId id="2145705504"/>
            <p14:sldId id="2145705532"/>
            <p14:sldId id="2145705529"/>
            <p14:sldId id="2145705531"/>
            <p14:sldId id="2145705533"/>
            <p14:sldId id="2145705536"/>
            <p14:sldId id="2145705537"/>
            <p14:sldId id="2145705538"/>
            <p14:sldId id="447"/>
            <p14:sldId id="448"/>
            <p14:sldId id="2145705534"/>
            <p14:sldId id="2145705439"/>
            <p14:sldId id="2145705440"/>
            <p14:sldId id="2145705466"/>
            <p14:sldId id="2145705480"/>
            <p14:sldId id="2145705458"/>
            <p14:sldId id="2145705463"/>
            <p14:sldId id="2145705464"/>
            <p14:sldId id="2145705481"/>
            <p14:sldId id="2145705468"/>
          </p14:sldIdLst>
        </p14:section>
        <p14:section name="Team Info" id="{71A7C6E3-3C16-3242-BB52-3E9A0B126032}">
          <p14:sldIdLst>
            <p14:sldId id="445"/>
            <p14:sldId id="2145705490"/>
            <p14:sldId id="2145705539"/>
          </p14:sldIdLst>
        </p14:section>
      </p14:sectionLst>
    </p:ex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 uri="{2D200454-40CA-4A62-9FC3-DE9A4176ACB9}">
      <p15:notesGuideLst xmlns:p15="http://schemas.microsoft.com/office/powerpoint/2012/main">
        <p15:guide id="1" orient="horz" pos="3024">
          <p15:clr>
            <a:srgbClr val="A4A3A4"/>
          </p15:clr>
        </p15:guide>
        <p15:guide id="2" pos="2304">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prnPr hiddenSlides="1"/>
  <p:clrMru>
    <a:srgbClr val="C00003"/>
    <a:srgbClr val="FFD9DA"/>
    <a:srgbClr val="F2A2A3"/>
    <a:srgbClr val="992F3F"/>
    <a:srgbClr val="FFFFFF"/>
    <a:srgbClr val="CEDFF8"/>
    <a:srgbClr val="DFF1FB"/>
    <a:srgbClr val="DAF3E2"/>
    <a:srgbClr val="00BA38"/>
    <a:srgbClr val="B8E6C6"/>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3C2FFA5D-87B4-456A-9821-1D502468CF0F}" styleName="Themed Style 1 - Accent 1">
    <a:tblBg>
      <a:fillRef idx="2">
        <a:schemeClr val="accent1"/>
      </a:fillRef>
      <a:effectRef idx="1">
        <a:schemeClr val="accent1"/>
      </a:effectRef>
    </a:tblBg>
    <a:wholeTbl>
      <a:tcTxStyle>
        <a:fontRef idx="minor">
          <a:scrgbClr r="0" g="0" b="0"/>
        </a:fontRef>
        <a:schemeClr val="dk1"/>
      </a:tcTxStyle>
      <a:tcStyle>
        <a:tcBdr>
          <a:left>
            <a:lnRef idx="1">
              <a:schemeClr val="accent1"/>
            </a:lnRef>
          </a:left>
          <a:right>
            <a:lnRef idx="1">
              <a:schemeClr val="accent1"/>
            </a:lnRef>
          </a:right>
          <a:top>
            <a:lnRef idx="1">
              <a:schemeClr val="accent1"/>
            </a:lnRef>
          </a:top>
          <a:bottom>
            <a:lnRef idx="1">
              <a:schemeClr val="accent1"/>
            </a:lnRef>
          </a:bottom>
          <a:insideH>
            <a:lnRef idx="1">
              <a:schemeClr val="accent1"/>
            </a:lnRef>
          </a:insideH>
          <a:insideV>
            <a:lnRef idx="1">
              <a:schemeClr val="accent1"/>
            </a:lnRef>
          </a:insideV>
        </a:tcBdr>
        <a:fill>
          <a:noFill/>
        </a:fill>
      </a:tcStyle>
    </a:wholeTbl>
    <a:band1H>
      <a:tcStyle>
        <a:tcBdr/>
        <a:fill>
          <a:solidFill>
            <a:schemeClr val="accent1">
              <a:alpha val="40000"/>
            </a:schemeClr>
          </a:solidFill>
        </a:fill>
      </a:tcStyle>
    </a:band1H>
    <a:band2H>
      <a:tcStyle>
        <a:tcBdr/>
      </a:tcStyle>
    </a:band2H>
    <a:band1V>
      <a:tcStyle>
        <a:tcBdr>
          <a:top>
            <a:lnRef idx="1">
              <a:schemeClr val="accent1"/>
            </a:lnRef>
          </a:top>
          <a:bottom>
            <a:lnRef idx="1">
              <a:schemeClr val="accent1"/>
            </a:lnRef>
          </a:bottom>
        </a:tcBdr>
        <a:fill>
          <a:solidFill>
            <a:schemeClr val="accent1">
              <a:alpha val="40000"/>
            </a:schemeClr>
          </a:solidFill>
        </a:fill>
      </a:tcStyle>
    </a:band1V>
    <a:band2V>
      <a:tcStyle>
        <a:tcBdr/>
      </a:tcStyle>
    </a:band2V>
    <a:lastCol>
      <a:tcTxStyle b="on"/>
      <a:tcStyle>
        <a:tcBdr>
          <a:left>
            <a:lnRef idx="2">
              <a:schemeClr val="accent1"/>
            </a:lnRef>
          </a:left>
          <a:right>
            <a:lnRef idx="1">
              <a:schemeClr val="accent1"/>
            </a:lnRef>
          </a:right>
          <a:top>
            <a:lnRef idx="1">
              <a:schemeClr val="accent1"/>
            </a:lnRef>
          </a:top>
          <a:bottom>
            <a:lnRef idx="1">
              <a:schemeClr val="accent1"/>
            </a:lnRef>
          </a:bottom>
          <a:insideH>
            <a:lnRef idx="1">
              <a:schemeClr val="accent1"/>
            </a:lnRef>
          </a:insideH>
          <a:insideV>
            <a:ln>
              <a:noFill/>
            </a:ln>
          </a:insideV>
        </a:tcBdr>
      </a:tcStyle>
    </a:lastCol>
    <a:firstCol>
      <a:tcTxStyle b="on"/>
      <a:tcStyle>
        <a:tcBdr>
          <a:left>
            <a:lnRef idx="1">
              <a:schemeClr val="accent1"/>
            </a:lnRef>
          </a:left>
          <a:right>
            <a:lnRef idx="2">
              <a:schemeClr val="accent1"/>
            </a:lnRef>
          </a:right>
          <a:top>
            <a:lnRef idx="1">
              <a:schemeClr val="accent1"/>
            </a:lnRef>
          </a:top>
          <a:bottom>
            <a:lnRef idx="1">
              <a:schemeClr val="accent1"/>
            </a:lnRef>
          </a:bottom>
          <a:insideH>
            <a:lnRef idx="1">
              <a:schemeClr val="accent1"/>
            </a:lnRef>
          </a:insideH>
          <a:insideV>
            <a:ln>
              <a:noFill/>
            </a:ln>
          </a:insideV>
        </a:tcBdr>
      </a:tcStyle>
    </a:firstCol>
    <a:lastRow>
      <a:tcTxStyle b="on"/>
      <a:tcStyle>
        <a:tcBdr>
          <a:left>
            <a:lnRef idx="1">
              <a:schemeClr val="accent1"/>
            </a:lnRef>
          </a:left>
          <a:right>
            <a:lnRef idx="1">
              <a:schemeClr val="accent1"/>
            </a:lnRef>
          </a:right>
          <a:top>
            <a:lnRef idx="2">
              <a:schemeClr val="accent1"/>
            </a:lnRef>
          </a:top>
          <a:bottom>
            <a:lnRef idx="2">
              <a:schemeClr val="accent1"/>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1"/>
            </a:lnRef>
          </a:left>
          <a:right>
            <a:lnRef idx="1">
              <a:schemeClr val="accent1"/>
            </a:lnRef>
          </a:right>
          <a:top>
            <a:lnRef idx="1">
              <a:schemeClr val="accent1"/>
            </a:lnRef>
          </a:top>
          <a:bottom>
            <a:lnRef idx="2">
              <a:schemeClr val="lt1"/>
            </a:lnRef>
          </a:bottom>
          <a:insideH>
            <a:ln>
              <a:noFill/>
            </a:ln>
          </a:insideH>
          <a:insideV>
            <a:ln>
              <a:noFill/>
            </a:ln>
          </a:insideV>
        </a:tcBdr>
        <a:fill>
          <a:solidFill>
            <a:schemeClr val="accent1"/>
          </a:solidFill>
        </a:fill>
      </a:tcStyle>
    </a:firstRow>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0A15C55-8517-42AA-B614-E9B94910E393}" styleName="Medium Style 2 - Accent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9323" autoAdjust="0"/>
    <p:restoredTop sz="78809" autoAdjust="0"/>
  </p:normalViewPr>
  <p:slideViewPr>
    <p:cSldViewPr snapToGrid="0">
      <p:cViewPr varScale="1">
        <p:scale>
          <a:sx n="93" d="100"/>
          <a:sy n="93" d="100"/>
        </p:scale>
        <p:origin x="1248" y="200"/>
      </p:cViewPr>
      <p:guideLst>
        <p:guide orient="horz" pos="2160"/>
        <p:guide pos="3840"/>
      </p:guideLst>
    </p:cSldViewPr>
  </p:slideViewPr>
  <p:outlineViewPr>
    <p:cViewPr>
      <p:scale>
        <a:sx n="33" d="100"/>
        <a:sy n="33" d="100"/>
      </p:scale>
      <p:origin x="0" y="-61696"/>
    </p:cViewPr>
  </p:outlineViewPr>
  <p:notesTextViewPr>
    <p:cViewPr>
      <p:scale>
        <a:sx n="170" d="100"/>
        <a:sy n="170" d="100"/>
      </p:scale>
      <p:origin x="0" y="0"/>
    </p:cViewPr>
  </p:notesTextViewPr>
  <p:sorterViewPr>
    <p:cViewPr>
      <p:scale>
        <a:sx n="66" d="100"/>
        <a:sy n="66" d="100"/>
      </p:scale>
      <p:origin x="0" y="5352"/>
    </p:cViewPr>
  </p:sorterViewPr>
  <p:notesViewPr>
    <p:cSldViewPr snapToGrid="0">
      <p:cViewPr varScale="1">
        <p:scale>
          <a:sx n="157" d="100"/>
          <a:sy n="157" d="100"/>
        </p:scale>
        <p:origin x="296" y="176"/>
      </p:cViewPr>
      <p:guideLst>
        <p:guide orient="horz" pos="3024"/>
        <p:guide pos="2304"/>
      </p:guideLst>
    </p:cSldViewPr>
  </p:notes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notesMaster" Target="notesMasters/notesMaster1.xml"/><Relationship Id="rId50" Type="http://schemas.openxmlformats.org/officeDocument/2006/relationships/viewProps" Target="view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handoutMaster" Target="handoutMasters/handoutMaster1.xml"/><Relationship Id="rId8" Type="http://schemas.openxmlformats.org/officeDocument/2006/relationships/slide" Target="slides/slide7.xml"/><Relationship Id="rId51" Type="http://schemas.openxmlformats.org/officeDocument/2006/relationships/theme" Target="theme/theme1.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20" Type="http://schemas.openxmlformats.org/officeDocument/2006/relationships/slide" Target="slides/slide19.xml"/><Relationship Id="rId41" Type="http://schemas.openxmlformats.org/officeDocument/2006/relationships/slide" Target="slides/slide40.xml"/><Relationship Id="rId1" Type="http://schemas.openxmlformats.org/officeDocument/2006/relationships/slideMaster" Target="slideMasters/slideMaster1.xml"/><Relationship Id="rId6" Type="http://schemas.openxmlformats.org/officeDocument/2006/relationships/slide" Target="slides/slide5.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448514" name="Rectangle 2"/>
          <p:cNvSpPr>
            <a:spLocks noGrp="1" noChangeArrowheads="1"/>
          </p:cNvSpPr>
          <p:nvPr>
            <p:ph type="hdr" sz="quarter"/>
          </p:nvPr>
        </p:nvSpPr>
        <p:spPr bwMode="auto">
          <a:xfrm>
            <a:off x="0" y="1"/>
            <a:ext cx="3170265" cy="479752"/>
          </a:xfrm>
          <a:prstGeom prst="rect">
            <a:avLst/>
          </a:prstGeom>
          <a:noFill/>
          <a:ln w="9525">
            <a:noFill/>
            <a:miter lim="800000"/>
            <a:headEnd/>
            <a:tailEnd/>
          </a:ln>
          <a:effectLst/>
        </p:spPr>
        <p:txBody>
          <a:bodyPr vert="horz" wrap="square" lIns="91670" tIns="45835" rIns="91670" bIns="45835" numCol="1" anchor="t" anchorCtr="0" compatLnSpc="1">
            <a:prstTxWarp prst="textNoShape">
              <a:avLst/>
            </a:prstTxWarp>
          </a:bodyPr>
          <a:lstStyle>
            <a:lvl1pPr>
              <a:defRPr sz="1300"/>
            </a:lvl1pPr>
          </a:lstStyle>
          <a:p>
            <a:pPr>
              <a:defRPr/>
            </a:pPr>
            <a:endParaRPr lang="en-US"/>
          </a:p>
        </p:txBody>
      </p:sp>
      <p:sp>
        <p:nvSpPr>
          <p:cNvPr id="448515" name="Rectangle 3"/>
          <p:cNvSpPr>
            <a:spLocks noGrp="1" noChangeArrowheads="1"/>
          </p:cNvSpPr>
          <p:nvPr>
            <p:ph type="dt" sz="quarter" idx="1"/>
          </p:nvPr>
        </p:nvSpPr>
        <p:spPr bwMode="auto">
          <a:xfrm>
            <a:off x="4143213" y="1"/>
            <a:ext cx="3170265" cy="479752"/>
          </a:xfrm>
          <a:prstGeom prst="rect">
            <a:avLst/>
          </a:prstGeom>
          <a:noFill/>
          <a:ln w="9525">
            <a:noFill/>
            <a:miter lim="800000"/>
            <a:headEnd/>
            <a:tailEnd/>
          </a:ln>
          <a:effectLst/>
        </p:spPr>
        <p:txBody>
          <a:bodyPr vert="horz" wrap="square" lIns="91670" tIns="45835" rIns="91670" bIns="45835" numCol="1" anchor="t" anchorCtr="0" compatLnSpc="1">
            <a:prstTxWarp prst="textNoShape">
              <a:avLst/>
            </a:prstTxWarp>
          </a:bodyPr>
          <a:lstStyle>
            <a:lvl1pPr algn="r">
              <a:defRPr sz="1300"/>
            </a:lvl1pPr>
          </a:lstStyle>
          <a:p>
            <a:pPr>
              <a:defRPr/>
            </a:pPr>
            <a:endParaRPr lang="en-US"/>
          </a:p>
        </p:txBody>
      </p:sp>
      <p:sp>
        <p:nvSpPr>
          <p:cNvPr id="448516" name="Rectangle 4"/>
          <p:cNvSpPr>
            <a:spLocks noGrp="1" noChangeArrowheads="1"/>
          </p:cNvSpPr>
          <p:nvPr>
            <p:ph type="ftr" sz="quarter" idx="2"/>
          </p:nvPr>
        </p:nvSpPr>
        <p:spPr bwMode="auto">
          <a:xfrm>
            <a:off x="0" y="9119908"/>
            <a:ext cx="3170265" cy="479752"/>
          </a:xfrm>
          <a:prstGeom prst="rect">
            <a:avLst/>
          </a:prstGeom>
          <a:noFill/>
          <a:ln w="9525">
            <a:noFill/>
            <a:miter lim="800000"/>
            <a:headEnd/>
            <a:tailEnd/>
          </a:ln>
          <a:effectLst/>
        </p:spPr>
        <p:txBody>
          <a:bodyPr vert="horz" wrap="square" lIns="91670" tIns="45835" rIns="91670" bIns="45835" numCol="1" anchor="b" anchorCtr="0" compatLnSpc="1">
            <a:prstTxWarp prst="textNoShape">
              <a:avLst/>
            </a:prstTxWarp>
          </a:bodyPr>
          <a:lstStyle>
            <a:lvl1pPr>
              <a:defRPr sz="1300"/>
            </a:lvl1pPr>
          </a:lstStyle>
          <a:p>
            <a:pPr>
              <a:defRPr/>
            </a:pPr>
            <a:endParaRPr lang="en-US"/>
          </a:p>
        </p:txBody>
      </p:sp>
      <p:sp>
        <p:nvSpPr>
          <p:cNvPr id="448517" name="Rectangle 5"/>
          <p:cNvSpPr>
            <a:spLocks noGrp="1" noChangeArrowheads="1"/>
          </p:cNvSpPr>
          <p:nvPr>
            <p:ph type="sldNum" sz="quarter" idx="3"/>
          </p:nvPr>
        </p:nvSpPr>
        <p:spPr bwMode="auto">
          <a:xfrm>
            <a:off x="4143213" y="9119908"/>
            <a:ext cx="3170265" cy="479752"/>
          </a:xfrm>
          <a:prstGeom prst="rect">
            <a:avLst/>
          </a:prstGeom>
          <a:noFill/>
          <a:ln w="9525">
            <a:noFill/>
            <a:miter lim="800000"/>
            <a:headEnd/>
            <a:tailEnd/>
          </a:ln>
          <a:effectLst/>
        </p:spPr>
        <p:txBody>
          <a:bodyPr vert="horz" wrap="square" lIns="91670" tIns="45835" rIns="91670" bIns="45835" numCol="1" anchor="b" anchorCtr="0" compatLnSpc="1">
            <a:prstTxWarp prst="textNoShape">
              <a:avLst/>
            </a:prstTxWarp>
          </a:bodyPr>
          <a:lstStyle>
            <a:lvl1pPr algn="r">
              <a:defRPr sz="1300"/>
            </a:lvl1pPr>
          </a:lstStyle>
          <a:p>
            <a:pPr>
              <a:defRPr/>
            </a:pPr>
            <a:fld id="{3995E533-E32F-4BB7-A2C7-95796231553E}" type="slidenum">
              <a:rPr lang="en-US"/>
              <a:pPr>
                <a:defRPr/>
              </a:pPr>
              <a:t>‹#›</a:t>
            </a:fld>
            <a:endParaRPr lang="en-US"/>
          </a:p>
        </p:txBody>
      </p:sp>
    </p:spTree>
    <p:extLst>
      <p:ext uri="{BB962C8B-B14F-4D97-AF65-F5344CB8AC3E}">
        <p14:creationId xmlns:p14="http://schemas.microsoft.com/office/powerpoint/2010/main" val="3433523398"/>
      </p:ext>
    </p:extLst>
  </p:cSld>
  <p:clrMap bg1="lt1" tx1="dk1" bg2="lt2" tx2="dk2" accent1="accent1" accent2="accent2" accent3="accent3" accent4="accent4" accent5="accent5" accent6="accent6" hlink="hlink" folHlink="folHlink"/>
  <p:hf hdr="0"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450562" name="Rectangle 2"/>
          <p:cNvSpPr>
            <a:spLocks noGrp="1" noChangeArrowheads="1"/>
          </p:cNvSpPr>
          <p:nvPr>
            <p:ph type="hdr" sz="quarter"/>
          </p:nvPr>
        </p:nvSpPr>
        <p:spPr bwMode="auto">
          <a:xfrm>
            <a:off x="0" y="1"/>
            <a:ext cx="3170265" cy="479752"/>
          </a:xfrm>
          <a:prstGeom prst="rect">
            <a:avLst/>
          </a:prstGeom>
          <a:noFill/>
          <a:ln w="9525">
            <a:noFill/>
            <a:miter lim="800000"/>
            <a:headEnd/>
            <a:tailEnd/>
          </a:ln>
          <a:effectLst/>
        </p:spPr>
        <p:txBody>
          <a:bodyPr vert="horz" wrap="square" lIns="91670" tIns="45835" rIns="91670" bIns="45835" numCol="1" anchor="t" anchorCtr="0" compatLnSpc="1">
            <a:prstTxWarp prst="textNoShape">
              <a:avLst/>
            </a:prstTxWarp>
          </a:bodyPr>
          <a:lstStyle>
            <a:lvl1pPr>
              <a:defRPr sz="1300"/>
            </a:lvl1pPr>
          </a:lstStyle>
          <a:p>
            <a:pPr>
              <a:defRPr/>
            </a:pPr>
            <a:endParaRPr lang="en-US"/>
          </a:p>
        </p:txBody>
      </p:sp>
      <p:sp>
        <p:nvSpPr>
          <p:cNvPr id="450563" name="Rectangle 3"/>
          <p:cNvSpPr>
            <a:spLocks noGrp="1" noChangeArrowheads="1"/>
          </p:cNvSpPr>
          <p:nvPr>
            <p:ph type="dt" idx="1"/>
          </p:nvPr>
        </p:nvSpPr>
        <p:spPr bwMode="auto">
          <a:xfrm>
            <a:off x="4143213" y="1"/>
            <a:ext cx="3170265" cy="479752"/>
          </a:xfrm>
          <a:prstGeom prst="rect">
            <a:avLst/>
          </a:prstGeom>
          <a:noFill/>
          <a:ln w="9525">
            <a:noFill/>
            <a:miter lim="800000"/>
            <a:headEnd/>
            <a:tailEnd/>
          </a:ln>
          <a:effectLst/>
        </p:spPr>
        <p:txBody>
          <a:bodyPr vert="horz" wrap="square" lIns="91670" tIns="45835" rIns="91670" bIns="45835" numCol="1" anchor="t" anchorCtr="0" compatLnSpc="1">
            <a:prstTxWarp prst="textNoShape">
              <a:avLst/>
            </a:prstTxWarp>
          </a:bodyPr>
          <a:lstStyle>
            <a:lvl1pPr algn="r">
              <a:defRPr sz="1300"/>
            </a:lvl1pPr>
          </a:lstStyle>
          <a:p>
            <a:pPr>
              <a:defRPr/>
            </a:pPr>
            <a:endParaRPr lang="en-US"/>
          </a:p>
        </p:txBody>
      </p:sp>
      <p:sp>
        <p:nvSpPr>
          <p:cNvPr id="20484" name="Rectangle 4"/>
          <p:cNvSpPr>
            <a:spLocks noGrp="1" noRot="1" noChangeAspect="1" noChangeArrowheads="1" noTextEdit="1"/>
          </p:cNvSpPr>
          <p:nvPr>
            <p:ph type="sldImg" idx="2"/>
          </p:nvPr>
        </p:nvSpPr>
        <p:spPr bwMode="auto">
          <a:xfrm>
            <a:off x="458788" y="720725"/>
            <a:ext cx="6400800" cy="3600450"/>
          </a:xfrm>
          <a:prstGeom prst="rect">
            <a:avLst/>
          </a:prstGeom>
          <a:noFill/>
          <a:ln w="9525">
            <a:solidFill>
              <a:srgbClr val="000000"/>
            </a:solidFill>
            <a:miter lim="800000"/>
            <a:headEnd/>
            <a:tailEnd/>
          </a:ln>
        </p:spPr>
      </p:sp>
      <p:sp>
        <p:nvSpPr>
          <p:cNvPr id="450565" name="Rectangle 5"/>
          <p:cNvSpPr>
            <a:spLocks noGrp="1" noChangeArrowheads="1"/>
          </p:cNvSpPr>
          <p:nvPr>
            <p:ph type="body" sz="quarter" idx="3"/>
          </p:nvPr>
        </p:nvSpPr>
        <p:spPr bwMode="auto">
          <a:xfrm>
            <a:off x="731866" y="4559956"/>
            <a:ext cx="5851471" cy="4320849"/>
          </a:xfrm>
          <a:prstGeom prst="rect">
            <a:avLst/>
          </a:prstGeom>
          <a:noFill/>
          <a:ln w="9525">
            <a:noFill/>
            <a:miter lim="800000"/>
            <a:headEnd/>
            <a:tailEnd/>
          </a:ln>
          <a:effectLst/>
        </p:spPr>
        <p:txBody>
          <a:bodyPr vert="horz" wrap="square" lIns="91670" tIns="45835" rIns="91670" bIns="45835" numCol="1" anchor="t" anchorCtr="0" compatLnSpc="1">
            <a:prstTxWarp prst="textNoShape">
              <a:avLst/>
            </a:prstTxWarp>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450566" name="Rectangle 6"/>
          <p:cNvSpPr>
            <a:spLocks noGrp="1" noChangeArrowheads="1"/>
          </p:cNvSpPr>
          <p:nvPr>
            <p:ph type="ftr" sz="quarter" idx="4"/>
          </p:nvPr>
        </p:nvSpPr>
        <p:spPr bwMode="auto">
          <a:xfrm>
            <a:off x="0" y="9119908"/>
            <a:ext cx="3170265" cy="479752"/>
          </a:xfrm>
          <a:prstGeom prst="rect">
            <a:avLst/>
          </a:prstGeom>
          <a:noFill/>
          <a:ln w="9525">
            <a:noFill/>
            <a:miter lim="800000"/>
            <a:headEnd/>
            <a:tailEnd/>
          </a:ln>
          <a:effectLst/>
        </p:spPr>
        <p:txBody>
          <a:bodyPr vert="horz" wrap="square" lIns="91670" tIns="45835" rIns="91670" bIns="45835" numCol="1" anchor="b" anchorCtr="0" compatLnSpc="1">
            <a:prstTxWarp prst="textNoShape">
              <a:avLst/>
            </a:prstTxWarp>
          </a:bodyPr>
          <a:lstStyle>
            <a:lvl1pPr>
              <a:defRPr sz="1300"/>
            </a:lvl1pPr>
          </a:lstStyle>
          <a:p>
            <a:pPr>
              <a:defRPr/>
            </a:pPr>
            <a:endParaRPr lang="en-US"/>
          </a:p>
        </p:txBody>
      </p:sp>
      <p:sp>
        <p:nvSpPr>
          <p:cNvPr id="450567" name="Rectangle 7"/>
          <p:cNvSpPr>
            <a:spLocks noGrp="1" noChangeArrowheads="1"/>
          </p:cNvSpPr>
          <p:nvPr>
            <p:ph type="sldNum" sz="quarter" idx="5"/>
          </p:nvPr>
        </p:nvSpPr>
        <p:spPr bwMode="auto">
          <a:xfrm>
            <a:off x="4143213" y="9119908"/>
            <a:ext cx="3170265" cy="479752"/>
          </a:xfrm>
          <a:prstGeom prst="rect">
            <a:avLst/>
          </a:prstGeom>
          <a:noFill/>
          <a:ln w="9525">
            <a:noFill/>
            <a:miter lim="800000"/>
            <a:headEnd/>
            <a:tailEnd/>
          </a:ln>
          <a:effectLst/>
        </p:spPr>
        <p:txBody>
          <a:bodyPr vert="horz" wrap="square" lIns="91670" tIns="45835" rIns="91670" bIns="45835" numCol="1" anchor="b" anchorCtr="0" compatLnSpc="1">
            <a:prstTxWarp prst="textNoShape">
              <a:avLst/>
            </a:prstTxWarp>
          </a:bodyPr>
          <a:lstStyle>
            <a:lvl1pPr algn="r">
              <a:defRPr sz="1300"/>
            </a:lvl1pPr>
          </a:lstStyle>
          <a:p>
            <a:pPr>
              <a:defRPr/>
            </a:pPr>
            <a:fld id="{C47D07E1-450F-4D21-88F2-2F1F63C1D3B1}" type="slidenum">
              <a:rPr lang="en-US"/>
              <a:pPr>
                <a:defRPr/>
              </a:pPr>
              <a:t>‹#›</a:t>
            </a:fld>
            <a:endParaRPr lang="en-US"/>
          </a:p>
        </p:txBody>
      </p:sp>
    </p:spTree>
    <p:extLst>
      <p:ext uri="{BB962C8B-B14F-4D97-AF65-F5344CB8AC3E}">
        <p14:creationId xmlns:p14="http://schemas.microsoft.com/office/powerpoint/2010/main" val="454309037"/>
      </p:ext>
    </p:extLst>
  </p:cSld>
  <p:clrMap bg1="lt1" tx1="dk1" bg2="lt2" tx2="dk2" accent1="accent1" accent2="accent2" accent3="accent3" accent4="accent4" accent5="accent5" accent6="accent6" hlink="hlink" folHlink="folHlink"/>
  <p:hf hdr="0" ftr="0" dt="0"/>
  <p:notesStyle>
    <a:lvl1pPr algn="l" rtl="0" eaLnBrk="0" fontAlgn="base" hangingPunct="0">
      <a:spcBef>
        <a:spcPct val="30000"/>
      </a:spcBef>
      <a:spcAft>
        <a:spcPct val="0"/>
      </a:spcAft>
      <a:defRPr sz="1200" kern="1200">
        <a:solidFill>
          <a:schemeClr val="tx1"/>
        </a:solidFill>
        <a:latin typeface="Arial" charset="0"/>
        <a:ea typeface="+mn-ea"/>
        <a:cs typeface="Arial" charset="0"/>
      </a:defRPr>
    </a:lvl1pPr>
    <a:lvl2pPr marL="457200" algn="l" rtl="0" eaLnBrk="0" fontAlgn="base" hangingPunct="0">
      <a:spcBef>
        <a:spcPct val="30000"/>
      </a:spcBef>
      <a:spcAft>
        <a:spcPct val="0"/>
      </a:spcAft>
      <a:defRPr sz="1200" kern="1200">
        <a:solidFill>
          <a:schemeClr val="tx1"/>
        </a:solidFill>
        <a:latin typeface="Arial" charset="0"/>
        <a:ea typeface="+mn-ea"/>
        <a:cs typeface="Arial" charset="0"/>
      </a:defRPr>
    </a:lvl2pPr>
    <a:lvl3pPr marL="914400" algn="l" rtl="0" eaLnBrk="0" fontAlgn="base" hangingPunct="0">
      <a:spcBef>
        <a:spcPct val="30000"/>
      </a:spcBef>
      <a:spcAft>
        <a:spcPct val="0"/>
      </a:spcAft>
      <a:defRPr sz="1200" kern="1200">
        <a:solidFill>
          <a:schemeClr val="tx1"/>
        </a:solidFill>
        <a:latin typeface="Arial" charset="0"/>
        <a:ea typeface="+mn-ea"/>
        <a:cs typeface="Arial" charset="0"/>
      </a:defRPr>
    </a:lvl3pPr>
    <a:lvl4pPr marL="1371600" algn="l" rtl="0" eaLnBrk="0" fontAlgn="base" hangingPunct="0">
      <a:spcBef>
        <a:spcPct val="30000"/>
      </a:spcBef>
      <a:spcAft>
        <a:spcPct val="0"/>
      </a:spcAft>
      <a:defRPr sz="1200" kern="1200">
        <a:solidFill>
          <a:schemeClr val="tx1"/>
        </a:solidFill>
        <a:latin typeface="Arial" charset="0"/>
        <a:ea typeface="+mn-ea"/>
        <a:cs typeface="Arial" charset="0"/>
      </a:defRPr>
    </a:lvl4pPr>
    <a:lvl5pPr marL="1828800" algn="l" rtl="0" eaLnBrk="0" fontAlgn="base" hangingPunct="0">
      <a:spcBef>
        <a:spcPct val="30000"/>
      </a:spcBef>
      <a:spcAft>
        <a:spcPct val="0"/>
      </a:spcAft>
      <a:defRPr sz="1200" kern="1200">
        <a:solidFill>
          <a:schemeClr val="tx1"/>
        </a:solidFill>
        <a:latin typeface="Arial" charset="0"/>
        <a:ea typeface="+mn-ea"/>
        <a:cs typeface="Arial" charset="0"/>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ABE4899-8685-03CA-7B6D-7A152D308C7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22B0139-8FF2-A0AC-2C82-316A740361E6}"/>
              </a:ext>
            </a:extLst>
          </p:cNvPr>
          <p:cNvSpPr>
            <a:spLocks noGrp="1" noRot="1" noChangeAspect="1"/>
          </p:cNvSpPr>
          <p:nvPr>
            <p:ph type="sldImg"/>
          </p:nvPr>
        </p:nvSpPr>
        <p:spPr>
          <a:xfrm>
            <a:off x="458788" y="720725"/>
            <a:ext cx="6400800" cy="3600450"/>
          </a:xfrm>
        </p:spPr>
      </p:sp>
      <p:sp>
        <p:nvSpPr>
          <p:cNvPr id="3" name="Notes Placeholder 2">
            <a:extLst>
              <a:ext uri="{FF2B5EF4-FFF2-40B4-BE49-F238E27FC236}">
                <a16:creationId xmlns:a16="http://schemas.microsoft.com/office/drawing/2014/main" id="{D095A404-A8BA-E729-8DFD-400E900B506B}"/>
              </a:ext>
            </a:extLst>
          </p:cNvPr>
          <p:cNvSpPr>
            <a:spLocks noGrp="1"/>
          </p:cNvSpPr>
          <p:nvPr>
            <p:ph type="body" idx="1"/>
          </p:nvPr>
        </p:nvSpPr>
        <p:spPr/>
        <p:txBody>
          <a:bodyPr>
            <a:normAutofit/>
          </a:bodyPr>
          <a:lstStyle/>
          <a:p>
            <a:endParaRPr lang="nl-BE" dirty="0"/>
          </a:p>
        </p:txBody>
      </p:sp>
      <p:sp>
        <p:nvSpPr>
          <p:cNvPr id="4" name="Slide Number Placeholder 3">
            <a:extLst>
              <a:ext uri="{FF2B5EF4-FFF2-40B4-BE49-F238E27FC236}">
                <a16:creationId xmlns:a16="http://schemas.microsoft.com/office/drawing/2014/main" id="{E5DBB939-1208-F13E-A7E6-BD10F84E1BCD}"/>
              </a:ext>
            </a:extLst>
          </p:cNvPr>
          <p:cNvSpPr>
            <a:spLocks noGrp="1"/>
          </p:cNvSpPr>
          <p:nvPr>
            <p:ph type="sldNum" sz="quarter" idx="10"/>
          </p:nvPr>
        </p:nvSpPr>
        <p:spPr/>
        <p:txBody>
          <a:bodyPr/>
          <a:lstStyle/>
          <a:p>
            <a:pPr>
              <a:defRPr/>
            </a:pPr>
            <a:fld id="{C47D07E1-450F-4D21-88F2-2F1F63C1D3B1}" type="slidenum">
              <a:rPr lang="en-US" smtClean="0"/>
              <a:pPr>
                <a:defRPr/>
              </a:pPr>
              <a:t>1</a:t>
            </a:fld>
            <a:endParaRPr lang="en-US"/>
          </a:p>
        </p:txBody>
      </p:sp>
    </p:spTree>
    <p:extLst>
      <p:ext uri="{BB962C8B-B14F-4D97-AF65-F5344CB8AC3E}">
        <p14:creationId xmlns:p14="http://schemas.microsoft.com/office/powerpoint/2010/main" val="2080416525"/>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2601E04-995E-0389-9B58-1F0A7D772C1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A49C4C6-06FC-139A-85EF-D02E3EC43E5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501BDCF-33DE-A8EE-E34D-3EF81BEC468B}"/>
              </a:ext>
            </a:extLst>
          </p:cNvPr>
          <p:cNvSpPr>
            <a:spLocks noGrp="1"/>
          </p:cNvSpPr>
          <p:nvPr>
            <p:ph type="body" idx="1"/>
          </p:nvPr>
        </p:nvSpPr>
        <p:spPr/>
        <p:txBody>
          <a:bodyPr/>
          <a:lstStyle/>
          <a:p>
            <a:endParaRPr lang="en-BE" dirty="0"/>
          </a:p>
        </p:txBody>
      </p:sp>
      <p:sp>
        <p:nvSpPr>
          <p:cNvPr id="4" name="Slide Number Placeholder 3">
            <a:extLst>
              <a:ext uri="{FF2B5EF4-FFF2-40B4-BE49-F238E27FC236}">
                <a16:creationId xmlns:a16="http://schemas.microsoft.com/office/drawing/2014/main" id="{87DD4422-2A73-C6E3-67EB-CA04F7778A06}"/>
              </a:ext>
            </a:extLst>
          </p:cNvPr>
          <p:cNvSpPr>
            <a:spLocks noGrp="1"/>
          </p:cNvSpPr>
          <p:nvPr>
            <p:ph type="sldNum" sz="quarter" idx="5"/>
          </p:nvPr>
        </p:nvSpPr>
        <p:spPr/>
        <p:txBody>
          <a:bodyPr/>
          <a:lstStyle/>
          <a:p>
            <a:pPr>
              <a:defRPr/>
            </a:pPr>
            <a:fld id="{C47D07E1-450F-4D21-88F2-2F1F63C1D3B1}" type="slidenum">
              <a:rPr lang="en-US" smtClean="0"/>
              <a:pPr>
                <a:defRPr/>
              </a:pPr>
              <a:t>2</a:t>
            </a:fld>
            <a:endParaRPr lang="en-US"/>
          </a:p>
        </p:txBody>
      </p:sp>
    </p:spTree>
    <p:extLst>
      <p:ext uri="{BB962C8B-B14F-4D97-AF65-F5344CB8AC3E}">
        <p14:creationId xmlns:p14="http://schemas.microsoft.com/office/powerpoint/2010/main" val="662289254"/>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BE" dirty="0"/>
          </a:p>
        </p:txBody>
      </p:sp>
      <p:sp>
        <p:nvSpPr>
          <p:cNvPr id="4" name="Slide Number Placeholder 3"/>
          <p:cNvSpPr>
            <a:spLocks noGrp="1"/>
          </p:cNvSpPr>
          <p:nvPr>
            <p:ph type="sldNum" sz="quarter" idx="5"/>
          </p:nvPr>
        </p:nvSpPr>
        <p:spPr/>
        <p:txBody>
          <a:bodyPr/>
          <a:lstStyle/>
          <a:p>
            <a:pPr>
              <a:defRPr/>
            </a:pPr>
            <a:fld id="{C47D07E1-450F-4D21-88F2-2F1F63C1D3B1}" type="slidenum">
              <a:rPr lang="en-US" smtClean="0"/>
              <a:pPr>
                <a:defRPr/>
              </a:pPr>
              <a:t>4</a:t>
            </a:fld>
            <a:endParaRPr lang="en-US"/>
          </a:p>
        </p:txBody>
      </p:sp>
    </p:spTree>
    <p:extLst>
      <p:ext uri="{BB962C8B-B14F-4D97-AF65-F5344CB8AC3E}">
        <p14:creationId xmlns:p14="http://schemas.microsoft.com/office/powerpoint/2010/main" val="3954584460"/>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58788" y="720725"/>
            <a:ext cx="6400800" cy="3600450"/>
          </a:xfrm>
        </p:spPr>
      </p:sp>
      <p:sp>
        <p:nvSpPr>
          <p:cNvPr id="3" name="Notes Placeholder 2"/>
          <p:cNvSpPr>
            <a:spLocks noGrp="1"/>
          </p:cNvSpPr>
          <p:nvPr>
            <p:ph type="body" idx="1"/>
          </p:nvPr>
        </p:nvSpPr>
        <p:spPr/>
        <p:txBody>
          <a:bodyPr>
            <a:normAutofit/>
          </a:bodyPr>
          <a:lstStyle/>
          <a:p>
            <a:endParaRPr lang="nl-BE" dirty="0"/>
          </a:p>
        </p:txBody>
      </p:sp>
      <p:sp>
        <p:nvSpPr>
          <p:cNvPr id="4" name="Slide Number Placeholder 3"/>
          <p:cNvSpPr>
            <a:spLocks noGrp="1"/>
          </p:cNvSpPr>
          <p:nvPr>
            <p:ph type="sldNum" sz="quarter" idx="10"/>
          </p:nvPr>
        </p:nvSpPr>
        <p:spPr/>
        <p:txBody>
          <a:bodyPr/>
          <a:lstStyle/>
          <a:p>
            <a:pPr>
              <a:defRPr/>
            </a:pPr>
            <a:fld id="{C47D07E1-450F-4D21-88F2-2F1F63C1D3B1}" type="slidenum">
              <a:rPr lang="en-US" smtClean="0"/>
              <a:pPr>
                <a:defRPr/>
              </a:pPr>
              <a:t>6</a:t>
            </a:fld>
            <a:endParaRPr lang="en-US"/>
          </a:p>
        </p:txBody>
      </p:sp>
    </p:spTree>
    <p:extLst>
      <p:ext uri="{BB962C8B-B14F-4D97-AF65-F5344CB8AC3E}">
        <p14:creationId xmlns:p14="http://schemas.microsoft.com/office/powerpoint/2010/main" val="3069681987"/>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BE" dirty="0"/>
          </a:p>
        </p:txBody>
      </p:sp>
      <p:sp>
        <p:nvSpPr>
          <p:cNvPr id="4" name="Slide Number Placeholder 3"/>
          <p:cNvSpPr>
            <a:spLocks noGrp="1"/>
          </p:cNvSpPr>
          <p:nvPr>
            <p:ph type="sldNum" sz="quarter" idx="5"/>
          </p:nvPr>
        </p:nvSpPr>
        <p:spPr/>
        <p:txBody>
          <a:bodyPr/>
          <a:lstStyle/>
          <a:p>
            <a:pPr>
              <a:defRPr/>
            </a:pPr>
            <a:fld id="{C47D07E1-450F-4D21-88F2-2F1F63C1D3B1}" type="slidenum">
              <a:rPr lang="en-US" smtClean="0"/>
              <a:pPr>
                <a:defRPr/>
              </a:pPr>
              <a:t>7</a:t>
            </a:fld>
            <a:endParaRPr lang="en-US"/>
          </a:p>
        </p:txBody>
      </p:sp>
    </p:spTree>
    <p:extLst>
      <p:ext uri="{BB962C8B-B14F-4D97-AF65-F5344CB8AC3E}">
        <p14:creationId xmlns:p14="http://schemas.microsoft.com/office/powerpoint/2010/main" val="2943509650"/>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BE" dirty="0"/>
          </a:p>
        </p:txBody>
      </p:sp>
      <p:sp>
        <p:nvSpPr>
          <p:cNvPr id="4" name="Slide Number Placeholder 3"/>
          <p:cNvSpPr>
            <a:spLocks noGrp="1"/>
          </p:cNvSpPr>
          <p:nvPr>
            <p:ph type="sldNum" sz="quarter" idx="5"/>
          </p:nvPr>
        </p:nvSpPr>
        <p:spPr/>
        <p:txBody>
          <a:bodyPr/>
          <a:lstStyle/>
          <a:p>
            <a:pPr>
              <a:defRPr/>
            </a:pPr>
            <a:fld id="{C47D07E1-450F-4D21-88F2-2F1F63C1D3B1}" type="slidenum">
              <a:rPr lang="en-US" smtClean="0"/>
              <a:pPr>
                <a:defRPr/>
              </a:pPr>
              <a:t>10</a:t>
            </a:fld>
            <a:endParaRPr lang="en-US"/>
          </a:p>
        </p:txBody>
      </p:sp>
    </p:spTree>
    <p:extLst>
      <p:ext uri="{BB962C8B-B14F-4D97-AF65-F5344CB8AC3E}">
        <p14:creationId xmlns:p14="http://schemas.microsoft.com/office/powerpoint/2010/main" val="2375399083"/>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7C6EC30-7E7F-5643-E4AE-8FA76744118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924AB98-A671-7D17-DFAF-95B678E3C5B8}"/>
              </a:ext>
            </a:extLst>
          </p:cNvPr>
          <p:cNvSpPr>
            <a:spLocks noGrp="1" noRot="1" noChangeAspect="1"/>
          </p:cNvSpPr>
          <p:nvPr>
            <p:ph type="sldImg"/>
          </p:nvPr>
        </p:nvSpPr>
        <p:spPr>
          <a:xfrm>
            <a:off x="458788" y="720725"/>
            <a:ext cx="6400800" cy="3600450"/>
          </a:xfrm>
        </p:spPr>
      </p:sp>
      <p:sp>
        <p:nvSpPr>
          <p:cNvPr id="3" name="Notes Placeholder 2">
            <a:extLst>
              <a:ext uri="{FF2B5EF4-FFF2-40B4-BE49-F238E27FC236}">
                <a16:creationId xmlns:a16="http://schemas.microsoft.com/office/drawing/2014/main" id="{2391B460-AA03-C034-36D8-14F2CA292327}"/>
              </a:ext>
            </a:extLst>
          </p:cNvPr>
          <p:cNvSpPr>
            <a:spLocks noGrp="1"/>
          </p:cNvSpPr>
          <p:nvPr>
            <p:ph type="body" idx="1"/>
          </p:nvPr>
        </p:nvSpPr>
        <p:spPr/>
        <p:txBody>
          <a:bodyPr>
            <a:normAutofit/>
          </a:bodyPr>
          <a:lstStyle/>
          <a:p>
            <a:endParaRPr lang="nl-BE" dirty="0"/>
          </a:p>
        </p:txBody>
      </p:sp>
      <p:sp>
        <p:nvSpPr>
          <p:cNvPr id="4" name="Slide Number Placeholder 3">
            <a:extLst>
              <a:ext uri="{FF2B5EF4-FFF2-40B4-BE49-F238E27FC236}">
                <a16:creationId xmlns:a16="http://schemas.microsoft.com/office/drawing/2014/main" id="{FA3DCCA5-E292-0A4E-422D-0CD7F170570A}"/>
              </a:ext>
            </a:extLst>
          </p:cNvPr>
          <p:cNvSpPr>
            <a:spLocks noGrp="1"/>
          </p:cNvSpPr>
          <p:nvPr>
            <p:ph type="sldNum" sz="quarter" idx="10"/>
          </p:nvPr>
        </p:nvSpPr>
        <p:spPr/>
        <p:txBody>
          <a:bodyPr/>
          <a:lstStyle/>
          <a:p>
            <a:pPr>
              <a:defRPr/>
            </a:pPr>
            <a:fld id="{C47D07E1-450F-4D21-88F2-2F1F63C1D3B1}" type="slidenum">
              <a:rPr lang="en-US" smtClean="0"/>
              <a:pPr>
                <a:defRPr/>
              </a:pPr>
              <a:t>14</a:t>
            </a:fld>
            <a:endParaRPr lang="en-US"/>
          </a:p>
        </p:txBody>
      </p:sp>
    </p:spTree>
    <p:extLst>
      <p:ext uri="{BB962C8B-B14F-4D97-AF65-F5344CB8AC3E}">
        <p14:creationId xmlns:p14="http://schemas.microsoft.com/office/powerpoint/2010/main" val="4127850758"/>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BE" dirty="0"/>
          </a:p>
        </p:txBody>
      </p:sp>
      <p:sp>
        <p:nvSpPr>
          <p:cNvPr id="4" name="Slide Number Placeholder 3"/>
          <p:cNvSpPr>
            <a:spLocks noGrp="1"/>
          </p:cNvSpPr>
          <p:nvPr>
            <p:ph type="sldNum" sz="quarter" idx="5"/>
          </p:nvPr>
        </p:nvSpPr>
        <p:spPr/>
        <p:txBody>
          <a:bodyPr/>
          <a:lstStyle/>
          <a:p>
            <a:pPr>
              <a:defRPr/>
            </a:pPr>
            <a:fld id="{C47D07E1-450F-4D21-88F2-2F1F63C1D3B1}" type="slidenum">
              <a:rPr lang="en-US" smtClean="0"/>
              <a:pPr>
                <a:defRPr/>
              </a:pPr>
              <a:t>15</a:t>
            </a:fld>
            <a:endParaRPr lang="en-US"/>
          </a:p>
        </p:txBody>
      </p:sp>
    </p:spTree>
    <p:extLst>
      <p:ext uri="{BB962C8B-B14F-4D97-AF65-F5344CB8AC3E}">
        <p14:creationId xmlns:p14="http://schemas.microsoft.com/office/powerpoint/2010/main" val="2816701984"/>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BE" dirty="0"/>
          </a:p>
        </p:txBody>
      </p:sp>
      <p:sp>
        <p:nvSpPr>
          <p:cNvPr id="4" name="Slide Number Placeholder 3"/>
          <p:cNvSpPr>
            <a:spLocks noGrp="1"/>
          </p:cNvSpPr>
          <p:nvPr>
            <p:ph type="sldNum" sz="quarter" idx="5"/>
          </p:nvPr>
        </p:nvSpPr>
        <p:spPr/>
        <p:txBody>
          <a:bodyPr/>
          <a:lstStyle/>
          <a:p>
            <a:pPr>
              <a:defRPr/>
            </a:pPr>
            <a:fld id="{C47D07E1-450F-4D21-88F2-2F1F63C1D3B1}" type="slidenum">
              <a:rPr lang="en-US" smtClean="0"/>
              <a:pPr>
                <a:defRPr/>
              </a:pPr>
              <a:t>16</a:t>
            </a:fld>
            <a:endParaRPr lang="en-US"/>
          </a:p>
        </p:txBody>
      </p:sp>
    </p:spTree>
    <p:extLst>
      <p:ext uri="{BB962C8B-B14F-4D97-AF65-F5344CB8AC3E}">
        <p14:creationId xmlns:p14="http://schemas.microsoft.com/office/powerpoint/2010/main" val="1659601625"/>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BE" dirty="0"/>
          </a:p>
        </p:txBody>
      </p:sp>
      <p:sp>
        <p:nvSpPr>
          <p:cNvPr id="4" name="Slide Number Placeholder 3"/>
          <p:cNvSpPr>
            <a:spLocks noGrp="1"/>
          </p:cNvSpPr>
          <p:nvPr>
            <p:ph type="sldNum" sz="quarter" idx="5"/>
          </p:nvPr>
        </p:nvSpPr>
        <p:spPr/>
        <p:txBody>
          <a:bodyPr/>
          <a:lstStyle/>
          <a:p>
            <a:pPr>
              <a:defRPr/>
            </a:pPr>
            <a:fld id="{C47D07E1-450F-4D21-88F2-2F1F63C1D3B1}" type="slidenum">
              <a:rPr lang="en-US" smtClean="0"/>
              <a:pPr>
                <a:defRPr/>
              </a:pPr>
              <a:t>17</a:t>
            </a:fld>
            <a:endParaRPr lang="en-US"/>
          </a:p>
        </p:txBody>
      </p:sp>
    </p:spTree>
    <p:extLst>
      <p:ext uri="{BB962C8B-B14F-4D97-AF65-F5344CB8AC3E}">
        <p14:creationId xmlns:p14="http://schemas.microsoft.com/office/powerpoint/2010/main" val="4244038396"/>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BE" dirty="0"/>
          </a:p>
        </p:txBody>
      </p:sp>
      <p:sp>
        <p:nvSpPr>
          <p:cNvPr id="4" name="Slide Number Placeholder 3"/>
          <p:cNvSpPr>
            <a:spLocks noGrp="1"/>
          </p:cNvSpPr>
          <p:nvPr>
            <p:ph type="sldNum" sz="quarter" idx="5"/>
          </p:nvPr>
        </p:nvSpPr>
        <p:spPr/>
        <p:txBody>
          <a:bodyPr/>
          <a:lstStyle/>
          <a:p>
            <a:pPr>
              <a:defRPr/>
            </a:pPr>
            <a:fld id="{C47D07E1-450F-4D21-88F2-2F1F63C1D3B1}" type="slidenum">
              <a:rPr lang="en-US" smtClean="0"/>
              <a:pPr>
                <a:defRPr/>
              </a:pPr>
              <a:t>18</a:t>
            </a:fld>
            <a:endParaRPr lang="en-US"/>
          </a:p>
        </p:txBody>
      </p:sp>
    </p:spTree>
    <p:extLst>
      <p:ext uri="{BB962C8B-B14F-4D97-AF65-F5344CB8AC3E}">
        <p14:creationId xmlns:p14="http://schemas.microsoft.com/office/powerpoint/2010/main" val="1306693669"/>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BE" dirty="0"/>
          </a:p>
        </p:txBody>
      </p:sp>
      <p:sp>
        <p:nvSpPr>
          <p:cNvPr id="4" name="Slide Number Placeholder 3"/>
          <p:cNvSpPr>
            <a:spLocks noGrp="1"/>
          </p:cNvSpPr>
          <p:nvPr>
            <p:ph type="sldNum" sz="quarter" idx="5"/>
          </p:nvPr>
        </p:nvSpPr>
        <p:spPr/>
        <p:txBody>
          <a:bodyPr/>
          <a:lstStyle/>
          <a:p>
            <a:pPr>
              <a:defRPr/>
            </a:pPr>
            <a:fld id="{C47D07E1-450F-4D21-88F2-2F1F63C1D3B1}" type="slidenum">
              <a:rPr lang="en-US" smtClean="0"/>
              <a:pPr>
                <a:defRPr/>
              </a:pPr>
              <a:t>19</a:t>
            </a:fld>
            <a:endParaRPr lang="en-US"/>
          </a:p>
        </p:txBody>
      </p:sp>
    </p:spTree>
    <p:extLst>
      <p:ext uri="{BB962C8B-B14F-4D97-AF65-F5344CB8AC3E}">
        <p14:creationId xmlns:p14="http://schemas.microsoft.com/office/powerpoint/2010/main" val="1942910423"/>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209C214-E676-685E-4A14-6689CA0D746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5A1B5F8-704B-F386-72B9-801C5F19DF88}"/>
              </a:ext>
            </a:extLst>
          </p:cNvPr>
          <p:cNvSpPr>
            <a:spLocks noGrp="1" noRot="1" noChangeAspect="1"/>
          </p:cNvSpPr>
          <p:nvPr>
            <p:ph type="sldImg"/>
          </p:nvPr>
        </p:nvSpPr>
        <p:spPr>
          <a:xfrm>
            <a:off x="458788" y="720725"/>
            <a:ext cx="6400800" cy="3600450"/>
          </a:xfrm>
        </p:spPr>
      </p:sp>
      <p:sp>
        <p:nvSpPr>
          <p:cNvPr id="3" name="Notes Placeholder 2">
            <a:extLst>
              <a:ext uri="{FF2B5EF4-FFF2-40B4-BE49-F238E27FC236}">
                <a16:creationId xmlns:a16="http://schemas.microsoft.com/office/drawing/2014/main" id="{3C79F640-87B2-75C8-5ED5-D90568746D2D}"/>
              </a:ext>
            </a:extLst>
          </p:cNvPr>
          <p:cNvSpPr>
            <a:spLocks noGrp="1"/>
          </p:cNvSpPr>
          <p:nvPr>
            <p:ph type="body" idx="1"/>
          </p:nvPr>
        </p:nvSpPr>
        <p:spPr/>
        <p:txBody>
          <a:bodyPr>
            <a:normAutofit/>
          </a:bodyPr>
          <a:lstStyle/>
          <a:p>
            <a:endParaRPr lang="nl-BE" dirty="0"/>
          </a:p>
        </p:txBody>
      </p:sp>
      <p:sp>
        <p:nvSpPr>
          <p:cNvPr id="4" name="Slide Number Placeholder 3">
            <a:extLst>
              <a:ext uri="{FF2B5EF4-FFF2-40B4-BE49-F238E27FC236}">
                <a16:creationId xmlns:a16="http://schemas.microsoft.com/office/drawing/2014/main" id="{F6FB4AF1-3C9D-F18E-BB83-6B50F83B04F0}"/>
              </a:ext>
            </a:extLst>
          </p:cNvPr>
          <p:cNvSpPr>
            <a:spLocks noGrp="1"/>
          </p:cNvSpPr>
          <p:nvPr>
            <p:ph type="sldNum" sz="quarter" idx="10"/>
          </p:nvPr>
        </p:nvSpPr>
        <p:spPr/>
        <p:txBody>
          <a:bodyPr/>
          <a:lstStyle/>
          <a:p>
            <a:pPr>
              <a:defRPr/>
            </a:pPr>
            <a:fld id="{C47D07E1-450F-4D21-88F2-2F1F63C1D3B1}" type="slidenum">
              <a:rPr lang="en-US" smtClean="0"/>
              <a:pPr>
                <a:defRPr/>
              </a:pPr>
              <a:t>20</a:t>
            </a:fld>
            <a:endParaRPr lang="en-US"/>
          </a:p>
        </p:txBody>
      </p:sp>
    </p:spTree>
    <p:extLst>
      <p:ext uri="{BB962C8B-B14F-4D97-AF65-F5344CB8AC3E}">
        <p14:creationId xmlns:p14="http://schemas.microsoft.com/office/powerpoint/2010/main" val="989846672"/>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BE" dirty="0"/>
          </a:p>
        </p:txBody>
      </p:sp>
      <p:sp>
        <p:nvSpPr>
          <p:cNvPr id="4" name="Slide Number Placeholder 3"/>
          <p:cNvSpPr>
            <a:spLocks noGrp="1"/>
          </p:cNvSpPr>
          <p:nvPr>
            <p:ph type="sldNum" sz="quarter" idx="5"/>
          </p:nvPr>
        </p:nvSpPr>
        <p:spPr/>
        <p:txBody>
          <a:bodyPr/>
          <a:lstStyle/>
          <a:p>
            <a:pPr>
              <a:defRPr/>
            </a:pPr>
            <a:fld id="{C47D07E1-450F-4D21-88F2-2F1F63C1D3B1}" type="slidenum">
              <a:rPr lang="en-US" smtClean="0"/>
              <a:pPr>
                <a:defRPr/>
              </a:pPr>
              <a:t>21</a:t>
            </a:fld>
            <a:endParaRPr lang="en-US"/>
          </a:p>
        </p:txBody>
      </p:sp>
    </p:spTree>
    <p:extLst>
      <p:ext uri="{BB962C8B-B14F-4D97-AF65-F5344CB8AC3E}">
        <p14:creationId xmlns:p14="http://schemas.microsoft.com/office/powerpoint/2010/main" val="181279910"/>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FC615AA-003A-1DB9-0803-540B074E4BF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EC71E3C-BBA3-E610-331C-9F96DFE1F23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8B46529-BBD1-3016-0B49-29AA55DA3C9A}"/>
              </a:ext>
            </a:extLst>
          </p:cNvPr>
          <p:cNvSpPr>
            <a:spLocks noGrp="1"/>
          </p:cNvSpPr>
          <p:nvPr>
            <p:ph type="body" idx="1"/>
          </p:nvPr>
        </p:nvSpPr>
        <p:spPr/>
        <p:txBody>
          <a:bodyPr/>
          <a:lstStyle/>
          <a:p>
            <a:r>
              <a:rPr lang="en-BE" dirty="0"/>
              <a:t>Ne</a:t>
            </a:r>
          </a:p>
        </p:txBody>
      </p:sp>
      <p:sp>
        <p:nvSpPr>
          <p:cNvPr id="4" name="Slide Number Placeholder 3">
            <a:extLst>
              <a:ext uri="{FF2B5EF4-FFF2-40B4-BE49-F238E27FC236}">
                <a16:creationId xmlns:a16="http://schemas.microsoft.com/office/drawing/2014/main" id="{1A1B82A6-1F31-3D79-1894-0CAB20827906}"/>
              </a:ext>
            </a:extLst>
          </p:cNvPr>
          <p:cNvSpPr>
            <a:spLocks noGrp="1"/>
          </p:cNvSpPr>
          <p:nvPr>
            <p:ph type="sldNum" sz="quarter" idx="5"/>
          </p:nvPr>
        </p:nvSpPr>
        <p:spPr/>
        <p:txBody>
          <a:bodyPr/>
          <a:lstStyle/>
          <a:p>
            <a:pPr>
              <a:defRPr/>
            </a:pPr>
            <a:fld id="{C47D07E1-450F-4D21-88F2-2F1F63C1D3B1}" type="slidenum">
              <a:rPr lang="en-US" smtClean="0"/>
              <a:pPr>
                <a:defRPr/>
              </a:pPr>
              <a:t>25</a:t>
            </a:fld>
            <a:endParaRPr lang="en-US"/>
          </a:p>
        </p:txBody>
      </p:sp>
    </p:spTree>
    <p:extLst>
      <p:ext uri="{BB962C8B-B14F-4D97-AF65-F5344CB8AC3E}">
        <p14:creationId xmlns:p14="http://schemas.microsoft.com/office/powerpoint/2010/main" val="3168290222"/>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6C615B7-923D-624B-4C77-74E75382694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6494310-6A33-F345-A134-7A5DC38FE4A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42F4252-25DF-C53A-1A64-8E88DA43BD16}"/>
              </a:ext>
            </a:extLst>
          </p:cNvPr>
          <p:cNvSpPr>
            <a:spLocks noGrp="1"/>
          </p:cNvSpPr>
          <p:nvPr>
            <p:ph type="body" idx="1"/>
          </p:nvPr>
        </p:nvSpPr>
        <p:spPr/>
        <p:txBody>
          <a:bodyPr/>
          <a:lstStyle/>
          <a:p>
            <a:r>
              <a:rPr lang="en-BE" dirty="0"/>
              <a:t>Ne</a:t>
            </a:r>
          </a:p>
        </p:txBody>
      </p:sp>
      <p:sp>
        <p:nvSpPr>
          <p:cNvPr id="4" name="Slide Number Placeholder 3">
            <a:extLst>
              <a:ext uri="{FF2B5EF4-FFF2-40B4-BE49-F238E27FC236}">
                <a16:creationId xmlns:a16="http://schemas.microsoft.com/office/drawing/2014/main" id="{0176ED6E-B3D6-CB72-65DA-1FC9F1B12386}"/>
              </a:ext>
            </a:extLst>
          </p:cNvPr>
          <p:cNvSpPr>
            <a:spLocks noGrp="1"/>
          </p:cNvSpPr>
          <p:nvPr>
            <p:ph type="sldNum" sz="quarter" idx="5"/>
          </p:nvPr>
        </p:nvSpPr>
        <p:spPr/>
        <p:txBody>
          <a:bodyPr/>
          <a:lstStyle/>
          <a:p>
            <a:pPr>
              <a:defRPr/>
            </a:pPr>
            <a:fld id="{C47D07E1-450F-4D21-88F2-2F1F63C1D3B1}" type="slidenum">
              <a:rPr lang="en-US" smtClean="0"/>
              <a:pPr>
                <a:defRPr/>
              </a:pPr>
              <a:t>26</a:t>
            </a:fld>
            <a:endParaRPr lang="en-US"/>
          </a:p>
        </p:txBody>
      </p:sp>
    </p:spTree>
    <p:extLst>
      <p:ext uri="{BB962C8B-B14F-4D97-AF65-F5344CB8AC3E}">
        <p14:creationId xmlns:p14="http://schemas.microsoft.com/office/powerpoint/2010/main" val="267609468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FA1C0A6-FF82-F54D-E82D-48A92DF1436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95E41AB-90A1-0ADE-E227-462EE120C119}"/>
              </a:ext>
            </a:extLst>
          </p:cNvPr>
          <p:cNvSpPr>
            <a:spLocks noGrp="1" noRot="1" noChangeAspect="1"/>
          </p:cNvSpPr>
          <p:nvPr>
            <p:ph type="sldImg"/>
          </p:nvPr>
        </p:nvSpPr>
        <p:spPr>
          <a:xfrm>
            <a:off x="458788" y="720725"/>
            <a:ext cx="6400800" cy="3600450"/>
          </a:xfrm>
        </p:spPr>
      </p:sp>
      <p:sp>
        <p:nvSpPr>
          <p:cNvPr id="3" name="Notes Placeholder 2">
            <a:extLst>
              <a:ext uri="{FF2B5EF4-FFF2-40B4-BE49-F238E27FC236}">
                <a16:creationId xmlns:a16="http://schemas.microsoft.com/office/drawing/2014/main" id="{13576689-15FF-FEB6-7712-5B3BAB10DD70}"/>
              </a:ext>
            </a:extLst>
          </p:cNvPr>
          <p:cNvSpPr>
            <a:spLocks noGrp="1"/>
          </p:cNvSpPr>
          <p:nvPr>
            <p:ph type="body" idx="1"/>
          </p:nvPr>
        </p:nvSpPr>
        <p:spPr/>
        <p:txBody>
          <a:bodyPr>
            <a:normAutofit/>
          </a:bodyPr>
          <a:lstStyle/>
          <a:p>
            <a:endParaRPr lang="nl-BE" dirty="0"/>
          </a:p>
        </p:txBody>
      </p:sp>
      <p:sp>
        <p:nvSpPr>
          <p:cNvPr id="4" name="Slide Number Placeholder 3">
            <a:extLst>
              <a:ext uri="{FF2B5EF4-FFF2-40B4-BE49-F238E27FC236}">
                <a16:creationId xmlns:a16="http://schemas.microsoft.com/office/drawing/2014/main" id="{639046FC-68B2-8399-1192-1703BD4C915D}"/>
              </a:ext>
            </a:extLst>
          </p:cNvPr>
          <p:cNvSpPr>
            <a:spLocks noGrp="1"/>
          </p:cNvSpPr>
          <p:nvPr>
            <p:ph type="sldNum" sz="quarter" idx="10"/>
          </p:nvPr>
        </p:nvSpPr>
        <p:spPr/>
        <p:txBody>
          <a:bodyPr/>
          <a:lstStyle/>
          <a:p>
            <a:pPr>
              <a:defRPr/>
            </a:pPr>
            <a:fld id="{C47D07E1-450F-4D21-88F2-2F1F63C1D3B1}" type="slidenum">
              <a:rPr lang="en-US" smtClean="0"/>
              <a:pPr>
                <a:defRPr/>
              </a:pPr>
              <a:t>27</a:t>
            </a:fld>
            <a:endParaRPr lang="en-US"/>
          </a:p>
        </p:txBody>
      </p:sp>
    </p:spTree>
    <p:extLst>
      <p:ext uri="{BB962C8B-B14F-4D97-AF65-F5344CB8AC3E}">
        <p14:creationId xmlns:p14="http://schemas.microsoft.com/office/powerpoint/2010/main" val="2159128580"/>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BE" dirty="0"/>
          </a:p>
        </p:txBody>
      </p:sp>
      <p:sp>
        <p:nvSpPr>
          <p:cNvPr id="4" name="Slide Number Placeholder 3"/>
          <p:cNvSpPr>
            <a:spLocks noGrp="1"/>
          </p:cNvSpPr>
          <p:nvPr>
            <p:ph type="sldNum" sz="quarter" idx="5"/>
          </p:nvPr>
        </p:nvSpPr>
        <p:spPr/>
        <p:txBody>
          <a:bodyPr/>
          <a:lstStyle/>
          <a:p>
            <a:pPr>
              <a:defRPr/>
            </a:pPr>
            <a:fld id="{C47D07E1-450F-4D21-88F2-2F1F63C1D3B1}" type="slidenum">
              <a:rPr lang="en-US" smtClean="0"/>
              <a:pPr>
                <a:defRPr/>
              </a:pPr>
              <a:t>28</a:t>
            </a:fld>
            <a:endParaRPr lang="en-US"/>
          </a:p>
        </p:txBody>
      </p:sp>
    </p:spTree>
    <p:extLst>
      <p:ext uri="{BB962C8B-B14F-4D97-AF65-F5344CB8AC3E}">
        <p14:creationId xmlns:p14="http://schemas.microsoft.com/office/powerpoint/2010/main" val="2677366"/>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BE" dirty="0"/>
          </a:p>
        </p:txBody>
      </p:sp>
      <p:sp>
        <p:nvSpPr>
          <p:cNvPr id="4" name="Slide Number Placeholder 3"/>
          <p:cNvSpPr>
            <a:spLocks noGrp="1"/>
          </p:cNvSpPr>
          <p:nvPr>
            <p:ph type="sldNum" sz="quarter" idx="5"/>
          </p:nvPr>
        </p:nvSpPr>
        <p:spPr/>
        <p:txBody>
          <a:bodyPr/>
          <a:lstStyle/>
          <a:p>
            <a:pPr>
              <a:defRPr/>
            </a:pPr>
            <a:fld id="{C47D07E1-450F-4D21-88F2-2F1F63C1D3B1}" type="slidenum">
              <a:rPr lang="en-US" smtClean="0"/>
              <a:pPr>
                <a:defRPr/>
              </a:pPr>
              <a:t>29</a:t>
            </a:fld>
            <a:endParaRPr lang="en-US"/>
          </a:p>
        </p:txBody>
      </p:sp>
    </p:spTree>
    <p:extLst>
      <p:ext uri="{BB962C8B-B14F-4D97-AF65-F5344CB8AC3E}">
        <p14:creationId xmlns:p14="http://schemas.microsoft.com/office/powerpoint/2010/main" val="3180802774"/>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BE" dirty="0"/>
              <a:t>System imbalance = - NRV + BRP response</a:t>
            </a:r>
          </a:p>
          <a:p>
            <a:endParaRPr lang="en-BE" dirty="0"/>
          </a:p>
          <a:p>
            <a:r>
              <a:rPr lang="en-BE" dirty="0"/>
              <a:t>Battery capacity for BRP: small (60MW, 150MWh) – medium (125MW, 310MWh) – large (250MW, 620MWh)</a:t>
            </a:r>
          </a:p>
          <a:p>
            <a:endParaRPr lang="en-BE" dirty="0"/>
          </a:p>
          <a:p>
            <a:r>
              <a:rPr lang="en-BE" dirty="0"/>
              <a:t>NRV prediction: w/o inputs correlated to BRP response; i.e., only</a:t>
            </a:r>
          </a:p>
          <a:p>
            <a:pPr marL="171450" indent="-171450">
              <a:buFont typeface="Arial" panose="020B0604020202020204" pitchFamily="34" charset="0"/>
              <a:buChar char="•"/>
            </a:pPr>
            <a:r>
              <a:rPr lang="en-BE" sz="1200" kern="1200" dirty="0">
                <a:solidFill>
                  <a:schemeClr val="tx1"/>
                </a:solidFill>
                <a:effectLst/>
                <a:latin typeface="Arial" charset="0"/>
                <a:ea typeface="+mn-ea"/>
                <a:cs typeface="Arial" charset="0"/>
              </a:rPr>
              <a:t>Time features,</a:t>
            </a:r>
          </a:p>
          <a:p>
            <a:pPr marL="171450" indent="-171450">
              <a:buFont typeface="Arial" panose="020B0604020202020204" pitchFamily="34" charset="0"/>
              <a:buChar char="•"/>
            </a:pPr>
            <a:r>
              <a:rPr lang="en-BE" sz="1200" kern="1200" dirty="0">
                <a:solidFill>
                  <a:schemeClr val="tx1"/>
                </a:solidFill>
                <a:effectLst/>
                <a:latin typeface="Arial" charset="0"/>
                <a:ea typeface="+mn-ea"/>
                <a:cs typeface="Arial" charset="0"/>
              </a:rPr>
              <a:t>SI and NRV history,</a:t>
            </a:r>
          </a:p>
          <a:p>
            <a:pPr marL="171450" indent="-171450">
              <a:buFont typeface="Arial" panose="020B0604020202020204" pitchFamily="34" charset="0"/>
              <a:buChar char="•"/>
            </a:pPr>
            <a:r>
              <a:rPr lang="en-BE" sz="1200" kern="1200" dirty="0">
                <a:solidFill>
                  <a:schemeClr val="tx1"/>
                </a:solidFill>
                <a:effectLst/>
                <a:latin typeface="Arial" charset="0"/>
                <a:ea typeface="+mn-ea"/>
                <a:cs typeface="Arial" charset="0"/>
              </a:rPr>
              <a:t>Net cross-border nominations,</a:t>
            </a:r>
          </a:p>
          <a:p>
            <a:pPr marL="171450" indent="-171450">
              <a:buFont typeface="Arial" panose="020B0604020202020204" pitchFamily="34" charset="0"/>
              <a:buChar char="•"/>
            </a:pPr>
            <a:r>
              <a:rPr lang="en-BE" sz="1200" kern="1200" dirty="0">
                <a:solidFill>
                  <a:schemeClr val="tx1"/>
                </a:solidFill>
                <a:effectLst/>
                <a:latin typeface="Arial" charset="0"/>
                <a:ea typeface="+mn-ea"/>
                <a:cs typeface="Arial" charset="0"/>
              </a:rPr>
              <a:t>PV and Wind generation forecasts, and</a:t>
            </a:r>
          </a:p>
          <a:p>
            <a:pPr marL="171450" indent="-171450">
              <a:buFont typeface="Arial" panose="020B0604020202020204" pitchFamily="34" charset="0"/>
              <a:buChar char="•"/>
            </a:pPr>
            <a:r>
              <a:rPr lang="en-BE" sz="1200" kern="1200" dirty="0">
                <a:solidFill>
                  <a:schemeClr val="tx1"/>
                </a:solidFill>
                <a:effectLst/>
                <a:latin typeface="Arial" charset="0"/>
                <a:ea typeface="+mn-ea"/>
                <a:cs typeface="Arial" charset="0"/>
              </a:rPr>
              <a:t>Load forecasts.</a:t>
            </a:r>
          </a:p>
          <a:p>
            <a:endParaRPr lang="en-BE" dirty="0"/>
          </a:p>
        </p:txBody>
      </p:sp>
      <p:sp>
        <p:nvSpPr>
          <p:cNvPr id="4" name="Slide Number Placeholder 3"/>
          <p:cNvSpPr>
            <a:spLocks noGrp="1"/>
          </p:cNvSpPr>
          <p:nvPr>
            <p:ph type="sldNum" sz="quarter" idx="5"/>
          </p:nvPr>
        </p:nvSpPr>
        <p:spPr/>
        <p:txBody>
          <a:bodyPr/>
          <a:lstStyle/>
          <a:p>
            <a:pPr>
              <a:defRPr/>
            </a:pPr>
            <a:fld id="{C47D07E1-450F-4D21-88F2-2F1F63C1D3B1}" type="slidenum">
              <a:rPr lang="en-US" smtClean="0"/>
              <a:pPr>
                <a:defRPr/>
              </a:pPr>
              <a:t>30</a:t>
            </a:fld>
            <a:endParaRPr lang="en-US"/>
          </a:p>
        </p:txBody>
      </p:sp>
    </p:spTree>
    <p:extLst>
      <p:ext uri="{BB962C8B-B14F-4D97-AF65-F5344CB8AC3E}">
        <p14:creationId xmlns:p14="http://schemas.microsoft.com/office/powerpoint/2010/main" val="1581061532"/>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470074A-8C88-F23C-FE14-ADAD78B5004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8F90B10-F4D0-66A1-E6EF-53BB2108704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16183DD-18C2-4F6E-5DEA-5F8DCDDFF608}"/>
              </a:ext>
            </a:extLst>
          </p:cNvPr>
          <p:cNvSpPr>
            <a:spLocks noGrp="1"/>
          </p:cNvSpPr>
          <p:nvPr>
            <p:ph type="body" idx="1"/>
          </p:nvPr>
        </p:nvSpPr>
        <p:spPr/>
        <p:txBody>
          <a:bodyPr/>
          <a:lstStyle/>
          <a:p>
            <a:r>
              <a:rPr lang="en-US" dirty="0"/>
              <a:t>Baseline = Elia’s current price formula</a:t>
            </a:r>
          </a:p>
          <a:p>
            <a:endParaRPr lang="en-US" dirty="0"/>
          </a:p>
          <a:p>
            <a:pPr marL="0" marR="0" lvl="0" indent="0" algn="l" defTabSz="914400" rtl="0" eaLnBrk="0" fontAlgn="base" latinLnBrk="0" hangingPunct="0">
              <a:lnSpc>
                <a:spcPct val="100000"/>
              </a:lnSpc>
              <a:spcBef>
                <a:spcPct val="30000"/>
              </a:spcBef>
              <a:spcAft>
                <a:spcPct val="0"/>
              </a:spcAft>
              <a:buClrTx/>
              <a:buSzTx/>
              <a:buFontTx/>
              <a:buNone/>
              <a:tabLst/>
              <a:defRPr/>
            </a:pPr>
            <a:r>
              <a:rPr lang="en-BE" dirty="0"/>
              <a:t>Battery capacity for BRP:</a:t>
            </a:r>
          </a:p>
          <a:p>
            <a:pPr marL="171450" marR="0" lvl="0" indent="-171450" algn="l" defTabSz="914400" rtl="0" eaLnBrk="0" fontAlgn="base" latinLnBrk="0" hangingPunct="0">
              <a:lnSpc>
                <a:spcPct val="100000"/>
              </a:lnSpc>
              <a:spcBef>
                <a:spcPct val="30000"/>
              </a:spcBef>
              <a:spcAft>
                <a:spcPct val="0"/>
              </a:spcAft>
              <a:buClrTx/>
              <a:buSzTx/>
              <a:buFont typeface="Arial" panose="020B0604020202020204" pitchFamily="34" charset="0"/>
              <a:buChar char="•"/>
              <a:tabLst/>
              <a:defRPr/>
            </a:pPr>
            <a:r>
              <a:rPr lang="en-BE" dirty="0"/>
              <a:t>small (60MW, 150MWh)</a:t>
            </a:r>
          </a:p>
          <a:p>
            <a:pPr marL="171450" marR="0" lvl="0" indent="-171450" algn="l" defTabSz="914400" rtl="0" eaLnBrk="0" fontAlgn="base" latinLnBrk="0" hangingPunct="0">
              <a:lnSpc>
                <a:spcPct val="100000"/>
              </a:lnSpc>
              <a:spcBef>
                <a:spcPct val="30000"/>
              </a:spcBef>
              <a:spcAft>
                <a:spcPct val="0"/>
              </a:spcAft>
              <a:buClrTx/>
              <a:buSzTx/>
              <a:buFont typeface="Arial" panose="020B0604020202020204" pitchFamily="34" charset="0"/>
              <a:buChar char="•"/>
              <a:tabLst/>
              <a:defRPr/>
            </a:pPr>
            <a:r>
              <a:rPr lang="en-BE" dirty="0"/>
              <a:t>medium (125MW, 310MWh)  </a:t>
            </a:r>
            <a:r>
              <a:rPr lang="en-BE" dirty="0">
                <a:sym typeface="Wingdings" pitchFamily="2" charset="2"/>
              </a:rPr>
              <a:t> this figure!</a:t>
            </a:r>
            <a:endParaRPr lang="en-BE" dirty="0"/>
          </a:p>
          <a:p>
            <a:pPr marL="171450" marR="0" lvl="0" indent="-171450" algn="l" defTabSz="914400" rtl="0" eaLnBrk="0" fontAlgn="base" latinLnBrk="0" hangingPunct="0">
              <a:lnSpc>
                <a:spcPct val="100000"/>
              </a:lnSpc>
              <a:spcBef>
                <a:spcPct val="30000"/>
              </a:spcBef>
              <a:spcAft>
                <a:spcPct val="0"/>
              </a:spcAft>
              <a:buClrTx/>
              <a:buSzTx/>
              <a:buFont typeface="Arial" panose="020B0604020202020204" pitchFamily="34" charset="0"/>
              <a:buChar char="•"/>
              <a:tabLst/>
              <a:defRPr/>
            </a:pPr>
            <a:r>
              <a:rPr lang="en-BE" dirty="0"/>
              <a:t>large (250MW, 620MWh)</a:t>
            </a:r>
            <a:r>
              <a:rPr lang="en-US" dirty="0"/>
              <a:t> </a:t>
            </a:r>
          </a:p>
        </p:txBody>
      </p:sp>
      <p:sp>
        <p:nvSpPr>
          <p:cNvPr id="4" name="Slide Number Placeholder 3">
            <a:extLst>
              <a:ext uri="{FF2B5EF4-FFF2-40B4-BE49-F238E27FC236}">
                <a16:creationId xmlns:a16="http://schemas.microsoft.com/office/drawing/2014/main" id="{84F033FD-3E86-136F-DFDA-BE4EAE859055}"/>
              </a:ext>
            </a:extLst>
          </p:cNvPr>
          <p:cNvSpPr>
            <a:spLocks noGrp="1"/>
          </p:cNvSpPr>
          <p:nvPr>
            <p:ph type="sldNum" sz="quarter" idx="5"/>
          </p:nvPr>
        </p:nvSpPr>
        <p:spPr/>
        <p:txBody>
          <a:bodyPr/>
          <a:lstStyle/>
          <a:p>
            <a:fld id="{539A0A48-EDB1-4AFE-B1B7-10CE2A416496}" type="slidenum">
              <a:rPr lang="en-GB" smtClean="0"/>
              <a:t>31</a:t>
            </a:fld>
            <a:endParaRPr lang="en-GB"/>
          </a:p>
        </p:txBody>
      </p:sp>
    </p:spTree>
    <p:extLst>
      <p:ext uri="{BB962C8B-B14F-4D97-AF65-F5344CB8AC3E}">
        <p14:creationId xmlns:p14="http://schemas.microsoft.com/office/powerpoint/2010/main" val="2333201764"/>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3D696A9-BEB9-F6EE-CF49-9652BF0ED65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7E35781-6B1A-9446-3E2C-8E941E5D025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98C8810-CCC2-9828-8E80-7EB74F3AD2B0}"/>
              </a:ext>
            </a:extLst>
          </p:cNvPr>
          <p:cNvSpPr>
            <a:spLocks noGrp="1"/>
          </p:cNvSpPr>
          <p:nvPr>
            <p:ph type="body" idx="1"/>
          </p:nvPr>
        </p:nvSpPr>
        <p:spPr/>
        <p:txBody>
          <a:bodyPr/>
          <a:lstStyle/>
          <a:p>
            <a:pPr marL="0" marR="0" lvl="0" indent="0" algn="l" defTabSz="914400" rtl="0" eaLnBrk="0" fontAlgn="base" latinLnBrk="0" hangingPunct="0">
              <a:lnSpc>
                <a:spcPct val="100000"/>
              </a:lnSpc>
              <a:spcBef>
                <a:spcPct val="30000"/>
              </a:spcBef>
              <a:spcAft>
                <a:spcPct val="0"/>
              </a:spcAft>
              <a:buClrTx/>
              <a:buSzTx/>
              <a:buFontTx/>
              <a:buNone/>
              <a:tabLst/>
              <a:defRPr/>
            </a:pPr>
            <a:r>
              <a:rPr lang="en-BE" dirty="0"/>
              <a:t>Battery capacity for BRP:</a:t>
            </a:r>
          </a:p>
          <a:p>
            <a:pPr marL="171450" marR="0" lvl="0" indent="-171450" algn="l" defTabSz="914400" rtl="0" eaLnBrk="0" fontAlgn="base" latinLnBrk="0" hangingPunct="0">
              <a:lnSpc>
                <a:spcPct val="100000"/>
              </a:lnSpc>
              <a:spcBef>
                <a:spcPct val="30000"/>
              </a:spcBef>
              <a:spcAft>
                <a:spcPct val="0"/>
              </a:spcAft>
              <a:buClrTx/>
              <a:buSzTx/>
              <a:buFont typeface="Arial" panose="020B0604020202020204" pitchFamily="34" charset="0"/>
              <a:buChar char="•"/>
              <a:tabLst/>
              <a:defRPr/>
            </a:pPr>
            <a:r>
              <a:rPr lang="en-BE" dirty="0"/>
              <a:t>small (60MW, 150MWh)</a:t>
            </a:r>
          </a:p>
          <a:p>
            <a:pPr marL="171450" marR="0" lvl="0" indent="-171450" algn="l" defTabSz="914400" rtl="0" eaLnBrk="0" fontAlgn="base" latinLnBrk="0" hangingPunct="0">
              <a:lnSpc>
                <a:spcPct val="100000"/>
              </a:lnSpc>
              <a:spcBef>
                <a:spcPct val="30000"/>
              </a:spcBef>
              <a:spcAft>
                <a:spcPct val="0"/>
              </a:spcAft>
              <a:buClrTx/>
              <a:buSzTx/>
              <a:buFont typeface="Arial" panose="020B0604020202020204" pitchFamily="34" charset="0"/>
              <a:buChar char="•"/>
              <a:tabLst/>
              <a:defRPr/>
            </a:pPr>
            <a:r>
              <a:rPr lang="en-BE" dirty="0"/>
              <a:t>medium (125MW, 310MWh) </a:t>
            </a:r>
          </a:p>
          <a:p>
            <a:pPr marL="171450" marR="0" lvl="0" indent="-171450" algn="l" defTabSz="914400" rtl="0" eaLnBrk="0" fontAlgn="base" latinLnBrk="0" hangingPunct="0">
              <a:lnSpc>
                <a:spcPct val="100000"/>
              </a:lnSpc>
              <a:spcBef>
                <a:spcPct val="30000"/>
              </a:spcBef>
              <a:spcAft>
                <a:spcPct val="0"/>
              </a:spcAft>
              <a:buClrTx/>
              <a:buSzTx/>
              <a:buFont typeface="Arial" panose="020B0604020202020204" pitchFamily="34" charset="0"/>
              <a:buChar char="•"/>
              <a:tabLst/>
              <a:defRPr/>
            </a:pPr>
            <a:r>
              <a:rPr lang="en-BE" dirty="0"/>
              <a:t>large (250MW, 620MWh)</a:t>
            </a:r>
          </a:p>
          <a:p>
            <a:endParaRPr lang="en-US" dirty="0"/>
          </a:p>
        </p:txBody>
      </p:sp>
      <p:sp>
        <p:nvSpPr>
          <p:cNvPr id="4" name="Slide Number Placeholder 3">
            <a:extLst>
              <a:ext uri="{FF2B5EF4-FFF2-40B4-BE49-F238E27FC236}">
                <a16:creationId xmlns:a16="http://schemas.microsoft.com/office/drawing/2014/main" id="{6A282CE7-AF10-7364-80B7-78D663B79F4A}"/>
              </a:ext>
            </a:extLst>
          </p:cNvPr>
          <p:cNvSpPr>
            <a:spLocks noGrp="1"/>
          </p:cNvSpPr>
          <p:nvPr>
            <p:ph type="sldNum" sz="quarter" idx="5"/>
          </p:nvPr>
        </p:nvSpPr>
        <p:spPr/>
        <p:txBody>
          <a:bodyPr/>
          <a:lstStyle/>
          <a:p>
            <a:fld id="{539A0A48-EDB1-4AFE-B1B7-10CE2A416496}" type="slidenum">
              <a:rPr lang="en-GB" smtClean="0"/>
              <a:t>32</a:t>
            </a:fld>
            <a:endParaRPr lang="en-GB"/>
          </a:p>
        </p:txBody>
      </p:sp>
    </p:spTree>
    <p:extLst>
      <p:ext uri="{BB962C8B-B14F-4D97-AF65-F5344CB8AC3E}">
        <p14:creationId xmlns:p14="http://schemas.microsoft.com/office/powerpoint/2010/main" val="2686725097"/>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E1DCEE7-B0BC-CFDC-D369-74F569F4D9F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2CE67EE-41C5-507F-81A7-DFDA13053221}"/>
              </a:ext>
            </a:extLst>
          </p:cNvPr>
          <p:cNvSpPr>
            <a:spLocks noGrp="1" noRot="1" noChangeAspect="1"/>
          </p:cNvSpPr>
          <p:nvPr>
            <p:ph type="sldImg"/>
          </p:nvPr>
        </p:nvSpPr>
        <p:spPr>
          <a:xfrm>
            <a:off x="458788" y="720725"/>
            <a:ext cx="6400800" cy="3600450"/>
          </a:xfrm>
        </p:spPr>
      </p:sp>
      <p:sp>
        <p:nvSpPr>
          <p:cNvPr id="3" name="Notes Placeholder 2">
            <a:extLst>
              <a:ext uri="{FF2B5EF4-FFF2-40B4-BE49-F238E27FC236}">
                <a16:creationId xmlns:a16="http://schemas.microsoft.com/office/drawing/2014/main" id="{D2413D25-152F-2B6B-2633-6C4D4D40D56E}"/>
              </a:ext>
            </a:extLst>
          </p:cNvPr>
          <p:cNvSpPr>
            <a:spLocks noGrp="1"/>
          </p:cNvSpPr>
          <p:nvPr>
            <p:ph type="body" idx="1"/>
          </p:nvPr>
        </p:nvSpPr>
        <p:spPr/>
        <p:txBody>
          <a:bodyPr>
            <a:normAutofit/>
          </a:bodyPr>
          <a:lstStyle/>
          <a:p>
            <a:endParaRPr lang="nl-BE" dirty="0"/>
          </a:p>
        </p:txBody>
      </p:sp>
      <p:sp>
        <p:nvSpPr>
          <p:cNvPr id="4" name="Slide Number Placeholder 3">
            <a:extLst>
              <a:ext uri="{FF2B5EF4-FFF2-40B4-BE49-F238E27FC236}">
                <a16:creationId xmlns:a16="http://schemas.microsoft.com/office/drawing/2014/main" id="{3026DA1C-7037-9154-4FFD-8F09CD157285}"/>
              </a:ext>
            </a:extLst>
          </p:cNvPr>
          <p:cNvSpPr>
            <a:spLocks noGrp="1"/>
          </p:cNvSpPr>
          <p:nvPr>
            <p:ph type="sldNum" sz="quarter" idx="10"/>
          </p:nvPr>
        </p:nvSpPr>
        <p:spPr/>
        <p:txBody>
          <a:bodyPr/>
          <a:lstStyle/>
          <a:p>
            <a:pPr>
              <a:defRPr/>
            </a:pPr>
            <a:fld id="{C47D07E1-450F-4D21-88F2-2F1F63C1D3B1}" type="slidenum">
              <a:rPr lang="en-US" smtClean="0"/>
              <a:pPr>
                <a:defRPr/>
              </a:pPr>
              <a:t>33</a:t>
            </a:fld>
            <a:endParaRPr lang="en-US"/>
          </a:p>
        </p:txBody>
      </p:sp>
    </p:spTree>
    <p:extLst>
      <p:ext uri="{BB962C8B-B14F-4D97-AF65-F5344CB8AC3E}">
        <p14:creationId xmlns:p14="http://schemas.microsoft.com/office/powerpoint/2010/main" val="1556093689"/>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jdelijke aanduiding voor dia-afbeelding 1"/>
          <p:cNvSpPr>
            <a:spLocks noGrp="1" noRot="1" noChangeAspect="1"/>
          </p:cNvSpPr>
          <p:nvPr>
            <p:ph type="sldImg"/>
          </p:nvPr>
        </p:nvSpPr>
        <p:spPr/>
      </p:sp>
      <p:sp>
        <p:nvSpPr>
          <p:cNvPr id="3" name="Tijdelijke aanduiding voor notities 2"/>
          <p:cNvSpPr>
            <a:spLocks noGrp="1"/>
          </p:cNvSpPr>
          <p:nvPr>
            <p:ph type="body" idx="1"/>
          </p:nvPr>
        </p:nvSpPr>
        <p:spPr/>
        <p:txBody>
          <a:bodyPr/>
          <a:lstStyle/>
          <a:p>
            <a:r>
              <a:rPr lang="en-US" sz="990" b="0" kern="1200" dirty="0" err="1">
                <a:solidFill>
                  <a:schemeClr val="tx1"/>
                </a:solidFill>
                <a:effectLst/>
                <a:latin typeface="Gill Sans MT" charset="0"/>
                <a:ea typeface="Gill Sans MT" charset="0"/>
                <a:cs typeface="Gill Sans MT" charset="0"/>
              </a:rPr>
              <a:t>HomeLab</a:t>
            </a:r>
            <a:r>
              <a:rPr lang="en-US" sz="990" b="0" kern="1200" dirty="0">
                <a:solidFill>
                  <a:schemeClr val="tx1"/>
                </a:solidFill>
                <a:effectLst/>
                <a:latin typeface="Gill Sans MT" charset="0"/>
                <a:ea typeface="Gill Sans MT" charset="0"/>
                <a:cs typeface="Gill Sans MT" charset="0"/>
              </a:rPr>
              <a:t> is an initiative of </a:t>
            </a:r>
            <a:r>
              <a:rPr lang="en-US" sz="990" b="0" kern="1200" dirty="0" err="1">
                <a:solidFill>
                  <a:schemeClr val="tx1"/>
                </a:solidFill>
                <a:effectLst/>
                <a:latin typeface="Gill Sans MT" charset="0"/>
                <a:ea typeface="Gill Sans MT" charset="0"/>
                <a:cs typeface="Gill Sans MT" charset="0"/>
              </a:rPr>
              <a:t>imec</a:t>
            </a:r>
            <a:r>
              <a:rPr lang="en-US" sz="990" b="0" kern="1200" dirty="0">
                <a:solidFill>
                  <a:schemeClr val="tx1"/>
                </a:solidFill>
                <a:effectLst/>
                <a:latin typeface="Gill Sans MT" charset="0"/>
                <a:ea typeface="Gill Sans MT" charset="0"/>
                <a:cs typeface="Gill Sans MT" charset="0"/>
              </a:rPr>
              <a:t> and Ghent University. It is both a home and a lab as it is a two-story house in which people can live</a:t>
            </a:r>
            <a:r>
              <a:rPr lang="en-US" sz="990" b="0" kern="1200" baseline="0" dirty="0">
                <a:solidFill>
                  <a:schemeClr val="tx1"/>
                </a:solidFill>
                <a:effectLst/>
                <a:latin typeface="Gill Sans MT" charset="0"/>
                <a:ea typeface="Gill Sans MT" charset="0"/>
                <a:cs typeface="Gill Sans MT" charset="0"/>
              </a:rPr>
              <a:t> </a:t>
            </a:r>
            <a:r>
              <a:rPr lang="en-US" sz="990" b="0" kern="1200" dirty="0">
                <a:solidFill>
                  <a:schemeClr val="tx1"/>
                </a:solidFill>
                <a:effectLst/>
                <a:latin typeface="Gill Sans MT" charset="0"/>
                <a:ea typeface="Gill Sans MT" charset="0"/>
                <a:cs typeface="Gill Sans MT" charset="0"/>
              </a:rPr>
              <a:t>temporarily to test and co-create </a:t>
            </a:r>
            <a:r>
              <a:rPr lang="en-US" sz="990" b="0" kern="1200" dirty="0" err="1">
                <a:solidFill>
                  <a:schemeClr val="tx1"/>
                </a:solidFill>
                <a:effectLst/>
                <a:latin typeface="Gill Sans MT" charset="0"/>
                <a:ea typeface="Gill Sans MT" charset="0"/>
                <a:cs typeface="Gill Sans MT" charset="0"/>
              </a:rPr>
              <a:t>IoT</a:t>
            </a:r>
            <a:r>
              <a:rPr lang="en-US" sz="990" b="0" kern="1200" dirty="0">
                <a:solidFill>
                  <a:schemeClr val="tx1"/>
                </a:solidFill>
                <a:effectLst/>
                <a:latin typeface="Gill Sans MT" charset="0"/>
                <a:ea typeface="Gill Sans MT" charset="0"/>
                <a:cs typeface="Gill Sans MT" charset="0"/>
              </a:rPr>
              <a:t> prototypes or products</a:t>
            </a:r>
            <a:r>
              <a:rPr lang="en-US" sz="990" b="0" kern="1200" baseline="0" dirty="0">
                <a:solidFill>
                  <a:schemeClr val="tx1"/>
                </a:solidFill>
                <a:effectLst/>
                <a:latin typeface="Gill Sans MT" charset="0"/>
                <a:ea typeface="Gill Sans MT" charset="0"/>
                <a:cs typeface="Gill Sans MT" charset="0"/>
              </a:rPr>
              <a:t>. </a:t>
            </a:r>
            <a:r>
              <a:rPr lang="en-US" sz="990" b="0" kern="1200" dirty="0">
                <a:solidFill>
                  <a:schemeClr val="tx1"/>
                </a:solidFill>
                <a:effectLst/>
                <a:latin typeface="Gill Sans MT" charset="0"/>
                <a:ea typeface="Gill Sans MT" charset="0"/>
                <a:cs typeface="Gill Sans MT" charset="0"/>
              </a:rPr>
              <a:t>With technical corridors in every room and an open home automation system, it offers tremendous flexibility to develop and install early prototypes of smart products and test their interoperability with other systems. </a:t>
            </a:r>
            <a:endParaRPr lang="en-US" dirty="0"/>
          </a:p>
          <a:p>
            <a:endParaRPr lang="en-US" sz="990" b="0" kern="1200" dirty="0">
              <a:solidFill>
                <a:schemeClr val="tx1"/>
              </a:solidFill>
              <a:effectLst/>
              <a:latin typeface="Gill Sans MT" charset="0"/>
              <a:ea typeface="Gill Sans MT" charset="0"/>
              <a:cs typeface="Gill Sans MT" charset="0"/>
            </a:endParaRPr>
          </a:p>
          <a:p>
            <a:r>
              <a:rPr lang="en-US" sz="990" b="0" kern="1200" dirty="0">
                <a:solidFill>
                  <a:schemeClr val="tx1"/>
                </a:solidFill>
                <a:effectLst/>
                <a:latin typeface="Gill Sans MT" charset="0"/>
                <a:ea typeface="Gill Sans MT" charset="0"/>
                <a:cs typeface="Gill Sans MT" charset="0"/>
              </a:rPr>
              <a:t>It focuses on testing and co-developing smart home innovations in a variety of application domains – from home automation</a:t>
            </a:r>
            <a:r>
              <a:rPr lang="en-US" sz="990" b="0" kern="1200" baseline="0" dirty="0">
                <a:solidFill>
                  <a:schemeClr val="tx1"/>
                </a:solidFill>
                <a:effectLst/>
                <a:latin typeface="Gill Sans MT" charset="0"/>
                <a:ea typeface="Gill Sans MT" charset="0"/>
                <a:cs typeface="Gill Sans MT" charset="0"/>
              </a:rPr>
              <a:t> </a:t>
            </a:r>
            <a:r>
              <a:rPr lang="en-US" sz="990" b="0" kern="1200" dirty="0">
                <a:solidFill>
                  <a:schemeClr val="tx1"/>
                </a:solidFill>
                <a:effectLst/>
                <a:latin typeface="Gill Sans MT" charset="0"/>
                <a:ea typeface="Gill Sans MT" charset="0"/>
                <a:cs typeface="Gill Sans MT" charset="0"/>
              </a:rPr>
              <a:t>and (health)care to entertainment, energy and security. It aims at serving the needs of SMEs as well as large businesses, researchers, non-profit organizations, etc. </a:t>
            </a:r>
          </a:p>
          <a:p>
            <a:endParaRPr lang="en-US" sz="990" b="0" kern="1200" dirty="0">
              <a:solidFill>
                <a:schemeClr val="tx1"/>
              </a:solidFill>
              <a:effectLst/>
              <a:latin typeface="Gill Sans MT" charset="0"/>
              <a:ea typeface="Gill Sans MT" charset="0"/>
              <a:cs typeface="Gill Sans MT" charset="0"/>
            </a:endParaRPr>
          </a:p>
          <a:p>
            <a:r>
              <a:rPr lang="en-US" sz="990" b="0" kern="1200" dirty="0">
                <a:solidFill>
                  <a:schemeClr val="tx1"/>
                </a:solidFill>
                <a:effectLst/>
                <a:latin typeface="Gill Sans MT" charset="0"/>
                <a:ea typeface="Gill Sans MT" charset="0"/>
                <a:cs typeface="Gill Sans MT" charset="0"/>
              </a:rPr>
              <a:t>It is located on the Technology</a:t>
            </a:r>
            <a:r>
              <a:rPr lang="en-US" sz="990" b="0" kern="1200" baseline="0" dirty="0">
                <a:solidFill>
                  <a:schemeClr val="tx1"/>
                </a:solidFill>
                <a:effectLst/>
                <a:latin typeface="Gill Sans MT" charset="0"/>
                <a:ea typeface="Gill Sans MT" charset="0"/>
                <a:cs typeface="Gill Sans MT" charset="0"/>
              </a:rPr>
              <a:t> Campus Ghent in Belgium </a:t>
            </a:r>
          </a:p>
          <a:p>
            <a:endParaRPr lang="en-US" sz="990" b="0" kern="1200" baseline="0" dirty="0">
              <a:solidFill>
                <a:schemeClr val="tx1"/>
              </a:solidFill>
              <a:effectLst/>
              <a:latin typeface="Gill Sans MT" charset="0"/>
              <a:ea typeface="Gill Sans MT" charset="0"/>
              <a:cs typeface="Gill Sans MT" charset="0"/>
            </a:endParaRPr>
          </a:p>
          <a:p>
            <a:r>
              <a:rPr lang="en-US" sz="990" b="0" kern="1200" baseline="0" dirty="0" err="1">
                <a:solidFill>
                  <a:schemeClr val="tx1"/>
                </a:solidFill>
                <a:effectLst/>
                <a:latin typeface="Gill Sans MT" charset="0"/>
                <a:ea typeface="Gill Sans MT" charset="0"/>
                <a:cs typeface="Gill Sans MT" charset="0"/>
              </a:rPr>
              <a:t>www.imec-int.com</a:t>
            </a:r>
            <a:r>
              <a:rPr lang="en-US" sz="990" b="0" kern="1200" baseline="0" dirty="0">
                <a:solidFill>
                  <a:schemeClr val="tx1"/>
                </a:solidFill>
                <a:effectLst/>
                <a:latin typeface="Gill Sans MT" charset="0"/>
                <a:ea typeface="Gill Sans MT" charset="0"/>
                <a:cs typeface="Gill Sans MT" charset="0"/>
              </a:rPr>
              <a:t>/</a:t>
            </a:r>
            <a:r>
              <a:rPr lang="en-US" sz="990" b="0" kern="1200" baseline="0" dirty="0" err="1">
                <a:solidFill>
                  <a:schemeClr val="tx1"/>
                </a:solidFill>
                <a:effectLst/>
                <a:latin typeface="Gill Sans MT" charset="0"/>
                <a:ea typeface="Gill Sans MT" charset="0"/>
                <a:cs typeface="Gill Sans MT" charset="0"/>
              </a:rPr>
              <a:t>homelab</a:t>
            </a:r>
            <a:endParaRPr lang="en-US" dirty="0"/>
          </a:p>
          <a:p>
            <a:endParaRPr lang="en-US" sz="990" b="0" kern="1200" baseline="0" dirty="0">
              <a:solidFill>
                <a:schemeClr val="tx1"/>
              </a:solidFill>
              <a:effectLst/>
              <a:latin typeface="Gill Sans MT" charset="0"/>
              <a:ea typeface="Gill Sans MT" charset="0"/>
              <a:cs typeface="Gill Sans MT" charset="0"/>
            </a:endParaRPr>
          </a:p>
          <a:p>
            <a:pPr marL="0" indent="0">
              <a:buNone/>
            </a:pPr>
            <a:endParaRPr lang="nl-NL" dirty="0"/>
          </a:p>
        </p:txBody>
      </p:sp>
      <p:sp>
        <p:nvSpPr>
          <p:cNvPr id="4" name="Tijdelijke aanduiding voor dianummer 3"/>
          <p:cNvSpPr>
            <a:spLocks noGrp="1"/>
          </p:cNvSpPr>
          <p:nvPr>
            <p:ph type="sldNum" sz="quarter" idx="10"/>
          </p:nvPr>
        </p:nvSpPr>
        <p:spPr/>
        <p:txBody>
          <a:bodyPr/>
          <a:lstStyle/>
          <a:p>
            <a:fld id="{7B91B61D-47B7-A144-8E63-D9376A6761BB}" type="slidenum">
              <a:rPr lang="en-US" smtClean="0"/>
              <a:pPr/>
              <a:t>34</a:t>
            </a:fld>
            <a:endParaRPr lang="en-US"/>
          </a:p>
        </p:txBody>
      </p:sp>
    </p:spTree>
    <p:extLst>
      <p:ext uri="{BB962C8B-B14F-4D97-AF65-F5344CB8AC3E}">
        <p14:creationId xmlns:p14="http://schemas.microsoft.com/office/powerpoint/2010/main" val="4261096430"/>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jdelijke aanduiding voor dia-afbeelding 1"/>
          <p:cNvSpPr>
            <a:spLocks noGrp="1" noRot="1" noChangeAspect="1"/>
          </p:cNvSpPr>
          <p:nvPr>
            <p:ph type="sldImg"/>
          </p:nvPr>
        </p:nvSpPr>
        <p:spPr/>
      </p:sp>
      <p:sp>
        <p:nvSpPr>
          <p:cNvPr id="3" name="Tijdelijke aanduiding voor notities 2"/>
          <p:cNvSpPr>
            <a:spLocks noGrp="1"/>
          </p:cNvSpPr>
          <p:nvPr>
            <p:ph type="body" idx="1"/>
          </p:nvPr>
        </p:nvSpPr>
        <p:spPr/>
        <p:txBody>
          <a:bodyPr/>
          <a:lstStyle/>
          <a:p>
            <a:r>
              <a:rPr lang="en-US" sz="990" b="0" kern="1200" dirty="0">
                <a:solidFill>
                  <a:schemeClr val="tx1"/>
                </a:solidFill>
                <a:effectLst/>
                <a:latin typeface="Gill Sans MT" charset="0"/>
                <a:ea typeface="Gill Sans MT" charset="0"/>
                <a:cs typeface="Gill Sans MT" charset="0"/>
              </a:rPr>
              <a:t>The cellar holds the HVAC (heating, ventilation, and air conditioning) equipment (2 ventilation systems with top cooling + heat pump),</a:t>
            </a:r>
            <a:r>
              <a:rPr lang="en-US" sz="990" b="0" kern="1200" baseline="0" dirty="0">
                <a:solidFill>
                  <a:schemeClr val="tx1"/>
                </a:solidFill>
                <a:effectLst/>
                <a:latin typeface="Gill Sans MT" charset="0"/>
                <a:ea typeface="Gill Sans MT" charset="0"/>
                <a:cs typeface="Gill Sans MT" charset="0"/>
              </a:rPr>
              <a:t> </a:t>
            </a:r>
            <a:r>
              <a:rPr lang="en-US" sz="990" b="0" kern="1200" dirty="0">
                <a:solidFill>
                  <a:schemeClr val="tx1"/>
                </a:solidFill>
                <a:effectLst/>
                <a:latin typeface="Gill Sans MT" charset="0"/>
                <a:ea typeface="Gill Sans MT" charset="0"/>
                <a:cs typeface="Gill Sans MT" charset="0"/>
              </a:rPr>
              <a:t>and the extended electrical cabinets . On the roof</a:t>
            </a:r>
            <a:r>
              <a:rPr lang="en-US" sz="990" b="0" kern="1200" baseline="0" dirty="0">
                <a:solidFill>
                  <a:schemeClr val="tx1"/>
                </a:solidFill>
                <a:effectLst/>
                <a:latin typeface="Gill Sans MT" charset="0"/>
                <a:ea typeface="Gill Sans MT" charset="0"/>
                <a:cs typeface="Gill Sans MT" charset="0"/>
              </a:rPr>
              <a:t> 5kWp solar panels are installed</a:t>
            </a:r>
            <a:endParaRPr lang="en-US" dirty="0"/>
          </a:p>
          <a:p>
            <a:endParaRPr lang="en-US" sz="990" b="0" kern="1200" dirty="0">
              <a:solidFill>
                <a:schemeClr val="tx1"/>
              </a:solidFill>
              <a:effectLst/>
              <a:latin typeface="Gill Sans MT" charset="0"/>
              <a:ea typeface="Gill Sans MT" charset="0"/>
              <a:cs typeface="Gill Sans MT" charset="0"/>
            </a:endParaRPr>
          </a:p>
          <a:p>
            <a:r>
              <a:rPr lang="en-US" sz="990" b="0" kern="1200" dirty="0" err="1">
                <a:solidFill>
                  <a:schemeClr val="tx1"/>
                </a:solidFill>
                <a:effectLst/>
                <a:latin typeface="Gill Sans MT" charset="0"/>
                <a:ea typeface="Gill Sans MT" charset="0"/>
                <a:cs typeface="Gill Sans MT" charset="0"/>
              </a:rPr>
              <a:t>HomeLab</a:t>
            </a:r>
            <a:r>
              <a:rPr lang="en-US" sz="990" b="0" kern="1200" dirty="0">
                <a:solidFill>
                  <a:schemeClr val="tx1"/>
                </a:solidFill>
                <a:effectLst/>
                <a:latin typeface="Gill Sans MT" charset="0"/>
                <a:ea typeface="Gill Sans MT" charset="0"/>
                <a:cs typeface="Gill Sans MT" charset="0"/>
              </a:rPr>
              <a:t> features an open home automation system (</a:t>
            </a:r>
            <a:r>
              <a:rPr lang="en-US" sz="990" b="0" kern="1200" dirty="0" err="1">
                <a:solidFill>
                  <a:schemeClr val="tx1"/>
                </a:solidFill>
                <a:effectLst/>
                <a:latin typeface="Gill Sans MT" charset="0"/>
                <a:ea typeface="Gill Sans MT" charset="0"/>
                <a:cs typeface="Gill Sans MT" charset="0"/>
              </a:rPr>
              <a:t>Velbus</a:t>
            </a:r>
            <a:r>
              <a:rPr lang="en-US" sz="990" b="0" kern="1200" dirty="0">
                <a:solidFill>
                  <a:schemeClr val="tx1"/>
                </a:solidFill>
                <a:effectLst/>
                <a:latin typeface="Gill Sans MT" charset="0"/>
                <a:ea typeface="Gill Sans MT" charset="0"/>
                <a:cs typeface="Gill Sans MT" charset="0"/>
              </a:rPr>
              <a:t>) able to control and monitor all functional elements (screens, switches, doors, windows, etc.) in the house.</a:t>
            </a:r>
          </a:p>
          <a:p>
            <a:endParaRPr lang="en-US" sz="990" b="0" kern="1200" dirty="0">
              <a:solidFill>
                <a:schemeClr val="tx1"/>
              </a:solidFill>
              <a:effectLst/>
              <a:latin typeface="Gill Sans MT" charset="0"/>
              <a:ea typeface="Gill Sans MT" charset="0"/>
              <a:cs typeface="Gill Sans MT" charset="0"/>
            </a:endParaRPr>
          </a:p>
          <a:p>
            <a:r>
              <a:rPr lang="en-US" sz="990" b="0" kern="1200" dirty="0">
                <a:solidFill>
                  <a:schemeClr val="tx1"/>
                </a:solidFill>
                <a:effectLst/>
                <a:latin typeface="Gill Sans MT" charset="0"/>
                <a:ea typeface="Gill Sans MT" charset="0"/>
                <a:cs typeface="Gill Sans MT" charset="0"/>
              </a:rPr>
              <a:t> Multiple</a:t>
            </a:r>
            <a:r>
              <a:rPr lang="en-US" sz="990" b="0" kern="1200" baseline="0" dirty="0">
                <a:solidFill>
                  <a:schemeClr val="tx1"/>
                </a:solidFill>
                <a:effectLst/>
                <a:latin typeface="Gill Sans MT" charset="0"/>
                <a:ea typeface="Gill Sans MT" charset="0"/>
                <a:cs typeface="Gill Sans MT" charset="0"/>
              </a:rPr>
              <a:t> vendor systems can be installed simultaneously in order to validate or benchmark building automation components or services.</a:t>
            </a:r>
            <a:endParaRPr lang="en-US" dirty="0"/>
          </a:p>
          <a:p>
            <a:pPr marL="154305" indent="-154305"/>
            <a:endParaRPr lang="nl-NL" dirty="0"/>
          </a:p>
        </p:txBody>
      </p:sp>
      <p:sp>
        <p:nvSpPr>
          <p:cNvPr id="4" name="Tijdelijke aanduiding voor dianummer 3"/>
          <p:cNvSpPr>
            <a:spLocks noGrp="1"/>
          </p:cNvSpPr>
          <p:nvPr>
            <p:ph type="sldNum" sz="quarter" idx="10"/>
          </p:nvPr>
        </p:nvSpPr>
        <p:spPr/>
        <p:txBody>
          <a:bodyPr/>
          <a:lstStyle/>
          <a:p>
            <a:fld id="{7B91B61D-47B7-A144-8E63-D9376A6761BB}" type="slidenum">
              <a:rPr lang="en-US" smtClean="0"/>
              <a:pPr/>
              <a:t>35</a:t>
            </a:fld>
            <a:endParaRPr lang="en-US"/>
          </a:p>
        </p:txBody>
      </p:sp>
    </p:spTree>
    <p:extLst>
      <p:ext uri="{BB962C8B-B14F-4D97-AF65-F5344CB8AC3E}">
        <p14:creationId xmlns:p14="http://schemas.microsoft.com/office/powerpoint/2010/main" val="1938173209"/>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BE" dirty="0"/>
          </a:p>
        </p:txBody>
      </p:sp>
      <p:sp>
        <p:nvSpPr>
          <p:cNvPr id="4" name="Slide Number Placeholder 3"/>
          <p:cNvSpPr>
            <a:spLocks noGrp="1"/>
          </p:cNvSpPr>
          <p:nvPr>
            <p:ph type="sldNum" sz="quarter" idx="5"/>
          </p:nvPr>
        </p:nvSpPr>
        <p:spPr/>
        <p:txBody>
          <a:bodyPr/>
          <a:lstStyle/>
          <a:p>
            <a:pPr>
              <a:defRPr/>
            </a:pPr>
            <a:fld id="{C47D07E1-450F-4D21-88F2-2F1F63C1D3B1}" type="slidenum">
              <a:rPr lang="en-US" smtClean="0"/>
              <a:pPr>
                <a:defRPr/>
              </a:pPr>
              <a:t>38</a:t>
            </a:fld>
            <a:endParaRPr lang="en-US"/>
          </a:p>
        </p:txBody>
      </p:sp>
    </p:spTree>
    <p:extLst>
      <p:ext uri="{BB962C8B-B14F-4D97-AF65-F5344CB8AC3E}">
        <p14:creationId xmlns:p14="http://schemas.microsoft.com/office/powerpoint/2010/main" val="3474369089"/>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BE" dirty="0"/>
          </a:p>
        </p:txBody>
      </p:sp>
      <p:sp>
        <p:nvSpPr>
          <p:cNvPr id="4" name="Slide Number Placeholder 3"/>
          <p:cNvSpPr>
            <a:spLocks noGrp="1"/>
          </p:cNvSpPr>
          <p:nvPr>
            <p:ph type="sldNum" sz="quarter" idx="5"/>
          </p:nvPr>
        </p:nvSpPr>
        <p:spPr/>
        <p:txBody>
          <a:bodyPr/>
          <a:lstStyle/>
          <a:p>
            <a:pPr>
              <a:defRPr/>
            </a:pPr>
            <a:fld id="{C47D07E1-450F-4D21-88F2-2F1F63C1D3B1}" type="slidenum">
              <a:rPr lang="en-US" smtClean="0"/>
              <a:pPr>
                <a:defRPr/>
              </a:pPr>
              <a:t>39</a:t>
            </a:fld>
            <a:endParaRPr lang="en-US"/>
          </a:p>
        </p:txBody>
      </p:sp>
    </p:spTree>
    <p:extLst>
      <p:ext uri="{BB962C8B-B14F-4D97-AF65-F5344CB8AC3E}">
        <p14:creationId xmlns:p14="http://schemas.microsoft.com/office/powerpoint/2010/main" val="3306159512"/>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BE" dirty="0"/>
          </a:p>
        </p:txBody>
      </p:sp>
      <p:sp>
        <p:nvSpPr>
          <p:cNvPr id="4" name="Slide Number Placeholder 3"/>
          <p:cNvSpPr>
            <a:spLocks noGrp="1"/>
          </p:cNvSpPr>
          <p:nvPr>
            <p:ph type="sldNum" sz="quarter" idx="5"/>
          </p:nvPr>
        </p:nvSpPr>
        <p:spPr/>
        <p:txBody>
          <a:bodyPr/>
          <a:lstStyle/>
          <a:p>
            <a:pPr>
              <a:defRPr/>
            </a:pPr>
            <a:fld id="{C47D07E1-450F-4D21-88F2-2F1F63C1D3B1}" type="slidenum">
              <a:rPr lang="en-US" smtClean="0"/>
              <a:pPr>
                <a:defRPr/>
              </a:pPr>
              <a:t>40</a:t>
            </a:fld>
            <a:endParaRPr lang="en-US"/>
          </a:p>
        </p:txBody>
      </p:sp>
    </p:spTree>
    <p:extLst>
      <p:ext uri="{BB962C8B-B14F-4D97-AF65-F5344CB8AC3E}">
        <p14:creationId xmlns:p14="http://schemas.microsoft.com/office/powerpoint/2010/main" val="2528971586"/>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58788" y="720725"/>
            <a:ext cx="6400800" cy="3600450"/>
          </a:xfrm>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a:defRPr/>
            </a:pPr>
            <a:fld id="{C47D07E1-450F-4D21-88F2-2F1F63C1D3B1}" type="slidenum">
              <a:rPr lang="en-US" smtClean="0"/>
              <a:pPr>
                <a:defRPr/>
              </a:pPr>
              <a:t>42</a:t>
            </a:fld>
            <a:endParaRPr lang="en-US"/>
          </a:p>
        </p:txBody>
      </p:sp>
    </p:spTree>
    <p:extLst>
      <p:ext uri="{BB962C8B-B14F-4D97-AF65-F5344CB8AC3E}">
        <p14:creationId xmlns:p14="http://schemas.microsoft.com/office/powerpoint/2010/main" val="2821728035"/>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58788" y="720725"/>
            <a:ext cx="6400800" cy="3600450"/>
          </a:xfrm>
        </p:spPr>
      </p:sp>
      <p:sp>
        <p:nvSpPr>
          <p:cNvPr id="3" name="Notes Placeholder 2"/>
          <p:cNvSpPr>
            <a:spLocks noGrp="1"/>
          </p:cNvSpPr>
          <p:nvPr>
            <p:ph type="body" idx="1"/>
          </p:nvPr>
        </p:nvSpPr>
        <p:spPr/>
        <p:txBody>
          <a:bodyPr>
            <a:normAutofit/>
          </a:bodyPr>
          <a:lstStyle/>
          <a:p>
            <a:endParaRPr lang="nl-BE" dirty="0"/>
          </a:p>
        </p:txBody>
      </p:sp>
      <p:sp>
        <p:nvSpPr>
          <p:cNvPr id="4" name="Slide Number Placeholder 3"/>
          <p:cNvSpPr>
            <a:spLocks noGrp="1"/>
          </p:cNvSpPr>
          <p:nvPr>
            <p:ph type="sldNum" sz="quarter" idx="10"/>
          </p:nvPr>
        </p:nvSpPr>
        <p:spPr/>
        <p:txBody>
          <a:bodyPr/>
          <a:lstStyle/>
          <a:p>
            <a:pPr>
              <a:defRPr/>
            </a:pPr>
            <a:fld id="{C47D07E1-450F-4D21-88F2-2F1F63C1D3B1}" type="slidenum">
              <a:rPr lang="en-US" smtClean="0"/>
              <a:pPr>
                <a:defRPr/>
              </a:pPr>
              <a:t>43</a:t>
            </a:fld>
            <a:endParaRPr lang="en-US"/>
          </a:p>
        </p:txBody>
      </p:sp>
    </p:spTree>
    <p:extLst>
      <p:ext uri="{BB962C8B-B14F-4D97-AF65-F5344CB8AC3E}">
        <p14:creationId xmlns:p14="http://schemas.microsoft.com/office/powerpoint/2010/main" val="3069681987"/>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B78AE13-AA4A-D853-1050-9CAD42CDB6A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CBEBA94-75B4-85CF-3981-6E82E036F55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BB486D1-119E-EC45-9580-394BD1ABE38A}"/>
              </a:ext>
            </a:extLst>
          </p:cNvPr>
          <p:cNvSpPr>
            <a:spLocks noGrp="1"/>
          </p:cNvSpPr>
          <p:nvPr>
            <p:ph type="body" idx="1"/>
          </p:nvPr>
        </p:nvSpPr>
        <p:spPr/>
        <p:txBody>
          <a:bodyPr/>
          <a:lstStyle/>
          <a:p>
            <a:r>
              <a:rPr lang="en-BE" dirty="0"/>
              <a:t>Ne</a:t>
            </a:r>
          </a:p>
        </p:txBody>
      </p:sp>
      <p:sp>
        <p:nvSpPr>
          <p:cNvPr id="4" name="Slide Number Placeholder 3">
            <a:extLst>
              <a:ext uri="{FF2B5EF4-FFF2-40B4-BE49-F238E27FC236}">
                <a16:creationId xmlns:a16="http://schemas.microsoft.com/office/drawing/2014/main" id="{DC61299F-7FB5-0D53-CBAB-51D761C3EB58}"/>
              </a:ext>
            </a:extLst>
          </p:cNvPr>
          <p:cNvSpPr>
            <a:spLocks noGrp="1"/>
          </p:cNvSpPr>
          <p:nvPr>
            <p:ph type="sldNum" sz="quarter" idx="5"/>
          </p:nvPr>
        </p:nvSpPr>
        <p:spPr/>
        <p:txBody>
          <a:bodyPr/>
          <a:lstStyle/>
          <a:p>
            <a:pPr>
              <a:defRPr/>
            </a:pPr>
            <a:fld id="{C47D07E1-450F-4D21-88F2-2F1F63C1D3B1}" type="slidenum">
              <a:rPr lang="en-US" smtClean="0"/>
              <a:pPr>
                <a:defRPr/>
              </a:pPr>
              <a:t>44</a:t>
            </a:fld>
            <a:endParaRPr lang="en-US"/>
          </a:p>
        </p:txBody>
      </p:sp>
    </p:spTree>
    <p:extLst>
      <p:ext uri="{BB962C8B-B14F-4D97-AF65-F5344CB8AC3E}">
        <p14:creationId xmlns:p14="http://schemas.microsoft.com/office/powerpoint/2010/main" val="480771949"/>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B215DEF-8222-5FF2-655D-72EAB6AB799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437BDC8-C22F-0178-359E-742DBA94798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F9B855C-A170-6EEF-A26A-6D9B9793F712}"/>
              </a:ext>
            </a:extLst>
          </p:cNvPr>
          <p:cNvSpPr>
            <a:spLocks noGrp="1"/>
          </p:cNvSpPr>
          <p:nvPr>
            <p:ph type="body" idx="1"/>
          </p:nvPr>
        </p:nvSpPr>
        <p:spPr/>
        <p:txBody>
          <a:bodyPr/>
          <a:lstStyle/>
          <a:p>
            <a:endParaRPr lang="en-BE" dirty="0"/>
          </a:p>
        </p:txBody>
      </p:sp>
      <p:sp>
        <p:nvSpPr>
          <p:cNvPr id="4" name="Slide Number Placeholder 3">
            <a:extLst>
              <a:ext uri="{FF2B5EF4-FFF2-40B4-BE49-F238E27FC236}">
                <a16:creationId xmlns:a16="http://schemas.microsoft.com/office/drawing/2014/main" id="{CA3C6F80-C57D-C1BB-66B4-AD3E79B61E18}"/>
              </a:ext>
            </a:extLst>
          </p:cNvPr>
          <p:cNvSpPr>
            <a:spLocks noGrp="1"/>
          </p:cNvSpPr>
          <p:nvPr>
            <p:ph type="sldNum" sz="quarter" idx="5"/>
          </p:nvPr>
        </p:nvSpPr>
        <p:spPr/>
        <p:txBody>
          <a:bodyPr/>
          <a:lstStyle/>
          <a:p>
            <a:pPr>
              <a:defRPr/>
            </a:pPr>
            <a:fld id="{C47D07E1-450F-4D21-88F2-2F1F63C1D3B1}" type="slidenum">
              <a:rPr lang="en-US" smtClean="0"/>
              <a:pPr>
                <a:defRPr/>
              </a:pPr>
              <a:t>45</a:t>
            </a:fld>
            <a:endParaRPr lang="en-US"/>
          </a:p>
        </p:txBody>
      </p:sp>
    </p:spTree>
    <p:extLst>
      <p:ext uri="{BB962C8B-B14F-4D97-AF65-F5344CB8AC3E}">
        <p14:creationId xmlns:p14="http://schemas.microsoft.com/office/powerpoint/2010/main" val="905698089"/>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3.jpg"/><Relationship Id="rId1" Type="http://schemas.openxmlformats.org/officeDocument/2006/relationships/slideMaster" Target="../slideMasters/slideMaster1.xml"/><Relationship Id="rId4" Type="http://schemas.openxmlformats.org/officeDocument/2006/relationships/image" Target="../media/image2.png"/></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userDrawn="1">
  <p:cSld name="Title Slide">
    <p:spTree>
      <p:nvGrpSpPr>
        <p:cNvPr id="1" name=""/>
        <p:cNvGrpSpPr/>
        <p:nvPr/>
      </p:nvGrpSpPr>
      <p:grpSpPr>
        <a:xfrm>
          <a:off x="0" y="0"/>
          <a:ext cx="0" cy="0"/>
          <a:chOff x="0" y="0"/>
          <a:chExt cx="0" cy="0"/>
        </a:xfrm>
      </p:grpSpPr>
      <p:sp>
        <p:nvSpPr>
          <p:cNvPr id="41" name="Rectangle 15"/>
          <p:cNvSpPr>
            <a:spLocks noGrp="1" noChangeArrowheads="1"/>
          </p:cNvSpPr>
          <p:nvPr>
            <p:ph type="ftr" sz="quarter" idx="10"/>
          </p:nvPr>
        </p:nvSpPr>
        <p:spPr>
          <a:xfrm>
            <a:off x="2260600" y="6133610"/>
            <a:ext cx="8815917" cy="471488"/>
          </a:xfrm>
        </p:spPr>
        <p:txBody>
          <a:bodyPr/>
          <a:lstStyle>
            <a:lvl1pPr algn="l">
              <a:defRPr i="0" smtClean="0"/>
            </a:lvl1pPr>
          </a:lstStyle>
          <a:p>
            <a:pPr>
              <a:defRPr/>
            </a:pPr>
            <a:r>
              <a:rPr lang="nl-NL"/>
              <a:t>C. Develder, "AI4E: Data-efficient and scalable algorithmss to exploit energy flexibility"</a:t>
            </a:r>
            <a:endParaRPr lang="nl-NL" dirty="0"/>
          </a:p>
        </p:txBody>
      </p:sp>
      <p:sp>
        <p:nvSpPr>
          <p:cNvPr id="19" name="Rectangle 18"/>
          <p:cNvSpPr/>
          <p:nvPr userDrawn="1"/>
        </p:nvSpPr>
        <p:spPr>
          <a:xfrm>
            <a:off x="1031631" y="2"/>
            <a:ext cx="11160371" cy="5171337"/>
          </a:xfrm>
          <a:prstGeom prst="rect">
            <a:avLst/>
          </a:prstGeom>
          <a:solidFill>
            <a:srgbClr val="1E64C8"/>
          </a:solidFill>
          <a:ln>
            <a:noFill/>
          </a:ln>
        </p:spPr>
        <p:style>
          <a:lnRef idx="2">
            <a:schemeClr val="accent1">
              <a:shade val="50000"/>
            </a:schemeClr>
          </a:lnRef>
          <a:fillRef idx="1">
            <a:schemeClr val="accent1"/>
          </a:fillRef>
          <a:effectRef idx="0">
            <a:schemeClr val="accent1"/>
          </a:effectRef>
          <a:fontRef idx="minor">
            <a:schemeClr val="lt1"/>
          </a:fontRef>
        </p:style>
        <p:txBody>
          <a:bodyPr lIns="53998" tIns="26999" rIns="53998" bIns="26999" rtlCol="0" anchor="ctr"/>
          <a:lstStyle/>
          <a:p>
            <a:pPr algn="ctr"/>
            <a:endParaRPr lang="en-GB" sz="1600"/>
          </a:p>
        </p:txBody>
      </p:sp>
      <p:sp>
        <p:nvSpPr>
          <p:cNvPr id="21" name="Rectangle 2"/>
          <p:cNvSpPr>
            <a:spLocks noGrp="1" noChangeArrowheads="1"/>
          </p:cNvSpPr>
          <p:nvPr>
            <p:ph type="ctrTitle" hasCustomPrompt="1"/>
          </p:nvPr>
        </p:nvSpPr>
        <p:spPr>
          <a:xfrm>
            <a:off x="1442752" y="1593520"/>
            <a:ext cx="9717617" cy="1719263"/>
          </a:xfrm>
          <a:noFill/>
        </p:spPr>
        <p:txBody>
          <a:bodyPr anchor="b"/>
          <a:lstStyle>
            <a:lvl1pPr marL="354013" indent="0">
              <a:defRPr sz="4400" b="0" u="sng">
                <a:solidFill>
                  <a:schemeClr val="bg1"/>
                </a:solidFill>
              </a:defRPr>
            </a:lvl1pPr>
          </a:lstStyle>
          <a:p>
            <a:r>
              <a:rPr lang="nl-NL" dirty="0"/>
              <a:t>KLIK OM HET OPMAAKPROFIEL VAN DE MODELTITEL TE BEWERKEN</a:t>
            </a:r>
          </a:p>
        </p:txBody>
      </p:sp>
      <p:sp>
        <p:nvSpPr>
          <p:cNvPr id="22" name="Rectangle 3"/>
          <p:cNvSpPr>
            <a:spLocks noGrp="1" noChangeArrowheads="1"/>
          </p:cNvSpPr>
          <p:nvPr>
            <p:ph type="subTitle" idx="1" hasCustomPrompt="1"/>
          </p:nvPr>
        </p:nvSpPr>
        <p:spPr>
          <a:xfrm>
            <a:off x="1442752" y="3454767"/>
            <a:ext cx="9717617" cy="1152622"/>
          </a:xfrm>
          <a:prstGeom prst="rect">
            <a:avLst/>
          </a:prstGeom>
          <a:noFill/>
        </p:spPr>
        <p:txBody>
          <a:bodyPr anchor="t"/>
          <a:lstStyle>
            <a:lvl1pPr marL="354013" indent="0">
              <a:buFont typeface="Wingdings" pitchFamily="2" charset="2"/>
              <a:buNone/>
              <a:defRPr sz="3200" b="0">
                <a:solidFill>
                  <a:schemeClr val="bg1"/>
                </a:solidFill>
              </a:defRPr>
            </a:lvl1pPr>
          </a:lstStyle>
          <a:p>
            <a:r>
              <a:rPr lang="nl-NL" dirty="0"/>
              <a:t>KLIK OM HET OPMAAKPROFIEL VAN DE MODELONDERTITEL TE BEWERKEN</a:t>
            </a:r>
          </a:p>
        </p:txBody>
      </p:sp>
      <p:pic>
        <p:nvPicPr>
          <p:cNvPr id="9" name="Logo EN">
            <a:extLst>
              <a:ext uri="{FF2B5EF4-FFF2-40B4-BE49-F238E27FC236}">
                <a16:creationId xmlns:a16="http://schemas.microsoft.com/office/drawing/2014/main" id="{1D4851A9-1910-8A4A-9FBD-5CAE5C6606F4}"/>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758911" y="5469386"/>
            <a:ext cx="1714658" cy="1372277"/>
          </a:xfrm>
          <a:prstGeom prst="rect">
            <a:avLst/>
          </a:prstGeom>
        </p:spPr>
      </p:pic>
      <p:sp>
        <p:nvSpPr>
          <p:cNvPr id="3" name="Slide Number Placeholder 2">
            <a:extLst>
              <a:ext uri="{FF2B5EF4-FFF2-40B4-BE49-F238E27FC236}">
                <a16:creationId xmlns:a16="http://schemas.microsoft.com/office/drawing/2014/main" id="{1E451B97-BE37-CA47-9D14-29C8740A6874}"/>
              </a:ext>
            </a:extLst>
          </p:cNvPr>
          <p:cNvSpPr>
            <a:spLocks noGrp="1"/>
          </p:cNvSpPr>
          <p:nvPr>
            <p:ph type="sldNum" sz="quarter" idx="11"/>
          </p:nvPr>
        </p:nvSpPr>
        <p:spPr>
          <a:xfrm>
            <a:off x="11087100" y="6198698"/>
            <a:ext cx="789517" cy="406400"/>
          </a:xfrm>
        </p:spPr>
        <p:txBody>
          <a:bodyPr/>
          <a:lstStyle/>
          <a:p>
            <a:pPr>
              <a:defRPr/>
            </a:pPr>
            <a:fld id="{9979E472-F673-4ED4-A86E-D1C34A0AEC76}" type="slidenum">
              <a:rPr lang="en-US" smtClean="0"/>
              <a:pPr>
                <a:defRPr/>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476213" y="332879"/>
            <a:ext cx="11430079" cy="836613"/>
          </a:xfrm>
        </p:spPr>
        <p:txBody>
          <a:bodyPr/>
          <a:lstStyle>
            <a:lvl1pPr>
              <a:defRPr>
                <a:solidFill>
                  <a:schemeClr val="accent6"/>
                </a:solidFill>
              </a:defRPr>
            </a:lvl1pPr>
          </a:lstStyle>
          <a:p>
            <a:r>
              <a:rPr lang="en-US" dirty="0"/>
              <a:t>CLICK TO EDIT MASTER TITLE STYLE</a:t>
            </a:r>
            <a:br>
              <a:rPr lang="en-US" dirty="0"/>
            </a:br>
            <a:r>
              <a:rPr lang="en-US" dirty="0"/>
              <a:t>2 LINES</a:t>
            </a:r>
            <a:endParaRPr lang="nl-BE" dirty="0"/>
          </a:p>
        </p:txBody>
      </p:sp>
      <p:sp>
        <p:nvSpPr>
          <p:cNvPr id="3" name="Content Placeholder 2"/>
          <p:cNvSpPr>
            <a:spLocks noGrp="1"/>
          </p:cNvSpPr>
          <p:nvPr>
            <p:ph idx="1"/>
          </p:nvPr>
        </p:nvSpPr>
        <p:spPr>
          <a:xfrm>
            <a:off x="476211" y="1359878"/>
            <a:ext cx="11400407" cy="4731847"/>
          </a:xfrm>
          <a:prstGeom prst="rect">
            <a:avLst/>
          </a:prstGeom>
        </p:spPr>
        <p:txBody>
          <a:bodyPr/>
          <a:lstStyle>
            <a:lvl1pPr>
              <a:buClr>
                <a:schemeClr val="accent6"/>
              </a:buClr>
              <a:defRPr/>
            </a:lvl1pPr>
            <a:lvl3pPr>
              <a:buClr>
                <a:schemeClr val="accent6"/>
              </a:buClr>
              <a:defRPr/>
            </a:lvl3pPr>
            <a:lvl4pPr>
              <a:buClr>
                <a:schemeClr val="accent2"/>
              </a:buClr>
              <a:defRPr/>
            </a:lvl4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nl-BE" dirty="0"/>
          </a:p>
        </p:txBody>
      </p:sp>
      <p:sp>
        <p:nvSpPr>
          <p:cNvPr id="4" name="Rectangle 33"/>
          <p:cNvSpPr>
            <a:spLocks noGrp="1" noChangeArrowheads="1"/>
          </p:cNvSpPr>
          <p:nvPr>
            <p:ph type="ftr" sz="quarter" idx="10"/>
          </p:nvPr>
        </p:nvSpPr>
        <p:spPr>
          <a:ln/>
        </p:spPr>
        <p:txBody>
          <a:bodyPr wrap="none"/>
          <a:lstStyle>
            <a:lvl1pPr>
              <a:defRPr/>
            </a:lvl1pPr>
          </a:lstStyle>
          <a:p>
            <a:pPr>
              <a:defRPr/>
            </a:pPr>
            <a:r>
              <a:rPr lang="en-US"/>
              <a:t>C. Develder, "AI4E: Data-efficient and scalable algorithmss to exploit energy flexibility"</a:t>
            </a:r>
            <a:endParaRPr lang="en-US" dirty="0"/>
          </a:p>
        </p:txBody>
      </p:sp>
      <p:sp>
        <p:nvSpPr>
          <p:cNvPr id="5" name="Rectangle 34"/>
          <p:cNvSpPr>
            <a:spLocks noGrp="1" noChangeArrowheads="1"/>
          </p:cNvSpPr>
          <p:nvPr>
            <p:ph type="sldNum" sz="quarter" idx="11"/>
          </p:nvPr>
        </p:nvSpPr>
        <p:spPr>
          <a:ln/>
        </p:spPr>
        <p:txBody>
          <a:bodyPr/>
          <a:lstStyle>
            <a:lvl1pPr>
              <a:defRPr/>
            </a:lvl1pPr>
          </a:lstStyle>
          <a:p>
            <a:pPr>
              <a:defRPr/>
            </a:pPr>
            <a:fld id="{968663A2-1950-48E6-8399-8A0176E7D7D3}" type="slidenum">
              <a:rPr lang="en-US"/>
              <a:pPr>
                <a:defRPr/>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952464" y="1514805"/>
            <a:ext cx="10363200" cy="1362075"/>
          </a:xfrm>
        </p:spPr>
        <p:txBody>
          <a:bodyPr anchor="b"/>
          <a:lstStyle>
            <a:lvl1pPr algn="ctr">
              <a:defRPr sz="4000" b="1" cap="none">
                <a:solidFill>
                  <a:schemeClr val="accent6"/>
                </a:solidFill>
              </a:defRPr>
            </a:lvl1pPr>
          </a:lstStyle>
          <a:p>
            <a:r>
              <a:rPr lang="en-US" dirty="0"/>
              <a:t>CLICK TO EDIT MASTER TITLE STYLE</a:t>
            </a:r>
            <a:endParaRPr lang="nl-BE" dirty="0"/>
          </a:p>
        </p:txBody>
      </p:sp>
      <p:sp>
        <p:nvSpPr>
          <p:cNvPr id="3" name="Text Placeholder 2"/>
          <p:cNvSpPr>
            <a:spLocks noGrp="1"/>
          </p:cNvSpPr>
          <p:nvPr>
            <p:ph type="body" idx="1"/>
          </p:nvPr>
        </p:nvSpPr>
        <p:spPr>
          <a:xfrm>
            <a:off x="952464" y="2872126"/>
            <a:ext cx="10363200" cy="1263652"/>
          </a:xfrm>
          <a:prstGeom prst="rect">
            <a:avLst/>
          </a:prstGeom>
        </p:spPr>
        <p:txBody>
          <a:bodyPr anchor="ctr"/>
          <a:lstStyle>
            <a:lvl1pPr marL="0" indent="0" algn="ctr">
              <a:buNone/>
              <a:defRPr sz="3200">
                <a:solidFill>
                  <a:schemeClr val="accent2">
                    <a:lumMod val="40000"/>
                    <a:lumOff val="60000"/>
                  </a:schemeClr>
                </a:solidFill>
              </a:defRPr>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dirty="0"/>
              <a:t>Click to edit Master text styles</a:t>
            </a:r>
          </a:p>
        </p:txBody>
      </p:sp>
      <p:sp>
        <p:nvSpPr>
          <p:cNvPr id="4" name="Rectangle 33"/>
          <p:cNvSpPr>
            <a:spLocks noGrp="1" noChangeArrowheads="1"/>
          </p:cNvSpPr>
          <p:nvPr>
            <p:ph type="ftr" sz="quarter" idx="10"/>
          </p:nvPr>
        </p:nvSpPr>
        <p:spPr>
          <a:ln/>
        </p:spPr>
        <p:txBody>
          <a:bodyPr/>
          <a:lstStyle>
            <a:lvl1pPr>
              <a:defRPr/>
            </a:lvl1pPr>
          </a:lstStyle>
          <a:p>
            <a:pPr>
              <a:defRPr/>
            </a:pPr>
            <a:r>
              <a:rPr lang="en-US"/>
              <a:t>C. Develder, "AI4E: Data-efficient and scalable algorithmss to exploit energy flexibility"</a:t>
            </a:r>
          </a:p>
        </p:txBody>
      </p:sp>
      <p:sp>
        <p:nvSpPr>
          <p:cNvPr id="5" name="Rectangle 34"/>
          <p:cNvSpPr>
            <a:spLocks noGrp="1" noChangeArrowheads="1"/>
          </p:cNvSpPr>
          <p:nvPr>
            <p:ph type="sldNum" sz="quarter" idx="11"/>
          </p:nvPr>
        </p:nvSpPr>
        <p:spPr>
          <a:ln/>
        </p:spPr>
        <p:txBody>
          <a:bodyPr/>
          <a:lstStyle>
            <a:lvl1pPr>
              <a:defRPr/>
            </a:lvl1pPr>
          </a:lstStyle>
          <a:p>
            <a:pPr>
              <a:defRPr/>
            </a:pPr>
            <a:fld id="{837B71E7-1BA8-4BCA-B4F0-4746BEDF418B}" type="slidenum">
              <a:rPr lang="en-US"/>
              <a:pPr>
                <a:defRPr/>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2_Section Header">
    <p:bg>
      <p:bgPr>
        <a:solidFill>
          <a:schemeClr val="accent4">
            <a:lumMod val="20000"/>
            <a:lumOff val="80000"/>
          </a:schemeClr>
        </a:solidFill>
        <a:effectLst/>
      </p:bgPr>
    </p:bg>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952464" y="1514805"/>
            <a:ext cx="10363200" cy="1362075"/>
          </a:xfrm>
        </p:spPr>
        <p:txBody>
          <a:bodyPr anchor="b"/>
          <a:lstStyle>
            <a:lvl1pPr algn="ctr">
              <a:defRPr sz="4000" b="1" cap="none">
                <a:solidFill>
                  <a:schemeClr val="accent6"/>
                </a:solidFill>
              </a:defRPr>
            </a:lvl1pPr>
          </a:lstStyle>
          <a:p>
            <a:r>
              <a:rPr lang="en-US" dirty="0"/>
              <a:t>CLICK TO EDIT MASTER TITLE STYLE</a:t>
            </a:r>
            <a:endParaRPr lang="nl-BE" dirty="0"/>
          </a:p>
        </p:txBody>
      </p:sp>
      <p:sp>
        <p:nvSpPr>
          <p:cNvPr id="3" name="Text Placeholder 2"/>
          <p:cNvSpPr>
            <a:spLocks noGrp="1"/>
          </p:cNvSpPr>
          <p:nvPr>
            <p:ph type="body" idx="1"/>
          </p:nvPr>
        </p:nvSpPr>
        <p:spPr>
          <a:xfrm>
            <a:off x="952464" y="2872126"/>
            <a:ext cx="10363200" cy="1263652"/>
          </a:xfrm>
          <a:prstGeom prst="rect">
            <a:avLst/>
          </a:prstGeom>
        </p:spPr>
        <p:txBody>
          <a:bodyPr anchor="ctr"/>
          <a:lstStyle>
            <a:lvl1pPr marL="0" indent="0" algn="ctr">
              <a:buNone/>
              <a:defRPr sz="3200">
                <a:solidFill>
                  <a:schemeClr val="accent2">
                    <a:lumMod val="40000"/>
                    <a:lumOff val="60000"/>
                  </a:schemeClr>
                </a:solidFill>
              </a:defRPr>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dirty="0"/>
              <a:t>Click to edit Master text styles</a:t>
            </a:r>
          </a:p>
        </p:txBody>
      </p:sp>
      <p:sp>
        <p:nvSpPr>
          <p:cNvPr id="4" name="Rectangle 33"/>
          <p:cNvSpPr>
            <a:spLocks noGrp="1" noChangeArrowheads="1"/>
          </p:cNvSpPr>
          <p:nvPr>
            <p:ph type="ftr" sz="quarter" idx="10"/>
          </p:nvPr>
        </p:nvSpPr>
        <p:spPr>
          <a:ln/>
        </p:spPr>
        <p:txBody>
          <a:bodyPr/>
          <a:lstStyle>
            <a:lvl1pPr>
              <a:defRPr/>
            </a:lvl1pPr>
          </a:lstStyle>
          <a:p>
            <a:pPr>
              <a:defRPr/>
            </a:pPr>
            <a:r>
              <a:rPr lang="en-US"/>
              <a:t>C. Develder, "AI4E: Data-efficient and scalable algorithmss to exploit energy flexibility"</a:t>
            </a:r>
          </a:p>
        </p:txBody>
      </p:sp>
      <p:sp>
        <p:nvSpPr>
          <p:cNvPr id="5" name="Rectangle 34"/>
          <p:cNvSpPr>
            <a:spLocks noGrp="1" noChangeArrowheads="1"/>
          </p:cNvSpPr>
          <p:nvPr>
            <p:ph type="sldNum" sz="quarter" idx="11"/>
          </p:nvPr>
        </p:nvSpPr>
        <p:spPr>
          <a:ln/>
        </p:spPr>
        <p:txBody>
          <a:bodyPr/>
          <a:lstStyle>
            <a:lvl1pPr>
              <a:defRPr/>
            </a:lvl1pPr>
          </a:lstStyle>
          <a:p>
            <a:pPr>
              <a:defRPr/>
            </a:pPr>
            <a:fld id="{837B71E7-1BA8-4BCA-B4F0-4746BEDF418B}" type="slidenum">
              <a:rPr lang="en-US"/>
              <a:pPr>
                <a:defRPr/>
              </a:pPr>
              <a:t>‹#›</a:t>
            </a:fld>
            <a:endParaRPr lang="en-US"/>
          </a:p>
        </p:txBody>
      </p:sp>
    </p:spTree>
    <p:extLst>
      <p:ext uri="{BB962C8B-B14F-4D97-AF65-F5344CB8AC3E}">
        <p14:creationId xmlns:p14="http://schemas.microsoft.com/office/powerpoint/2010/main" val="16648050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1_Title and Content">
    <p:bg>
      <p:bgPr>
        <a:solidFill>
          <a:schemeClr val="accent4">
            <a:lumMod val="20000"/>
            <a:lumOff val="80000"/>
          </a:schemeClr>
        </a:solidFill>
        <a:effectLst/>
      </p:bgPr>
    </p:bg>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476213" y="332879"/>
            <a:ext cx="11430079" cy="836613"/>
          </a:xfrm>
        </p:spPr>
        <p:txBody>
          <a:bodyPr/>
          <a:lstStyle>
            <a:lvl1pPr>
              <a:defRPr>
                <a:solidFill>
                  <a:schemeClr val="accent6"/>
                </a:solidFill>
              </a:defRPr>
            </a:lvl1pPr>
          </a:lstStyle>
          <a:p>
            <a:r>
              <a:rPr lang="en-US" dirty="0"/>
              <a:t>CLICK TO EDIT MASTER TITLE STYLE</a:t>
            </a:r>
            <a:br>
              <a:rPr lang="en-US" dirty="0"/>
            </a:br>
            <a:r>
              <a:rPr lang="en-US" dirty="0"/>
              <a:t>2 LINES</a:t>
            </a:r>
            <a:endParaRPr lang="nl-BE" dirty="0"/>
          </a:p>
        </p:txBody>
      </p:sp>
      <p:sp>
        <p:nvSpPr>
          <p:cNvPr id="3" name="Content Placeholder 2"/>
          <p:cNvSpPr>
            <a:spLocks noGrp="1"/>
          </p:cNvSpPr>
          <p:nvPr>
            <p:ph idx="1"/>
          </p:nvPr>
        </p:nvSpPr>
        <p:spPr>
          <a:xfrm>
            <a:off x="476211" y="1359878"/>
            <a:ext cx="11400407" cy="4731847"/>
          </a:xfrm>
          <a:prstGeom prst="rect">
            <a:avLst/>
          </a:prstGeom>
        </p:spPr>
        <p:txBody>
          <a:bodyPr/>
          <a:lstStyle>
            <a:lvl1pPr>
              <a:buClr>
                <a:schemeClr val="accent6"/>
              </a:buClr>
              <a:defRPr/>
            </a:lvl1pPr>
            <a:lvl3pPr>
              <a:buClr>
                <a:schemeClr val="accent6"/>
              </a:buClr>
              <a:defRPr/>
            </a:lvl3pPr>
            <a:lvl4pPr>
              <a:buClr>
                <a:schemeClr val="accent2"/>
              </a:buClr>
              <a:defRPr/>
            </a:lvl4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nl-BE" dirty="0"/>
          </a:p>
        </p:txBody>
      </p:sp>
      <p:sp>
        <p:nvSpPr>
          <p:cNvPr id="4" name="Rectangle 33"/>
          <p:cNvSpPr>
            <a:spLocks noGrp="1" noChangeArrowheads="1"/>
          </p:cNvSpPr>
          <p:nvPr>
            <p:ph type="ftr" sz="quarter" idx="10"/>
          </p:nvPr>
        </p:nvSpPr>
        <p:spPr>
          <a:ln/>
        </p:spPr>
        <p:txBody>
          <a:bodyPr/>
          <a:lstStyle>
            <a:lvl1pPr>
              <a:defRPr/>
            </a:lvl1pPr>
          </a:lstStyle>
          <a:p>
            <a:pPr>
              <a:defRPr/>
            </a:pPr>
            <a:r>
              <a:rPr lang="en-US"/>
              <a:t>C. Develder, "AI4E: Data-efficient and scalable algorithmss to exploit energy flexibility"</a:t>
            </a:r>
          </a:p>
        </p:txBody>
      </p:sp>
      <p:sp>
        <p:nvSpPr>
          <p:cNvPr id="5" name="Rectangle 34"/>
          <p:cNvSpPr>
            <a:spLocks noGrp="1" noChangeArrowheads="1"/>
          </p:cNvSpPr>
          <p:nvPr>
            <p:ph type="sldNum" sz="quarter" idx="11"/>
          </p:nvPr>
        </p:nvSpPr>
        <p:spPr>
          <a:ln/>
        </p:spPr>
        <p:txBody>
          <a:bodyPr/>
          <a:lstStyle>
            <a:lvl1pPr>
              <a:defRPr/>
            </a:lvl1pPr>
          </a:lstStyle>
          <a:p>
            <a:pPr>
              <a:defRPr/>
            </a:pPr>
            <a:fld id="{968663A2-1950-48E6-8399-8A0176E7D7D3}" type="slidenum">
              <a:rPr lang="en-US"/>
              <a:pPr>
                <a:defRPr/>
              </a:pPr>
              <a:t>‹#›</a:t>
            </a:fld>
            <a:endParaRPr lang="en-US"/>
          </a:p>
        </p:txBody>
      </p:sp>
    </p:spTree>
    <p:extLst>
      <p:ext uri="{BB962C8B-B14F-4D97-AF65-F5344CB8AC3E}">
        <p14:creationId xmlns:p14="http://schemas.microsoft.com/office/powerpoint/2010/main" val="23301528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1_Section Header">
    <p:bg>
      <p:bgPr>
        <a:solidFill>
          <a:schemeClr val="accent6"/>
        </a:solidFill>
        <a:effectLst/>
      </p:bgPr>
    </p:bg>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952464" y="1514805"/>
            <a:ext cx="10363200" cy="1362075"/>
          </a:xfrm>
        </p:spPr>
        <p:txBody>
          <a:bodyPr anchor="b"/>
          <a:lstStyle>
            <a:lvl1pPr algn="ctr">
              <a:defRPr sz="4000" b="1" cap="none">
                <a:solidFill>
                  <a:schemeClr val="bg1"/>
                </a:solidFill>
              </a:defRPr>
            </a:lvl1pPr>
          </a:lstStyle>
          <a:p>
            <a:r>
              <a:rPr lang="en-US" dirty="0"/>
              <a:t>CLICK TO EDIT MASTER TITLE STYLE</a:t>
            </a:r>
            <a:endParaRPr lang="nl-BE" dirty="0"/>
          </a:p>
        </p:txBody>
      </p:sp>
      <p:sp>
        <p:nvSpPr>
          <p:cNvPr id="3" name="Text Placeholder 2"/>
          <p:cNvSpPr>
            <a:spLocks noGrp="1"/>
          </p:cNvSpPr>
          <p:nvPr>
            <p:ph type="body" idx="1"/>
          </p:nvPr>
        </p:nvSpPr>
        <p:spPr>
          <a:xfrm>
            <a:off x="952464" y="2872126"/>
            <a:ext cx="10363200" cy="1263652"/>
          </a:xfrm>
          <a:prstGeom prst="rect">
            <a:avLst/>
          </a:prstGeom>
        </p:spPr>
        <p:txBody>
          <a:bodyPr anchor="ctr"/>
          <a:lstStyle>
            <a:lvl1pPr marL="0" indent="0" algn="ctr">
              <a:buNone/>
              <a:defRPr sz="3200">
                <a:solidFill>
                  <a:schemeClr val="accent2">
                    <a:lumMod val="20000"/>
                    <a:lumOff val="80000"/>
                  </a:schemeClr>
                </a:solidFill>
              </a:defRPr>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dirty="0"/>
              <a:t>Click to edit Master text styles</a:t>
            </a:r>
          </a:p>
        </p:txBody>
      </p:sp>
      <p:sp>
        <p:nvSpPr>
          <p:cNvPr id="4" name="Rectangle 33"/>
          <p:cNvSpPr>
            <a:spLocks noGrp="1" noChangeArrowheads="1"/>
          </p:cNvSpPr>
          <p:nvPr>
            <p:ph type="ftr" sz="quarter" idx="10"/>
          </p:nvPr>
        </p:nvSpPr>
        <p:spPr>
          <a:ln/>
        </p:spPr>
        <p:txBody>
          <a:bodyPr/>
          <a:lstStyle>
            <a:lvl1pPr>
              <a:defRPr>
                <a:solidFill>
                  <a:schemeClr val="accent2">
                    <a:lumMod val="20000"/>
                    <a:lumOff val="80000"/>
                  </a:schemeClr>
                </a:solidFill>
              </a:defRPr>
            </a:lvl1pPr>
          </a:lstStyle>
          <a:p>
            <a:pPr>
              <a:defRPr/>
            </a:pPr>
            <a:r>
              <a:rPr lang="en-US"/>
              <a:t>C. Develder, "AI4E: Data-efficient and scalable algorithmss to exploit energy flexibility"</a:t>
            </a:r>
          </a:p>
        </p:txBody>
      </p:sp>
      <p:sp>
        <p:nvSpPr>
          <p:cNvPr id="5" name="Rectangle 34"/>
          <p:cNvSpPr>
            <a:spLocks noGrp="1" noChangeArrowheads="1"/>
          </p:cNvSpPr>
          <p:nvPr>
            <p:ph type="sldNum" sz="quarter" idx="11"/>
          </p:nvPr>
        </p:nvSpPr>
        <p:spPr>
          <a:ln/>
        </p:spPr>
        <p:txBody>
          <a:bodyPr/>
          <a:lstStyle>
            <a:lvl1pPr>
              <a:defRPr>
                <a:solidFill>
                  <a:schemeClr val="accent2">
                    <a:lumMod val="20000"/>
                    <a:lumOff val="80000"/>
                  </a:schemeClr>
                </a:solidFill>
              </a:defRPr>
            </a:lvl1pPr>
          </a:lstStyle>
          <a:p>
            <a:pPr>
              <a:defRPr/>
            </a:pPr>
            <a:fld id="{837B71E7-1BA8-4BCA-B4F0-4746BEDF418B}" type="slidenum">
              <a:rPr lang="en-US" smtClean="0"/>
              <a:pPr>
                <a:defRPr/>
              </a:pPr>
              <a:t>‹#›</a:t>
            </a:fld>
            <a:endParaRPr lang="en-US"/>
          </a:p>
        </p:txBody>
      </p:sp>
      <p:pic>
        <p:nvPicPr>
          <p:cNvPr id="9" name="Logo EN">
            <a:extLst>
              <a:ext uri="{FF2B5EF4-FFF2-40B4-BE49-F238E27FC236}">
                <a16:creationId xmlns:a16="http://schemas.microsoft.com/office/drawing/2014/main" id="{A77296D5-9D32-EF4A-B00B-B19B6DC32056}"/>
              </a:ext>
            </a:extLst>
          </p:cNvPr>
          <p:cNvPicPr>
            <a:picLocks noChangeAspect="1"/>
          </p:cNvPicPr>
          <p:nvPr userDrawn="1"/>
        </p:nvPicPr>
        <p:blipFill>
          <a:blip r:embed="rId2" cstate="print">
            <a:biLevel thresh="25000"/>
            <a:extLst>
              <a:ext uri="{28A0092B-C50C-407E-A947-70E740481C1C}">
                <a14:useLocalDpi xmlns:a14="http://schemas.microsoft.com/office/drawing/2010/main" val="0"/>
              </a:ext>
            </a:extLst>
          </a:blip>
          <a:stretch>
            <a:fillRect/>
          </a:stretch>
        </p:blipFill>
        <p:spPr>
          <a:xfrm>
            <a:off x="297443" y="5933060"/>
            <a:ext cx="1052577" cy="842400"/>
          </a:xfrm>
          <a:prstGeom prst="rect">
            <a:avLst/>
          </a:prstGeom>
        </p:spPr>
      </p:pic>
      <p:pic>
        <p:nvPicPr>
          <p:cNvPr id="6" name="Picture 5">
            <a:extLst>
              <a:ext uri="{FF2B5EF4-FFF2-40B4-BE49-F238E27FC236}">
                <a16:creationId xmlns:a16="http://schemas.microsoft.com/office/drawing/2014/main" id="{43D22846-3D7F-F888-74DD-27795401A368}"/>
              </a:ext>
            </a:extLst>
          </p:cNvPr>
          <p:cNvPicPr>
            <a:picLocks noChangeAspect="1"/>
          </p:cNvPicPr>
          <p:nvPr userDrawn="1"/>
        </p:nvPicPr>
        <p:blipFill>
          <a:blip r:embed="rId3">
            <a:lum bright="70000" contrast="-70000"/>
            <a:extLst>
              <a:ext uri="{28A0092B-C50C-407E-A947-70E740481C1C}">
                <a14:useLocalDpi xmlns:a14="http://schemas.microsoft.com/office/drawing/2010/main" val="0"/>
              </a:ext>
            </a:extLst>
          </a:blip>
          <a:srcRect/>
          <a:stretch>
            <a:fillRect/>
          </a:stretch>
        </p:blipFill>
        <p:spPr bwMode="auto">
          <a:xfrm>
            <a:off x="1104899" y="6194231"/>
            <a:ext cx="1014176" cy="301769"/>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pic>
    </p:spTree>
    <p:extLst>
      <p:ext uri="{BB962C8B-B14F-4D97-AF65-F5344CB8AC3E}">
        <p14:creationId xmlns:p14="http://schemas.microsoft.com/office/powerpoint/2010/main" val="106513627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476213" y="332879"/>
            <a:ext cx="11430079" cy="836613"/>
          </a:xfrm>
        </p:spPr>
        <p:txBody>
          <a:bodyPr/>
          <a:lstStyle>
            <a:lvl1pPr>
              <a:defRPr>
                <a:solidFill>
                  <a:schemeClr val="accent6"/>
                </a:solidFill>
              </a:defRPr>
            </a:lvl1pPr>
          </a:lstStyle>
          <a:p>
            <a:r>
              <a:rPr lang="en-US"/>
              <a:t>Click to edit Master title style</a:t>
            </a:r>
            <a:endParaRPr lang="nl-BE"/>
          </a:p>
        </p:txBody>
      </p:sp>
      <p:sp>
        <p:nvSpPr>
          <p:cNvPr id="3" name="Content Placeholder 2"/>
          <p:cNvSpPr>
            <a:spLocks noGrp="1"/>
          </p:cNvSpPr>
          <p:nvPr>
            <p:ph sz="half" idx="1"/>
          </p:nvPr>
        </p:nvSpPr>
        <p:spPr>
          <a:xfrm>
            <a:off x="476213" y="1359878"/>
            <a:ext cx="5619788" cy="4731846"/>
          </a:xfrm>
          <a:prstGeom prst="rect">
            <a:avLst/>
          </a:prstGeo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nl-BE" dirty="0"/>
          </a:p>
        </p:txBody>
      </p:sp>
      <p:sp>
        <p:nvSpPr>
          <p:cNvPr id="4" name="Content Placeholder 3"/>
          <p:cNvSpPr>
            <a:spLocks noGrp="1"/>
          </p:cNvSpPr>
          <p:nvPr>
            <p:ph sz="half" idx="2"/>
          </p:nvPr>
        </p:nvSpPr>
        <p:spPr>
          <a:xfrm>
            <a:off x="6286502" y="1359878"/>
            <a:ext cx="5590116" cy="4731846"/>
          </a:xfrm>
          <a:prstGeom prst="rect">
            <a:avLst/>
          </a:prstGeo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nl-BE"/>
          </a:p>
        </p:txBody>
      </p:sp>
      <p:sp>
        <p:nvSpPr>
          <p:cNvPr id="5" name="Rectangle 33"/>
          <p:cNvSpPr>
            <a:spLocks noGrp="1" noChangeArrowheads="1"/>
          </p:cNvSpPr>
          <p:nvPr>
            <p:ph type="ftr" sz="quarter" idx="10"/>
          </p:nvPr>
        </p:nvSpPr>
        <p:spPr>
          <a:ln/>
        </p:spPr>
        <p:txBody>
          <a:bodyPr/>
          <a:lstStyle>
            <a:lvl1pPr>
              <a:defRPr/>
            </a:lvl1pPr>
          </a:lstStyle>
          <a:p>
            <a:pPr>
              <a:defRPr/>
            </a:pPr>
            <a:r>
              <a:rPr lang="en-US"/>
              <a:t>C. Develder, "AI4E: Data-efficient and scalable algorithmss to exploit energy flexibility"</a:t>
            </a:r>
          </a:p>
        </p:txBody>
      </p:sp>
      <p:sp>
        <p:nvSpPr>
          <p:cNvPr id="6" name="Rectangle 34"/>
          <p:cNvSpPr>
            <a:spLocks noGrp="1" noChangeArrowheads="1"/>
          </p:cNvSpPr>
          <p:nvPr>
            <p:ph type="sldNum" sz="quarter" idx="11"/>
          </p:nvPr>
        </p:nvSpPr>
        <p:spPr>
          <a:ln/>
        </p:spPr>
        <p:txBody>
          <a:bodyPr/>
          <a:lstStyle>
            <a:lvl1pPr>
              <a:defRPr/>
            </a:lvl1pPr>
          </a:lstStyle>
          <a:p>
            <a:pPr>
              <a:defRPr/>
            </a:pPr>
            <a:fld id="{DB7F45D9-E598-4F34-9900-AF01B7BBB3E9}" type="slidenum">
              <a:rPr lang="en-US"/>
              <a:pPr>
                <a:defRPr/>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76211" y="312236"/>
            <a:ext cx="11334829" cy="857256"/>
          </a:xfrm>
        </p:spPr>
        <p:txBody>
          <a:bodyPr/>
          <a:lstStyle>
            <a:lvl1pPr>
              <a:defRPr/>
            </a:lvl1pPr>
          </a:lstStyle>
          <a:p>
            <a:r>
              <a:rPr lang="en-US" dirty="0"/>
              <a:t>Click to edit Master title style</a:t>
            </a:r>
            <a:endParaRPr lang="nl-BE" dirty="0"/>
          </a:p>
        </p:txBody>
      </p:sp>
      <p:sp>
        <p:nvSpPr>
          <p:cNvPr id="3" name="Text Placeholder 2"/>
          <p:cNvSpPr>
            <a:spLocks noGrp="1"/>
          </p:cNvSpPr>
          <p:nvPr>
            <p:ph type="body" idx="1"/>
          </p:nvPr>
        </p:nvSpPr>
        <p:spPr>
          <a:xfrm>
            <a:off x="457237" y="1192224"/>
            <a:ext cx="5543512" cy="63976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4" name="Content Placeholder 3"/>
          <p:cNvSpPr>
            <a:spLocks noGrp="1"/>
          </p:cNvSpPr>
          <p:nvPr>
            <p:ph sz="half" idx="2"/>
          </p:nvPr>
        </p:nvSpPr>
        <p:spPr>
          <a:xfrm>
            <a:off x="476211" y="1978041"/>
            <a:ext cx="5543512" cy="4113683"/>
          </a:xfrm>
          <a:prstGeom prst="rect">
            <a:avLst/>
          </a:prstGeo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nl-BE" dirty="0"/>
          </a:p>
        </p:txBody>
      </p:sp>
      <p:sp>
        <p:nvSpPr>
          <p:cNvPr id="5" name="Text Placeholder 4"/>
          <p:cNvSpPr>
            <a:spLocks noGrp="1"/>
          </p:cNvSpPr>
          <p:nvPr>
            <p:ph type="body" sz="quarter" idx="3"/>
          </p:nvPr>
        </p:nvSpPr>
        <p:spPr>
          <a:xfrm>
            <a:off x="6286503" y="1192224"/>
            <a:ext cx="5505565" cy="63976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305476" y="1978041"/>
            <a:ext cx="5505565" cy="4113683"/>
          </a:xfrm>
          <a:prstGeom prst="rect">
            <a:avLst/>
          </a:prstGeo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nl-BE" dirty="0"/>
          </a:p>
        </p:txBody>
      </p:sp>
      <p:sp>
        <p:nvSpPr>
          <p:cNvPr id="7" name="Rectangle 33"/>
          <p:cNvSpPr>
            <a:spLocks noGrp="1" noChangeArrowheads="1"/>
          </p:cNvSpPr>
          <p:nvPr>
            <p:ph type="ftr" sz="quarter" idx="10"/>
          </p:nvPr>
        </p:nvSpPr>
        <p:spPr>
          <a:ln/>
        </p:spPr>
        <p:txBody>
          <a:bodyPr/>
          <a:lstStyle>
            <a:lvl1pPr>
              <a:defRPr/>
            </a:lvl1pPr>
          </a:lstStyle>
          <a:p>
            <a:pPr>
              <a:defRPr/>
            </a:pPr>
            <a:r>
              <a:rPr lang="en-US"/>
              <a:t>C. Develder, "AI4E: Data-efficient and scalable algorithmss to exploit energy flexibility"</a:t>
            </a:r>
          </a:p>
        </p:txBody>
      </p:sp>
      <p:sp>
        <p:nvSpPr>
          <p:cNvPr id="8" name="Rectangle 34"/>
          <p:cNvSpPr>
            <a:spLocks noGrp="1" noChangeArrowheads="1"/>
          </p:cNvSpPr>
          <p:nvPr>
            <p:ph type="sldNum" sz="quarter" idx="11"/>
          </p:nvPr>
        </p:nvSpPr>
        <p:spPr>
          <a:ln/>
        </p:spPr>
        <p:txBody>
          <a:bodyPr/>
          <a:lstStyle>
            <a:lvl1pPr>
              <a:defRPr/>
            </a:lvl1pPr>
          </a:lstStyle>
          <a:p>
            <a:pPr>
              <a:defRPr/>
            </a:pPr>
            <a:fld id="{DF8CFEE2-7314-4064-B1F3-191E675A5310}" type="slidenum">
              <a:rPr lang="en-US"/>
              <a:pPr>
                <a:defRPr/>
              </a:pPr>
              <a:t>‹#›</a:t>
            </a:fld>
            <a:endParaRPr lang="en-US"/>
          </a:p>
        </p:txBody>
      </p:sp>
      <p:sp>
        <p:nvSpPr>
          <p:cNvPr id="9" name="Rectangle 2">
            <a:extLst>
              <a:ext uri="{FF2B5EF4-FFF2-40B4-BE49-F238E27FC236}">
                <a16:creationId xmlns:a16="http://schemas.microsoft.com/office/drawing/2014/main" id="{C69D56AD-4019-2841-B151-0BD5C1AD9C3A}"/>
              </a:ext>
            </a:extLst>
          </p:cNvPr>
          <p:cNvSpPr txBox="1">
            <a:spLocks noChangeArrowheads="1"/>
          </p:cNvSpPr>
          <p:nvPr userDrawn="1"/>
        </p:nvSpPr>
        <p:spPr bwMode="auto">
          <a:xfrm>
            <a:off x="5029200" y="332879"/>
            <a:ext cx="6877092" cy="836613"/>
          </a:xfrm>
          <a:prstGeom prst="rect">
            <a:avLst/>
          </a:prstGeom>
          <a:noFill/>
          <a:ln w="9525">
            <a:noFill/>
            <a:miter lim="800000"/>
            <a:headEnd/>
            <a:tailEnd/>
          </a:ln>
        </p:spPr>
        <p:txBody>
          <a:bodyPr vert="horz" wrap="square" lIns="0" tIns="0" rIns="0" bIns="0" numCol="1" anchor="ctr" anchorCtr="0" compatLnSpc="1">
            <a:prstTxWarp prst="textNoShape">
              <a:avLst/>
            </a:prstTxWarp>
          </a:bodyPr>
          <a:lstStyle>
            <a:lvl1pPr algn="l" rtl="0" eaLnBrk="0" fontAlgn="base" hangingPunct="0">
              <a:spcBef>
                <a:spcPct val="0"/>
              </a:spcBef>
              <a:spcAft>
                <a:spcPct val="0"/>
              </a:spcAft>
              <a:defRPr sz="3200" b="1">
                <a:solidFill>
                  <a:schemeClr val="accent6"/>
                </a:solidFill>
                <a:latin typeface="UGent Panno Text" charset="0"/>
                <a:ea typeface="UGent Panno Text" charset="0"/>
                <a:cs typeface="UGent Panno Text" charset="0"/>
              </a:defRPr>
            </a:lvl1pPr>
            <a:lvl2pPr algn="l" rtl="0" eaLnBrk="0" fontAlgn="base" hangingPunct="0">
              <a:spcBef>
                <a:spcPct val="0"/>
              </a:spcBef>
              <a:spcAft>
                <a:spcPct val="0"/>
              </a:spcAft>
              <a:defRPr sz="2800" b="1">
                <a:solidFill>
                  <a:schemeClr val="tx1"/>
                </a:solidFill>
                <a:latin typeface="Arial" charset="0"/>
                <a:cs typeface="Arial" charset="0"/>
              </a:defRPr>
            </a:lvl2pPr>
            <a:lvl3pPr algn="l" rtl="0" eaLnBrk="0" fontAlgn="base" hangingPunct="0">
              <a:spcBef>
                <a:spcPct val="0"/>
              </a:spcBef>
              <a:spcAft>
                <a:spcPct val="0"/>
              </a:spcAft>
              <a:defRPr sz="2800" b="1">
                <a:solidFill>
                  <a:schemeClr val="tx1"/>
                </a:solidFill>
                <a:latin typeface="Arial" charset="0"/>
                <a:cs typeface="Arial" charset="0"/>
              </a:defRPr>
            </a:lvl3pPr>
            <a:lvl4pPr algn="l" rtl="0" eaLnBrk="0" fontAlgn="base" hangingPunct="0">
              <a:spcBef>
                <a:spcPct val="0"/>
              </a:spcBef>
              <a:spcAft>
                <a:spcPct val="0"/>
              </a:spcAft>
              <a:defRPr sz="2800" b="1">
                <a:solidFill>
                  <a:schemeClr val="tx1"/>
                </a:solidFill>
                <a:latin typeface="Arial" charset="0"/>
                <a:cs typeface="Arial" charset="0"/>
              </a:defRPr>
            </a:lvl4pPr>
            <a:lvl5pPr algn="l" rtl="0" eaLnBrk="0" fontAlgn="base" hangingPunct="0">
              <a:spcBef>
                <a:spcPct val="0"/>
              </a:spcBef>
              <a:spcAft>
                <a:spcPct val="0"/>
              </a:spcAft>
              <a:defRPr sz="2800" b="1">
                <a:solidFill>
                  <a:schemeClr val="tx1"/>
                </a:solidFill>
                <a:latin typeface="Arial" charset="0"/>
                <a:cs typeface="Arial" charset="0"/>
              </a:defRPr>
            </a:lvl5pPr>
            <a:lvl6pPr marL="457200" algn="l" rtl="0" fontAlgn="base">
              <a:spcBef>
                <a:spcPct val="0"/>
              </a:spcBef>
              <a:spcAft>
                <a:spcPct val="0"/>
              </a:spcAft>
              <a:defRPr sz="2800" b="1">
                <a:solidFill>
                  <a:schemeClr val="tx1"/>
                </a:solidFill>
                <a:latin typeface="Arial" charset="0"/>
                <a:cs typeface="Arial" charset="0"/>
              </a:defRPr>
            </a:lvl6pPr>
            <a:lvl7pPr marL="914400" algn="l" rtl="0" fontAlgn="base">
              <a:spcBef>
                <a:spcPct val="0"/>
              </a:spcBef>
              <a:spcAft>
                <a:spcPct val="0"/>
              </a:spcAft>
              <a:defRPr sz="2800" b="1">
                <a:solidFill>
                  <a:schemeClr val="tx1"/>
                </a:solidFill>
                <a:latin typeface="Arial" charset="0"/>
                <a:cs typeface="Arial" charset="0"/>
              </a:defRPr>
            </a:lvl7pPr>
            <a:lvl8pPr marL="1371600" algn="l" rtl="0" fontAlgn="base">
              <a:spcBef>
                <a:spcPct val="0"/>
              </a:spcBef>
              <a:spcAft>
                <a:spcPct val="0"/>
              </a:spcAft>
              <a:defRPr sz="2800" b="1">
                <a:solidFill>
                  <a:schemeClr val="tx1"/>
                </a:solidFill>
                <a:latin typeface="Arial" charset="0"/>
                <a:cs typeface="Arial" charset="0"/>
              </a:defRPr>
            </a:lvl8pPr>
            <a:lvl9pPr marL="1828800" algn="l" rtl="0" fontAlgn="base">
              <a:spcBef>
                <a:spcPct val="0"/>
              </a:spcBef>
              <a:spcAft>
                <a:spcPct val="0"/>
              </a:spcAft>
              <a:defRPr sz="2800" b="1">
                <a:solidFill>
                  <a:schemeClr val="tx1"/>
                </a:solidFill>
                <a:latin typeface="Arial" charset="0"/>
                <a:cs typeface="Arial" charset="0"/>
              </a:defRPr>
            </a:lvl9pPr>
          </a:lstStyle>
          <a:p>
            <a:r>
              <a:rPr lang="en-US" kern="0" dirty="0"/>
              <a:t>CLICK TO EDIT MASTER TITLE STYLE </a:t>
            </a: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nl-BE"/>
          </a:p>
        </p:txBody>
      </p:sp>
      <p:sp>
        <p:nvSpPr>
          <p:cNvPr id="3" name="Rectangle 33"/>
          <p:cNvSpPr>
            <a:spLocks noGrp="1" noChangeArrowheads="1"/>
          </p:cNvSpPr>
          <p:nvPr>
            <p:ph type="ftr" sz="quarter" idx="10"/>
          </p:nvPr>
        </p:nvSpPr>
        <p:spPr>
          <a:ln/>
        </p:spPr>
        <p:txBody>
          <a:bodyPr/>
          <a:lstStyle>
            <a:lvl1pPr>
              <a:defRPr/>
            </a:lvl1pPr>
          </a:lstStyle>
          <a:p>
            <a:pPr>
              <a:defRPr/>
            </a:pPr>
            <a:r>
              <a:rPr lang="en-US"/>
              <a:t>C. Develder, "AI4E: Data-efficient and scalable algorithmss to exploit energy flexibility"</a:t>
            </a:r>
          </a:p>
        </p:txBody>
      </p:sp>
      <p:sp>
        <p:nvSpPr>
          <p:cNvPr id="4" name="Rectangle 34"/>
          <p:cNvSpPr>
            <a:spLocks noGrp="1" noChangeArrowheads="1"/>
          </p:cNvSpPr>
          <p:nvPr>
            <p:ph type="sldNum" sz="quarter" idx="11"/>
          </p:nvPr>
        </p:nvSpPr>
        <p:spPr>
          <a:ln/>
        </p:spPr>
        <p:txBody>
          <a:bodyPr/>
          <a:lstStyle>
            <a:lvl1pPr>
              <a:defRPr/>
            </a:lvl1pPr>
          </a:lstStyle>
          <a:p>
            <a:pPr>
              <a:defRPr/>
            </a:pPr>
            <a:fld id="{4908A2AA-746C-4DBB-9102-670E2680A299}" type="slidenum">
              <a:rPr lang="en-US"/>
              <a:pPr>
                <a:defRPr/>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Rectangle 33"/>
          <p:cNvSpPr>
            <a:spLocks noGrp="1" noChangeArrowheads="1"/>
          </p:cNvSpPr>
          <p:nvPr>
            <p:ph type="ftr" sz="quarter" idx="10"/>
          </p:nvPr>
        </p:nvSpPr>
        <p:spPr>
          <a:ln/>
        </p:spPr>
        <p:txBody>
          <a:bodyPr/>
          <a:lstStyle>
            <a:lvl1pPr>
              <a:defRPr/>
            </a:lvl1pPr>
          </a:lstStyle>
          <a:p>
            <a:pPr>
              <a:defRPr/>
            </a:pPr>
            <a:r>
              <a:rPr lang="en-US"/>
              <a:t>C. Develder, "AI4E: Data-efficient and scalable algorithmss to exploit energy flexibility"</a:t>
            </a:r>
          </a:p>
        </p:txBody>
      </p:sp>
      <p:sp>
        <p:nvSpPr>
          <p:cNvPr id="3" name="Rectangle 34"/>
          <p:cNvSpPr>
            <a:spLocks noGrp="1" noChangeArrowheads="1"/>
          </p:cNvSpPr>
          <p:nvPr>
            <p:ph type="sldNum" sz="quarter" idx="11"/>
          </p:nvPr>
        </p:nvSpPr>
        <p:spPr>
          <a:ln/>
        </p:spPr>
        <p:txBody>
          <a:bodyPr/>
          <a:lstStyle>
            <a:lvl1pPr>
              <a:defRPr/>
            </a:lvl1pPr>
          </a:lstStyle>
          <a:p>
            <a:pPr>
              <a:defRPr/>
            </a:pPr>
            <a:fld id="{5ABA5276-E6AF-4E3A-BCFF-83BFC6014A2A}" type="slidenum">
              <a:rPr lang="en-US"/>
              <a:pPr>
                <a:defRPr/>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userDrawn="1">
  <p:cSld name="Bullete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13" hasCustomPrompt="1"/>
          </p:nvPr>
        </p:nvSpPr>
        <p:spPr>
          <a:xfrm>
            <a:off x="214174" y="768420"/>
            <a:ext cx="11671300" cy="369332"/>
          </a:xfrm>
        </p:spPr>
        <p:txBody>
          <a:bodyPr wrap="square" anchor="t">
            <a:spAutoFit/>
          </a:bodyPr>
          <a:lstStyle>
            <a:lvl1pPr marL="0" indent="0">
              <a:buFont typeface="Arial"/>
              <a:buNone/>
              <a:defRPr cap="all" baseline="0">
                <a:solidFill>
                  <a:schemeClr val="accent4"/>
                </a:solidFill>
              </a:defRPr>
            </a:lvl1pPr>
          </a:lstStyle>
          <a:p>
            <a:pPr lvl="0"/>
            <a:r>
              <a:rPr lang="nl-BE" dirty="0"/>
              <a:t>Click to edit Master Subtitle Style</a:t>
            </a:r>
            <a:endParaRPr lang="en-US" dirty="0"/>
          </a:p>
        </p:txBody>
      </p:sp>
    </p:spTree>
    <p:extLst>
      <p:ext uri="{BB962C8B-B14F-4D97-AF65-F5344CB8AC3E}">
        <p14:creationId xmlns:p14="http://schemas.microsoft.com/office/powerpoint/2010/main" val="316590010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userDrawn="1">
  <p:cSld name="Image Divider Purple">
    <p:bg>
      <p:bgPr>
        <a:solidFill>
          <a:schemeClr val="bg1"/>
        </a:solidFill>
        <a:effectLst/>
      </p:bgPr>
    </p:bg>
    <p:spTree>
      <p:nvGrpSpPr>
        <p:cNvPr id="1" name=""/>
        <p:cNvGrpSpPr/>
        <p:nvPr/>
      </p:nvGrpSpPr>
      <p:grpSpPr>
        <a:xfrm>
          <a:off x="0" y="0"/>
          <a:ext cx="0" cy="0"/>
          <a:chOff x="0" y="0"/>
          <a:chExt cx="0" cy="0"/>
        </a:xfrm>
      </p:grpSpPr>
      <p:sp>
        <p:nvSpPr>
          <p:cNvPr id="6" name="Title 1"/>
          <p:cNvSpPr>
            <a:spLocks noGrp="1"/>
          </p:cNvSpPr>
          <p:nvPr>
            <p:ph type="title"/>
          </p:nvPr>
        </p:nvSpPr>
        <p:spPr>
          <a:xfrm>
            <a:off x="203202" y="3152002"/>
            <a:ext cx="11671300" cy="566309"/>
          </a:xfrm>
        </p:spPr>
        <p:txBody>
          <a:bodyPr anchor="t"/>
          <a:lstStyle>
            <a:lvl1pPr algn="ctr">
              <a:defRPr/>
            </a:lvl1pPr>
          </a:lstStyle>
          <a:p>
            <a:r>
              <a:rPr lang="en-US"/>
              <a:t>Click to edit Master title style</a:t>
            </a:r>
          </a:p>
        </p:txBody>
      </p:sp>
    </p:spTree>
    <p:extLst>
      <p:ext uri="{BB962C8B-B14F-4D97-AF65-F5344CB8AC3E}">
        <p14:creationId xmlns:p14="http://schemas.microsoft.com/office/powerpoint/2010/main" val="82340794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3.xml><?xml version="1.0" encoding="utf-8"?>
<p:sldLayout xmlns:a="http://schemas.openxmlformats.org/drawingml/2006/main" xmlns:r="http://schemas.openxmlformats.org/officeDocument/2006/relationships" xmlns:p="http://schemas.openxmlformats.org/presentationml/2006/main" userDrawn="1">
  <p:cSld name="1_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6" name="Text Placeholder 4"/>
          <p:cNvSpPr>
            <a:spLocks noGrp="1"/>
          </p:cNvSpPr>
          <p:nvPr>
            <p:ph type="body" sz="quarter" idx="14" hasCustomPrompt="1"/>
          </p:nvPr>
        </p:nvSpPr>
        <p:spPr>
          <a:xfrm>
            <a:off x="214175" y="768420"/>
            <a:ext cx="11671300" cy="369332"/>
          </a:xfrm>
        </p:spPr>
        <p:txBody>
          <a:bodyPr wrap="square" anchor="t">
            <a:spAutoFit/>
          </a:bodyPr>
          <a:lstStyle>
            <a:lvl1pPr marL="0" indent="0">
              <a:buFont typeface="Arial"/>
              <a:buNone/>
              <a:defRPr lang="en-US" sz="2400" b="0" i="0" kern="1200" cap="all" baseline="0" dirty="0">
                <a:solidFill>
                  <a:schemeClr val="accent4"/>
                </a:solidFill>
                <a:latin typeface="Gill Sans MT"/>
                <a:ea typeface="+mn-ea"/>
                <a:cs typeface="Gill Sans MT"/>
              </a:defRPr>
            </a:lvl1pPr>
          </a:lstStyle>
          <a:p>
            <a:pPr marL="0" lvl="0" indent="0" algn="l" defTabSz="548626" rtl="0" eaLnBrk="1" latinLnBrk="0" hangingPunct="1">
              <a:spcBef>
                <a:spcPct val="20000"/>
              </a:spcBef>
              <a:buClr>
                <a:schemeClr val="tx1"/>
              </a:buClr>
              <a:buSzPct val="70000"/>
              <a:buFont typeface="Arial"/>
              <a:buNone/>
            </a:pPr>
            <a:r>
              <a:rPr lang="nl-BE"/>
              <a:t>Click to edit Master Subtitle Style</a:t>
            </a:r>
            <a:endParaRPr lang="en-US"/>
          </a:p>
        </p:txBody>
      </p:sp>
    </p:spTree>
    <p:extLst>
      <p:ext uri="{BB962C8B-B14F-4D97-AF65-F5344CB8AC3E}">
        <p14:creationId xmlns:p14="http://schemas.microsoft.com/office/powerpoint/2010/main" val="84362036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4.xml><?xml version="1.0" encoding="utf-8"?>
<p:sldLayout xmlns:a="http://schemas.openxmlformats.org/drawingml/2006/main" xmlns:r="http://schemas.openxmlformats.org/officeDocument/2006/relationships" xmlns:p="http://schemas.openxmlformats.org/presentationml/2006/main" userDrawn="1">
  <p:cSld name="Custom Layout">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9FB8AE8E-D89B-510B-2732-89BE967187E0}"/>
              </a:ext>
            </a:extLst>
          </p:cNvPr>
          <p:cNvPicPr>
            <a:picLocks noChangeAspect="1"/>
          </p:cNvPicPr>
          <p:nvPr userDrawn="1"/>
        </p:nvPicPr>
        <p:blipFill rotWithShape="1">
          <a:blip r:embed="rId2"/>
          <a:srcRect t="5954" b="10763"/>
          <a:stretch/>
        </p:blipFill>
        <p:spPr>
          <a:xfrm>
            <a:off x="1" y="0"/>
            <a:ext cx="12255332" cy="6858000"/>
          </a:xfrm>
          <a:prstGeom prst="rect">
            <a:avLst/>
          </a:prstGeom>
        </p:spPr>
      </p:pic>
      <p:sp>
        <p:nvSpPr>
          <p:cNvPr id="2" name="Title 1">
            <a:extLst>
              <a:ext uri="{FF2B5EF4-FFF2-40B4-BE49-F238E27FC236}">
                <a16:creationId xmlns:a16="http://schemas.microsoft.com/office/drawing/2014/main" id="{63AB6819-60AB-A4DA-D4CA-BA90AAC92A4D}"/>
              </a:ext>
            </a:extLst>
          </p:cNvPr>
          <p:cNvSpPr>
            <a:spLocks noGrp="1"/>
          </p:cNvSpPr>
          <p:nvPr>
            <p:ph type="title" hasCustomPrompt="1"/>
          </p:nvPr>
        </p:nvSpPr>
        <p:spPr/>
        <p:txBody>
          <a:bodyPr/>
          <a:lstStyle>
            <a:lvl1pPr>
              <a:defRPr cap="none">
                <a:solidFill>
                  <a:schemeClr val="bg1"/>
                </a:solidFill>
              </a:defRPr>
            </a:lvl1pPr>
          </a:lstStyle>
          <a:p>
            <a:r>
              <a:rPr lang="en-GB" dirty="0"/>
              <a:t>Click To Edit Master Title Style</a:t>
            </a:r>
            <a:endParaRPr lang="en-BE" dirty="0"/>
          </a:p>
        </p:txBody>
      </p:sp>
      <p:sp>
        <p:nvSpPr>
          <p:cNvPr id="3" name="Footer Placeholder 2">
            <a:extLst>
              <a:ext uri="{FF2B5EF4-FFF2-40B4-BE49-F238E27FC236}">
                <a16:creationId xmlns:a16="http://schemas.microsoft.com/office/drawing/2014/main" id="{C8735275-0B88-30FF-9B49-433E8144D551}"/>
              </a:ext>
            </a:extLst>
          </p:cNvPr>
          <p:cNvSpPr>
            <a:spLocks noGrp="1"/>
          </p:cNvSpPr>
          <p:nvPr>
            <p:ph type="ftr" sz="quarter" idx="10"/>
          </p:nvPr>
        </p:nvSpPr>
        <p:spPr/>
        <p:txBody>
          <a:bodyPr/>
          <a:lstStyle>
            <a:lvl1pPr>
              <a:defRPr>
                <a:solidFill>
                  <a:schemeClr val="bg2">
                    <a:lumMod val="20000"/>
                    <a:lumOff val="80000"/>
                  </a:schemeClr>
                </a:solidFill>
              </a:defRPr>
            </a:lvl1pPr>
          </a:lstStyle>
          <a:p>
            <a:r>
              <a:rPr lang="en-GB">
                <a:solidFill>
                  <a:schemeClr val="bg2">
                    <a:lumMod val="20000"/>
                    <a:lumOff val="80000"/>
                  </a:schemeClr>
                </a:solidFill>
              </a:rPr>
              <a:t>C. Develder, "AI4E: Data-efficient and scalable algorithmss to exploit energy flexibility"</a:t>
            </a:r>
            <a:endParaRPr lang="en-BE" dirty="0">
              <a:solidFill>
                <a:schemeClr val="bg2">
                  <a:lumMod val="20000"/>
                  <a:lumOff val="80000"/>
                </a:schemeClr>
              </a:solidFill>
            </a:endParaRPr>
          </a:p>
        </p:txBody>
      </p:sp>
      <p:sp>
        <p:nvSpPr>
          <p:cNvPr id="4" name="Slide Number Placeholder 3">
            <a:extLst>
              <a:ext uri="{FF2B5EF4-FFF2-40B4-BE49-F238E27FC236}">
                <a16:creationId xmlns:a16="http://schemas.microsoft.com/office/drawing/2014/main" id="{C7347E7A-C22C-5F62-63EB-F7FA81B7CC61}"/>
              </a:ext>
            </a:extLst>
          </p:cNvPr>
          <p:cNvSpPr>
            <a:spLocks noGrp="1"/>
          </p:cNvSpPr>
          <p:nvPr>
            <p:ph type="sldNum" sz="quarter" idx="11"/>
          </p:nvPr>
        </p:nvSpPr>
        <p:spPr/>
        <p:txBody>
          <a:bodyPr/>
          <a:lstStyle>
            <a:lvl1pPr>
              <a:defRPr>
                <a:solidFill>
                  <a:schemeClr val="bg2">
                    <a:lumMod val="20000"/>
                    <a:lumOff val="80000"/>
                  </a:schemeClr>
                </a:solidFill>
              </a:defRPr>
            </a:lvl1pPr>
          </a:lstStyle>
          <a:p>
            <a:fld id="{302EF9C6-712F-5E45-821B-0F21D6F327AA}" type="slidenum">
              <a:rPr lang="en-BE" smtClean="0"/>
              <a:pPr/>
              <a:t>‹#›</a:t>
            </a:fld>
            <a:endParaRPr lang="en-BE"/>
          </a:p>
        </p:txBody>
      </p:sp>
      <p:pic>
        <p:nvPicPr>
          <p:cNvPr id="5" name="Logo EN">
            <a:extLst>
              <a:ext uri="{FF2B5EF4-FFF2-40B4-BE49-F238E27FC236}">
                <a16:creationId xmlns:a16="http://schemas.microsoft.com/office/drawing/2014/main" id="{4C490E52-B2AC-3B9C-61FB-CBFFC8E07EBF}"/>
              </a:ext>
            </a:extLst>
          </p:cNvPr>
          <p:cNvPicPr>
            <a:picLocks noChangeAspect="1"/>
          </p:cNvPicPr>
          <p:nvPr userDrawn="1"/>
        </p:nvPicPr>
        <p:blipFill>
          <a:blip r:embed="rId3" cstate="print">
            <a:biLevel thresh="25000"/>
            <a:extLst>
              <a:ext uri="{28A0092B-C50C-407E-A947-70E740481C1C}">
                <a14:useLocalDpi xmlns:a14="http://schemas.microsoft.com/office/drawing/2010/main" val="0"/>
              </a:ext>
            </a:extLst>
          </a:blip>
          <a:stretch>
            <a:fillRect/>
          </a:stretch>
        </p:blipFill>
        <p:spPr>
          <a:xfrm>
            <a:off x="297443" y="5938847"/>
            <a:ext cx="1045346" cy="836613"/>
          </a:xfrm>
          <a:prstGeom prst="rect">
            <a:avLst/>
          </a:prstGeom>
        </p:spPr>
      </p:pic>
      <p:pic>
        <p:nvPicPr>
          <p:cNvPr id="10" name="Picture 9">
            <a:extLst>
              <a:ext uri="{FF2B5EF4-FFF2-40B4-BE49-F238E27FC236}">
                <a16:creationId xmlns:a16="http://schemas.microsoft.com/office/drawing/2014/main" id="{D44EBD09-2CFB-8758-E15B-284A71909014}"/>
              </a:ext>
            </a:extLst>
          </p:cNvPr>
          <p:cNvPicPr>
            <a:picLocks noChangeAspect="1"/>
          </p:cNvPicPr>
          <p:nvPr userDrawn="1"/>
        </p:nvPicPr>
        <p:blipFill>
          <a:blip r:embed="rId4">
            <a:lum bright="70000" contrast="-70000"/>
            <a:extLst>
              <a:ext uri="{28A0092B-C50C-407E-A947-70E740481C1C}">
                <a14:useLocalDpi xmlns:a14="http://schemas.microsoft.com/office/drawing/2010/main" val="0"/>
              </a:ext>
            </a:extLst>
          </a:blip>
          <a:srcRect/>
          <a:stretch>
            <a:fillRect/>
          </a:stretch>
        </p:blipFill>
        <p:spPr bwMode="auto">
          <a:xfrm>
            <a:off x="1104899" y="6194231"/>
            <a:ext cx="1014176" cy="301769"/>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pic>
    </p:spTree>
    <p:extLst>
      <p:ext uri="{BB962C8B-B14F-4D97-AF65-F5344CB8AC3E}">
        <p14:creationId xmlns:p14="http://schemas.microsoft.com/office/powerpoint/2010/main" val="102052405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5.xml><?xml version="1.0" encoding="utf-8"?>
<p:sldLayout xmlns:a="http://schemas.openxmlformats.org/drawingml/2006/main" xmlns:r="http://schemas.openxmlformats.org/officeDocument/2006/relationships" xmlns:p="http://schemas.openxmlformats.org/presentationml/2006/main" userDrawn="1">
  <p:cSld name="Numbere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nl-BE"/>
              <a:t>Click to edit Master title style</a:t>
            </a:r>
            <a:endParaRPr lang="en-US"/>
          </a:p>
        </p:txBody>
      </p:sp>
      <p:sp>
        <p:nvSpPr>
          <p:cNvPr id="3" name="Slide Number Placeholder 2"/>
          <p:cNvSpPr>
            <a:spLocks noGrp="1"/>
          </p:cNvSpPr>
          <p:nvPr>
            <p:ph type="sldNum" sz="quarter" idx="10"/>
          </p:nvPr>
        </p:nvSpPr>
        <p:spPr/>
        <p:txBody>
          <a:bodyPr/>
          <a:lstStyle/>
          <a:p>
            <a:fld id="{8836216C-5BC3-7C44-80F8-E30864FFC228}" type="slidenum">
              <a:rPr lang="en-US" smtClean="0"/>
              <a:pPr/>
              <a:t>‹#›</a:t>
            </a:fld>
            <a:endParaRPr lang="en-US"/>
          </a:p>
        </p:txBody>
      </p:sp>
      <p:sp>
        <p:nvSpPr>
          <p:cNvPr id="4" name="Text Placeholder 4"/>
          <p:cNvSpPr>
            <a:spLocks noGrp="1"/>
          </p:cNvSpPr>
          <p:nvPr>
            <p:ph type="body" sz="quarter" idx="13" hasCustomPrompt="1"/>
          </p:nvPr>
        </p:nvSpPr>
        <p:spPr>
          <a:xfrm>
            <a:off x="214175" y="768420"/>
            <a:ext cx="11671300" cy="369332"/>
          </a:xfrm>
        </p:spPr>
        <p:txBody>
          <a:bodyPr wrap="square" anchor="t">
            <a:spAutoFit/>
          </a:bodyPr>
          <a:lstStyle>
            <a:lvl1pPr marL="0" indent="0">
              <a:buFont typeface="Arial"/>
              <a:buNone/>
              <a:defRPr cap="all" baseline="0">
                <a:solidFill>
                  <a:schemeClr val="tx1"/>
                </a:solidFill>
              </a:defRPr>
            </a:lvl1pPr>
          </a:lstStyle>
          <a:p>
            <a:pPr lvl="0"/>
            <a:r>
              <a:rPr lang="nl-BE" dirty="0"/>
              <a:t>Click to edit Master Subtitle Style</a:t>
            </a:r>
            <a:endParaRPr lang="en-US" dirty="0"/>
          </a:p>
        </p:txBody>
      </p:sp>
      <p:sp>
        <p:nvSpPr>
          <p:cNvPr id="6" name="Content Placeholder 5"/>
          <p:cNvSpPr>
            <a:spLocks noGrp="1"/>
          </p:cNvSpPr>
          <p:nvPr>
            <p:ph sz="quarter" idx="14"/>
          </p:nvPr>
        </p:nvSpPr>
        <p:spPr>
          <a:xfrm>
            <a:off x="214175" y="1428751"/>
            <a:ext cx="11671300" cy="4709160"/>
          </a:xfrm>
        </p:spPr>
        <p:txBody>
          <a:bodyPr/>
          <a:lstStyle>
            <a:lvl1pPr marL="430520" indent="-430520">
              <a:buClr>
                <a:schemeClr val="tx2"/>
              </a:buClr>
              <a:buSzPct val="65000"/>
              <a:buFont typeface="+mj-lt"/>
              <a:buAutoNum type="arabicPeriod"/>
              <a:defRPr/>
            </a:lvl1pPr>
            <a:lvl2pPr marL="861038" indent="-312412">
              <a:buClr>
                <a:schemeClr val="tx1"/>
              </a:buClr>
              <a:buSzPct val="65000"/>
              <a:buFont typeface="+mj-lt"/>
              <a:buAutoNum type="arabicPeriod"/>
              <a:defRPr/>
            </a:lvl2pPr>
            <a:lvl3pPr marL="1400141" indent="-302888">
              <a:buClr>
                <a:schemeClr val="tx2"/>
              </a:buClr>
              <a:buSzPct val="65000"/>
              <a:buFont typeface="+mj-lt"/>
              <a:buAutoNum type="arabicPeriod"/>
              <a:defRPr/>
            </a:lvl3pPr>
            <a:lvl4pPr marL="1939242" indent="-293363">
              <a:buClr>
                <a:schemeClr val="tx1"/>
              </a:buClr>
              <a:buSzPct val="65000"/>
              <a:buFont typeface="+mj-lt"/>
              <a:buAutoNum type="arabicPeriod"/>
              <a:defRPr/>
            </a:lvl4pPr>
            <a:lvl5pPr marL="2472629" indent="-278124">
              <a:buClr>
                <a:schemeClr val="tx2"/>
              </a:buClr>
              <a:buSzPct val="65000"/>
              <a:buFont typeface="+mj-lt"/>
              <a:buAutoNum type="arabicPeriod"/>
              <a:defRPr/>
            </a:lvl5pPr>
          </a:lstStyle>
          <a:p>
            <a:pPr lvl="0"/>
            <a:r>
              <a:rPr lang="nl-BE" dirty="0"/>
              <a:t>Click to edit Master text styles</a:t>
            </a:r>
          </a:p>
          <a:p>
            <a:pPr lvl="1"/>
            <a:r>
              <a:rPr lang="nl-BE" dirty="0"/>
              <a:t>Second level</a:t>
            </a:r>
          </a:p>
          <a:p>
            <a:pPr lvl="2"/>
            <a:r>
              <a:rPr lang="nl-BE" dirty="0"/>
              <a:t>Third level</a:t>
            </a:r>
          </a:p>
          <a:p>
            <a:pPr lvl="3"/>
            <a:r>
              <a:rPr lang="nl-BE" dirty="0"/>
              <a:t>Fourth level</a:t>
            </a:r>
          </a:p>
          <a:p>
            <a:pPr lvl="4"/>
            <a:r>
              <a:rPr lang="nl-BE" dirty="0"/>
              <a:t>Fifth level</a:t>
            </a:r>
            <a:endParaRPr lang="en-US" dirty="0"/>
          </a:p>
        </p:txBody>
      </p:sp>
    </p:spTree>
    <p:extLst>
      <p:ext uri="{BB962C8B-B14F-4D97-AF65-F5344CB8AC3E}">
        <p14:creationId xmlns:p14="http://schemas.microsoft.com/office/powerpoint/2010/main" val="266201592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image" Target="../media/image2.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image" Target="../media/image1.png"/><Relationship Id="rId2" Type="http://schemas.openxmlformats.org/officeDocument/2006/relationships/slideLayout" Target="../slideLayouts/slideLayout2.xml"/><Relationship Id="rId16" Type="http://schemas.openxmlformats.org/officeDocument/2006/relationships/theme" Target="../theme/theme1.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26" name="Rectangle 2"/>
          <p:cNvSpPr>
            <a:spLocks noGrp="1" noChangeArrowheads="1"/>
          </p:cNvSpPr>
          <p:nvPr>
            <p:ph type="title"/>
          </p:nvPr>
        </p:nvSpPr>
        <p:spPr bwMode="auto">
          <a:xfrm>
            <a:off x="476212" y="332879"/>
            <a:ext cx="11430080" cy="836613"/>
          </a:xfrm>
          <a:prstGeom prst="rect">
            <a:avLst/>
          </a:prstGeom>
          <a:noFill/>
          <a:ln w="9525">
            <a:noFill/>
            <a:miter lim="800000"/>
            <a:headEnd/>
            <a:tailEnd/>
          </a:ln>
        </p:spPr>
        <p:txBody>
          <a:bodyPr vert="horz" wrap="square" lIns="0" tIns="0" rIns="0" bIns="0" numCol="1" anchor="ctr" anchorCtr="0" compatLnSpc="1">
            <a:prstTxWarp prst="textNoShape">
              <a:avLst/>
            </a:prstTxWarp>
          </a:bodyPr>
          <a:lstStyle/>
          <a:p>
            <a:pPr lvl="0"/>
            <a:r>
              <a:rPr lang="en-US" dirty="0"/>
              <a:t>CLICK TO EDIT MASTER TITLE STYLE </a:t>
            </a:r>
          </a:p>
        </p:txBody>
      </p:sp>
      <p:sp>
        <p:nvSpPr>
          <p:cNvPr id="1027" name="Rectangle 3"/>
          <p:cNvSpPr>
            <a:spLocks noGrp="1" noChangeArrowheads="1"/>
          </p:cNvSpPr>
          <p:nvPr>
            <p:ph type="body" idx="1"/>
          </p:nvPr>
        </p:nvSpPr>
        <p:spPr bwMode="auto">
          <a:xfrm>
            <a:off x="476211" y="1359878"/>
            <a:ext cx="11400407" cy="4731847"/>
          </a:xfrm>
          <a:prstGeom prst="rect">
            <a:avLst/>
          </a:prstGeom>
          <a:noFill/>
          <a:ln w="9525">
            <a:noFill/>
            <a:miter lim="800000"/>
            <a:headEnd/>
            <a:tailEnd/>
          </a:ln>
        </p:spPr>
        <p:txBody>
          <a:bodyPr vert="horz" wrap="square" lIns="0" tIns="0" rIns="0" bIns="0" numCol="1" anchor="t" anchorCtr="0" compatLnSpc="1">
            <a:prstTxWarp prst="textNoShape">
              <a:avLst/>
            </a:prstTxWarp>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04513" name="Rectangle 33"/>
          <p:cNvSpPr>
            <a:spLocks noGrp="1" noChangeArrowheads="1"/>
          </p:cNvSpPr>
          <p:nvPr>
            <p:ph type="ftr" sz="quarter" idx="3"/>
          </p:nvPr>
        </p:nvSpPr>
        <p:spPr bwMode="auto">
          <a:xfrm>
            <a:off x="1238217" y="6198698"/>
            <a:ext cx="9848884" cy="406400"/>
          </a:xfrm>
          <a:prstGeom prst="rect">
            <a:avLst/>
          </a:prstGeom>
          <a:noFill/>
          <a:ln w="9525">
            <a:noFill/>
            <a:miter lim="800000"/>
            <a:headEnd/>
            <a:tailEnd/>
          </a:ln>
          <a:effectLst/>
        </p:spPr>
        <p:txBody>
          <a:bodyPr vert="horz" wrap="square" lIns="0" tIns="0" rIns="0" bIns="0" numCol="1" anchor="ctr" anchorCtr="1" compatLnSpc="1">
            <a:prstTxWarp prst="textNoShape">
              <a:avLst/>
            </a:prstTxWarp>
          </a:bodyPr>
          <a:lstStyle>
            <a:lvl1pPr algn="ctr">
              <a:defRPr sz="1000" b="0" i="0">
                <a:solidFill>
                  <a:schemeClr val="accent6"/>
                </a:solidFill>
                <a:latin typeface="UGent Panno Text" charset="0"/>
                <a:ea typeface="UGent Panno Text" charset="0"/>
                <a:cs typeface="UGent Panno Text" charset="0"/>
              </a:defRPr>
            </a:lvl1pPr>
          </a:lstStyle>
          <a:p>
            <a:pPr>
              <a:defRPr/>
            </a:pPr>
            <a:r>
              <a:rPr lang="en-US"/>
              <a:t>C. Develder, "AI4E: Data-efficient and scalable algorithmss to exploit energy flexibility"</a:t>
            </a:r>
            <a:endParaRPr lang="en-US" dirty="0"/>
          </a:p>
        </p:txBody>
      </p:sp>
      <p:sp>
        <p:nvSpPr>
          <p:cNvPr id="404514" name="Rectangle 34"/>
          <p:cNvSpPr>
            <a:spLocks noGrp="1" noChangeArrowheads="1"/>
          </p:cNvSpPr>
          <p:nvPr>
            <p:ph type="sldNum" sz="quarter" idx="4"/>
          </p:nvPr>
        </p:nvSpPr>
        <p:spPr bwMode="auto">
          <a:xfrm>
            <a:off x="11087100" y="6198698"/>
            <a:ext cx="789517" cy="406400"/>
          </a:xfrm>
          <a:prstGeom prst="rect">
            <a:avLst/>
          </a:prstGeom>
          <a:noFill/>
          <a:ln w="9525">
            <a:noFill/>
            <a:miter lim="800000"/>
            <a:headEnd/>
            <a:tailEnd/>
          </a:ln>
          <a:effectLst/>
        </p:spPr>
        <p:txBody>
          <a:bodyPr vert="horz" wrap="square" lIns="0" tIns="0" rIns="0" bIns="0" numCol="1" anchor="ctr" anchorCtr="1" compatLnSpc="1">
            <a:prstTxWarp prst="textNoShape">
              <a:avLst/>
            </a:prstTxWarp>
          </a:bodyPr>
          <a:lstStyle>
            <a:lvl1pPr algn="r">
              <a:defRPr sz="1000" b="0">
                <a:solidFill>
                  <a:schemeClr val="accent6"/>
                </a:solidFill>
                <a:latin typeface="UGent Panno Text" charset="0"/>
                <a:ea typeface="UGent Panno Text" charset="0"/>
                <a:cs typeface="UGent Panno Text" charset="0"/>
              </a:defRPr>
            </a:lvl1pPr>
          </a:lstStyle>
          <a:p>
            <a:pPr>
              <a:defRPr/>
            </a:pPr>
            <a:fld id="{9979E472-F673-4ED4-A86E-D1C34A0AEC76}" type="slidenum">
              <a:rPr lang="en-US" smtClean="0"/>
              <a:pPr>
                <a:defRPr/>
              </a:pPr>
              <a:t>‹#›</a:t>
            </a:fld>
            <a:endParaRPr lang="en-US"/>
          </a:p>
        </p:txBody>
      </p:sp>
      <p:pic>
        <p:nvPicPr>
          <p:cNvPr id="7" name="Logo EN">
            <a:extLst>
              <a:ext uri="{FF2B5EF4-FFF2-40B4-BE49-F238E27FC236}">
                <a16:creationId xmlns:a16="http://schemas.microsoft.com/office/drawing/2014/main" id="{256F986C-B67C-3843-AFA5-0BB03E19DE25}"/>
              </a:ext>
            </a:extLst>
          </p:cNvPr>
          <p:cNvPicPr>
            <a:picLocks noChangeAspect="1"/>
          </p:cNvPicPr>
          <p:nvPr userDrawn="1"/>
        </p:nvPicPr>
        <p:blipFill>
          <a:blip r:embed="rId17" cstate="print">
            <a:extLst>
              <a:ext uri="{28A0092B-C50C-407E-A947-70E740481C1C}">
                <a14:useLocalDpi xmlns:a14="http://schemas.microsoft.com/office/drawing/2010/main" val="0"/>
              </a:ext>
            </a:extLst>
          </a:blip>
          <a:stretch>
            <a:fillRect/>
          </a:stretch>
        </p:blipFill>
        <p:spPr>
          <a:xfrm>
            <a:off x="297443" y="5938847"/>
            <a:ext cx="1045346" cy="836613"/>
          </a:xfrm>
          <a:prstGeom prst="rect">
            <a:avLst/>
          </a:prstGeom>
        </p:spPr>
      </p:pic>
      <p:pic>
        <p:nvPicPr>
          <p:cNvPr id="2" name="Picture 1">
            <a:extLst>
              <a:ext uri="{FF2B5EF4-FFF2-40B4-BE49-F238E27FC236}">
                <a16:creationId xmlns:a16="http://schemas.microsoft.com/office/drawing/2014/main" id="{AC68A525-A2CB-F9F8-060F-8B9DD4BBFC87}"/>
              </a:ext>
            </a:extLst>
          </p:cNvPr>
          <p:cNvPicPr>
            <a:picLocks noChangeAspect="1"/>
          </p:cNvPicPr>
          <p:nvPr userDrawn="1"/>
        </p:nvPicPr>
        <p:blipFill>
          <a:blip r:embed="rId18">
            <a:extLst>
              <a:ext uri="{28A0092B-C50C-407E-A947-70E740481C1C}">
                <a14:useLocalDpi xmlns:a14="http://schemas.microsoft.com/office/drawing/2010/main" val="0"/>
              </a:ext>
            </a:extLst>
          </a:blip>
          <a:srcRect/>
          <a:stretch>
            <a:fillRect/>
          </a:stretch>
        </p:blipFill>
        <p:spPr bwMode="auto">
          <a:xfrm>
            <a:off x="1104899" y="6194231"/>
            <a:ext cx="1014176" cy="301769"/>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pic>
    </p:spTree>
  </p:cSld>
  <p:clrMap bg1="lt1" tx1="dk1" bg2="lt2" tx2="dk2" accent1="accent1" accent2="accent2" accent3="accent3" accent4="accent4" accent5="accent5" accent6="accent6" hlink="hlink" folHlink="folHlink"/>
  <p:sldLayoutIdLst>
    <p:sldLayoutId id="2147483945" r:id="rId1"/>
    <p:sldLayoutId id="2147483935" r:id="rId2"/>
    <p:sldLayoutId id="2147483936" r:id="rId3"/>
    <p:sldLayoutId id="2147483947" r:id="rId4"/>
    <p:sldLayoutId id="2147483948" r:id="rId5"/>
    <p:sldLayoutId id="2147483946" r:id="rId6"/>
    <p:sldLayoutId id="2147483937" r:id="rId7"/>
    <p:sldLayoutId id="2147483938" r:id="rId8"/>
    <p:sldLayoutId id="2147483939" r:id="rId9"/>
    <p:sldLayoutId id="2147483940" r:id="rId10"/>
    <p:sldLayoutId id="2147483949" r:id="rId11"/>
    <p:sldLayoutId id="2147483950" r:id="rId12"/>
    <p:sldLayoutId id="2147483952" r:id="rId13"/>
    <p:sldLayoutId id="2147483953" r:id="rId14"/>
    <p:sldLayoutId id="2147483954" r:id="rId15"/>
  </p:sldLayoutIdLst>
  <p:hf hdr="0" dt="0"/>
  <p:txStyles>
    <p:titleStyle>
      <a:lvl1pPr algn="l" rtl="0" eaLnBrk="0" fontAlgn="base" hangingPunct="0">
        <a:spcBef>
          <a:spcPct val="0"/>
        </a:spcBef>
        <a:spcAft>
          <a:spcPct val="0"/>
        </a:spcAft>
        <a:defRPr sz="3200" b="1">
          <a:solidFill>
            <a:schemeClr val="accent6"/>
          </a:solidFill>
          <a:latin typeface="UGent Panno Text" charset="0"/>
          <a:ea typeface="UGent Panno Text" charset="0"/>
          <a:cs typeface="UGent Panno Text" charset="0"/>
        </a:defRPr>
      </a:lvl1pPr>
      <a:lvl2pPr algn="l" rtl="0" eaLnBrk="0" fontAlgn="base" hangingPunct="0">
        <a:spcBef>
          <a:spcPct val="0"/>
        </a:spcBef>
        <a:spcAft>
          <a:spcPct val="0"/>
        </a:spcAft>
        <a:defRPr sz="2800" b="1">
          <a:solidFill>
            <a:schemeClr val="tx1"/>
          </a:solidFill>
          <a:latin typeface="Arial" charset="0"/>
          <a:cs typeface="Arial" charset="0"/>
        </a:defRPr>
      </a:lvl2pPr>
      <a:lvl3pPr algn="l" rtl="0" eaLnBrk="0" fontAlgn="base" hangingPunct="0">
        <a:spcBef>
          <a:spcPct val="0"/>
        </a:spcBef>
        <a:spcAft>
          <a:spcPct val="0"/>
        </a:spcAft>
        <a:defRPr sz="2800" b="1">
          <a:solidFill>
            <a:schemeClr val="tx1"/>
          </a:solidFill>
          <a:latin typeface="Arial" charset="0"/>
          <a:cs typeface="Arial" charset="0"/>
        </a:defRPr>
      </a:lvl3pPr>
      <a:lvl4pPr algn="l" rtl="0" eaLnBrk="0" fontAlgn="base" hangingPunct="0">
        <a:spcBef>
          <a:spcPct val="0"/>
        </a:spcBef>
        <a:spcAft>
          <a:spcPct val="0"/>
        </a:spcAft>
        <a:defRPr sz="2800" b="1">
          <a:solidFill>
            <a:schemeClr val="tx1"/>
          </a:solidFill>
          <a:latin typeface="Arial" charset="0"/>
          <a:cs typeface="Arial" charset="0"/>
        </a:defRPr>
      </a:lvl4pPr>
      <a:lvl5pPr algn="l" rtl="0" eaLnBrk="0" fontAlgn="base" hangingPunct="0">
        <a:spcBef>
          <a:spcPct val="0"/>
        </a:spcBef>
        <a:spcAft>
          <a:spcPct val="0"/>
        </a:spcAft>
        <a:defRPr sz="2800" b="1">
          <a:solidFill>
            <a:schemeClr val="tx1"/>
          </a:solidFill>
          <a:latin typeface="Arial" charset="0"/>
          <a:cs typeface="Arial" charset="0"/>
        </a:defRPr>
      </a:lvl5pPr>
      <a:lvl6pPr marL="457200" algn="l" rtl="0" fontAlgn="base">
        <a:spcBef>
          <a:spcPct val="0"/>
        </a:spcBef>
        <a:spcAft>
          <a:spcPct val="0"/>
        </a:spcAft>
        <a:defRPr sz="2800" b="1">
          <a:solidFill>
            <a:schemeClr val="tx1"/>
          </a:solidFill>
          <a:latin typeface="Arial" charset="0"/>
          <a:cs typeface="Arial" charset="0"/>
        </a:defRPr>
      </a:lvl6pPr>
      <a:lvl7pPr marL="914400" algn="l" rtl="0" fontAlgn="base">
        <a:spcBef>
          <a:spcPct val="0"/>
        </a:spcBef>
        <a:spcAft>
          <a:spcPct val="0"/>
        </a:spcAft>
        <a:defRPr sz="2800" b="1">
          <a:solidFill>
            <a:schemeClr val="tx1"/>
          </a:solidFill>
          <a:latin typeface="Arial" charset="0"/>
          <a:cs typeface="Arial" charset="0"/>
        </a:defRPr>
      </a:lvl7pPr>
      <a:lvl8pPr marL="1371600" algn="l" rtl="0" fontAlgn="base">
        <a:spcBef>
          <a:spcPct val="0"/>
        </a:spcBef>
        <a:spcAft>
          <a:spcPct val="0"/>
        </a:spcAft>
        <a:defRPr sz="2800" b="1">
          <a:solidFill>
            <a:schemeClr val="tx1"/>
          </a:solidFill>
          <a:latin typeface="Arial" charset="0"/>
          <a:cs typeface="Arial" charset="0"/>
        </a:defRPr>
      </a:lvl8pPr>
      <a:lvl9pPr marL="1828800" algn="l" rtl="0" fontAlgn="base">
        <a:spcBef>
          <a:spcPct val="0"/>
        </a:spcBef>
        <a:spcAft>
          <a:spcPct val="0"/>
        </a:spcAft>
        <a:defRPr sz="2800" b="1">
          <a:solidFill>
            <a:schemeClr val="tx1"/>
          </a:solidFill>
          <a:latin typeface="Arial" charset="0"/>
          <a:cs typeface="Arial" charset="0"/>
        </a:defRPr>
      </a:lvl9pPr>
    </p:titleStyle>
    <p:bodyStyle>
      <a:lvl1pPr marL="228600" indent="-228600" algn="l" rtl="0" eaLnBrk="0" fontAlgn="base" hangingPunct="0">
        <a:spcBef>
          <a:spcPct val="20000"/>
        </a:spcBef>
        <a:spcAft>
          <a:spcPct val="0"/>
        </a:spcAft>
        <a:buClr>
          <a:schemeClr val="accent6"/>
        </a:buClr>
        <a:buFont typeface="Wingdings" pitchFamily="2" charset="2"/>
        <a:buChar char="§"/>
        <a:defRPr sz="2400">
          <a:solidFill>
            <a:schemeClr val="tx1"/>
          </a:solidFill>
          <a:latin typeface="UGent Panno Text" charset="0"/>
          <a:ea typeface="UGent Panno Text" charset="0"/>
          <a:cs typeface="UGent Panno Text" charset="0"/>
        </a:defRPr>
      </a:lvl1pPr>
      <a:lvl2pPr marL="685800" indent="-228600" algn="l" rtl="0" eaLnBrk="0" fontAlgn="base" hangingPunct="0">
        <a:spcBef>
          <a:spcPct val="20000"/>
        </a:spcBef>
        <a:spcAft>
          <a:spcPct val="0"/>
        </a:spcAft>
        <a:buClr>
          <a:schemeClr val="accent2"/>
        </a:buClr>
        <a:buSzPct val="110000"/>
        <a:buFont typeface="Calibri" pitchFamily="34" charset="0"/>
        <a:buChar char="•"/>
        <a:defRPr sz="2000">
          <a:solidFill>
            <a:schemeClr val="tx1"/>
          </a:solidFill>
          <a:latin typeface="UGent Panno Text" charset="0"/>
          <a:ea typeface="UGent Panno Text" charset="0"/>
          <a:cs typeface="UGent Panno Text" charset="0"/>
        </a:defRPr>
      </a:lvl2pPr>
      <a:lvl3pPr marL="1104900" indent="-190500" algn="l" rtl="0" eaLnBrk="0" fontAlgn="base" hangingPunct="0">
        <a:spcBef>
          <a:spcPct val="20000"/>
        </a:spcBef>
        <a:spcAft>
          <a:spcPct val="0"/>
        </a:spcAft>
        <a:buClr>
          <a:schemeClr val="accent6"/>
        </a:buClr>
        <a:buFont typeface="Wingdings" pitchFamily="2" charset="2"/>
        <a:buChar char="§"/>
        <a:defRPr sz="2000">
          <a:solidFill>
            <a:schemeClr val="tx1"/>
          </a:solidFill>
          <a:latin typeface="UGent Panno Text" charset="0"/>
          <a:ea typeface="UGent Panno Text" charset="0"/>
          <a:cs typeface="UGent Panno Text" charset="0"/>
        </a:defRPr>
      </a:lvl3pPr>
      <a:lvl4pPr marL="1562100" indent="-190500" algn="l" rtl="0" eaLnBrk="0" fontAlgn="base" hangingPunct="0">
        <a:spcBef>
          <a:spcPct val="20000"/>
        </a:spcBef>
        <a:spcAft>
          <a:spcPct val="0"/>
        </a:spcAft>
        <a:buClr>
          <a:schemeClr val="accent2"/>
        </a:buClr>
        <a:buFont typeface="Arial" pitchFamily="34" charset="0"/>
        <a:buChar char="•"/>
        <a:defRPr sz="1800">
          <a:solidFill>
            <a:schemeClr val="tx1"/>
          </a:solidFill>
          <a:latin typeface="UGent Panno Text" charset="0"/>
          <a:ea typeface="UGent Panno Text" charset="0"/>
          <a:cs typeface="UGent Panno Text" charset="0"/>
        </a:defRPr>
      </a:lvl4pPr>
      <a:lvl5pPr marL="2019300" indent="-190500" algn="l" rtl="0" eaLnBrk="0" fontAlgn="base" hangingPunct="0">
        <a:spcBef>
          <a:spcPct val="20000"/>
        </a:spcBef>
        <a:spcAft>
          <a:spcPct val="0"/>
        </a:spcAft>
        <a:buClr>
          <a:schemeClr val="accent6"/>
        </a:buClr>
        <a:buFont typeface="Calibri" pitchFamily="34" charset="0"/>
        <a:buChar char="–"/>
        <a:defRPr sz="1800">
          <a:solidFill>
            <a:schemeClr val="tx1"/>
          </a:solidFill>
          <a:latin typeface="UGent Panno Text" charset="0"/>
          <a:ea typeface="UGent Panno Text" charset="0"/>
          <a:cs typeface="UGent Panno Text" charset="0"/>
        </a:defRPr>
      </a:lvl5pPr>
      <a:lvl6pPr marL="2476500" indent="-190500" algn="l" rtl="0" fontAlgn="base">
        <a:spcBef>
          <a:spcPct val="20000"/>
        </a:spcBef>
        <a:spcAft>
          <a:spcPct val="0"/>
        </a:spcAft>
        <a:buClr>
          <a:srgbClr val="CC0066"/>
        </a:buClr>
        <a:buFont typeface="Wingdings" pitchFamily="2" charset="2"/>
        <a:buChar char="§"/>
        <a:defRPr sz="2000">
          <a:solidFill>
            <a:schemeClr val="tx1"/>
          </a:solidFill>
          <a:latin typeface="+mn-lt"/>
          <a:cs typeface="+mn-cs"/>
        </a:defRPr>
      </a:lvl6pPr>
      <a:lvl7pPr marL="2933700" indent="-190500" algn="l" rtl="0" fontAlgn="base">
        <a:spcBef>
          <a:spcPct val="20000"/>
        </a:spcBef>
        <a:spcAft>
          <a:spcPct val="0"/>
        </a:spcAft>
        <a:buClr>
          <a:srgbClr val="CC0066"/>
        </a:buClr>
        <a:buFont typeface="Wingdings" pitchFamily="2" charset="2"/>
        <a:buChar char="§"/>
        <a:defRPr sz="2000">
          <a:solidFill>
            <a:schemeClr val="tx1"/>
          </a:solidFill>
          <a:latin typeface="+mn-lt"/>
          <a:cs typeface="+mn-cs"/>
        </a:defRPr>
      </a:lvl7pPr>
      <a:lvl8pPr marL="3390900" indent="-190500" algn="l" rtl="0" fontAlgn="base">
        <a:spcBef>
          <a:spcPct val="20000"/>
        </a:spcBef>
        <a:spcAft>
          <a:spcPct val="0"/>
        </a:spcAft>
        <a:buClr>
          <a:srgbClr val="CC0066"/>
        </a:buClr>
        <a:buFont typeface="Wingdings" pitchFamily="2" charset="2"/>
        <a:buChar char="§"/>
        <a:defRPr sz="2000">
          <a:solidFill>
            <a:schemeClr val="tx1"/>
          </a:solidFill>
          <a:latin typeface="+mn-lt"/>
          <a:cs typeface="+mn-cs"/>
        </a:defRPr>
      </a:lvl8pPr>
      <a:lvl9pPr marL="3848100" indent="-190500" algn="l" rtl="0" fontAlgn="base">
        <a:spcBef>
          <a:spcPct val="20000"/>
        </a:spcBef>
        <a:spcAft>
          <a:spcPct val="0"/>
        </a:spcAft>
        <a:buClr>
          <a:srgbClr val="CC0066"/>
        </a:buClr>
        <a:buFont typeface="Wingdings" pitchFamily="2" charset="2"/>
        <a:buChar char="§"/>
        <a:defRPr sz="2000">
          <a:solidFill>
            <a:schemeClr val="tx1"/>
          </a:solidFill>
          <a:latin typeface="+mn-lt"/>
          <a:cs typeface="+mn-cs"/>
        </a:defRPr>
      </a:lvl9pPr>
    </p:bodyStyle>
    <p:otherStyle>
      <a:defPPr>
        <a:defRPr lang="nl-B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3" Type="http://schemas.openxmlformats.org/officeDocument/2006/relationships/image" Target="../media/image5.png"/><Relationship Id="rId7" Type="http://schemas.openxmlformats.org/officeDocument/2006/relationships/image" Target="../media/image9.png"/><Relationship Id="rId2" Type="http://schemas.openxmlformats.org/officeDocument/2006/relationships/notesSlide" Target="../notesSlides/notesSlide2.xml"/><Relationship Id="rId1" Type="http://schemas.openxmlformats.org/officeDocument/2006/relationships/slideLayout" Target="../slideLayouts/slideLayout2.xml"/><Relationship Id="rId6" Type="http://schemas.openxmlformats.org/officeDocument/2006/relationships/image" Target="../media/image8.png"/><Relationship Id="rId5" Type="http://schemas.openxmlformats.org/officeDocument/2006/relationships/image" Target="../media/image7.emf"/><Relationship Id="rId4" Type="http://schemas.openxmlformats.org/officeDocument/2006/relationships/image" Target="../media/image6.png"/></Relationships>
</file>

<file path=ppt/slides/_rels/slide3.xml.rels><?xml version="1.0" encoding="UTF-8" standalone="yes"?>
<Relationships xmlns="http://schemas.openxmlformats.org/package/2006/relationships"><Relationship Id="rId8" Type="http://schemas.openxmlformats.org/officeDocument/2006/relationships/image" Target="../media/image16.png"/><Relationship Id="rId3" Type="http://schemas.openxmlformats.org/officeDocument/2006/relationships/image" Target="../media/image11.png"/><Relationship Id="rId7" Type="http://schemas.openxmlformats.org/officeDocument/2006/relationships/image" Target="../media/image15.jpeg"/><Relationship Id="rId12" Type="http://schemas.openxmlformats.org/officeDocument/2006/relationships/image" Target="../media/image2.png"/><Relationship Id="rId2" Type="http://schemas.openxmlformats.org/officeDocument/2006/relationships/image" Target="../media/image10.jpg"/><Relationship Id="rId1" Type="http://schemas.openxmlformats.org/officeDocument/2006/relationships/slideLayout" Target="../slideLayouts/slideLayout14.xml"/><Relationship Id="rId6" Type="http://schemas.openxmlformats.org/officeDocument/2006/relationships/image" Target="../media/image14.jpeg"/><Relationship Id="rId11" Type="http://schemas.openxmlformats.org/officeDocument/2006/relationships/image" Target="../media/image19.png"/><Relationship Id="rId5" Type="http://schemas.openxmlformats.org/officeDocument/2006/relationships/image" Target="../media/image13.png"/><Relationship Id="rId10" Type="http://schemas.openxmlformats.org/officeDocument/2006/relationships/image" Target="../media/image18.jpeg"/><Relationship Id="rId4" Type="http://schemas.openxmlformats.org/officeDocument/2006/relationships/image" Target="../media/image12.png"/><Relationship Id="rId9" Type="http://schemas.openxmlformats.org/officeDocument/2006/relationships/image" Target="../media/image17.jpg"/></Relationships>
</file>

<file path=ppt/slides/_rels/slide4.xml.rels><?xml version="1.0" encoding="UTF-8" standalone="yes"?>
<Relationships xmlns="http://schemas.openxmlformats.org/package/2006/relationships"><Relationship Id="rId8" Type="http://schemas.openxmlformats.org/officeDocument/2006/relationships/image" Target="../media/image25.emf"/><Relationship Id="rId3" Type="http://schemas.openxmlformats.org/officeDocument/2006/relationships/image" Target="../media/image20.emf"/><Relationship Id="rId7" Type="http://schemas.openxmlformats.org/officeDocument/2006/relationships/image" Target="../media/image24.emf"/><Relationship Id="rId2" Type="http://schemas.openxmlformats.org/officeDocument/2006/relationships/notesSlide" Target="../notesSlides/notesSlide3.xml"/><Relationship Id="rId1" Type="http://schemas.openxmlformats.org/officeDocument/2006/relationships/slideLayout" Target="../slideLayouts/slideLayout14.xml"/><Relationship Id="rId6" Type="http://schemas.openxmlformats.org/officeDocument/2006/relationships/image" Target="../media/image23.emf"/><Relationship Id="rId5" Type="http://schemas.openxmlformats.org/officeDocument/2006/relationships/image" Target="../media/image22.emf"/><Relationship Id="rId4" Type="http://schemas.openxmlformats.org/officeDocument/2006/relationships/image" Target="../media/image21.emf"/></Relationships>
</file>

<file path=ppt/slides/_rels/slide5.xml.rels><?xml version="1.0" encoding="UTF-8" standalone="yes"?>
<Relationships xmlns="http://schemas.openxmlformats.org/package/2006/relationships"><Relationship Id="rId3" Type="http://schemas.openxmlformats.org/officeDocument/2006/relationships/image" Target="../media/image27.emf"/><Relationship Id="rId2" Type="http://schemas.openxmlformats.org/officeDocument/2006/relationships/image" Target="../media/image26.emf"/><Relationship Id="rId1" Type="http://schemas.openxmlformats.org/officeDocument/2006/relationships/slideLayout" Target="../slideLayouts/slideLayout2.xml"/><Relationship Id="rId4" Type="http://schemas.openxmlformats.org/officeDocument/2006/relationships/image" Target="../media/image28.emf"/></Relationships>
</file>

<file path=ppt/slides/_rels/slide6.xml.rels><?xml version="1.0" encoding="UTF-8" standalone="yes"?>
<Relationships xmlns="http://schemas.openxmlformats.org/package/2006/relationships"><Relationship Id="rId3" Type="http://schemas.openxmlformats.org/officeDocument/2006/relationships/hyperlink" Target="https://arxiv.org/abs/2211.11830v1" TargetMode="External"/><Relationship Id="rId2" Type="http://schemas.openxmlformats.org/officeDocument/2006/relationships/notesSlide" Target="../notesSlides/notesSlide4.xml"/><Relationship Id="rId1" Type="http://schemas.openxmlformats.org/officeDocument/2006/relationships/slideLayout" Target="../slideLayouts/slideLayout6.xml"/><Relationship Id="rId6" Type="http://schemas.openxmlformats.org/officeDocument/2006/relationships/image" Target="../media/image22.emf"/><Relationship Id="rId5" Type="http://schemas.openxmlformats.org/officeDocument/2006/relationships/hyperlink" Target="https://doi.org/10.1016/j.apenergy.2022.118852" TargetMode="External"/><Relationship Id="rId4" Type="http://schemas.openxmlformats.org/officeDocument/2006/relationships/image" Target="../media/image29.png"/></Relationships>
</file>

<file path=ppt/slides/_rels/slide7.xml.rels><?xml version="1.0" encoding="UTF-8" standalone="yes"?>
<Relationships xmlns="http://schemas.openxmlformats.org/package/2006/relationships"><Relationship Id="rId3" Type="http://schemas.openxmlformats.org/officeDocument/2006/relationships/image" Target="../media/image30.emf"/><Relationship Id="rId2" Type="http://schemas.openxmlformats.org/officeDocument/2006/relationships/notesSlide" Target="../notesSlides/notesSlide5.xml"/><Relationship Id="rId1" Type="http://schemas.openxmlformats.org/officeDocument/2006/relationships/slideLayout" Target="../slideLayouts/slideLayout2.xml"/><Relationship Id="rId4" Type="http://schemas.openxmlformats.org/officeDocument/2006/relationships/image" Target="../media/image31.emf"/></Relationships>
</file>

<file path=ppt/slides/_rels/slide8.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image" Target="../media/image32.png"/><Relationship Id="rId1" Type="http://schemas.openxmlformats.org/officeDocument/2006/relationships/slideLayout" Target="../slideLayouts/slideLayout5.xml"/><Relationship Id="rId4" Type="http://schemas.openxmlformats.org/officeDocument/2006/relationships/image" Target="../media/image34.png"/></Relationships>
</file>

<file path=ppt/slides/_rels/slide9.xml.rels><?xml version="1.0" encoding="UTF-8" standalone="yes"?>
<Relationships xmlns="http://schemas.openxmlformats.org/package/2006/relationships"><Relationship Id="rId3" Type="http://schemas.openxmlformats.org/officeDocument/2006/relationships/image" Target="../media/image31.emf"/><Relationship Id="rId2" Type="http://schemas.openxmlformats.org/officeDocument/2006/relationships/image" Target="../media/image30.emf"/><Relationship Id="rId1" Type="http://schemas.openxmlformats.org/officeDocument/2006/relationships/slideLayout" Target="../slideLayouts/slideLayout5.xml"/></Relationships>
</file>

<file path=ppt/slides/_rels/slide10.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35.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image" Target="../media/image36.png"/><Relationship Id="rId1" Type="http://schemas.openxmlformats.org/officeDocument/2006/relationships/slideLayout" Target="../slideLayouts/slideLayout9.xml"/></Relationships>
</file>

<file path=ppt/slides/_rels/slide13.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image" Target="../media/image36.png"/><Relationship Id="rId1" Type="http://schemas.openxmlformats.org/officeDocument/2006/relationships/slideLayout" Target="../slideLayouts/slideLayout9.xml"/></Relationships>
</file>

<file path=ppt/slides/_rels/slide14.xml.rels><?xml version="1.0" encoding="UTF-8" standalone="yes"?>
<Relationships xmlns="http://schemas.openxmlformats.org/package/2006/relationships"><Relationship Id="rId3" Type="http://schemas.openxmlformats.org/officeDocument/2006/relationships/image" Target="../media/image22.emf"/><Relationship Id="rId7" Type="http://schemas.openxmlformats.org/officeDocument/2006/relationships/hyperlink" Target="https://doi.org/10.1145/3632775.3661937" TargetMode="External"/><Relationship Id="rId2" Type="http://schemas.openxmlformats.org/officeDocument/2006/relationships/notesSlide" Target="../notesSlides/notesSlide7.xml"/><Relationship Id="rId1" Type="http://schemas.openxmlformats.org/officeDocument/2006/relationships/slideLayout" Target="../slideLayouts/slideLayout6.xml"/><Relationship Id="rId6" Type="http://schemas.openxmlformats.org/officeDocument/2006/relationships/image" Target="../media/image16.png"/><Relationship Id="rId5" Type="http://schemas.openxmlformats.org/officeDocument/2006/relationships/hyperlink" Target="https://doi.org/10.1145/3679240.3734671" TargetMode="External"/><Relationship Id="rId4" Type="http://schemas.openxmlformats.org/officeDocument/2006/relationships/image" Target="../media/image29.png"/></Relationships>
</file>

<file path=ppt/slides/_rels/slide15.xml.rels><?xml version="1.0" encoding="UTF-8" standalone="yes"?>
<Relationships xmlns="http://schemas.openxmlformats.org/package/2006/relationships"><Relationship Id="rId3" Type="http://schemas.openxmlformats.org/officeDocument/2006/relationships/image" Target="../media/image38.emf"/><Relationship Id="rId2" Type="http://schemas.openxmlformats.org/officeDocument/2006/relationships/notesSlide" Target="../notesSlides/notesSlide8.xml"/><Relationship Id="rId1" Type="http://schemas.openxmlformats.org/officeDocument/2006/relationships/slideLayout" Target="../slideLayouts/slideLayout2.xml"/><Relationship Id="rId4" Type="http://schemas.openxmlformats.org/officeDocument/2006/relationships/image" Target="../media/image30.emf"/></Relationships>
</file>

<file path=ppt/slides/_rels/slide16.xml.rels><?xml version="1.0" encoding="UTF-8" standalone="yes"?>
<Relationships xmlns="http://schemas.openxmlformats.org/package/2006/relationships"><Relationship Id="rId3" Type="http://schemas.openxmlformats.org/officeDocument/2006/relationships/image" Target="../media/image38.emf"/><Relationship Id="rId2" Type="http://schemas.openxmlformats.org/officeDocument/2006/relationships/notesSlide" Target="../notesSlides/notesSlide9.xml"/><Relationship Id="rId1" Type="http://schemas.openxmlformats.org/officeDocument/2006/relationships/slideLayout" Target="../slideLayouts/slideLayout2.xml"/><Relationship Id="rId5" Type="http://schemas.openxmlformats.org/officeDocument/2006/relationships/image" Target="../media/image39.svg"/><Relationship Id="rId4" Type="http://schemas.openxmlformats.org/officeDocument/2006/relationships/image" Target="../media/image30.emf"/></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9.xml"/></Relationships>
</file>

<file path=ppt/slides/_rels/slide18.xml.rels><?xml version="1.0" encoding="UTF-8" standalone="yes"?>
<Relationships xmlns="http://schemas.openxmlformats.org/package/2006/relationships"><Relationship Id="rId3" Type="http://schemas.openxmlformats.org/officeDocument/2006/relationships/image" Target="../media/image40.emf"/><Relationship Id="rId2" Type="http://schemas.openxmlformats.org/officeDocument/2006/relationships/notesSlide" Target="../notesSlides/notesSlide11.xml"/><Relationship Id="rId1" Type="http://schemas.openxmlformats.org/officeDocument/2006/relationships/slideLayout" Target="../slideLayouts/slideLayout2.xml"/><Relationship Id="rId6" Type="http://schemas.openxmlformats.org/officeDocument/2006/relationships/image" Target="../media/image42.emf"/><Relationship Id="rId5" Type="http://schemas.openxmlformats.org/officeDocument/2006/relationships/image" Target="../media/image39.svg"/><Relationship Id="rId4" Type="http://schemas.openxmlformats.org/officeDocument/2006/relationships/image" Target="../media/image41.emf"/></Relationships>
</file>

<file path=ppt/slides/_rels/slide19.xml.rels><?xml version="1.0" encoding="UTF-8" standalone="yes"?>
<Relationships xmlns="http://schemas.openxmlformats.org/package/2006/relationships"><Relationship Id="rId3" Type="http://schemas.openxmlformats.org/officeDocument/2006/relationships/image" Target="../media/image43.png"/><Relationship Id="rId2" Type="http://schemas.openxmlformats.org/officeDocument/2006/relationships/notesSlide" Target="../notesSlides/notesSlide12.xml"/><Relationship Id="rId1" Type="http://schemas.openxmlformats.org/officeDocument/2006/relationships/slideLayout" Target="../slideLayouts/slideLayout2.xml"/><Relationship Id="rId4" Type="http://schemas.openxmlformats.org/officeDocument/2006/relationships/image" Target="../media/image39.svg"/></Relationships>
</file>

<file path=ppt/slides/_rels/slide20.xml.rels><?xml version="1.0" encoding="UTF-8" standalone="yes"?>
<Relationships xmlns="http://schemas.openxmlformats.org/package/2006/relationships"><Relationship Id="rId3" Type="http://schemas.openxmlformats.org/officeDocument/2006/relationships/image" Target="../media/image44.jpg"/><Relationship Id="rId7" Type="http://schemas.openxmlformats.org/officeDocument/2006/relationships/image" Target="../media/image20.emf"/><Relationship Id="rId2" Type="http://schemas.openxmlformats.org/officeDocument/2006/relationships/notesSlide" Target="../notesSlides/notesSlide13.xml"/><Relationship Id="rId1" Type="http://schemas.openxmlformats.org/officeDocument/2006/relationships/slideLayout" Target="../slideLayouts/slideLayout6.xml"/><Relationship Id="rId6" Type="http://schemas.openxmlformats.org/officeDocument/2006/relationships/hyperlink" Target="https://openreview.net/attachment?id=3h0v1Ht73L&amp;name=pdf" TargetMode="External"/><Relationship Id="rId5" Type="http://schemas.openxmlformats.org/officeDocument/2006/relationships/image" Target="../media/image10.jpg"/><Relationship Id="rId4" Type="http://schemas.openxmlformats.org/officeDocument/2006/relationships/hyperlink" Target="https://doi.org/10.1145/3744255.3811736" TargetMode="External"/></Relationships>
</file>

<file path=ppt/slides/_rels/slide21.xml.rels><?xml version="1.0" encoding="UTF-8" standalone="yes"?>
<Relationships xmlns="http://schemas.openxmlformats.org/package/2006/relationships"><Relationship Id="rId3" Type="http://schemas.openxmlformats.org/officeDocument/2006/relationships/image" Target="../media/image45.png"/><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image" Target="../media/image47.jpg"/><Relationship Id="rId2" Type="http://schemas.openxmlformats.org/officeDocument/2006/relationships/image" Target="../media/image46.emf"/><Relationship Id="rId1" Type="http://schemas.openxmlformats.org/officeDocument/2006/relationships/slideLayout" Target="../slideLayouts/slideLayout2.xml"/><Relationship Id="rId4" Type="http://schemas.openxmlformats.org/officeDocument/2006/relationships/image" Target="../media/image48.jpg"/></Relationships>
</file>

<file path=ppt/slides/_rels/slide23.xml.rels><?xml version="1.0" encoding="UTF-8" standalone="yes"?>
<Relationships xmlns="http://schemas.openxmlformats.org/package/2006/relationships"><Relationship Id="rId3" Type="http://schemas.openxmlformats.org/officeDocument/2006/relationships/image" Target="../media/image50.png"/><Relationship Id="rId2" Type="http://schemas.openxmlformats.org/officeDocument/2006/relationships/image" Target="../media/image49.png"/><Relationship Id="rId1" Type="http://schemas.openxmlformats.org/officeDocument/2006/relationships/slideLayout" Target="../slideLayouts/slideLayout2.xml"/><Relationship Id="rId6" Type="http://schemas.openxmlformats.org/officeDocument/2006/relationships/image" Target="../media/image53.wmf"/><Relationship Id="rId5" Type="http://schemas.openxmlformats.org/officeDocument/2006/relationships/image" Target="../media/image52.png"/><Relationship Id="rId4" Type="http://schemas.openxmlformats.org/officeDocument/2006/relationships/image" Target="../media/image51.png"/></Relationships>
</file>

<file path=ppt/slides/_rels/slide24.xml.rels><?xml version="1.0" encoding="UTF-8" standalone="yes"?>
<Relationships xmlns="http://schemas.openxmlformats.org/package/2006/relationships"><Relationship Id="rId3" Type="http://schemas.openxmlformats.org/officeDocument/2006/relationships/image" Target="../media/image55.png"/><Relationship Id="rId2" Type="http://schemas.openxmlformats.org/officeDocument/2006/relationships/image" Target="../media/image54.png"/><Relationship Id="rId1" Type="http://schemas.openxmlformats.org/officeDocument/2006/relationships/slideLayout" Target="../slideLayouts/slideLayout2.xml"/><Relationship Id="rId5" Type="http://schemas.openxmlformats.org/officeDocument/2006/relationships/image" Target="../media/image57.svg"/><Relationship Id="rId4" Type="http://schemas.openxmlformats.org/officeDocument/2006/relationships/image" Target="../media/image56.png"/></Relationships>
</file>

<file path=ppt/slides/_rels/slide25.xml.rels><?xml version="1.0" encoding="UTF-8" standalone="yes"?>
<Relationships xmlns="http://schemas.openxmlformats.org/package/2006/relationships"><Relationship Id="rId3" Type="http://schemas.openxmlformats.org/officeDocument/2006/relationships/image" Target="../media/image58.png"/><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3" Type="http://schemas.openxmlformats.org/officeDocument/2006/relationships/image" Target="../media/image58.png"/><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3" Type="http://schemas.openxmlformats.org/officeDocument/2006/relationships/image" Target="../media/image59.png"/><Relationship Id="rId7" Type="http://schemas.openxmlformats.org/officeDocument/2006/relationships/image" Target="../media/image21.emf"/><Relationship Id="rId2" Type="http://schemas.openxmlformats.org/officeDocument/2006/relationships/notesSlide" Target="../notesSlides/notesSlide17.xml"/><Relationship Id="rId1" Type="http://schemas.openxmlformats.org/officeDocument/2006/relationships/slideLayout" Target="../slideLayouts/slideLayout6.xml"/><Relationship Id="rId6" Type="http://schemas.openxmlformats.org/officeDocument/2006/relationships/hyperlink" Target="https://doi.org/10.1016/j.apenergy.2025.125944" TargetMode="External"/><Relationship Id="rId5" Type="http://schemas.openxmlformats.org/officeDocument/2006/relationships/image" Target="../media/image60.jpg"/><Relationship Id="rId4" Type="http://schemas.openxmlformats.org/officeDocument/2006/relationships/hyperlink" Target="https://doi.org/10.1016/j.apenergy.2025.126714" TargetMode="External"/></Relationships>
</file>

<file path=ppt/slides/_rels/slide28.xml.rels><?xml version="1.0" encoding="UTF-8" standalone="yes"?>
<Relationships xmlns="http://schemas.openxmlformats.org/package/2006/relationships"><Relationship Id="rId3" Type="http://schemas.openxmlformats.org/officeDocument/2006/relationships/image" Target="../media/image61.emf"/><Relationship Id="rId2" Type="http://schemas.openxmlformats.org/officeDocument/2006/relationships/notesSlide" Target="../notesSlides/notesSlide18.xml"/><Relationship Id="rId1" Type="http://schemas.openxmlformats.org/officeDocument/2006/relationships/slideLayout" Target="../slideLayouts/slideLayout2.xml"/><Relationship Id="rId6" Type="http://schemas.openxmlformats.org/officeDocument/2006/relationships/image" Target="../media/image63.png"/><Relationship Id="rId5" Type="http://schemas.openxmlformats.org/officeDocument/2006/relationships/hyperlink" Target="https://www.elia.be/en/grid-data/balancing/imbalance-prices-15-min" TargetMode="External"/><Relationship Id="rId4" Type="http://schemas.openxmlformats.org/officeDocument/2006/relationships/image" Target="../media/image62.png"/></Relationships>
</file>

<file path=ppt/slides/_rels/slide29.xml.rels><?xml version="1.0" encoding="UTF-8" standalone="yes"?>
<Relationships xmlns="http://schemas.openxmlformats.org/package/2006/relationships"><Relationship Id="rId3" Type="http://schemas.openxmlformats.org/officeDocument/2006/relationships/image" Target="../media/image64.emf"/><Relationship Id="rId2" Type="http://schemas.openxmlformats.org/officeDocument/2006/relationships/notesSlide" Target="../notesSlides/notesSlide19.xml"/><Relationship Id="rId1" Type="http://schemas.openxmlformats.org/officeDocument/2006/relationships/slideLayout" Target="../slideLayouts/slideLayout9.xml"/><Relationship Id="rId5" Type="http://schemas.openxmlformats.org/officeDocument/2006/relationships/image" Target="../media/image66.emf"/><Relationship Id="rId4" Type="http://schemas.openxmlformats.org/officeDocument/2006/relationships/image" Target="../media/image65.svg"/></Relationships>
</file>

<file path=ppt/slides/_rels/slide30.xml.rels><?xml version="1.0" encoding="UTF-8" standalone="yes"?>
<Relationships xmlns="http://schemas.openxmlformats.org/package/2006/relationships"><Relationship Id="rId8" Type="http://schemas.openxmlformats.org/officeDocument/2006/relationships/hyperlink" Target="https://doi.org/10.1016/j.est.2024.114377" TargetMode="External"/><Relationship Id="rId3" Type="http://schemas.openxmlformats.org/officeDocument/2006/relationships/image" Target="../media/image64.emf"/><Relationship Id="rId7" Type="http://schemas.openxmlformats.org/officeDocument/2006/relationships/hyperlink" Target="https://doi.org/10.1016/j.apenergy.2025.126714" TargetMode="External"/><Relationship Id="rId2" Type="http://schemas.openxmlformats.org/officeDocument/2006/relationships/notesSlide" Target="../notesSlides/notesSlide20.xml"/><Relationship Id="rId1" Type="http://schemas.openxmlformats.org/officeDocument/2006/relationships/slideLayout" Target="../slideLayouts/slideLayout9.xml"/><Relationship Id="rId6" Type="http://schemas.openxmlformats.org/officeDocument/2006/relationships/image" Target="../media/image51.png"/><Relationship Id="rId5" Type="http://schemas.openxmlformats.org/officeDocument/2006/relationships/image" Target="../media/image65.svg"/><Relationship Id="rId4" Type="http://schemas.openxmlformats.org/officeDocument/2006/relationships/image" Target="../media/image66.emf"/></Relationships>
</file>

<file path=ppt/slides/_rels/slide31.xml.rels><?xml version="1.0" encoding="UTF-8" standalone="yes"?>
<Relationships xmlns="http://schemas.openxmlformats.org/package/2006/relationships"><Relationship Id="rId3" Type="http://schemas.openxmlformats.org/officeDocument/2006/relationships/image" Target="../media/image67.svg"/><Relationship Id="rId2" Type="http://schemas.openxmlformats.org/officeDocument/2006/relationships/notesSlide" Target="../notesSlides/notesSlide21.xml"/><Relationship Id="rId1" Type="http://schemas.openxmlformats.org/officeDocument/2006/relationships/slideLayout" Target="../slideLayouts/slideLayout15.xml"/></Relationships>
</file>

<file path=ppt/slides/_rels/slide32.xml.rels><?xml version="1.0" encoding="UTF-8" standalone="yes"?>
<Relationships xmlns="http://schemas.openxmlformats.org/package/2006/relationships"><Relationship Id="rId3" Type="http://schemas.openxmlformats.org/officeDocument/2006/relationships/image" Target="../media/image68.png"/><Relationship Id="rId2" Type="http://schemas.openxmlformats.org/officeDocument/2006/relationships/notesSlide" Target="../notesSlides/notesSlide22.xml"/><Relationship Id="rId1" Type="http://schemas.openxmlformats.org/officeDocument/2006/relationships/slideLayout" Target="../slideLayouts/slideLayout15.xml"/></Relationships>
</file>

<file path=ppt/slides/_rels/slide33.xml.rels><?xml version="1.0" encoding="UTF-8" standalone="yes"?>
<Relationships xmlns="http://schemas.openxmlformats.org/package/2006/relationships"><Relationship Id="rId3" Type="http://schemas.openxmlformats.org/officeDocument/2006/relationships/image" Target="../media/image22.emf"/><Relationship Id="rId2" Type="http://schemas.openxmlformats.org/officeDocument/2006/relationships/notesSlide" Target="../notesSlides/notesSlide23.xml"/><Relationship Id="rId1" Type="http://schemas.openxmlformats.org/officeDocument/2006/relationships/slideLayout" Target="../slideLayouts/slideLayout6.xml"/><Relationship Id="rId5" Type="http://schemas.openxmlformats.org/officeDocument/2006/relationships/hyperlink" Target="https://doi.org/10.1145/3632775.3661974" TargetMode="External"/><Relationship Id="rId4" Type="http://schemas.openxmlformats.org/officeDocument/2006/relationships/image" Target="../media/image16.png"/></Relationships>
</file>

<file path=ppt/slides/_rels/slide34.xml.rels><?xml version="1.0" encoding="UTF-8" standalone="yes"?>
<Relationships xmlns="http://schemas.openxmlformats.org/package/2006/relationships"><Relationship Id="rId8" Type="http://schemas.openxmlformats.org/officeDocument/2006/relationships/image" Target="../media/image74.svg"/><Relationship Id="rId3" Type="http://schemas.openxmlformats.org/officeDocument/2006/relationships/image" Target="../media/image69.jpeg"/><Relationship Id="rId7" Type="http://schemas.openxmlformats.org/officeDocument/2006/relationships/image" Target="../media/image73.svg"/><Relationship Id="rId2" Type="http://schemas.openxmlformats.org/officeDocument/2006/relationships/notesSlide" Target="../notesSlides/notesSlide24.xml"/><Relationship Id="rId1" Type="http://schemas.openxmlformats.org/officeDocument/2006/relationships/slideLayout" Target="../slideLayouts/slideLayout13.xml"/><Relationship Id="rId6" Type="http://schemas.openxmlformats.org/officeDocument/2006/relationships/image" Target="../media/image72.png"/><Relationship Id="rId5" Type="http://schemas.openxmlformats.org/officeDocument/2006/relationships/image" Target="../media/image71.png"/><Relationship Id="rId4" Type="http://schemas.openxmlformats.org/officeDocument/2006/relationships/image" Target="../media/image70.png"/><Relationship Id="rId9" Type="http://schemas.openxmlformats.org/officeDocument/2006/relationships/image" Target="../media/image75.png"/></Relationships>
</file>

<file path=ppt/slides/_rels/slide35.xml.rels><?xml version="1.0" encoding="UTF-8" standalone="yes"?>
<Relationships xmlns="http://schemas.openxmlformats.org/package/2006/relationships"><Relationship Id="rId8" Type="http://schemas.openxmlformats.org/officeDocument/2006/relationships/image" Target="../media/image81.jpeg"/><Relationship Id="rId3" Type="http://schemas.openxmlformats.org/officeDocument/2006/relationships/image" Target="../media/image76.jpeg"/><Relationship Id="rId7" Type="http://schemas.openxmlformats.org/officeDocument/2006/relationships/image" Target="../media/image80.jpeg"/><Relationship Id="rId2" Type="http://schemas.openxmlformats.org/officeDocument/2006/relationships/notesSlide" Target="../notesSlides/notesSlide25.xml"/><Relationship Id="rId1" Type="http://schemas.openxmlformats.org/officeDocument/2006/relationships/slideLayout" Target="../slideLayouts/slideLayout11.xml"/><Relationship Id="rId6" Type="http://schemas.openxmlformats.org/officeDocument/2006/relationships/image" Target="../media/image79.png"/><Relationship Id="rId5" Type="http://schemas.openxmlformats.org/officeDocument/2006/relationships/image" Target="../media/image78.png"/><Relationship Id="rId10" Type="http://schemas.openxmlformats.org/officeDocument/2006/relationships/image" Target="../media/image83.svg"/><Relationship Id="rId4" Type="http://schemas.openxmlformats.org/officeDocument/2006/relationships/image" Target="../media/image77.jpeg"/><Relationship Id="rId9" Type="http://schemas.openxmlformats.org/officeDocument/2006/relationships/image" Target="../media/image82.png"/></Relationships>
</file>

<file path=ppt/slides/_rels/slide36.xml.rels><?xml version="1.0" encoding="UTF-8" standalone="yes"?>
<Relationships xmlns="http://schemas.openxmlformats.org/package/2006/relationships"><Relationship Id="rId2" Type="http://schemas.openxmlformats.org/officeDocument/2006/relationships/image" Target="../media/image84.png"/><Relationship Id="rId1" Type="http://schemas.openxmlformats.org/officeDocument/2006/relationships/slideLayout" Target="../slideLayouts/slideLayout9.xml"/></Relationships>
</file>

<file path=ppt/slides/_rels/slide37.xml.rels><?xml version="1.0" encoding="UTF-8" standalone="yes"?>
<Relationships xmlns="http://schemas.openxmlformats.org/package/2006/relationships"><Relationship Id="rId2" Type="http://schemas.openxmlformats.org/officeDocument/2006/relationships/image" Target="../media/image84.png"/><Relationship Id="rId1" Type="http://schemas.openxmlformats.org/officeDocument/2006/relationships/slideLayout" Target="../slideLayouts/slideLayout9.xml"/></Relationships>
</file>

<file path=ppt/slides/_rels/slide38.xml.rels><?xml version="1.0" encoding="UTF-8" standalone="yes"?>
<Relationships xmlns="http://schemas.openxmlformats.org/package/2006/relationships"><Relationship Id="rId3" Type="http://schemas.openxmlformats.org/officeDocument/2006/relationships/image" Target="../media/image84.png"/><Relationship Id="rId2" Type="http://schemas.openxmlformats.org/officeDocument/2006/relationships/notesSlide" Target="../notesSlides/notesSlide26.xml"/><Relationship Id="rId1" Type="http://schemas.openxmlformats.org/officeDocument/2006/relationships/slideLayout" Target="../slideLayouts/slideLayout9.xml"/><Relationship Id="rId5" Type="http://schemas.openxmlformats.org/officeDocument/2006/relationships/image" Target="../media/image86.png"/><Relationship Id="rId4" Type="http://schemas.openxmlformats.org/officeDocument/2006/relationships/image" Target="../media/image85.png"/></Relationships>
</file>

<file path=ppt/slides/_rels/slide39.xml.rels><?xml version="1.0" encoding="UTF-8" standalone="yes"?>
<Relationships xmlns="http://schemas.openxmlformats.org/package/2006/relationships"><Relationship Id="rId3" Type="http://schemas.openxmlformats.org/officeDocument/2006/relationships/image" Target="../media/image84.png"/><Relationship Id="rId2" Type="http://schemas.openxmlformats.org/officeDocument/2006/relationships/notesSlide" Target="../notesSlides/notesSlide27.xml"/><Relationship Id="rId1" Type="http://schemas.openxmlformats.org/officeDocument/2006/relationships/slideLayout" Target="../slideLayouts/slideLayout9.xml"/><Relationship Id="rId5" Type="http://schemas.openxmlformats.org/officeDocument/2006/relationships/image" Target="../media/image87.png"/><Relationship Id="rId4" Type="http://schemas.openxmlformats.org/officeDocument/2006/relationships/image" Target="../media/image85.png"/></Relationships>
</file>

<file path=ppt/slides/_rels/slide40.xml.rels><?xml version="1.0" encoding="UTF-8" standalone="yes"?>
<Relationships xmlns="http://schemas.openxmlformats.org/package/2006/relationships"><Relationship Id="rId3" Type="http://schemas.openxmlformats.org/officeDocument/2006/relationships/image" Target="../media/image84.png"/><Relationship Id="rId2" Type="http://schemas.openxmlformats.org/officeDocument/2006/relationships/notesSlide" Target="../notesSlides/notesSlide28.xml"/><Relationship Id="rId1" Type="http://schemas.openxmlformats.org/officeDocument/2006/relationships/slideLayout" Target="../slideLayouts/slideLayout9.xml"/><Relationship Id="rId5" Type="http://schemas.openxmlformats.org/officeDocument/2006/relationships/image" Target="../media/image87.png"/><Relationship Id="rId4" Type="http://schemas.openxmlformats.org/officeDocument/2006/relationships/image" Target="../media/image85.png"/></Relationships>
</file>

<file path=ppt/slides/_rels/slide41.xml.rels><?xml version="1.0" encoding="UTF-8" standalone="yes"?>
<Relationships xmlns="http://schemas.openxmlformats.org/package/2006/relationships"><Relationship Id="rId3" Type="http://schemas.openxmlformats.org/officeDocument/2006/relationships/image" Target="../media/image88.emf"/><Relationship Id="rId2" Type="http://schemas.openxmlformats.org/officeDocument/2006/relationships/hyperlink" Target="https://doi.org/10.1145/3632775.3661948" TargetMode="External"/><Relationship Id="rId1" Type="http://schemas.openxmlformats.org/officeDocument/2006/relationships/slideLayout" Target="../slideLayouts/slideLayout2.xml"/><Relationship Id="rId5" Type="http://schemas.openxmlformats.org/officeDocument/2006/relationships/image" Target="../media/image85.png"/><Relationship Id="rId4" Type="http://schemas.openxmlformats.org/officeDocument/2006/relationships/image" Target="../media/image89.jpeg"/></Relationships>
</file>

<file path=ppt/slides/_rels/slide42.xml.rels><?xml version="1.0" encoding="UTF-8" standalone="yes"?>
<Relationships xmlns="http://schemas.openxmlformats.org/package/2006/relationships"><Relationship Id="rId3" Type="http://schemas.openxmlformats.org/officeDocument/2006/relationships/image" Target="../media/image90.png"/><Relationship Id="rId7" Type="http://schemas.openxmlformats.org/officeDocument/2006/relationships/image" Target="../media/image2.png"/><Relationship Id="rId2" Type="http://schemas.openxmlformats.org/officeDocument/2006/relationships/notesSlide" Target="../notesSlides/notesSlide29.xml"/><Relationship Id="rId1" Type="http://schemas.openxmlformats.org/officeDocument/2006/relationships/slideLayout" Target="../slideLayouts/slideLayout6.xml"/><Relationship Id="rId6" Type="http://schemas.openxmlformats.org/officeDocument/2006/relationships/image" Target="../media/image92.png"/><Relationship Id="rId5" Type="http://schemas.openxmlformats.org/officeDocument/2006/relationships/image" Target="../media/image91.emf"/><Relationship Id="rId4" Type="http://schemas.openxmlformats.org/officeDocument/2006/relationships/image" Target="../media/image1.png"/></Relationships>
</file>

<file path=ppt/slides/_rels/slide43.xml.rels><?xml version="1.0" encoding="UTF-8" standalone="yes"?>
<Relationships xmlns="http://schemas.openxmlformats.org/package/2006/relationships"><Relationship Id="rId8" Type="http://schemas.openxmlformats.org/officeDocument/2006/relationships/image" Target="../media/image14.jpeg"/><Relationship Id="rId13" Type="http://schemas.openxmlformats.org/officeDocument/2006/relationships/image" Target="../media/image19.png"/><Relationship Id="rId3" Type="http://schemas.openxmlformats.org/officeDocument/2006/relationships/image" Target="../media/image2.png"/><Relationship Id="rId7" Type="http://schemas.openxmlformats.org/officeDocument/2006/relationships/image" Target="../media/image13.png"/><Relationship Id="rId12" Type="http://schemas.openxmlformats.org/officeDocument/2006/relationships/image" Target="../media/image18.jpeg"/><Relationship Id="rId2" Type="http://schemas.openxmlformats.org/officeDocument/2006/relationships/notesSlide" Target="../notesSlides/notesSlide30.xml"/><Relationship Id="rId1" Type="http://schemas.openxmlformats.org/officeDocument/2006/relationships/slideLayout" Target="../slideLayouts/slideLayout6.xml"/><Relationship Id="rId6" Type="http://schemas.openxmlformats.org/officeDocument/2006/relationships/image" Target="../media/image12.png"/><Relationship Id="rId11" Type="http://schemas.openxmlformats.org/officeDocument/2006/relationships/image" Target="../media/image17.jpg"/><Relationship Id="rId5" Type="http://schemas.openxmlformats.org/officeDocument/2006/relationships/image" Target="../media/image11.png"/><Relationship Id="rId10" Type="http://schemas.openxmlformats.org/officeDocument/2006/relationships/image" Target="../media/image16.png"/><Relationship Id="rId4" Type="http://schemas.openxmlformats.org/officeDocument/2006/relationships/image" Target="../media/image10.jpg"/><Relationship Id="rId9" Type="http://schemas.openxmlformats.org/officeDocument/2006/relationships/image" Target="../media/image15.jpeg"/></Relationships>
</file>

<file path=ppt/slides/_rels/slide44.xml.rels><?xml version="1.0" encoding="UTF-8" standalone="yes"?>
<Relationships xmlns="http://schemas.openxmlformats.org/package/2006/relationships"><Relationship Id="rId3" Type="http://schemas.openxmlformats.org/officeDocument/2006/relationships/image" Target="../media/image93.png"/><Relationship Id="rId2" Type="http://schemas.openxmlformats.org/officeDocument/2006/relationships/notesSlide" Target="../notesSlides/notesSlide31.xml"/><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3" Type="http://schemas.openxmlformats.org/officeDocument/2006/relationships/image" Target="../media/image64.emf"/><Relationship Id="rId2" Type="http://schemas.openxmlformats.org/officeDocument/2006/relationships/notesSlide" Target="../notesSlides/notesSlide32.xml"/><Relationship Id="rId1" Type="http://schemas.openxmlformats.org/officeDocument/2006/relationships/slideLayout" Target="../slideLayouts/slideLayout9.xml"/><Relationship Id="rId6" Type="http://schemas.openxmlformats.org/officeDocument/2006/relationships/image" Target="../media/image65.svg"/><Relationship Id="rId5" Type="http://schemas.openxmlformats.org/officeDocument/2006/relationships/image" Target="../media/image66.emf"/><Relationship Id="rId4" Type="http://schemas.openxmlformats.org/officeDocument/2006/relationships/image" Target="../media/image51.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B189922-F11F-E97A-4EE9-C10CD58E8639}"/>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DD1DAB66-DB07-B905-9662-68BAB654A185}"/>
              </a:ext>
            </a:extLst>
          </p:cNvPr>
          <p:cNvSpPr>
            <a:spLocks noGrp="1"/>
          </p:cNvSpPr>
          <p:nvPr>
            <p:ph type="ctrTitle"/>
          </p:nvPr>
        </p:nvSpPr>
        <p:spPr>
          <a:xfrm>
            <a:off x="1358901" y="924791"/>
            <a:ext cx="10129714" cy="2504209"/>
          </a:xfrm>
        </p:spPr>
        <p:txBody>
          <a:bodyPr anchor="ctr"/>
          <a:lstStyle/>
          <a:p>
            <a:r>
              <a:rPr lang="en-GB" dirty="0"/>
              <a:t>AI for Energy:</a:t>
            </a:r>
            <a:br>
              <a:rPr lang="en-GB" dirty="0"/>
            </a:br>
            <a:r>
              <a:rPr lang="en-GB" dirty="0"/>
              <a:t>Data-efficient and explainable algorithms to exploit energy flexibility</a:t>
            </a:r>
            <a:endParaRPr lang="nl-BE" sz="3200" dirty="0"/>
          </a:p>
        </p:txBody>
      </p:sp>
      <p:sp>
        <p:nvSpPr>
          <p:cNvPr id="2" name="Subtitle 1">
            <a:extLst>
              <a:ext uri="{FF2B5EF4-FFF2-40B4-BE49-F238E27FC236}">
                <a16:creationId xmlns:a16="http://schemas.microsoft.com/office/drawing/2014/main" id="{A115E155-FF04-B563-613D-60FECC2E6448}"/>
              </a:ext>
            </a:extLst>
          </p:cNvPr>
          <p:cNvSpPr>
            <a:spLocks noGrp="1"/>
          </p:cNvSpPr>
          <p:nvPr>
            <p:ph type="subTitle" idx="1"/>
          </p:nvPr>
        </p:nvSpPr>
        <p:spPr>
          <a:xfrm>
            <a:off x="1358901" y="3708358"/>
            <a:ext cx="9717617" cy="1152622"/>
          </a:xfrm>
        </p:spPr>
        <p:txBody>
          <a:bodyPr anchor="ctr"/>
          <a:lstStyle/>
          <a:p>
            <a:r>
              <a:rPr lang="en-US" dirty="0"/>
              <a:t>Chris Develder, et al. </a:t>
            </a:r>
            <a:br>
              <a:rPr lang="en-US" dirty="0"/>
            </a:br>
            <a:r>
              <a:rPr lang="en-US" dirty="0">
                <a:solidFill>
                  <a:schemeClr val="accent6">
                    <a:lumMod val="20000"/>
                    <a:lumOff val="80000"/>
                  </a:schemeClr>
                </a:solidFill>
              </a:rPr>
              <a:t>AI4E Team, </a:t>
            </a:r>
            <a:r>
              <a:rPr lang="en-US" dirty="0" err="1">
                <a:solidFill>
                  <a:schemeClr val="accent6">
                    <a:lumMod val="20000"/>
                    <a:lumOff val="80000"/>
                  </a:schemeClr>
                </a:solidFill>
              </a:rPr>
              <a:t>IDLab</a:t>
            </a:r>
            <a:r>
              <a:rPr lang="en-US" dirty="0">
                <a:solidFill>
                  <a:schemeClr val="accent6">
                    <a:lumMod val="20000"/>
                    <a:lumOff val="80000"/>
                  </a:schemeClr>
                </a:solidFill>
              </a:rPr>
              <a:t>, Ghent University – imec </a:t>
            </a:r>
          </a:p>
        </p:txBody>
      </p:sp>
      <p:pic>
        <p:nvPicPr>
          <p:cNvPr id="10" name="Picture 12" descr="ID-TRANS-400px.jpg">
            <a:extLst>
              <a:ext uri="{FF2B5EF4-FFF2-40B4-BE49-F238E27FC236}">
                <a16:creationId xmlns:a16="http://schemas.microsoft.com/office/drawing/2014/main" id="{3953E0AC-CB04-B2BF-4557-EC5F6392DCAA}"/>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10154142" y="5850772"/>
            <a:ext cx="1334473" cy="528082"/>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pic>
      <p:pic>
        <p:nvPicPr>
          <p:cNvPr id="11" name="Picture 10">
            <a:extLst>
              <a:ext uri="{FF2B5EF4-FFF2-40B4-BE49-F238E27FC236}">
                <a16:creationId xmlns:a16="http://schemas.microsoft.com/office/drawing/2014/main" id="{B73893B2-E812-4DA4-5849-32CA98BF20E9}"/>
              </a:ext>
            </a:extLst>
          </p:cNvPr>
          <p:cNvPicPr>
            <a:picLocks noChangeAspect="1"/>
          </p:cNvPicPr>
          <p:nvPr/>
        </p:nvPicPr>
        <p:blipFill>
          <a:blip r:embed="rId4">
            <a:extLst>
              <a:ext uri="{28A0092B-C50C-407E-A947-70E740481C1C}">
                <a14:useLocalDpi xmlns:a14="http://schemas.microsoft.com/office/drawing/2010/main" val="0"/>
              </a:ext>
            </a:extLst>
          </a:blip>
          <a:srcRect/>
          <a:stretch>
            <a:fillRect/>
          </a:stretch>
        </p:blipFill>
        <p:spPr bwMode="auto">
          <a:xfrm>
            <a:off x="2165299" y="5889319"/>
            <a:ext cx="1246446" cy="370881"/>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pic>
    </p:spTree>
    <p:extLst>
      <p:ext uri="{BB962C8B-B14F-4D97-AF65-F5344CB8AC3E}">
        <p14:creationId xmlns:p14="http://schemas.microsoft.com/office/powerpoint/2010/main" val="422590801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26F3B34-CAE9-C345-2E7A-2DE37014D2F7}"/>
            </a:ext>
          </a:extLst>
        </p:cNvPr>
        <p:cNvGrpSpPr/>
        <p:nvPr/>
      </p:nvGrpSpPr>
      <p:grpSpPr>
        <a:xfrm>
          <a:off x="0" y="0"/>
          <a:ext cx="0" cy="0"/>
          <a:chOff x="0" y="0"/>
          <a:chExt cx="0" cy="0"/>
        </a:xfrm>
      </p:grpSpPr>
      <p:grpSp>
        <p:nvGrpSpPr>
          <p:cNvPr id="6" name="Group 5">
            <a:extLst>
              <a:ext uri="{FF2B5EF4-FFF2-40B4-BE49-F238E27FC236}">
                <a16:creationId xmlns:a16="http://schemas.microsoft.com/office/drawing/2014/main" id="{FD89D3F2-37AE-0318-BF6C-728C6960400F}"/>
              </a:ext>
            </a:extLst>
          </p:cNvPr>
          <p:cNvGrpSpPr/>
          <p:nvPr/>
        </p:nvGrpSpPr>
        <p:grpSpPr>
          <a:xfrm>
            <a:off x="4553857" y="3142036"/>
            <a:ext cx="7317433" cy="2886325"/>
            <a:chOff x="570334" y="1363859"/>
            <a:chExt cx="8003331" cy="3156874"/>
          </a:xfrm>
        </p:grpSpPr>
        <p:pic>
          <p:nvPicPr>
            <p:cNvPr id="7" name="Picture 6">
              <a:extLst>
                <a:ext uri="{FF2B5EF4-FFF2-40B4-BE49-F238E27FC236}">
                  <a16:creationId xmlns:a16="http://schemas.microsoft.com/office/drawing/2014/main" id="{3A8D148A-6BB6-57FC-8C35-6364E0A2C792}"/>
                </a:ext>
              </a:extLst>
            </p:cNvPr>
            <p:cNvPicPr>
              <a:picLocks noChangeAspect="1"/>
            </p:cNvPicPr>
            <p:nvPr/>
          </p:nvPicPr>
          <p:blipFill rotWithShape="1">
            <a:blip r:embed="rId3"/>
            <a:srcRect t="5100"/>
            <a:stretch/>
          </p:blipFill>
          <p:spPr>
            <a:xfrm>
              <a:off x="570334" y="1363859"/>
              <a:ext cx="8003331" cy="3156874"/>
            </a:xfrm>
            <a:prstGeom prst="rect">
              <a:avLst/>
            </a:prstGeom>
          </p:spPr>
        </p:pic>
        <p:sp>
          <p:nvSpPr>
            <p:cNvPr id="8" name="Rectangle 7">
              <a:extLst>
                <a:ext uri="{FF2B5EF4-FFF2-40B4-BE49-F238E27FC236}">
                  <a16:creationId xmlns:a16="http://schemas.microsoft.com/office/drawing/2014/main" id="{E84A5B32-6890-C0B5-75CF-BA0C7D7D693E}"/>
                </a:ext>
              </a:extLst>
            </p:cNvPr>
            <p:cNvSpPr/>
            <p:nvPr/>
          </p:nvSpPr>
          <p:spPr>
            <a:xfrm>
              <a:off x="4537366" y="1562100"/>
              <a:ext cx="2785454" cy="2775585"/>
            </a:xfrm>
            <a:prstGeom prst="rect">
              <a:avLst/>
            </a:prstGeom>
            <a:solidFill>
              <a:schemeClr val="bg1">
                <a:alpha val="50000"/>
              </a:scheme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400"/>
            </a:p>
          </p:txBody>
        </p:sp>
      </p:grpSp>
      <p:sp>
        <p:nvSpPr>
          <p:cNvPr id="26" name="Rectangle 25">
            <a:extLst>
              <a:ext uri="{FF2B5EF4-FFF2-40B4-BE49-F238E27FC236}">
                <a16:creationId xmlns:a16="http://schemas.microsoft.com/office/drawing/2014/main" id="{BD3D82D2-C8EE-36BB-8875-B90D87945876}"/>
              </a:ext>
            </a:extLst>
          </p:cNvPr>
          <p:cNvSpPr/>
          <p:nvPr/>
        </p:nvSpPr>
        <p:spPr>
          <a:xfrm>
            <a:off x="11443145" y="4270075"/>
            <a:ext cx="504645" cy="1375914"/>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BE"/>
          </a:p>
        </p:txBody>
      </p:sp>
      <p:sp>
        <p:nvSpPr>
          <p:cNvPr id="33" name="Rectangle 32">
            <a:extLst>
              <a:ext uri="{FF2B5EF4-FFF2-40B4-BE49-F238E27FC236}">
                <a16:creationId xmlns:a16="http://schemas.microsoft.com/office/drawing/2014/main" id="{FCF84D7E-F792-E427-351F-7D8FBA47EB7A}"/>
              </a:ext>
            </a:extLst>
          </p:cNvPr>
          <p:cNvSpPr/>
          <p:nvPr/>
        </p:nvSpPr>
        <p:spPr>
          <a:xfrm>
            <a:off x="4668273" y="2802588"/>
            <a:ext cx="6960633" cy="3383557"/>
          </a:xfrm>
          <a:prstGeom prst="rect">
            <a:avLst/>
          </a:prstGeom>
          <a:noFill/>
          <a:ln>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BE"/>
          </a:p>
        </p:txBody>
      </p:sp>
      <p:sp>
        <p:nvSpPr>
          <p:cNvPr id="32" name="Rectangle 31">
            <a:extLst>
              <a:ext uri="{FF2B5EF4-FFF2-40B4-BE49-F238E27FC236}">
                <a16:creationId xmlns:a16="http://schemas.microsoft.com/office/drawing/2014/main" id="{26040130-BD11-6BC5-69B4-2848E5B6B594}"/>
              </a:ext>
            </a:extLst>
          </p:cNvPr>
          <p:cNvSpPr/>
          <p:nvPr/>
        </p:nvSpPr>
        <p:spPr>
          <a:xfrm>
            <a:off x="476213" y="1048215"/>
            <a:ext cx="6738797" cy="3383557"/>
          </a:xfrm>
          <a:prstGeom prst="rect">
            <a:avLst/>
          </a:prstGeom>
          <a:solidFill>
            <a:schemeClr val="bg1"/>
          </a:solidFill>
          <a:ln>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BE"/>
          </a:p>
        </p:txBody>
      </p:sp>
      <p:sp>
        <p:nvSpPr>
          <p:cNvPr id="2" name="Title 1">
            <a:extLst>
              <a:ext uri="{FF2B5EF4-FFF2-40B4-BE49-F238E27FC236}">
                <a16:creationId xmlns:a16="http://schemas.microsoft.com/office/drawing/2014/main" id="{8CCC343C-8931-84E4-8E2E-FD79025282DD}"/>
              </a:ext>
            </a:extLst>
          </p:cNvPr>
          <p:cNvSpPr>
            <a:spLocks noGrp="1"/>
          </p:cNvSpPr>
          <p:nvPr>
            <p:ph type="title"/>
          </p:nvPr>
        </p:nvSpPr>
        <p:spPr/>
        <p:txBody>
          <a:bodyPr/>
          <a:lstStyle/>
          <a:p>
            <a:r>
              <a:rPr lang="en-BE" dirty="0"/>
              <a:t>Energy Transition</a:t>
            </a:r>
          </a:p>
        </p:txBody>
      </p:sp>
      <p:sp>
        <p:nvSpPr>
          <p:cNvPr id="4" name="Footer Placeholder 3">
            <a:extLst>
              <a:ext uri="{FF2B5EF4-FFF2-40B4-BE49-F238E27FC236}">
                <a16:creationId xmlns:a16="http://schemas.microsoft.com/office/drawing/2014/main" id="{00DC8785-8850-94F0-0ECB-2948FA3631A2}"/>
              </a:ext>
            </a:extLst>
          </p:cNvPr>
          <p:cNvSpPr>
            <a:spLocks noGrp="1"/>
          </p:cNvSpPr>
          <p:nvPr>
            <p:ph type="ftr" sz="quarter" idx="10"/>
          </p:nvPr>
        </p:nvSpPr>
        <p:spPr/>
        <p:txBody>
          <a:bodyPr/>
          <a:lstStyle/>
          <a:p>
            <a:pPr>
              <a:defRPr/>
            </a:pPr>
            <a:r>
              <a:rPr lang="en-US"/>
              <a:t>C. Develder, "AI4E: Data-efficient and scalable algorithmss to exploit energy flexibility"</a:t>
            </a:r>
            <a:endParaRPr lang="en-US" dirty="0"/>
          </a:p>
        </p:txBody>
      </p:sp>
      <p:pic>
        <p:nvPicPr>
          <p:cNvPr id="13" name="Content Placeholder 12">
            <a:extLst>
              <a:ext uri="{FF2B5EF4-FFF2-40B4-BE49-F238E27FC236}">
                <a16:creationId xmlns:a16="http://schemas.microsoft.com/office/drawing/2014/main" id="{011981AD-92DE-24FF-006C-9A732D489556}"/>
              </a:ext>
            </a:extLst>
          </p:cNvPr>
          <p:cNvPicPr>
            <a:picLocks noGrp="1" noChangeAspect="1"/>
          </p:cNvPicPr>
          <p:nvPr>
            <p:ph idx="1"/>
          </p:nvPr>
        </p:nvPicPr>
        <p:blipFill rotWithShape="1">
          <a:blip r:embed="rId4"/>
          <a:srcRect t="2760" b="5267"/>
          <a:stretch/>
        </p:blipFill>
        <p:spPr>
          <a:xfrm>
            <a:off x="491784" y="1127336"/>
            <a:ext cx="6674725" cy="3212780"/>
          </a:xfrm>
          <a:prstGeom prst="rect">
            <a:avLst/>
          </a:prstGeom>
          <a:ln w="28575">
            <a:noFill/>
          </a:ln>
        </p:spPr>
      </p:pic>
      <p:sp>
        <p:nvSpPr>
          <p:cNvPr id="18" name="TextBox 17">
            <a:extLst>
              <a:ext uri="{FF2B5EF4-FFF2-40B4-BE49-F238E27FC236}">
                <a16:creationId xmlns:a16="http://schemas.microsoft.com/office/drawing/2014/main" id="{4889A168-1CDF-4CB8-BC38-06C990412838}"/>
              </a:ext>
            </a:extLst>
          </p:cNvPr>
          <p:cNvSpPr txBox="1"/>
          <p:nvPr/>
        </p:nvSpPr>
        <p:spPr>
          <a:xfrm>
            <a:off x="7501779" y="1411100"/>
            <a:ext cx="4117744" cy="1143494"/>
          </a:xfrm>
          <a:prstGeom prst="rect">
            <a:avLst/>
          </a:prstGeom>
          <a:solidFill>
            <a:schemeClr val="accent6">
              <a:lumMod val="20000"/>
              <a:lumOff val="80000"/>
              <a:alpha val="50196"/>
            </a:schemeClr>
          </a:solidFill>
        </p:spPr>
        <p:txBody>
          <a:bodyPr wrap="square" rtlCol="0" anchor="ctr">
            <a:noAutofit/>
          </a:bodyPr>
          <a:lstStyle/>
          <a:p>
            <a:pPr algn="ctr">
              <a:lnSpc>
                <a:spcPct val="80000"/>
              </a:lnSpc>
            </a:pPr>
            <a:r>
              <a:rPr lang="en-US" sz="3200" b="1" dirty="0">
                <a:solidFill>
                  <a:schemeClr val="accent6"/>
                </a:solidFill>
                <a:latin typeface="Caveat" pitchFamily="2" charset="77"/>
              </a:rPr>
              <a:t>RES share in EU electricity </a:t>
            </a:r>
            <a:r>
              <a:rPr lang="en-US" sz="3200" b="1" u="sng" dirty="0">
                <a:solidFill>
                  <a:schemeClr val="accent6"/>
                </a:solidFill>
                <a:latin typeface="Caveat" pitchFamily="2" charset="77"/>
              </a:rPr>
              <a:t>supply</a:t>
            </a:r>
            <a:r>
              <a:rPr lang="en-US" sz="3200" b="1" dirty="0">
                <a:solidFill>
                  <a:schemeClr val="accent6"/>
                </a:solidFill>
                <a:latin typeface="Caveat" pitchFamily="2" charset="77"/>
              </a:rPr>
              <a:t>: ~45% by 2035</a:t>
            </a:r>
          </a:p>
        </p:txBody>
      </p:sp>
      <p:sp>
        <p:nvSpPr>
          <p:cNvPr id="23" name="TextBox 22">
            <a:extLst>
              <a:ext uri="{FF2B5EF4-FFF2-40B4-BE49-F238E27FC236}">
                <a16:creationId xmlns:a16="http://schemas.microsoft.com/office/drawing/2014/main" id="{344BCFB9-CB4E-E28F-133C-E77B400925C3}"/>
              </a:ext>
            </a:extLst>
          </p:cNvPr>
          <p:cNvSpPr txBox="1"/>
          <p:nvPr/>
        </p:nvSpPr>
        <p:spPr>
          <a:xfrm>
            <a:off x="4489142" y="834767"/>
            <a:ext cx="2791602" cy="215444"/>
          </a:xfrm>
          <a:prstGeom prst="rect">
            <a:avLst/>
          </a:prstGeom>
          <a:noFill/>
        </p:spPr>
        <p:txBody>
          <a:bodyPr wrap="square" rtlCol="0">
            <a:spAutoFit/>
          </a:bodyPr>
          <a:lstStyle/>
          <a:p>
            <a:pPr algn="r"/>
            <a:r>
              <a:rPr lang="en-US" sz="800" i="0" dirty="0">
                <a:solidFill>
                  <a:schemeClr val="bg2"/>
                </a:solidFill>
                <a:effectLst/>
                <a:latin typeface="+mn-lt"/>
              </a:rPr>
              <a:t>Source: Adequacy &amp; flexibility study for Belgium (2024-2034), ELIA</a:t>
            </a:r>
            <a:endParaRPr lang="en-US" sz="800" dirty="0">
              <a:solidFill>
                <a:schemeClr val="bg2"/>
              </a:solidFill>
              <a:latin typeface="+mn-lt"/>
            </a:endParaRPr>
          </a:p>
        </p:txBody>
      </p:sp>
      <p:grpSp>
        <p:nvGrpSpPr>
          <p:cNvPr id="9" name="Group 8">
            <a:extLst>
              <a:ext uri="{FF2B5EF4-FFF2-40B4-BE49-F238E27FC236}">
                <a16:creationId xmlns:a16="http://schemas.microsoft.com/office/drawing/2014/main" id="{45CAE888-E924-DA7B-4B5E-90F9F73C303F}"/>
              </a:ext>
            </a:extLst>
          </p:cNvPr>
          <p:cNvGrpSpPr/>
          <p:nvPr/>
        </p:nvGrpSpPr>
        <p:grpSpPr>
          <a:xfrm>
            <a:off x="5924289" y="2450431"/>
            <a:ext cx="343422" cy="711573"/>
            <a:chOff x="9988596" y="2710726"/>
            <a:chExt cx="343422" cy="711573"/>
          </a:xfrm>
        </p:grpSpPr>
        <p:sp>
          <p:nvSpPr>
            <p:cNvPr id="3" name="Sun 2">
              <a:extLst>
                <a:ext uri="{FF2B5EF4-FFF2-40B4-BE49-F238E27FC236}">
                  <a16:creationId xmlns:a16="http://schemas.microsoft.com/office/drawing/2014/main" id="{41B7BBC7-D0D9-03CA-E87A-5A32FE4BC2BE}"/>
                </a:ext>
              </a:extLst>
            </p:cNvPr>
            <p:cNvSpPr/>
            <p:nvPr/>
          </p:nvSpPr>
          <p:spPr>
            <a:xfrm>
              <a:off x="10019293" y="2710726"/>
              <a:ext cx="267194" cy="293913"/>
            </a:xfrm>
            <a:prstGeom prst="sun">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BE"/>
            </a:p>
          </p:txBody>
        </p:sp>
        <p:pic>
          <p:nvPicPr>
            <p:cNvPr id="5" name="Picture 4">
              <a:extLst>
                <a:ext uri="{FF2B5EF4-FFF2-40B4-BE49-F238E27FC236}">
                  <a16:creationId xmlns:a16="http://schemas.microsoft.com/office/drawing/2014/main" id="{6ECC05EF-98FD-7D7D-8A60-015EB206D5D9}"/>
                </a:ext>
              </a:extLst>
            </p:cNvPr>
            <p:cNvPicPr>
              <a:picLocks noChangeAspect="1"/>
            </p:cNvPicPr>
            <p:nvPr/>
          </p:nvPicPr>
          <p:blipFill>
            <a:blip r:embed="rId5"/>
            <a:stretch>
              <a:fillRect/>
            </a:stretch>
          </p:blipFill>
          <p:spPr>
            <a:xfrm>
              <a:off x="9988596" y="3078877"/>
              <a:ext cx="343422" cy="343422"/>
            </a:xfrm>
            <a:prstGeom prst="rect">
              <a:avLst/>
            </a:prstGeom>
          </p:spPr>
        </p:pic>
      </p:grpSp>
      <p:sp>
        <p:nvSpPr>
          <p:cNvPr id="10" name="TextBox 9">
            <a:extLst>
              <a:ext uri="{FF2B5EF4-FFF2-40B4-BE49-F238E27FC236}">
                <a16:creationId xmlns:a16="http://schemas.microsoft.com/office/drawing/2014/main" id="{9EC32F5A-D77E-0A80-DD01-6FDB4B6A64D4}"/>
              </a:ext>
            </a:extLst>
          </p:cNvPr>
          <p:cNvSpPr txBox="1"/>
          <p:nvPr/>
        </p:nvSpPr>
        <p:spPr>
          <a:xfrm>
            <a:off x="597218" y="4592143"/>
            <a:ext cx="3851205" cy="1497727"/>
          </a:xfrm>
          <a:prstGeom prst="rect">
            <a:avLst/>
          </a:prstGeom>
          <a:solidFill>
            <a:schemeClr val="accent6">
              <a:lumMod val="20000"/>
              <a:lumOff val="80000"/>
              <a:alpha val="50196"/>
            </a:schemeClr>
          </a:solidFill>
        </p:spPr>
        <p:txBody>
          <a:bodyPr wrap="square" rtlCol="0" anchor="ctr">
            <a:noAutofit/>
          </a:bodyPr>
          <a:lstStyle/>
          <a:p>
            <a:pPr algn="ctr">
              <a:lnSpc>
                <a:spcPct val="80000"/>
              </a:lnSpc>
            </a:pPr>
            <a:r>
              <a:rPr lang="en-US" sz="3200" b="1" dirty="0">
                <a:solidFill>
                  <a:schemeClr val="accent6"/>
                </a:solidFill>
                <a:latin typeface="Caveat" pitchFamily="2" charset="77"/>
              </a:rPr>
              <a:t>e-Mobility + Heat pumps</a:t>
            </a:r>
          </a:p>
          <a:p>
            <a:pPr algn="ctr">
              <a:lnSpc>
                <a:spcPct val="80000"/>
              </a:lnSpc>
            </a:pPr>
            <a:r>
              <a:rPr lang="en-US" sz="3200" b="1" dirty="0">
                <a:solidFill>
                  <a:schemeClr val="accent6"/>
                </a:solidFill>
                <a:latin typeface="Caveat" pitchFamily="2" charset="77"/>
              </a:rPr>
              <a:t>in BE electricity </a:t>
            </a:r>
            <a:r>
              <a:rPr lang="en-US" sz="3200" b="1" u="sng" dirty="0">
                <a:solidFill>
                  <a:schemeClr val="accent6"/>
                </a:solidFill>
                <a:latin typeface="Caveat" pitchFamily="2" charset="77"/>
              </a:rPr>
              <a:t>demand</a:t>
            </a:r>
            <a:r>
              <a:rPr lang="en-US" sz="3200" b="1" dirty="0">
                <a:solidFill>
                  <a:schemeClr val="accent6"/>
                </a:solidFill>
                <a:latin typeface="Caveat" pitchFamily="2" charset="77"/>
              </a:rPr>
              <a:t>: ~25% by 2035</a:t>
            </a:r>
          </a:p>
        </p:txBody>
      </p:sp>
      <p:pic>
        <p:nvPicPr>
          <p:cNvPr id="12" name="Picture 11">
            <a:extLst>
              <a:ext uri="{FF2B5EF4-FFF2-40B4-BE49-F238E27FC236}">
                <a16:creationId xmlns:a16="http://schemas.microsoft.com/office/drawing/2014/main" id="{1C8FFF65-04F6-54D5-8A53-594DE3A0D605}"/>
              </a:ext>
            </a:extLst>
          </p:cNvPr>
          <p:cNvPicPr>
            <a:picLocks noChangeAspect="1"/>
          </p:cNvPicPr>
          <p:nvPr/>
        </p:nvPicPr>
        <p:blipFill>
          <a:blip r:embed="rId6">
            <a:extLst>
              <a:ext uri="{28A0092B-C50C-407E-A947-70E740481C1C}">
                <a14:useLocalDpi xmlns:a14="http://schemas.microsoft.com/office/drawing/2010/main" val="0"/>
              </a:ext>
            </a:extLst>
          </a:blip>
          <a:srcRect l="11754" t="26684" r="10611" b="8211"/>
          <a:stretch>
            <a:fillRect/>
          </a:stretch>
        </p:blipFill>
        <p:spPr>
          <a:xfrm>
            <a:off x="10087698" y="4686151"/>
            <a:ext cx="320622" cy="268873"/>
          </a:xfrm>
          <a:prstGeom prst="rect">
            <a:avLst/>
          </a:prstGeom>
        </p:spPr>
      </p:pic>
      <p:pic>
        <p:nvPicPr>
          <p:cNvPr id="25" name="Picture 24">
            <a:extLst>
              <a:ext uri="{FF2B5EF4-FFF2-40B4-BE49-F238E27FC236}">
                <a16:creationId xmlns:a16="http://schemas.microsoft.com/office/drawing/2014/main" id="{276A9B41-1EE9-3CD1-E341-2FBE791E4989}"/>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9905679" y="4270075"/>
            <a:ext cx="660413" cy="343965"/>
          </a:xfrm>
          <a:prstGeom prst="rect">
            <a:avLst/>
          </a:prstGeom>
        </p:spPr>
      </p:pic>
      <p:sp>
        <p:nvSpPr>
          <p:cNvPr id="27" name="Oval 26">
            <a:extLst>
              <a:ext uri="{FF2B5EF4-FFF2-40B4-BE49-F238E27FC236}">
                <a16:creationId xmlns:a16="http://schemas.microsoft.com/office/drawing/2014/main" id="{3F6C1AE1-4987-6931-5720-B536399A2C71}"/>
              </a:ext>
            </a:extLst>
          </p:cNvPr>
          <p:cNvSpPr/>
          <p:nvPr/>
        </p:nvSpPr>
        <p:spPr>
          <a:xfrm>
            <a:off x="5704383" y="2314981"/>
            <a:ext cx="805236" cy="1018309"/>
          </a:xfrm>
          <a:prstGeom prst="ellipse">
            <a:avLst/>
          </a:prstGeom>
          <a:noFill/>
          <a:ln w="57150">
            <a:solidFill>
              <a:schemeClr val="accent6"/>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BE"/>
          </a:p>
        </p:txBody>
      </p:sp>
      <p:sp>
        <p:nvSpPr>
          <p:cNvPr id="28" name="Oval 27">
            <a:extLst>
              <a:ext uri="{FF2B5EF4-FFF2-40B4-BE49-F238E27FC236}">
                <a16:creationId xmlns:a16="http://schemas.microsoft.com/office/drawing/2014/main" id="{B5470EAC-224E-CA6D-2240-39859B5BFB80}"/>
              </a:ext>
            </a:extLst>
          </p:cNvPr>
          <p:cNvSpPr/>
          <p:nvPr/>
        </p:nvSpPr>
        <p:spPr>
          <a:xfrm>
            <a:off x="9652482" y="4104885"/>
            <a:ext cx="1803967" cy="1018309"/>
          </a:xfrm>
          <a:prstGeom prst="ellipse">
            <a:avLst/>
          </a:prstGeom>
          <a:noFill/>
          <a:ln w="57150">
            <a:solidFill>
              <a:schemeClr val="accent6"/>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BE"/>
          </a:p>
        </p:txBody>
      </p:sp>
      <p:sp>
        <p:nvSpPr>
          <p:cNvPr id="29" name="Freeform 28">
            <a:extLst>
              <a:ext uri="{FF2B5EF4-FFF2-40B4-BE49-F238E27FC236}">
                <a16:creationId xmlns:a16="http://schemas.microsoft.com/office/drawing/2014/main" id="{A38E4FDA-13E1-66DC-B213-B12806AF3934}"/>
              </a:ext>
            </a:extLst>
          </p:cNvPr>
          <p:cNvSpPr/>
          <p:nvPr/>
        </p:nvSpPr>
        <p:spPr>
          <a:xfrm>
            <a:off x="6433188" y="2213424"/>
            <a:ext cx="1040711" cy="331852"/>
          </a:xfrm>
          <a:custGeom>
            <a:avLst/>
            <a:gdLst>
              <a:gd name="csX0" fmla="*/ 0 w 1040711"/>
              <a:gd name="csY0" fmla="*/ 331852 h 331852"/>
              <a:gd name="csX1" fmla="*/ 464218 w 1040711"/>
              <a:gd name="csY1" fmla="*/ 24533 h 331852"/>
              <a:gd name="csX2" fmla="*/ 1040711 w 1040711"/>
              <a:gd name="csY2" fmla="*/ 10138 h 331852"/>
            </a:gdLst>
            <a:ahLst/>
            <a:cxnLst>
              <a:cxn ang="0">
                <a:pos x="csX0" y="csY0"/>
              </a:cxn>
              <a:cxn ang="0">
                <a:pos x="csX1" y="csY1"/>
              </a:cxn>
              <a:cxn ang="0">
                <a:pos x="csX2" y="csY2"/>
              </a:cxn>
            </a:cxnLst>
            <a:rect l="l" t="t" r="r" b="b"/>
            <a:pathLst>
              <a:path w="1040711" h="331852">
                <a:moveTo>
                  <a:pt x="0" y="331852"/>
                </a:moveTo>
                <a:cubicBezTo>
                  <a:pt x="187666" y="135999"/>
                  <a:pt x="290766" y="78152"/>
                  <a:pt x="464218" y="24533"/>
                </a:cubicBezTo>
                <a:cubicBezTo>
                  <a:pt x="637670" y="-29086"/>
                  <a:pt x="975217" y="23993"/>
                  <a:pt x="1040711" y="10138"/>
                </a:cubicBezTo>
              </a:path>
            </a:pathLst>
          </a:custGeom>
          <a:noFill/>
          <a:ln w="57150">
            <a:solidFill>
              <a:schemeClr val="accent6"/>
            </a:solidFill>
            <a:headEnd type="none" w="med" len="med"/>
            <a:tailEnd type="triangle" w="med" len="me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BE"/>
          </a:p>
        </p:txBody>
      </p:sp>
      <p:sp>
        <p:nvSpPr>
          <p:cNvPr id="30" name="Freeform 29">
            <a:extLst>
              <a:ext uri="{FF2B5EF4-FFF2-40B4-BE49-F238E27FC236}">
                <a16:creationId xmlns:a16="http://schemas.microsoft.com/office/drawing/2014/main" id="{FE49FB16-6786-AB50-CEBD-09C155A3D1FC}"/>
              </a:ext>
            </a:extLst>
          </p:cNvPr>
          <p:cNvSpPr/>
          <p:nvPr/>
        </p:nvSpPr>
        <p:spPr>
          <a:xfrm>
            <a:off x="4438343" y="4252821"/>
            <a:ext cx="5240916" cy="1066309"/>
          </a:xfrm>
          <a:custGeom>
            <a:avLst/>
            <a:gdLst>
              <a:gd name="csX0" fmla="*/ 5374887 w 5374887"/>
              <a:gd name="csY0" fmla="*/ 241120 h 1066309"/>
              <a:gd name="csX1" fmla="*/ 2865863 w 5374887"/>
              <a:gd name="csY1" fmla="*/ 73851 h 1066309"/>
              <a:gd name="csX2" fmla="*/ 0 w 5374887"/>
              <a:gd name="csY2" fmla="*/ 1066309 h 1066309"/>
            </a:gdLst>
            <a:ahLst/>
            <a:cxnLst>
              <a:cxn ang="0">
                <a:pos x="csX0" y="csY0"/>
              </a:cxn>
              <a:cxn ang="0">
                <a:pos x="csX1" y="csY1"/>
              </a:cxn>
              <a:cxn ang="0">
                <a:pos x="csX2" y="csY2"/>
              </a:cxn>
            </a:cxnLst>
            <a:rect l="l" t="t" r="r" b="b"/>
            <a:pathLst>
              <a:path w="5374887" h="1066309">
                <a:moveTo>
                  <a:pt x="5374887" y="241120"/>
                </a:moveTo>
                <a:cubicBezTo>
                  <a:pt x="4445618" y="-9783"/>
                  <a:pt x="3761677" y="-63680"/>
                  <a:pt x="2865863" y="73851"/>
                </a:cubicBezTo>
                <a:cubicBezTo>
                  <a:pt x="1970049" y="211382"/>
                  <a:pt x="784303" y="581231"/>
                  <a:pt x="0" y="1066309"/>
                </a:cubicBezTo>
              </a:path>
            </a:pathLst>
          </a:custGeom>
          <a:noFill/>
          <a:ln w="57150">
            <a:solidFill>
              <a:schemeClr val="accent6"/>
            </a:solidFill>
            <a:headEnd type="none" w="med" len="med"/>
            <a:tailEnd type="triangle" w="med" len="me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BE"/>
          </a:p>
        </p:txBody>
      </p:sp>
      <p:sp>
        <p:nvSpPr>
          <p:cNvPr id="34" name="TextBox 33">
            <a:extLst>
              <a:ext uri="{FF2B5EF4-FFF2-40B4-BE49-F238E27FC236}">
                <a16:creationId xmlns:a16="http://schemas.microsoft.com/office/drawing/2014/main" id="{F6A57B3E-5BE4-9F60-05CB-8A18BBFBC4B1}"/>
              </a:ext>
            </a:extLst>
          </p:cNvPr>
          <p:cNvSpPr txBox="1"/>
          <p:nvPr/>
        </p:nvSpPr>
        <p:spPr>
          <a:xfrm>
            <a:off x="8925636" y="6168863"/>
            <a:ext cx="2791602" cy="215444"/>
          </a:xfrm>
          <a:prstGeom prst="rect">
            <a:avLst/>
          </a:prstGeom>
          <a:noFill/>
        </p:spPr>
        <p:txBody>
          <a:bodyPr wrap="square" rtlCol="0">
            <a:spAutoFit/>
          </a:bodyPr>
          <a:lstStyle/>
          <a:p>
            <a:pPr algn="r"/>
            <a:r>
              <a:rPr lang="en-US" sz="800" i="0" dirty="0">
                <a:solidFill>
                  <a:schemeClr val="bg2"/>
                </a:solidFill>
                <a:effectLst/>
                <a:latin typeface="+mn-lt"/>
              </a:rPr>
              <a:t>Source: Adequacy &amp; flexibility study for Belgium (2024-2034), ELIA</a:t>
            </a:r>
            <a:endParaRPr lang="en-US" sz="800" dirty="0">
              <a:solidFill>
                <a:schemeClr val="bg2"/>
              </a:solidFill>
              <a:latin typeface="+mn-lt"/>
            </a:endParaRPr>
          </a:p>
        </p:txBody>
      </p:sp>
      <p:sp>
        <p:nvSpPr>
          <p:cNvPr id="35" name="Slide Number Placeholder 34">
            <a:extLst>
              <a:ext uri="{FF2B5EF4-FFF2-40B4-BE49-F238E27FC236}">
                <a16:creationId xmlns:a16="http://schemas.microsoft.com/office/drawing/2014/main" id="{EDFF8371-926F-6305-8EF6-84B140CE23EC}"/>
              </a:ext>
            </a:extLst>
          </p:cNvPr>
          <p:cNvSpPr>
            <a:spLocks noGrp="1"/>
          </p:cNvSpPr>
          <p:nvPr>
            <p:ph type="sldNum" sz="quarter" idx="11"/>
          </p:nvPr>
        </p:nvSpPr>
        <p:spPr/>
        <p:txBody>
          <a:bodyPr/>
          <a:lstStyle/>
          <a:p>
            <a:pPr>
              <a:defRPr/>
            </a:pPr>
            <a:fld id="{968663A2-1950-48E6-8399-8A0176E7D7D3}" type="slidenum">
              <a:rPr lang="en-US" smtClean="0"/>
              <a:pPr>
                <a:defRPr/>
              </a:pPr>
              <a:t>2</a:t>
            </a:fld>
            <a:endParaRPr lang="en-US"/>
          </a:p>
        </p:txBody>
      </p:sp>
    </p:spTree>
    <p:extLst>
      <p:ext uri="{BB962C8B-B14F-4D97-AF65-F5344CB8AC3E}">
        <p14:creationId xmlns:p14="http://schemas.microsoft.com/office/powerpoint/2010/main" val="219170810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0364F215-2E32-D4DA-8C0E-49BE0D205EE4}"/>
              </a:ext>
            </a:extLst>
          </p:cNvPr>
          <p:cNvSpPr>
            <a:spLocks noGrp="1"/>
          </p:cNvSpPr>
          <p:nvPr>
            <p:ph type="title"/>
          </p:nvPr>
        </p:nvSpPr>
        <p:spPr/>
        <p:txBody>
          <a:bodyPr/>
          <a:lstStyle/>
          <a:p>
            <a:r>
              <a:rPr lang="en-BE" dirty="0"/>
              <a:t>AI4E: VISION</a:t>
            </a:r>
          </a:p>
        </p:txBody>
      </p:sp>
      <p:sp>
        <p:nvSpPr>
          <p:cNvPr id="8" name="TextBox 7">
            <a:extLst>
              <a:ext uri="{FF2B5EF4-FFF2-40B4-BE49-F238E27FC236}">
                <a16:creationId xmlns:a16="http://schemas.microsoft.com/office/drawing/2014/main" id="{67E6710E-9CA4-2E93-595F-B8D687EE94BE}"/>
              </a:ext>
            </a:extLst>
          </p:cNvPr>
          <p:cNvSpPr txBox="1"/>
          <p:nvPr/>
        </p:nvSpPr>
        <p:spPr>
          <a:xfrm>
            <a:off x="943898" y="4042942"/>
            <a:ext cx="10304207" cy="1569660"/>
          </a:xfrm>
          <a:prstGeom prst="rect">
            <a:avLst/>
          </a:prstGeom>
          <a:noFill/>
        </p:spPr>
        <p:txBody>
          <a:bodyPr wrap="square">
            <a:spAutoFit/>
          </a:bodyPr>
          <a:lstStyle/>
          <a:p>
            <a:r>
              <a:rPr lang="nl-BE" sz="3200" dirty="0">
                <a:solidFill>
                  <a:schemeClr val="bg1"/>
                </a:solidFill>
                <a:latin typeface="+mn-lt"/>
                <a:cs typeface="Calibri" panose="020F0502020204030204" pitchFamily="34" charset="0"/>
              </a:rPr>
              <a:t>Research, develop and incubate data-driven (decision making) technology supporting </a:t>
            </a:r>
            <a:r>
              <a:rPr lang="nl-BE" sz="3200" b="1" dirty="0">
                <a:solidFill>
                  <a:schemeClr val="accent6">
                    <a:lumMod val="60000"/>
                    <a:lumOff val="40000"/>
                  </a:schemeClr>
                </a:solidFill>
                <a:latin typeface="+mn-lt"/>
                <a:cs typeface="Calibri" panose="020F0502020204030204" pitchFamily="34" charset="0"/>
              </a:rPr>
              <a:t>decarbonization of our society</a:t>
            </a:r>
            <a:r>
              <a:rPr lang="nl-BE" sz="3200" dirty="0">
                <a:solidFill>
                  <a:schemeClr val="accent6">
                    <a:lumMod val="60000"/>
                    <a:lumOff val="40000"/>
                  </a:schemeClr>
                </a:solidFill>
                <a:latin typeface="+mn-lt"/>
                <a:cs typeface="Calibri" panose="020F0502020204030204" pitchFamily="34" charset="0"/>
              </a:rPr>
              <a:t> </a:t>
            </a:r>
            <a:r>
              <a:rPr lang="nl-BE" sz="3200" dirty="0">
                <a:solidFill>
                  <a:schemeClr val="bg1"/>
                </a:solidFill>
                <a:latin typeface="+mn-lt"/>
                <a:cs typeface="Calibri" panose="020F0502020204030204" pitchFamily="34" charset="0"/>
              </a:rPr>
              <a:t>through co-creation with industry &amp; research partners</a:t>
            </a:r>
          </a:p>
        </p:txBody>
      </p:sp>
      <p:grpSp>
        <p:nvGrpSpPr>
          <p:cNvPr id="14" name="Group 13">
            <a:extLst>
              <a:ext uri="{FF2B5EF4-FFF2-40B4-BE49-F238E27FC236}">
                <a16:creationId xmlns:a16="http://schemas.microsoft.com/office/drawing/2014/main" id="{A5D203BD-A0FE-F78A-4DAB-7CAC240667F2}"/>
              </a:ext>
            </a:extLst>
          </p:cNvPr>
          <p:cNvGrpSpPr/>
          <p:nvPr/>
        </p:nvGrpSpPr>
        <p:grpSpPr>
          <a:xfrm>
            <a:off x="5166417" y="539164"/>
            <a:ext cx="5321752" cy="3213315"/>
            <a:chOff x="5111553" y="625452"/>
            <a:chExt cx="4392064" cy="2651962"/>
          </a:xfrm>
        </p:grpSpPr>
        <p:pic>
          <p:nvPicPr>
            <p:cNvPr id="2" name="Picture 1">
              <a:extLst>
                <a:ext uri="{FF2B5EF4-FFF2-40B4-BE49-F238E27FC236}">
                  <a16:creationId xmlns:a16="http://schemas.microsoft.com/office/drawing/2014/main" id="{119C63D6-6AEF-F96E-21A4-6BE96B105CF8}"/>
                </a:ext>
              </a:extLst>
            </p:cNvPr>
            <p:cNvPicPr>
              <a:picLocks noChangeAspect="1"/>
            </p:cNvPicPr>
            <p:nvPr/>
          </p:nvPicPr>
          <p:blipFill>
            <a:blip r:embed="rId2"/>
            <a:srcRect l="23" r="23"/>
            <a:stretch/>
          </p:blipFill>
          <p:spPr>
            <a:xfrm>
              <a:off x="8503188" y="1169492"/>
              <a:ext cx="1000332" cy="1000800"/>
            </a:xfrm>
            <a:prstGeom prst="hexagon">
              <a:avLst/>
            </a:prstGeom>
            <a:ln w="28575">
              <a:noFill/>
            </a:ln>
          </p:spPr>
        </p:pic>
        <p:pic>
          <p:nvPicPr>
            <p:cNvPr id="3" name="Picture 2">
              <a:extLst>
                <a:ext uri="{FF2B5EF4-FFF2-40B4-BE49-F238E27FC236}">
                  <a16:creationId xmlns:a16="http://schemas.microsoft.com/office/drawing/2014/main" id="{D0DC6C73-023B-D63F-AC17-5520284562AE}"/>
                </a:ext>
              </a:extLst>
            </p:cNvPr>
            <p:cNvPicPr>
              <a:picLocks noChangeAspect="1"/>
            </p:cNvPicPr>
            <p:nvPr/>
          </p:nvPicPr>
          <p:blipFill>
            <a:blip r:embed="rId3"/>
            <a:stretch>
              <a:fillRect/>
            </a:stretch>
          </p:blipFill>
          <p:spPr>
            <a:xfrm>
              <a:off x="7653774" y="625452"/>
              <a:ext cx="1000995" cy="1000996"/>
            </a:xfrm>
            <a:prstGeom prst="hexagon">
              <a:avLst/>
            </a:prstGeom>
            <a:ln w="28575">
              <a:noFill/>
            </a:ln>
          </p:spPr>
        </p:pic>
        <p:pic>
          <p:nvPicPr>
            <p:cNvPr id="4" name="Picture 3">
              <a:extLst>
                <a:ext uri="{FF2B5EF4-FFF2-40B4-BE49-F238E27FC236}">
                  <a16:creationId xmlns:a16="http://schemas.microsoft.com/office/drawing/2014/main" id="{9D06A14E-4ADF-DD53-624F-234955882622}"/>
                </a:ext>
              </a:extLst>
            </p:cNvPr>
            <p:cNvPicPr>
              <a:picLocks noChangeAspect="1"/>
            </p:cNvPicPr>
            <p:nvPr/>
          </p:nvPicPr>
          <p:blipFill>
            <a:blip r:embed="rId4"/>
            <a:stretch>
              <a:fillRect/>
            </a:stretch>
          </p:blipFill>
          <p:spPr>
            <a:xfrm>
              <a:off x="5111553" y="1169492"/>
              <a:ext cx="1000995" cy="1000996"/>
            </a:xfrm>
            <a:prstGeom prst="hexagon">
              <a:avLst/>
            </a:prstGeom>
            <a:ln w="28575">
              <a:noFill/>
            </a:ln>
          </p:spPr>
        </p:pic>
        <p:pic>
          <p:nvPicPr>
            <p:cNvPr id="6" name="Picture 5">
              <a:extLst>
                <a:ext uri="{FF2B5EF4-FFF2-40B4-BE49-F238E27FC236}">
                  <a16:creationId xmlns:a16="http://schemas.microsoft.com/office/drawing/2014/main" id="{BA3A7837-A284-E88B-3F52-C85604E5A67D}"/>
                </a:ext>
              </a:extLst>
            </p:cNvPr>
            <p:cNvPicPr>
              <a:picLocks noChangeAspect="1"/>
            </p:cNvPicPr>
            <p:nvPr/>
          </p:nvPicPr>
          <p:blipFill>
            <a:blip r:embed="rId5"/>
            <a:stretch>
              <a:fillRect/>
            </a:stretch>
          </p:blipFill>
          <p:spPr>
            <a:xfrm>
              <a:off x="6818702" y="1160527"/>
              <a:ext cx="1000995" cy="1000996"/>
            </a:xfrm>
            <a:prstGeom prst="hexagon">
              <a:avLst/>
            </a:prstGeom>
            <a:ln>
              <a:noFill/>
            </a:ln>
          </p:spPr>
        </p:pic>
        <p:pic>
          <p:nvPicPr>
            <p:cNvPr id="7" name="Picture 6">
              <a:extLst>
                <a:ext uri="{FF2B5EF4-FFF2-40B4-BE49-F238E27FC236}">
                  <a16:creationId xmlns:a16="http://schemas.microsoft.com/office/drawing/2014/main" id="{43287260-CB0C-78BC-0B3F-CDD7814BBB7E}"/>
                </a:ext>
              </a:extLst>
            </p:cNvPr>
            <p:cNvPicPr>
              <a:picLocks noChangeAspect="1"/>
            </p:cNvPicPr>
            <p:nvPr/>
          </p:nvPicPr>
          <p:blipFill>
            <a:blip r:embed="rId6"/>
            <a:stretch>
              <a:fillRect/>
            </a:stretch>
          </p:blipFill>
          <p:spPr>
            <a:xfrm>
              <a:off x="6822623" y="2276418"/>
              <a:ext cx="1000995" cy="1000996"/>
            </a:xfrm>
            <a:prstGeom prst="hexagon">
              <a:avLst/>
            </a:prstGeom>
            <a:ln w="28575">
              <a:noFill/>
            </a:ln>
          </p:spPr>
        </p:pic>
        <p:pic>
          <p:nvPicPr>
            <p:cNvPr id="9" name="Picture 8">
              <a:extLst>
                <a:ext uri="{FF2B5EF4-FFF2-40B4-BE49-F238E27FC236}">
                  <a16:creationId xmlns:a16="http://schemas.microsoft.com/office/drawing/2014/main" id="{0C7E75BE-5A3D-9D57-6CA0-E1D9173A340F}"/>
                </a:ext>
              </a:extLst>
            </p:cNvPr>
            <p:cNvPicPr>
              <a:picLocks noChangeAspect="1"/>
            </p:cNvPicPr>
            <p:nvPr/>
          </p:nvPicPr>
          <p:blipFill>
            <a:blip r:embed="rId7"/>
            <a:stretch>
              <a:fillRect/>
            </a:stretch>
          </p:blipFill>
          <p:spPr>
            <a:xfrm>
              <a:off x="7662858" y="1723086"/>
              <a:ext cx="1000995" cy="1000996"/>
            </a:xfrm>
            <a:prstGeom prst="hexagon">
              <a:avLst/>
            </a:prstGeom>
            <a:ln w="28575">
              <a:noFill/>
            </a:ln>
          </p:spPr>
        </p:pic>
        <p:pic>
          <p:nvPicPr>
            <p:cNvPr id="10" name="Picture 9">
              <a:extLst>
                <a:ext uri="{FF2B5EF4-FFF2-40B4-BE49-F238E27FC236}">
                  <a16:creationId xmlns:a16="http://schemas.microsoft.com/office/drawing/2014/main" id="{32B45D02-03DE-DD83-070E-0C0A45520060}"/>
                </a:ext>
              </a:extLst>
            </p:cNvPr>
            <p:cNvPicPr>
              <a:picLocks noChangeAspect="1"/>
            </p:cNvPicPr>
            <p:nvPr/>
          </p:nvPicPr>
          <p:blipFill>
            <a:blip r:embed="rId8"/>
            <a:srcRect l="24" r="24"/>
            <a:stretch/>
          </p:blipFill>
          <p:spPr>
            <a:xfrm>
              <a:off x="8503092" y="2276418"/>
              <a:ext cx="1000525" cy="1000996"/>
            </a:xfrm>
            <a:prstGeom prst="hexagon">
              <a:avLst/>
            </a:prstGeom>
            <a:ln w="28575">
              <a:noFill/>
            </a:ln>
          </p:spPr>
        </p:pic>
        <p:pic>
          <p:nvPicPr>
            <p:cNvPr id="11" name="Picture 10">
              <a:extLst>
                <a:ext uri="{FF2B5EF4-FFF2-40B4-BE49-F238E27FC236}">
                  <a16:creationId xmlns:a16="http://schemas.microsoft.com/office/drawing/2014/main" id="{E5EBD050-B4B2-E603-F1D6-A804286DDBE4}"/>
                </a:ext>
              </a:extLst>
            </p:cNvPr>
            <p:cNvPicPr>
              <a:picLocks noChangeAspect="1"/>
            </p:cNvPicPr>
            <p:nvPr/>
          </p:nvPicPr>
          <p:blipFill>
            <a:blip r:embed="rId9"/>
            <a:srcRect l="23" r="23"/>
            <a:stretch/>
          </p:blipFill>
          <p:spPr>
            <a:xfrm>
              <a:off x="5112023" y="2276418"/>
              <a:ext cx="1000525" cy="1000995"/>
            </a:xfrm>
            <a:prstGeom prst="hexagon">
              <a:avLst/>
            </a:prstGeom>
            <a:ln w="28575">
              <a:noFill/>
            </a:ln>
          </p:spPr>
        </p:pic>
        <p:pic>
          <p:nvPicPr>
            <p:cNvPr id="12" name="Picture 11">
              <a:extLst>
                <a:ext uri="{FF2B5EF4-FFF2-40B4-BE49-F238E27FC236}">
                  <a16:creationId xmlns:a16="http://schemas.microsoft.com/office/drawing/2014/main" id="{26A6C5F2-9DBC-8C64-8087-936E388F6A17}"/>
                </a:ext>
              </a:extLst>
            </p:cNvPr>
            <p:cNvPicPr>
              <a:picLocks/>
            </p:cNvPicPr>
            <p:nvPr/>
          </p:nvPicPr>
          <p:blipFill rotWithShape="1">
            <a:blip r:embed="rId10">
              <a:extLst>
                <a:ext uri="{28A0092B-C50C-407E-A947-70E740481C1C}">
                  <a14:useLocalDpi xmlns:a14="http://schemas.microsoft.com/office/drawing/2010/main" val="0"/>
                </a:ext>
              </a:extLst>
            </a:blip>
            <a:srcRect l="27252" t="17163" r="16528" b="44352"/>
            <a:stretch/>
          </p:blipFill>
          <p:spPr>
            <a:xfrm>
              <a:off x="5951788" y="1723086"/>
              <a:ext cx="1031595" cy="1005511"/>
            </a:xfrm>
            <a:prstGeom prst="hexagon">
              <a:avLst/>
            </a:prstGeom>
            <a:ln w="28575">
              <a:noFill/>
            </a:ln>
          </p:spPr>
        </p:pic>
        <p:pic>
          <p:nvPicPr>
            <p:cNvPr id="13" name="Picture 12">
              <a:extLst>
                <a:ext uri="{FF2B5EF4-FFF2-40B4-BE49-F238E27FC236}">
                  <a16:creationId xmlns:a16="http://schemas.microsoft.com/office/drawing/2014/main" id="{58B8D3A9-A7E5-2A10-36BD-EB8E08F52D93}"/>
                </a:ext>
              </a:extLst>
            </p:cNvPr>
            <p:cNvPicPr>
              <a:picLocks noChangeAspect="1"/>
            </p:cNvPicPr>
            <p:nvPr/>
          </p:nvPicPr>
          <p:blipFill>
            <a:blip r:embed="rId11"/>
            <a:srcRect/>
            <a:stretch/>
          </p:blipFill>
          <p:spPr>
            <a:xfrm>
              <a:off x="5962897" y="625452"/>
              <a:ext cx="1000995" cy="1000996"/>
            </a:xfrm>
            <a:prstGeom prst="hexagon">
              <a:avLst/>
            </a:prstGeom>
            <a:ln w="28575">
              <a:noFill/>
            </a:ln>
          </p:spPr>
        </p:pic>
      </p:grpSp>
      <p:pic>
        <p:nvPicPr>
          <p:cNvPr id="15" name="Picture 14">
            <a:extLst>
              <a:ext uri="{FF2B5EF4-FFF2-40B4-BE49-F238E27FC236}">
                <a16:creationId xmlns:a16="http://schemas.microsoft.com/office/drawing/2014/main" id="{7731BCA0-A04B-C5F9-20DF-53041FAFCAA0}"/>
              </a:ext>
            </a:extLst>
          </p:cNvPr>
          <p:cNvPicPr>
            <a:picLocks noChangeAspect="1"/>
          </p:cNvPicPr>
          <p:nvPr/>
        </p:nvPicPr>
        <p:blipFill>
          <a:blip r:embed="rId12">
            <a:lum bright="70000" contrast="-70000"/>
            <a:extLst>
              <a:ext uri="{28A0092B-C50C-407E-A947-70E740481C1C}">
                <a14:useLocalDpi xmlns:a14="http://schemas.microsoft.com/office/drawing/2010/main" val="0"/>
              </a:ext>
            </a:extLst>
          </a:blip>
          <a:srcRect/>
          <a:stretch>
            <a:fillRect/>
          </a:stretch>
        </p:blipFill>
        <p:spPr bwMode="auto">
          <a:xfrm>
            <a:off x="7260776" y="606281"/>
            <a:ext cx="1014176" cy="301769"/>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pic>
      <p:sp>
        <p:nvSpPr>
          <p:cNvPr id="16" name="Footer Placeholder 15">
            <a:extLst>
              <a:ext uri="{FF2B5EF4-FFF2-40B4-BE49-F238E27FC236}">
                <a16:creationId xmlns:a16="http://schemas.microsoft.com/office/drawing/2014/main" id="{38A78366-7415-CDCA-2FB0-2CC3E98328EA}"/>
              </a:ext>
            </a:extLst>
          </p:cNvPr>
          <p:cNvSpPr>
            <a:spLocks noGrp="1"/>
          </p:cNvSpPr>
          <p:nvPr>
            <p:ph type="ftr" sz="quarter" idx="10"/>
          </p:nvPr>
        </p:nvSpPr>
        <p:spPr/>
        <p:txBody>
          <a:bodyPr/>
          <a:lstStyle/>
          <a:p>
            <a:r>
              <a:rPr lang="en-GB">
                <a:solidFill>
                  <a:schemeClr val="bg2">
                    <a:lumMod val="20000"/>
                    <a:lumOff val="80000"/>
                  </a:schemeClr>
                </a:solidFill>
              </a:rPr>
              <a:t>C. Develder, "AI4E: Data-efficient and scalable algorithmss to exploit energy flexibility"</a:t>
            </a:r>
            <a:endParaRPr lang="en-BE" dirty="0">
              <a:solidFill>
                <a:schemeClr val="bg2">
                  <a:lumMod val="20000"/>
                  <a:lumOff val="80000"/>
                </a:schemeClr>
              </a:solidFill>
            </a:endParaRPr>
          </a:p>
        </p:txBody>
      </p:sp>
      <p:sp>
        <p:nvSpPr>
          <p:cNvPr id="17" name="Slide Number Placeholder 16">
            <a:extLst>
              <a:ext uri="{FF2B5EF4-FFF2-40B4-BE49-F238E27FC236}">
                <a16:creationId xmlns:a16="http://schemas.microsoft.com/office/drawing/2014/main" id="{A2AA27ED-04A0-A41A-8963-CBFB1D3870F6}"/>
              </a:ext>
            </a:extLst>
          </p:cNvPr>
          <p:cNvSpPr>
            <a:spLocks noGrp="1"/>
          </p:cNvSpPr>
          <p:nvPr>
            <p:ph type="sldNum" sz="quarter" idx="11"/>
          </p:nvPr>
        </p:nvSpPr>
        <p:spPr/>
        <p:txBody>
          <a:bodyPr/>
          <a:lstStyle/>
          <a:p>
            <a:fld id="{302EF9C6-712F-5E45-821B-0F21D6F327AA}" type="slidenum">
              <a:rPr lang="en-BE" smtClean="0"/>
              <a:pPr/>
              <a:t>3</a:t>
            </a:fld>
            <a:endParaRPr lang="en-BE"/>
          </a:p>
        </p:txBody>
      </p:sp>
    </p:spTree>
    <p:extLst>
      <p:ext uri="{BB962C8B-B14F-4D97-AF65-F5344CB8AC3E}">
        <p14:creationId xmlns:p14="http://schemas.microsoft.com/office/powerpoint/2010/main" val="15388790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97F8CCE-0298-FCC4-B8F1-527E4FC84431}"/>
              </a:ext>
            </a:extLst>
          </p:cNvPr>
          <p:cNvSpPr>
            <a:spLocks noGrp="1"/>
          </p:cNvSpPr>
          <p:nvPr>
            <p:ph type="title"/>
          </p:nvPr>
        </p:nvSpPr>
        <p:spPr/>
        <p:txBody>
          <a:bodyPr/>
          <a:lstStyle/>
          <a:p>
            <a:r>
              <a:rPr lang="en-BE" dirty="0"/>
              <a:t>AI4E: FIT-FOR-PURPOSE &amp; HOLISTIC </a:t>
            </a:r>
            <a:r>
              <a:rPr lang="en-BE" dirty="0">
                <a:solidFill>
                  <a:schemeClr val="accent2">
                    <a:lumMod val="60000"/>
                    <a:lumOff val="40000"/>
                  </a:schemeClr>
                </a:solidFill>
              </a:rPr>
              <a:t>SOLUTIONS</a:t>
            </a:r>
          </a:p>
        </p:txBody>
      </p:sp>
      <p:sp>
        <p:nvSpPr>
          <p:cNvPr id="3" name="Footer Placeholder 2">
            <a:extLst>
              <a:ext uri="{FF2B5EF4-FFF2-40B4-BE49-F238E27FC236}">
                <a16:creationId xmlns:a16="http://schemas.microsoft.com/office/drawing/2014/main" id="{52D74EDF-677A-49AE-4D82-D910E548133F}"/>
              </a:ext>
            </a:extLst>
          </p:cNvPr>
          <p:cNvSpPr>
            <a:spLocks noGrp="1"/>
          </p:cNvSpPr>
          <p:nvPr>
            <p:ph type="ftr" sz="quarter" idx="10"/>
          </p:nvPr>
        </p:nvSpPr>
        <p:spPr/>
        <p:txBody>
          <a:bodyPr/>
          <a:lstStyle/>
          <a:p>
            <a:r>
              <a:rPr lang="en-GB"/>
              <a:t>C. Develder, "AI4E: Data-efficient and scalable algorithmss to exploit energy flexibility"</a:t>
            </a:r>
            <a:endParaRPr lang="en-BE"/>
          </a:p>
        </p:txBody>
      </p:sp>
      <p:sp>
        <p:nvSpPr>
          <p:cNvPr id="5" name="TextBox 4">
            <a:extLst>
              <a:ext uri="{FF2B5EF4-FFF2-40B4-BE49-F238E27FC236}">
                <a16:creationId xmlns:a16="http://schemas.microsoft.com/office/drawing/2014/main" id="{0BCD3EAC-214B-AD20-85DE-C2B12E9FF519}"/>
              </a:ext>
            </a:extLst>
          </p:cNvPr>
          <p:cNvSpPr txBox="1"/>
          <p:nvPr/>
        </p:nvSpPr>
        <p:spPr>
          <a:xfrm>
            <a:off x="1541802" y="3750203"/>
            <a:ext cx="2366353" cy="1077218"/>
          </a:xfrm>
          <a:prstGeom prst="rect">
            <a:avLst/>
          </a:prstGeom>
          <a:noFill/>
        </p:spPr>
        <p:txBody>
          <a:bodyPr wrap="none" rtlCol="0">
            <a:spAutoFit/>
          </a:bodyPr>
          <a:lstStyle/>
          <a:p>
            <a:pPr algn="ctr"/>
            <a:r>
              <a:rPr lang="en-BE" sz="3200" b="1" dirty="0">
                <a:solidFill>
                  <a:schemeClr val="bg1"/>
                </a:solidFill>
                <a:latin typeface="+mj-lt"/>
              </a:rPr>
              <a:t>Data-efficient</a:t>
            </a:r>
            <a:r>
              <a:rPr lang="en-BE" sz="3200" dirty="0">
                <a:solidFill>
                  <a:schemeClr val="bg1"/>
                </a:solidFill>
                <a:latin typeface="+mj-lt"/>
              </a:rPr>
              <a:t> </a:t>
            </a:r>
          </a:p>
          <a:p>
            <a:pPr algn="ctr"/>
            <a:r>
              <a:rPr lang="en-BE" sz="3200" dirty="0">
                <a:solidFill>
                  <a:schemeClr val="bg1"/>
                </a:solidFill>
                <a:latin typeface="+mj-lt"/>
              </a:rPr>
              <a:t>Control</a:t>
            </a:r>
          </a:p>
        </p:txBody>
      </p:sp>
      <p:sp>
        <p:nvSpPr>
          <p:cNvPr id="6" name="TextBox 5">
            <a:extLst>
              <a:ext uri="{FF2B5EF4-FFF2-40B4-BE49-F238E27FC236}">
                <a16:creationId xmlns:a16="http://schemas.microsoft.com/office/drawing/2014/main" id="{916E103C-EBDE-D8FE-7B00-3B3428102357}"/>
              </a:ext>
            </a:extLst>
          </p:cNvPr>
          <p:cNvSpPr txBox="1"/>
          <p:nvPr/>
        </p:nvSpPr>
        <p:spPr>
          <a:xfrm>
            <a:off x="4272259" y="3750203"/>
            <a:ext cx="4065563" cy="1077218"/>
          </a:xfrm>
          <a:prstGeom prst="rect">
            <a:avLst/>
          </a:prstGeom>
          <a:noFill/>
        </p:spPr>
        <p:txBody>
          <a:bodyPr wrap="square" rtlCol="0">
            <a:spAutoFit/>
          </a:bodyPr>
          <a:lstStyle/>
          <a:p>
            <a:pPr algn="ctr"/>
            <a:r>
              <a:rPr lang="en-BE" sz="3200" b="1" dirty="0">
                <a:solidFill>
                  <a:schemeClr val="bg1"/>
                </a:solidFill>
                <a:latin typeface="+mj-lt"/>
              </a:rPr>
              <a:t>Scalable</a:t>
            </a:r>
            <a:br>
              <a:rPr lang="en-BE" sz="3200" b="1" dirty="0">
                <a:solidFill>
                  <a:schemeClr val="bg1"/>
                </a:solidFill>
                <a:latin typeface="+mj-lt"/>
              </a:rPr>
            </a:br>
            <a:r>
              <a:rPr lang="en-GB" sz="3200" dirty="0">
                <a:solidFill>
                  <a:schemeClr val="bg1"/>
                </a:solidFill>
                <a:latin typeface="+mj-lt"/>
              </a:rPr>
              <a:t>F</a:t>
            </a:r>
            <a:r>
              <a:rPr lang="en-BE" sz="3200" dirty="0">
                <a:solidFill>
                  <a:schemeClr val="bg1"/>
                </a:solidFill>
                <a:latin typeface="+mj-lt"/>
              </a:rPr>
              <a:t>lexibility Exploitation</a:t>
            </a:r>
          </a:p>
        </p:txBody>
      </p:sp>
      <p:sp>
        <p:nvSpPr>
          <p:cNvPr id="8" name="TextBox 7">
            <a:extLst>
              <a:ext uri="{FF2B5EF4-FFF2-40B4-BE49-F238E27FC236}">
                <a16:creationId xmlns:a16="http://schemas.microsoft.com/office/drawing/2014/main" id="{28CC82A4-3BFC-2C25-29A4-EDD2603C356E}"/>
              </a:ext>
            </a:extLst>
          </p:cNvPr>
          <p:cNvSpPr txBox="1"/>
          <p:nvPr/>
        </p:nvSpPr>
        <p:spPr>
          <a:xfrm>
            <a:off x="8397303" y="3750203"/>
            <a:ext cx="3360000" cy="1077218"/>
          </a:xfrm>
          <a:prstGeom prst="rect">
            <a:avLst/>
          </a:prstGeom>
          <a:noFill/>
        </p:spPr>
        <p:txBody>
          <a:bodyPr wrap="square" rtlCol="0">
            <a:spAutoFit/>
          </a:bodyPr>
          <a:lstStyle/>
          <a:p>
            <a:pPr algn="ctr"/>
            <a:r>
              <a:rPr lang="en-US" sz="3200" b="1" dirty="0">
                <a:solidFill>
                  <a:schemeClr val="bg1"/>
                </a:solidFill>
                <a:latin typeface="+mj-lt"/>
              </a:rPr>
              <a:t>Predictive</a:t>
            </a:r>
            <a:br>
              <a:rPr lang="en-US" sz="3200" dirty="0">
                <a:solidFill>
                  <a:schemeClr val="bg1"/>
                </a:solidFill>
                <a:latin typeface="+mj-lt"/>
              </a:rPr>
            </a:br>
            <a:r>
              <a:rPr lang="en-US" sz="3200" dirty="0">
                <a:solidFill>
                  <a:schemeClr val="bg1"/>
                </a:solidFill>
                <a:latin typeface="+mj-lt"/>
              </a:rPr>
              <a:t>Support Tools</a:t>
            </a:r>
            <a:endParaRPr lang="en-BE" sz="3200" dirty="0">
              <a:solidFill>
                <a:schemeClr val="bg1"/>
              </a:solidFill>
              <a:latin typeface="+mj-lt"/>
            </a:endParaRPr>
          </a:p>
        </p:txBody>
      </p:sp>
      <p:pic>
        <p:nvPicPr>
          <p:cNvPr id="14" name="Picture 13">
            <a:extLst>
              <a:ext uri="{FF2B5EF4-FFF2-40B4-BE49-F238E27FC236}">
                <a16:creationId xmlns:a16="http://schemas.microsoft.com/office/drawing/2014/main" id="{0EA92EA7-7363-4F75-F8DF-F027A0789906}"/>
              </a:ext>
            </a:extLst>
          </p:cNvPr>
          <p:cNvPicPr>
            <a:picLocks noChangeAspect="1"/>
          </p:cNvPicPr>
          <p:nvPr/>
        </p:nvPicPr>
        <p:blipFill>
          <a:blip r:embed="rId3"/>
          <a:stretch>
            <a:fillRect/>
          </a:stretch>
        </p:blipFill>
        <p:spPr>
          <a:xfrm>
            <a:off x="5705040" y="4889065"/>
            <a:ext cx="1200000" cy="1053659"/>
          </a:xfrm>
          <a:prstGeom prst="rect">
            <a:avLst/>
          </a:prstGeom>
        </p:spPr>
      </p:pic>
      <p:pic>
        <p:nvPicPr>
          <p:cNvPr id="16" name="Picture 15">
            <a:extLst>
              <a:ext uri="{FF2B5EF4-FFF2-40B4-BE49-F238E27FC236}">
                <a16:creationId xmlns:a16="http://schemas.microsoft.com/office/drawing/2014/main" id="{6FC3753C-BD97-6DBB-F148-869FE28D8110}"/>
              </a:ext>
            </a:extLst>
          </p:cNvPr>
          <p:cNvPicPr>
            <a:picLocks noChangeAspect="1"/>
          </p:cNvPicPr>
          <p:nvPr/>
        </p:nvPicPr>
        <p:blipFill>
          <a:blip r:embed="rId4"/>
          <a:stretch>
            <a:fillRect/>
          </a:stretch>
        </p:blipFill>
        <p:spPr>
          <a:xfrm>
            <a:off x="9477303" y="4889065"/>
            <a:ext cx="1200000" cy="1053659"/>
          </a:xfrm>
          <a:prstGeom prst="rect">
            <a:avLst/>
          </a:prstGeom>
        </p:spPr>
      </p:pic>
      <p:pic>
        <p:nvPicPr>
          <p:cNvPr id="18" name="Picture 17">
            <a:extLst>
              <a:ext uri="{FF2B5EF4-FFF2-40B4-BE49-F238E27FC236}">
                <a16:creationId xmlns:a16="http://schemas.microsoft.com/office/drawing/2014/main" id="{4596064E-7C6B-552C-1AE6-7C5F60B7601C}"/>
              </a:ext>
            </a:extLst>
          </p:cNvPr>
          <p:cNvPicPr>
            <a:picLocks noChangeAspect="1"/>
          </p:cNvPicPr>
          <p:nvPr/>
        </p:nvPicPr>
        <p:blipFill>
          <a:blip r:embed="rId5"/>
          <a:stretch>
            <a:fillRect/>
          </a:stretch>
        </p:blipFill>
        <p:spPr>
          <a:xfrm>
            <a:off x="2124979" y="4889065"/>
            <a:ext cx="1200000" cy="1053659"/>
          </a:xfrm>
          <a:prstGeom prst="rect">
            <a:avLst/>
          </a:prstGeom>
        </p:spPr>
      </p:pic>
      <p:grpSp>
        <p:nvGrpSpPr>
          <p:cNvPr id="20" name="Group 19">
            <a:extLst>
              <a:ext uri="{FF2B5EF4-FFF2-40B4-BE49-F238E27FC236}">
                <a16:creationId xmlns:a16="http://schemas.microsoft.com/office/drawing/2014/main" id="{044B5311-7918-00A1-4F47-206678B6029E}"/>
              </a:ext>
            </a:extLst>
          </p:cNvPr>
          <p:cNvGrpSpPr/>
          <p:nvPr/>
        </p:nvGrpSpPr>
        <p:grpSpPr>
          <a:xfrm>
            <a:off x="3919752" y="3215461"/>
            <a:ext cx="4750133" cy="599020"/>
            <a:chOff x="2939814" y="2167153"/>
            <a:chExt cx="3562600" cy="693707"/>
          </a:xfrm>
        </p:grpSpPr>
        <p:sp>
          <p:nvSpPr>
            <p:cNvPr id="23" name="Right Arrow 22">
              <a:extLst>
                <a:ext uri="{FF2B5EF4-FFF2-40B4-BE49-F238E27FC236}">
                  <a16:creationId xmlns:a16="http://schemas.microsoft.com/office/drawing/2014/main" id="{6EF41D19-F3DD-38A3-BC72-3F55222383BF}"/>
                </a:ext>
              </a:extLst>
            </p:cNvPr>
            <p:cNvSpPr/>
            <p:nvPr/>
          </p:nvSpPr>
          <p:spPr>
            <a:xfrm rot="1800000">
              <a:off x="5560305" y="2172906"/>
              <a:ext cx="942109" cy="484909"/>
            </a:xfrm>
            <a:prstGeom prst="rightArrow">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BE" sz="1867"/>
            </a:p>
          </p:txBody>
        </p:sp>
        <p:sp>
          <p:nvSpPr>
            <p:cNvPr id="24" name="Right Arrow 23">
              <a:extLst>
                <a:ext uri="{FF2B5EF4-FFF2-40B4-BE49-F238E27FC236}">
                  <a16:creationId xmlns:a16="http://schemas.microsoft.com/office/drawing/2014/main" id="{0D0FCEF9-5344-8F28-DA65-224A1490D715}"/>
                </a:ext>
              </a:extLst>
            </p:cNvPr>
            <p:cNvSpPr/>
            <p:nvPr/>
          </p:nvSpPr>
          <p:spPr>
            <a:xfrm rot="9000000">
              <a:off x="2939814" y="2172906"/>
              <a:ext cx="942109" cy="484909"/>
            </a:xfrm>
            <a:prstGeom prst="rightArrow">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BE" sz="1867"/>
            </a:p>
          </p:txBody>
        </p:sp>
        <p:sp>
          <p:nvSpPr>
            <p:cNvPr id="25" name="Right Arrow 24">
              <a:extLst>
                <a:ext uri="{FF2B5EF4-FFF2-40B4-BE49-F238E27FC236}">
                  <a16:creationId xmlns:a16="http://schemas.microsoft.com/office/drawing/2014/main" id="{BB13619E-27EF-C34E-9BB7-22A187BD937A}"/>
                </a:ext>
              </a:extLst>
            </p:cNvPr>
            <p:cNvSpPr/>
            <p:nvPr/>
          </p:nvSpPr>
          <p:spPr>
            <a:xfrm rot="5400000">
              <a:off x="4374260" y="2271552"/>
              <a:ext cx="693707" cy="484909"/>
            </a:xfrm>
            <a:prstGeom prst="rightArrow">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BE" sz="1867" dirty="0"/>
            </a:p>
          </p:txBody>
        </p:sp>
      </p:grpSp>
      <p:sp>
        <p:nvSpPr>
          <p:cNvPr id="30" name="Rectangle 29">
            <a:extLst>
              <a:ext uri="{FF2B5EF4-FFF2-40B4-BE49-F238E27FC236}">
                <a16:creationId xmlns:a16="http://schemas.microsoft.com/office/drawing/2014/main" id="{6DB641D5-BCA1-09AD-F150-9506F7AD27DB}"/>
              </a:ext>
            </a:extLst>
          </p:cNvPr>
          <p:cNvSpPr/>
          <p:nvPr/>
        </p:nvSpPr>
        <p:spPr>
          <a:xfrm>
            <a:off x="2471866" y="1120827"/>
            <a:ext cx="7836801" cy="1846427"/>
          </a:xfrm>
          <a:prstGeom prst="rect">
            <a:avLst/>
          </a:prstGeom>
          <a:solidFill>
            <a:schemeClr val="accent2">
              <a:lumMod val="60000"/>
              <a:lumOff val="40000"/>
            </a:scheme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BE" sz="1867" dirty="0"/>
          </a:p>
        </p:txBody>
      </p:sp>
      <p:pic>
        <p:nvPicPr>
          <p:cNvPr id="13" name="Picture 12">
            <a:extLst>
              <a:ext uri="{FF2B5EF4-FFF2-40B4-BE49-F238E27FC236}">
                <a16:creationId xmlns:a16="http://schemas.microsoft.com/office/drawing/2014/main" id="{584741AC-2C6B-C36D-3756-7BAB3126A021}"/>
              </a:ext>
            </a:extLst>
          </p:cNvPr>
          <p:cNvPicPr>
            <a:picLocks noChangeAspect="1"/>
          </p:cNvPicPr>
          <p:nvPr/>
        </p:nvPicPr>
        <p:blipFill>
          <a:blip r:embed="rId6"/>
          <a:stretch>
            <a:fillRect/>
          </a:stretch>
        </p:blipFill>
        <p:spPr>
          <a:xfrm>
            <a:off x="7788038" y="1951222"/>
            <a:ext cx="1237913" cy="1086949"/>
          </a:xfrm>
          <a:prstGeom prst="rect">
            <a:avLst/>
          </a:prstGeom>
        </p:spPr>
      </p:pic>
      <p:pic>
        <p:nvPicPr>
          <p:cNvPr id="11" name="Picture 10">
            <a:extLst>
              <a:ext uri="{FF2B5EF4-FFF2-40B4-BE49-F238E27FC236}">
                <a16:creationId xmlns:a16="http://schemas.microsoft.com/office/drawing/2014/main" id="{335B6192-B54F-A13C-528A-31A45FD39297}"/>
              </a:ext>
            </a:extLst>
          </p:cNvPr>
          <p:cNvPicPr>
            <a:picLocks noChangeAspect="1"/>
          </p:cNvPicPr>
          <p:nvPr/>
        </p:nvPicPr>
        <p:blipFill>
          <a:blip r:embed="rId7"/>
          <a:stretch>
            <a:fillRect/>
          </a:stretch>
        </p:blipFill>
        <p:spPr>
          <a:xfrm>
            <a:off x="2839324" y="1942077"/>
            <a:ext cx="1237912" cy="1086947"/>
          </a:xfrm>
          <a:prstGeom prst="rect">
            <a:avLst/>
          </a:prstGeom>
        </p:spPr>
      </p:pic>
      <p:sp>
        <p:nvSpPr>
          <p:cNvPr id="15" name="TextBox 14">
            <a:extLst>
              <a:ext uri="{FF2B5EF4-FFF2-40B4-BE49-F238E27FC236}">
                <a16:creationId xmlns:a16="http://schemas.microsoft.com/office/drawing/2014/main" id="{A0D2F41B-3094-6F95-902D-60CE875E9470}"/>
              </a:ext>
            </a:extLst>
          </p:cNvPr>
          <p:cNvSpPr txBox="1"/>
          <p:nvPr/>
        </p:nvSpPr>
        <p:spPr>
          <a:xfrm>
            <a:off x="2576070" y="1151694"/>
            <a:ext cx="1764421" cy="954107"/>
          </a:xfrm>
          <a:prstGeom prst="rect">
            <a:avLst/>
          </a:prstGeom>
          <a:noFill/>
        </p:spPr>
        <p:txBody>
          <a:bodyPr wrap="square" rtlCol="0">
            <a:spAutoFit/>
          </a:bodyPr>
          <a:lstStyle/>
          <a:p>
            <a:pPr algn="ctr"/>
            <a:r>
              <a:rPr lang="en-US" sz="2800" b="1" dirty="0">
                <a:solidFill>
                  <a:schemeClr val="bg1"/>
                </a:solidFill>
                <a:latin typeface="+mj-lt"/>
              </a:rPr>
              <a:t>Neural</a:t>
            </a:r>
            <a:br>
              <a:rPr lang="en-US" sz="2800" b="1" dirty="0">
                <a:solidFill>
                  <a:schemeClr val="bg1"/>
                </a:solidFill>
                <a:latin typeface="+mj-lt"/>
              </a:rPr>
            </a:br>
            <a:r>
              <a:rPr lang="en-US" sz="2800" b="1" dirty="0">
                <a:solidFill>
                  <a:schemeClr val="bg1"/>
                </a:solidFill>
                <a:latin typeface="+mj-lt"/>
              </a:rPr>
              <a:t>Networks</a:t>
            </a:r>
            <a:endParaRPr lang="en-BE" sz="2800" dirty="0">
              <a:solidFill>
                <a:schemeClr val="bg1"/>
              </a:solidFill>
              <a:latin typeface="+mj-lt"/>
            </a:endParaRPr>
          </a:p>
        </p:txBody>
      </p:sp>
      <p:pic>
        <p:nvPicPr>
          <p:cNvPr id="9" name="Picture 8">
            <a:extLst>
              <a:ext uri="{FF2B5EF4-FFF2-40B4-BE49-F238E27FC236}">
                <a16:creationId xmlns:a16="http://schemas.microsoft.com/office/drawing/2014/main" id="{8720584B-B354-C5AA-51BD-80430156CF1C}"/>
              </a:ext>
            </a:extLst>
          </p:cNvPr>
          <p:cNvPicPr>
            <a:picLocks noChangeAspect="1"/>
          </p:cNvPicPr>
          <p:nvPr/>
        </p:nvPicPr>
        <p:blipFill>
          <a:blip r:embed="rId8"/>
          <a:stretch>
            <a:fillRect/>
          </a:stretch>
        </p:blipFill>
        <p:spPr>
          <a:xfrm>
            <a:off x="5174084" y="1897038"/>
            <a:ext cx="1237913" cy="1086948"/>
          </a:xfrm>
          <a:prstGeom prst="rect">
            <a:avLst/>
          </a:prstGeom>
        </p:spPr>
      </p:pic>
      <p:sp>
        <p:nvSpPr>
          <p:cNvPr id="17" name="TextBox 16">
            <a:extLst>
              <a:ext uri="{FF2B5EF4-FFF2-40B4-BE49-F238E27FC236}">
                <a16:creationId xmlns:a16="http://schemas.microsoft.com/office/drawing/2014/main" id="{E2DAD60D-FAF1-075C-5319-740F9D38F9DB}"/>
              </a:ext>
            </a:extLst>
          </p:cNvPr>
          <p:cNvSpPr txBox="1"/>
          <p:nvPr/>
        </p:nvSpPr>
        <p:spPr>
          <a:xfrm>
            <a:off x="4572364" y="1151694"/>
            <a:ext cx="2441349" cy="954107"/>
          </a:xfrm>
          <a:prstGeom prst="rect">
            <a:avLst/>
          </a:prstGeom>
          <a:noFill/>
        </p:spPr>
        <p:txBody>
          <a:bodyPr wrap="square" rtlCol="0">
            <a:spAutoFit/>
          </a:bodyPr>
          <a:lstStyle/>
          <a:p>
            <a:pPr algn="ctr"/>
            <a:r>
              <a:rPr lang="en-US" sz="2800" b="1" dirty="0">
                <a:solidFill>
                  <a:schemeClr val="bg1"/>
                </a:solidFill>
                <a:latin typeface="+mj-lt"/>
              </a:rPr>
              <a:t>Reinforcement Learning</a:t>
            </a:r>
            <a:endParaRPr lang="en-BE" sz="2800" dirty="0">
              <a:solidFill>
                <a:schemeClr val="bg1"/>
              </a:solidFill>
              <a:latin typeface="+mj-lt"/>
            </a:endParaRPr>
          </a:p>
        </p:txBody>
      </p:sp>
      <p:sp>
        <p:nvSpPr>
          <p:cNvPr id="19" name="TextBox 18">
            <a:extLst>
              <a:ext uri="{FF2B5EF4-FFF2-40B4-BE49-F238E27FC236}">
                <a16:creationId xmlns:a16="http://schemas.microsoft.com/office/drawing/2014/main" id="{F6914474-0BF9-D071-5A18-3CB6AAB12965}"/>
              </a:ext>
            </a:extLst>
          </p:cNvPr>
          <p:cNvSpPr txBox="1"/>
          <p:nvPr/>
        </p:nvSpPr>
        <p:spPr>
          <a:xfrm>
            <a:off x="7154147" y="1151694"/>
            <a:ext cx="2505695" cy="954107"/>
          </a:xfrm>
          <a:prstGeom prst="rect">
            <a:avLst/>
          </a:prstGeom>
          <a:noFill/>
        </p:spPr>
        <p:txBody>
          <a:bodyPr wrap="square" rtlCol="0">
            <a:spAutoFit/>
          </a:bodyPr>
          <a:lstStyle/>
          <a:p>
            <a:pPr algn="ctr"/>
            <a:r>
              <a:rPr lang="en-US" sz="2800" b="1" dirty="0">
                <a:solidFill>
                  <a:schemeClr val="bg1"/>
                </a:solidFill>
                <a:latin typeface="+mj-lt"/>
              </a:rPr>
              <a:t>Graph Neural Networks</a:t>
            </a:r>
            <a:endParaRPr lang="en-BE" sz="2800" dirty="0">
              <a:solidFill>
                <a:schemeClr val="bg1"/>
              </a:solidFill>
              <a:latin typeface="+mj-lt"/>
            </a:endParaRPr>
          </a:p>
        </p:txBody>
      </p:sp>
      <p:sp>
        <p:nvSpPr>
          <p:cNvPr id="31" name="TextBox 30">
            <a:extLst>
              <a:ext uri="{FF2B5EF4-FFF2-40B4-BE49-F238E27FC236}">
                <a16:creationId xmlns:a16="http://schemas.microsoft.com/office/drawing/2014/main" id="{DF2F18A0-B930-92CD-2F2B-DEB0C1222086}"/>
              </a:ext>
            </a:extLst>
          </p:cNvPr>
          <p:cNvSpPr txBox="1"/>
          <p:nvPr/>
        </p:nvSpPr>
        <p:spPr>
          <a:xfrm>
            <a:off x="9442351" y="1966712"/>
            <a:ext cx="704040" cy="748988"/>
          </a:xfrm>
          <a:prstGeom prst="rect">
            <a:avLst/>
          </a:prstGeom>
          <a:noFill/>
        </p:spPr>
        <p:txBody>
          <a:bodyPr wrap="none" rtlCol="0">
            <a:spAutoFit/>
          </a:bodyPr>
          <a:lstStyle/>
          <a:p>
            <a:pPr algn="ctr"/>
            <a:r>
              <a:rPr lang="en-BE" sz="4267" b="1" dirty="0">
                <a:solidFill>
                  <a:schemeClr val="bg1"/>
                </a:solidFill>
                <a:latin typeface="+mj-lt"/>
              </a:rPr>
              <a:t>. . .</a:t>
            </a:r>
          </a:p>
        </p:txBody>
      </p:sp>
      <p:sp>
        <p:nvSpPr>
          <p:cNvPr id="7" name="Slide Number Placeholder 6">
            <a:extLst>
              <a:ext uri="{FF2B5EF4-FFF2-40B4-BE49-F238E27FC236}">
                <a16:creationId xmlns:a16="http://schemas.microsoft.com/office/drawing/2014/main" id="{9D140D11-4C1A-DC90-F6AE-D1705E615443}"/>
              </a:ext>
            </a:extLst>
          </p:cNvPr>
          <p:cNvSpPr>
            <a:spLocks noGrp="1"/>
          </p:cNvSpPr>
          <p:nvPr>
            <p:ph type="sldNum" sz="quarter" idx="11"/>
          </p:nvPr>
        </p:nvSpPr>
        <p:spPr/>
        <p:txBody>
          <a:bodyPr/>
          <a:lstStyle/>
          <a:p>
            <a:fld id="{302EF9C6-712F-5E45-821B-0F21D6F327AA}" type="slidenum">
              <a:rPr lang="en-BE" smtClean="0"/>
              <a:pPr/>
              <a:t>4</a:t>
            </a:fld>
            <a:endParaRPr lang="en-BE"/>
          </a:p>
        </p:txBody>
      </p:sp>
    </p:spTree>
    <p:extLst>
      <p:ext uri="{BB962C8B-B14F-4D97-AF65-F5344CB8AC3E}">
        <p14:creationId xmlns:p14="http://schemas.microsoft.com/office/powerpoint/2010/main" val="342835041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A4F7057E-D7C0-5F56-9B72-95FBC6702B5B}"/>
              </a:ext>
            </a:extLst>
          </p:cNvPr>
          <p:cNvSpPr>
            <a:spLocks noGrp="1"/>
          </p:cNvSpPr>
          <p:nvPr>
            <p:ph type="title"/>
          </p:nvPr>
        </p:nvSpPr>
        <p:spPr/>
        <p:txBody>
          <a:bodyPr/>
          <a:lstStyle/>
          <a:p>
            <a:r>
              <a:rPr lang="en-GB" dirty="0"/>
              <a:t>AI4E R</a:t>
            </a:r>
            <a:r>
              <a:rPr lang="en-BE" dirty="0"/>
              <a:t>esearch Tracks</a:t>
            </a:r>
          </a:p>
        </p:txBody>
      </p:sp>
      <p:sp>
        <p:nvSpPr>
          <p:cNvPr id="6" name="Content Placeholder 5">
            <a:extLst>
              <a:ext uri="{FF2B5EF4-FFF2-40B4-BE49-F238E27FC236}">
                <a16:creationId xmlns:a16="http://schemas.microsoft.com/office/drawing/2014/main" id="{27D872B0-6BF2-DC85-780B-9C2BFB6FD797}"/>
              </a:ext>
            </a:extLst>
          </p:cNvPr>
          <p:cNvSpPr>
            <a:spLocks noGrp="1"/>
          </p:cNvSpPr>
          <p:nvPr>
            <p:ph idx="1"/>
          </p:nvPr>
        </p:nvSpPr>
        <p:spPr>
          <a:xfrm>
            <a:off x="476211" y="1267114"/>
            <a:ext cx="11400407" cy="4731847"/>
          </a:xfrm>
        </p:spPr>
        <p:txBody>
          <a:bodyPr>
            <a:normAutofit/>
          </a:bodyPr>
          <a:lstStyle/>
          <a:p>
            <a:pPr marL="0" indent="0">
              <a:lnSpc>
                <a:spcPct val="120000"/>
              </a:lnSpc>
              <a:buNone/>
            </a:pPr>
            <a:r>
              <a:rPr lang="nl-BE" dirty="0">
                <a:latin typeface="+mn-lt"/>
                <a:cs typeface="Calibri" panose="020F0502020204030204" pitchFamily="34" charset="0"/>
              </a:rPr>
              <a:t>Data-driven decision making for . . .</a:t>
            </a:r>
          </a:p>
        </p:txBody>
      </p:sp>
      <p:grpSp>
        <p:nvGrpSpPr>
          <p:cNvPr id="19" name="Group 18">
            <a:extLst>
              <a:ext uri="{FF2B5EF4-FFF2-40B4-BE49-F238E27FC236}">
                <a16:creationId xmlns:a16="http://schemas.microsoft.com/office/drawing/2014/main" id="{2AF175EE-4A0D-ACD9-DC93-3731E806471D}"/>
              </a:ext>
            </a:extLst>
          </p:cNvPr>
          <p:cNvGrpSpPr/>
          <p:nvPr/>
        </p:nvGrpSpPr>
        <p:grpSpPr>
          <a:xfrm>
            <a:off x="516153" y="1886075"/>
            <a:ext cx="1122609" cy="1112409"/>
            <a:chOff x="387116" y="1595194"/>
            <a:chExt cx="841957" cy="834307"/>
          </a:xfrm>
          <a:solidFill>
            <a:schemeClr val="accent3">
              <a:lumMod val="20000"/>
              <a:lumOff val="80000"/>
            </a:schemeClr>
          </a:solidFill>
        </p:grpSpPr>
        <p:sp>
          <p:nvSpPr>
            <p:cNvPr id="14" name="Rounded Rectangle 13">
              <a:extLst>
                <a:ext uri="{FF2B5EF4-FFF2-40B4-BE49-F238E27FC236}">
                  <a16:creationId xmlns:a16="http://schemas.microsoft.com/office/drawing/2014/main" id="{FCB47DDF-3971-B69C-4D12-A7E208AEB6E9}"/>
                </a:ext>
              </a:extLst>
            </p:cNvPr>
            <p:cNvSpPr/>
            <p:nvPr/>
          </p:nvSpPr>
          <p:spPr>
            <a:xfrm>
              <a:off x="387116" y="1595194"/>
              <a:ext cx="841957" cy="834307"/>
            </a:xfrm>
            <a:prstGeom prst="roundRect">
              <a:avLst/>
            </a:prstGeom>
            <a:grp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BE" sz="1867" dirty="0"/>
            </a:p>
          </p:txBody>
        </p:sp>
        <p:pic>
          <p:nvPicPr>
            <p:cNvPr id="3" name="Picture 2">
              <a:extLst>
                <a:ext uri="{FF2B5EF4-FFF2-40B4-BE49-F238E27FC236}">
                  <a16:creationId xmlns:a16="http://schemas.microsoft.com/office/drawing/2014/main" id="{BB9A1732-B2FB-429A-1D9A-298E34E5705F}"/>
                </a:ext>
              </a:extLst>
            </p:cNvPr>
            <p:cNvPicPr>
              <a:picLocks noChangeAspect="1"/>
            </p:cNvPicPr>
            <p:nvPr/>
          </p:nvPicPr>
          <p:blipFill>
            <a:blip r:embed="rId2"/>
            <a:stretch>
              <a:fillRect/>
            </a:stretch>
          </p:blipFill>
          <p:spPr>
            <a:xfrm>
              <a:off x="468116" y="1696250"/>
              <a:ext cx="720000" cy="632195"/>
            </a:xfrm>
            <a:prstGeom prst="rect">
              <a:avLst/>
            </a:prstGeom>
            <a:grpFill/>
          </p:spPr>
        </p:pic>
      </p:grpSp>
      <p:sp>
        <p:nvSpPr>
          <p:cNvPr id="9" name="TextBox 8">
            <a:extLst>
              <a:ext uri="{FF2B5EF4-FFF2-40B4-BE49-F238E27FC236}">
                <a16:creationId xmlns:a16="http://schemas.microsoft.com/office/drawing/2014/main" id="{C37EAF3B-197D-FB71-82E4-12AB94EE1AB8}"/>
              </a:ext>
            </a:extLst>
          </p:cNvPr>
          <p:cNvSpPr txBox="1"/>
          <p:nvPr/>
        </p:nvSpPr>
        <p:spPr>
          <a:xfrm>
            <a:off x="1798320" y="1699634"/>
            <a:ext cx="10179505" cy="4379469"/>
          </a:xfrm>
          <a:prstGeom prst="rect">
            <a:avLst/>
          </a:prstGeom>
          <a:noFill/>
        </p:spPr>
        <p:txBody>
          <a:bodyPr wrap="square">
            <a:spAutoFit/>
          </a:bodyPr>
          <a:lstStyle/>
          <a:p>
            <a:pPr marL="302676" indent="-302676">
              <a:lnSpc>
                <a:spcPct val="120000"/>
              </a:lnSpc>
              <a:buAutoNum type="arabicParenR"/>
            </a:pPr>
            <a:r>
              <a:rPr lang="nl-BE" sz="2133" b="1" u="sng" dirty="0">
                <a:solidFill>
                  <a:schemeClr val="accent3"/>
                </a:solidFill>
                <a:latin typeface="+mn-lt"/>
                <a:cs typeface="Calibri" panose="020F0502020204030204" pitchFamily="34" charset="0"/>
              </a:rPr>
              <a:t>Home Energy Management</a:t>
            </a:r>
            <a:r>
              <a:rPr lang="nl-BE" sz="2133" b="1" dirty="0">
                <a:solidFill>
                  <a:schemeClr val="accent3"/>
                </a:solidFill>
                <a:latin typeface="+mn-lt"/>
                <a:cs typeface="Calibri" panose="020F0502020204030204" pitchFamily="34" charset="0"/>
              </a:rPr>
              <a:t> (HEM)</a:t>
            </a:r>
            <a:endParaRPr lang="nl-BE" sz="2133" b="1" u="sng" dirty="0">
              <a:solidFill>
                <a:schemeClr val="accent3"/>
              </a:solidFill>
              <a:latin typeface="+mn-lt"/>
              <a:cs typeface="Calibri" panose="020F0502020204030204" pitchFamily="34" charset="0"/>
            </a:endParaRPr>
          </a:p>
          <a:p>
            <a:pPr marL="592652" lvl="1" indent="-232828">
              <a:lnSpc>
                <a:spcPct val="120000"/>
              </a:lnSpc>
              <a:buFont typeface="Arial" panose="020B0604020202020204" pitchFamily="34" charset="0"/>
              <a:buChar char="•"/>
            </a:pPr>
            <a:r>
              <a:rPr lang="nl-BE" sz="2133" dirty="0">
                <a:latin typeface="+mn-lt"/>
                <a:cs typeface="Calibri" panose="020F0502020204030204" pitchFamily="34" charset="0"/>
              </a:rPr>
              <a:t>Value stacking (capacity tariff / dynamic pricing / . . .)</a:t>
            </a:r>
          </a:p>
          <a:p>
            <a:pPr marL="592652" lvl="1" indent="-232828">
              <a:lnSpc>
                <a:spcPct val="120000"/>
              </a:lnSpc>
              <a:buFont typeface="Arial" panose="020B0604020202020204" pitchFamily="34" charset="0"/>
              <a:buChar char="•"/>
            </a:pPr>
            <a:r>
              <a:rPr lang="nl-BE" sz="2133" dirty="0">
                <a:latin typeface="+mn-lt"/>
                <a:cs typeface="Calibri" panose="020F0502020204030204" pitchFamily="34" charset="0"/>
              </a:rPr>
              <a:t>Heterogeneous households (Heat pump / EV / Home battery / Thermal Storage)</a:t>
            </a:r>
          </a:p>
          <a:p>
            <a:pPr marL="592652" lvl="1" indent="-232828">
              <a:lnSpc>
                <a:spcPct val="120000"/>
              </a:lnSpc>
              <a:buFont typeface="Arial" panose="020B0604020202020204" pitchFamily="34" charset="0"/>
              <a:buChar char="•"/>
            </a:pPr>
            <a:endParaRPr lang="nl-BE" sz="1000" dirty="0">
              <a:latin typeface="+mn-lt"/>
              <a:cs typeface="Calibri" panose="020F0502020204030204" pitchFamily="34" charset="0"/>
            </a:endParaRPr>
          </a:p>
          <a:p>
            <a:pPr marL="302676" indent="-302676">
              <a:lnSpc>
                <a:spcPct val="120000"/>
              </a:lnSpc>
              <a:buAutoNum type="arabicParenR"/>
            </a:pPr>
            <a:r>
              <a:rPr lang="nl-BE" sz="2133" b="1" dirty="0">
                <a:solidFill>
                  <a:srgbClr val="149E75"/>
                </a:solidFill>
                <a:latin typeface="+mn-lt"/>
                <a:cs typeface="Calibri" panose="020F0502020204030204" pitchFamily="34" charset="0"/>
              </a:rPr>
              <a:t>Real/short-time (24h down to 1s) </a:t>
            </a:r>
            <a:r>
              <a:rPr lang="nl-BE" sz="2133" b="1" u="sng" dirty="0">
                <a:solidFill>
                  <a:srgbClr val="149E75"/>
                </a:solidFill>
                <a:latin typeface="+mn-lt"/>
                <a:cs typeface="Calibri" panose="020F0502020204030204" pitchFamily="34" charset="0"/>
              </a:rPr>
              <a:t>flexibility optimization</a:t>
            </a:r>
          </a:p>
          <a:p>
            <a:pPr marL="592652" lvl="1" indent="-232828">
              <a:lnSpc>
                <a:spcPct val="120000"/>
              </a:lnSpc>
              <a:buFont typeface="Arial" panose="020B0604020202020204" pitchFamily="34" charset="0"/>
              <a:buChar char="•"/>
            </a:pPr>
            <a:r>
              <a:rPr lang="nl-BE" sz="2133" dirty="0">
                <a:latin typeface="+mn-lt"/>
                <a:cs typeface="Calibri" panose="020F0502020204030204" pitchFamily="34" charset="0"/>
              </a:rPr>
              <a:t>Multi-market day-ahead and real-time trading in energy and flexibility markets (EU/UK)</a:t>
            </a:r>
          </a:p>
          <a:p>
            <a:pPr marL="592652" lvl="1" indent="-232828">
              <a:lnSpc>
                <a:spcPct val="120000"/>
              </a:lnSpc>
              <a:buFont typeface="Arial" panose="020B0604020202020204" pitchFamily="34" charset="0"/>
              <a:buChar char="•"/>
            </a:pPr>
            <a:r>
              <a:rPr lang="nl-BE" sz="2133" dirty="0">
                <a:latin typeface="+mn-lt"/>
                <a:cs typeface="Calibri" panose="020F0502020204030204" pitchFamily="34" charset="0"/>
              </a:rPr>
              <a:t>Multi-asset flexibility coordination, focusing on residential flexibility</a:t>
            </a:r>
          </a:p>
          <a:p>
            <a:pPr marL="592652" lvl="1" indent="-232828">
              <a:lnSpc>
                <a:spcPct val="120000"/>
              </a:lnSpc>
              <a:buFont typeface="Arial" panose="020B0604020202020204" pitchFamily="34" charset="0"/>
              <a:buChar char="•"/>
            </a:pPr>
            <a:endParaRPr lang="nl-BE" sz="1000" dirty="0">
              <a:latin typeface="+mn-lt"/>
              <a:cs typeface="Calibri" panose="020F0502020204030204" pitchFamily="34" charset="0"/>
            </a:endParaRPr>
          </a:p>
          <a:p>
            <a:pPr marL="302676" indent="-302676">
              <a:lnSpc>
                <a:spcPct val="120000"/>
              </a:lnSpc>
              <a:buAutoNum type="arabicParenR"/>
            </a:pPr>
            <a:r>
              <a:rPr lang="nl-BE" sz="2133" b="1" dirty="0">
                <a:solidFill>
                  <a:srgbClr val="E59D02"/>
                </a:solidFill>
                <a:latin typeface="+mn-lt"/>
                <a:cs typeface="Calibri" panose="020F0502020204030204" pitchFamily="34" charset="0"/>
              </a:rPr>
              <a:t>Support tools for </a:t>
            </a:r>
            <a:r>
              <a:rPr lang="nl-BE" sz="2133" b="1" u="sng" dirty="0">
                <a:solidFill>
                  <a:srgbClr val="E59D02"/>
                </a:solidFill>
                <a:latin typeface="+mn-lt"/>
                <a:cs typeface="Calibri" panose="020F0502020204030204" pitchFamily="34" charset="0"/>
              </a:rPr>
              <a:t>power system operators</a:t>
            </a:r>
          </a:p>
          <a:p>
            <a:pPr marL="592652" lvl="1" indent="-232828">
              <a:lnSpc>
                <a:spcPct val="120000"/>
              </a:lnSpc>
              <a:buFont typeface="Arial" panose="020B0604020202020204" pitchFamily="34" charset="0"/>
              <a:buChar char="•"/>
            </a:pPr>
            <a:r>
              <a:rPr lang="nl-BE" sz="2133" dirty="0">
                <a:latin typeface="+mn-lt"/>
                <a:cs typeface="Calibri" panose="020F0502020204030204" pitchFamily="34" charset="0"/>
              </a:rPr>
              <a:t>Decision support for consumer-centric market vision</a:t>
            </a:r>
            <a:br>
              <a:rPr lang="nl-BE" sz="2133" dirty="0">
                <a:latin typeface="+mn-lt"/>
                <a:cs typeface="Calibri" panose="020F0502020204030204" pitchFamily="34" charset="0"/>
              </a:rPr>
            </a:br>
            <a:r>
              <a:rPr lang="nl-BE" sz="2133" dirty="0">
                <a:latin typeface="+mn-lt"/>
                <a:cs typeface="Calibri" panose="020F0502020204030204" pitchFamily="34" charset="0"/>
              </a:rPr>
              <a:t>(Imbalance forecasting; RTP price calculations; digital twins . . .)</a:t>
            </a:r>
          </a:p>
          <a:p>
            <a:pPr marL="592652" lvl="1" indent="-232828">
              <a:lnSpc>
                <a:spcPct val="120000"/>
              </a:lnSpc>
              <a:buFont typeface="Arial" panose="020B0604020202020204" pitchFamily="34" charset="0"/>
              <a:buChar char="•"/>
            </a:pPr>
            <a:r>
              <a:rPr lang="nl-BE" sz="2133" dirty="0">
                <a:latin typeface="+mn-lt"/>
                <a:cs typeface="Calibri" panose="020F0502020204030204" pitchFamily="34" charset="0"/>
              </a:rPr>
              <a:t>State estimation and forecasting (DSO/TSO)</a:t>
            </a:r>
            <a:endParaRPr lang="en-BE" sz="2133" dirty="0"/>
          </a:p>
        </p:txBody>
      </p:sp>
      <p:grpSp>
        <p:nvGrpSpPr>
          <p:cNvPr id="18" name="Group 17">
            <a:extLst>
              <a:ext uri="{FF2B5EF4-FFF2-40B4-BE49-F238E27FC236}">
                <a16:creationId xmlns:a16="http://schemas.microsoft.com/office/drawing/2014/main" id="{B9FAF5DD-AD02-9C2A-5702-9AB8117AA9A4}"/>
              </a:ext>
            </a:extLst>
          </p:cNvPr>
          <p:cNvGrpSpPr/>
          <p:nvPr/>
        </p:nvGrpSpPr>
        <p:grpSpPr>
          <a:xfrm>
            <a:off x="516152" y="3254598"/>
            <a:ext cx="1122609" cy="1112409"/>
            <a:chOff x="401375" y="2624807"/>
            <a:chExt cx="841957" cy="834307"/>
          </a:xfrm>
        </p:grpSpPr>
        <p:sp>
          <p:nvSpPr>
            <p:cNvPr id="15" name="Rounded Rectangle 14">
              <a:extLst>
                <a:ext uri="{FF2B5EF4-FFF2-40B4-BE49-F238E27FC236}">
                  <a16:creationId xmlns:a16="http://schemas.microsoft.com/office/drawing/2014/main" id="{BE4EAE4E-0913-C693-E691-16445F93E633}"/>
                </a:ext>
              </a:extLst>
            </p:cNvPr>
            <p:cNvSpPr/>
            <p:nvPr/>
          </p:nvSpPr>
          <p:spPr>
            <a:xfrm>
              <a:off x="401375" y="2624807"/>
              <a:ext cx="841957" cy="834307"/>
            </a:xfrm>
            <a:prstGeom prst="roundRect">
              <a:avLst/>
            </a:prstGeom>
            <a:solidFill>
              <a:srgbClr val="149E7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BE" sz="1867" dirty="0"/>
            </a:p>
          </p:txBody>
        </p:sp>
        <p:pic>
          <p:nvPicPr>
            <p:cNvPr id="11" name="Picture 10">
              <a:extLst>
                <a:ext uri="{FF2B5EF4-FFF2-40B4-BE49-F238E27FC236}">
                  <a16:creationId xmlns:a16="http://schemas.microsoft.com/office/drawing/2014/main" id="{BC3C7DD9-76A9-691A-2A2B-ED044FFAA39C}"/>
                </a:ext>
              </a:extLst>
            </p:cNvPr>
            <p:cNvPicPr>
              <a:picLocks noChangeAspect="1"/>
            </p:cNvPicPr>
            <p:nvPr/>
          </p:nvPicPr>
          <p:blipFill>
            <a:blip r:embed="rId3"/>
            <a:stretch>
              <a:fillRect/>
            </a:stretch>
          </p:blipFill>
          <p:spPr>
            <a:xfrm>
              <a:off x="462353" y="2725863"/>
              <a:ext cx="720000" cy="632195"/>
            </a:xfrm>
            <a:prstGeom prst="rect">
              <a:avLst/>
            </a:prstGeom>
          </p:spPr>
        </p:pic>
      </p:grpSp>
      <p:grpSp>
        <p:nvGrpSpPr>
          <p:cNvPr id="17" name="Group 16">
            <a:extLst>
              <a:ext uri="{FF2B5EF4-FFF2-40B4-BE49-F238E27FC236}">
                <a16:creationId xmlns:a16="http://schemas.microsoft.com/office/drawing/2014/main" id="{00767B38-1ECA-EA7C-04A7-B097F39ED24C}"/>
              </a:ext>
            </a:extLst>
          </p:cNvPr>
          <p:cNvGrpSpPr/>
          <p:nvPr/>
        </p:nvGrpSpPr>
        <p:grpSpPr>
          <a:xfrm>
            <a:off x="516152" y="4623121"/>
            <a:ext cx="1122609" cy="1112409"/>
            <a:chOff x="387115" y="3648116"/>
            <a:chExt cx="841957" cy="834307"/>
          </a:xfrm>
        </p:grpSpPr>
        <p:sp>
          <p:nvSpPr>
            <p:cNvPr id="16" name="Rounded Rectangle 15">
              <a:extLst>
                <a:ext uri="{FF2B5EF4-FFF2-40B4-BE49-F238E27FC236}">
                  <a16:creationId xmlns:a16="http://schemas.microsoft.com/office/drawing/2014/main" id="{AF4A6D4A-3F84-98A4-FB93-2720BFBC78AB}"/>
                </a:ext>
              </a:extLst>
            </p:cNvPr>
            <p:cNvSpPr/>
            <p:nvPr/>
          </p:nvSpPr>
          <p:spPr>
            <a:xfrm>
              <a:off x="387115" y="3648116"/>
              <a:ext cx="841957" cy="834307"/>
            </a:xfrm>
            <a:prstGeom prst="roundRect">
              <a:avLst/>
            </a:prstGeom>
            <a:solidFill>
              <a:srgbClr val="E59D0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BE" sz="1867" dirty="0"/>
            </a:p>
          </p:txBody>
        </p:sp>
        <p:pic>
          <p:nvPicPr>
            <p:cNvPr id="13" name="Picture 12">
              <a:extLst>
                <a:ext uri="{FF2B5EF4-FFF2-40B4-BE49-F238E27FC236}">
                  <a16:creationId xmlns:a16="http://schemas.microsoft.com/office/drawing/2014/main" id="{7F7785C4-BEB6-F5FC-D11F-4025C8CA8102}"/>
                </a:ext>
              </a:extLst>
            </p:cNvPr>
            <p:cNvPicPr>
              <a:picLocks noChangeAspect="1"/>
            </p:cNvPicPr>
            <p:nvPr/>
          </p:nvPicPr>
          <p:blipFill>
            <a:blip r:embed="rId4"/>
            <a:stretch>
              <a:fillRect/>
            </a:stretch>
          </p:blipFill>
          <p:spPr>
            <a:xfrm>
              <a:off x="448093" y="3749172"/>
              <a:ext cx="720000" cy="632195"/>
            </a:xfrm>
            <a:prstGeom prst="rect">
              <a:avLst/>
            </a:prstGeom>
          </p:spPr>
        </p:pic>
      </p:grpSp>
      <p:sp>
        <p:nvSpPr>
          <p:cNvPr id="2" name="Footer Placeholder 1">
            <a:extLst>
              <a:ext uri="{FF2B5EF4-FFF2-40B4-BE49-F238E27FC236}">
                <a16:creationId xmlns:a16="http://schemas.microsoft.com/office/drawing/2014/main" id="{D86B6326-AC8D-42E1-EDA9-61EDF4D88B2D}"/>
              </a:ext>
            </a:extLst>
          </p:cNvPr>
          <p:cNvSpPr>
            <a:spLocks noGrp="1"/>
          </p:cNvSpPr>
          <p:nvPr>
            <p:ph type="ftr" sz="quarter" idx="10"/>
          </p:nvPr>
        </p:nvSpPr>
        <p:spPr/>
        <p:txBody>
          <a:bodyPr/>
          <a:lstStyle/>
          <a:p>
            <a:pPr>
              <a:defRPr/>
            </a:pPr>
            <a:r>
              <a:rPr lang="en-US"/>
              <a:t>C. Develder, "AI4E: Data-efficient and scalable algorithmss to exploit energy flexibility"</a:t>
            </a:r>
            <a:endParaRPr lang="en-US" dirty="0"/>
          </a:p>
        </p:txBody>
      </p:sp>
      <p:sp>
        <p:nvSpPr>
          <p:cNvPr id="4" name="Slide Number Placeholder 3">
            <a:extLst>
              <a:ext uri="{FF2B5EF4-FFF2-40B4-BE49-F238E27FC236}">
                <a16:creationId xmlns:a16="http://schemas.microsoft.com/office/drawing/2014/main" id="{F7BDAFE2-5334-678B-7EE5-21297208CE87}"/>
              </a:ext>
            </a:extLst>
          </p:cNvPr>
          <p:cNvSpPr>
            <a:spLocks noGrp="1"/>
          </p:cNvSpPr>
          <p:nvPr>
            <p:ph type="sldNum" sz="quarter" idx="11"/>
          </p:nvPr>
        </p:nvSpPr>
        <p:spPr/>
        <p:txBody>
          <a:bodyPr/>
          <a:lstStyle/>
          <a:p>
            <a:pPr>
              <a:defRPr/>
            </a:pPr>
            <a:fld id="{968663A2-1950-48E6-8399-8A0176E7D7D3}" type="slidenum">
              <a:rPr lang="en-US" smtClean="0"/>
              <a:pPr>
                <a:defRPr/>
              </a:pPr>
              <a:t>5</a:t>
            </a:fld>
            <a:endParaRPr lang="en-US"/>
          </a:p>
        </p:txBody>
      </p:sp>
    </p:spTree>
    <p:extLst>
      <p:ext uri="{BB962C8B-B14F-4D97-AF65-F5344CB8AC3E}">
        <p14:creationId xmlns:p14="http://schemas.microsoft.com/office/powerpoint/2010/main" val="4190175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Horizontal Scroll 8">
            <a:extLst>
              <a:ext uri="{FF2B5EF4-FFF2-40B4-BE49-F238E27FC236}">
                <a16:creationId xmlns:a16="http://schemas.microsoft.com/office/drawing/2014/main" id="{584E670E-2979-3A59-8B91-96BCB12DA82B}"/>
              </a:ext>
            </a:extLst>
          </p:cNvPr>
          <p:cNvSpPr/>
          <p:nvPr/>
        </p:nvSpPr>
        <p:spPr>
          <a:xfrm>
            <a:off x="2998815" y="4297705"/>
            <a:ext cx="6270495" cy="962972"/>
          </a:xfrm>
          <a:prstGeom prst="horizontalScroll">
            <a:avLst>
              <a:gd name="adj" fmla="val 14424"/>
            </a:avLst>
          </a:prstGeom>
          <a:solidFill>
            <a:srgbClr val="FFD34C"/>
          </a:solidFill>
          <a:ln>
            <a:noFill/>
          </a:ln>
        </p:spPr>
        <p:style>
          <a:lnRef idx="1">
            <a:schemeClr val="accent1"/>
          </a:lnRef>
          <a:fillRef idx="3">
            <a:schemeClr val="accent1"/>
          </a:fillRef>
          <a:effectRef idx="2">
            <a:schemeClr val="accent1"/>
          </a:effectRef>
          <a:fontRef idx="minor">
            <a:schemeClr val="lt1"/>
          </a:fontRef>
        </p:style>
        <p:txBody>
          <a:bodyPr tIns="46800" rIns="90000" rtlCol="0" anchor="ctr"/>
          <a:lstStyle/>
          <a:p>
            <a:r>
              <a:rPr lang="en-US" sz="1200" dirty="0">
                <a:solidFill>
                  <a:schemeClr val="accent4">
                    <a:lumMod val="50000"/>
                  </a:schemeClr>
                </a:solidFill>
                <a:latin typeface="UGent Panno Text" charset="0"/>
                <a:ea typeface="UGent Panno Text" charset="0"/>
                <a:cs typeface="UGent Panno Text" charset="0"/>
              </a:rPr>
              <a:t>G. Gokhale, B. </a:t>
            </a:r>
            <a:r>
              <a:rPr lang="en-US" sz="1200" dirty="0" err="1">
                <a:solidFill>
                  <a:schemeClr val="accent4">
                    <a:lumMod val="50000"/>
                  </a:schemeClr>
                </a:solidFill>
                <a:latin typeface="UGent Panno Text" charset="0"/>
                <a:ea typeface="UGent Panno Text" charset="0"/>
                <a:cs typeface="UGent Panno Text" charset="0"/>
              </a:rPr>
              <a:t>Claessens</a:t>
            </a:r>
            <a:r>
              <a:rPr lang="en-US" sz="1200" dirty="0">
                <a:solidFill>
                  <a:schemeClr val="accent4">
                    <a:lumMod val="50000"/>
                  </a:schemeClr>
                </a:solidFill>
                <a:latin typeface="UGent Panno Text" charset="0"/>
                <a:ea typeface="UGent Panno Text" charset="0"/>
                <a:cs typeface="UGent Panno Text" charset="0"/>
              </a:rPr>
              <a:t>, and C. Develder, </a:t>
            </a:r>
            <a:r>
              <a:rPr lang="en-US" sz="1200" b="1" dirty="0">
                <a:solidFill>
                  <a:schemeClr val="accent4">
                    <a:lumMod val="50000"/>
                  </a:schemeClr>
                </a:solidFill>
                <a:latin typeface="UGent Panno Text" charset="0"/>
                <a:ea typeface="UGent Panno Text" charset="0"/>
                <a:cs typeface="UGent Panno Text" charset="0"/>
              </a:rPr>
              <a:t>”</a:t>
            </a:r>
            <a:r>
              <a:rPr lang="en-US" sz="1200" b="1" dirty="0" err="1">
                <a:solidFill>
                  <a:schemeClr val="accent4">
                    <a:lumMod val="50000"/>
                  </a:schemeClr>
                </a:solidFill>
                <a:latin typeface="UGent Panno Text" charset="0"/>
                <a:ea typeface="UGent Panno Text" charset="0"/>
                <a:cs typeface="UGent Panno Text" charset="0"/>
              </a:rPr>
              <a:t>PhysQ</a:t>
            </a:r>
            <a:r>
              <a:rPr lang="en-US" sz="1200" b="1" dirty="0">
                <a:solidFill>
                  <a:schemeClr val="accent4">
                    <a:lumMod val="50000"/>
                  </a:schemeClr>
                </a:solidFill>
                <a:latin typeface="UGent Panno Text" charset="0"/>
                <a:ea typeface="UGent Panno Text" charset="0"/>
                <a:cs typeface="UGent Panno Text" charset="0"/>
              </a:rPr>
              <a:t>: A physics-informed reinforcement learning framework for building controls”</a:t>
            </a:r>
            <a:r>
              <a:rPr lang="en-US" sz="1200" dirty="0">
                <a:solidFill>
                  <a:schemeClr val="accent4">
                    <a:lumMod val="50000"/>
                  </a:schemeClr>
                </a:solidFill>
                <a:latin typeface="UGent Panno Text" charset="0"/>
                <a:ea typeface="UGent Panno Text" charset="0"/>
                <a:cs typeface="UGent Panno Text" charset="0"/>
              </a:rPr>
              <a:t>, </a:t>
            </a:r>
            <a:r>
              <a:rPr lang="en-US" sz="1200" dirty="0" err="1">
                <a:solidFill>
                  <a:schemeClr val="accent4">
                    <a:lumMod val="50000"/>
                  </a:schemeClr>
                </a:solidFill>
                <a:latin typeface="UGent Panno Text" charset="0"/>
                <a:ea typeface="UGent Panno Text" charset="0"/>
                <a:cs typeface="UGent Panno Text" charset="0"/>
              </a:rPr>
              <a:t>Arxiv</a:t>
            </a:r>
            <a:r>
              <a:rPr lang="en-US" sz="1200" dirty="0">
                <a:solidFill>
                  <a:schemeClr val="accent4">
                    <a:lumMod val="50000"/>
                  </a:schemeClr>
                </a:solidFill>
                <a:latin typeface="UGent Panno Text" charset="0"/>
                <a:ea typeface="UGent Panno Text" charset="0"/>
                <a:cs typeface="UGent Panno Text" charset="0"/>
              </a:rPr>
              <a:t> preprint, 21 Nov. 2022, </a:t>
            </a:r>
            <a:r>
              <a:rPr lang="en-US" sz="1200" dirty="0">
                <a:solidFill>
                  <a:schemeClr val="accent4">
                    <a:lumMod val="50000"/>
                  </a:schemeClr>
                </a:solidFill>
                <a:latin typeface="UGent Panno Text" charset="0"/>
                <a:ea typeface="UGent Panno Text" charset="0"/>
                <a:cs typeface="UGent Panno Text" charset="0"/>
                <a:hlinkClick r:id="rId3"/>
              </a:rPr>
              <a:t>arXiv:2211.11830v1</a:t>
            </a:r>
            <a:endParaRPr lang="en-US" sz="1200" dirty="0">
              <a:solidFill>
                <a:schemeClr val="accent4">
                  <a:lumMod val="50000"/>
                </a:schemeClr>
              </a:solidFill>
              <a:latin typeface="UGent Panno Text" charset="0"/>
              <a:ea typeface="UGent Panno Text" charset="0"/>
              <a:cs typeface="UGent Panno Text" charset="0"/>
            </a:endParaRPr>
          </a:p>
        </p:txBody>
      </p:sp>
      <p:sp>
        <p:nvSpPr>
          <p:cNvPr id="6" name="Title 5"/>
          <p:cNvSpPr>
            <a:spLocks noGrp="1"/>
          </p:cNvSpPr>
          <p:nvPr>
            <p:ph type="title"/>
          </p:nvPr>
        </p:nvSpPr>
        <p:spPr>
          <a:xfrm>
            <a:off x="914400" y="2070578"/>
            <a:ext cx="10363200" cy="1238250"/>
          </a:xfrm>
        </p:spPr>
        <p:txBody>
          <a:bodyPr anchor="ctr"/>
          <a:lstStyle/>
          <a:p>
            <a:r>
              <a:rPr lang="en-GB" u="sng" dirty="0"/>
              <a:t>Data-efficient</a:t>
            </a:r>
            <a:r>
              <a:rPr lang="en-GB" dirty="0"/>
              <a:t> learning to control: </a:t>
            </a:r>
            <a:br>
              <a:rPr lang="en-GB" dirty="0"/>
            </a:br>
            <a:r>
              <a:rPr lang="en-GB" dirty="0"/>
              <a:t>Physics-informed RL for residential heat pumps</a:t>
            </a:r>
            <a:endParaRPr lang="nl-BE" sz="3200" u="none" dirty="0"/>
          </a:p>
        </p:txBody>
      </p:sp>
      <p:sp>
        <p:nvSpPr>
          <p:cNvPr id="21" name="Footer Placeholder 20">
            <a:extLst>
              <a:ext uri="{FF2B5EF4-FFF2-40B4-BE49-F238E27FC236}">
                <a16:creationId xmlns:a16="http://schemas.microsoft.com/office/drawing/2014/main" id="{7E1927B9-4DEA-47FD-42B7-6BD96C328F47}"/>
              </a:ext>
            </a:extLst>
          </p:cNvPr>
          <p:cNvSpPr>
            <a:spLocks noGrp="1"/>
          </p:cNvSpPr>
          <p:nvPr>
            <p:ph type="ftr" sz="quarter" idx="10"/>
          </p:nvPr>
        </p:nvSpPr>
        <p:spPr/>
        <p:txBody>
          <a:bodyPr/>
          <a:lstStyle/>
          <a:p>
            <a:pPr>
              <a:defRPr/>
            </a:pPr>
            <a:r>
              <a:rPr lang="en-US"/>
              <a:t>C. Develder, "AI4E: Data-efficient and scalable algorithmss to exploit energy flexibility"</a:t>
            </a:r>
          </a:p>
        </p:txBody>
      </p:sp>
      <p:sp>
        <p:nvSpPr>
          <p:cNvPr id="2" name="TextBox 1">
            <a:extLst>
              <a:ext uri="{FF2B5EF4-FFF2-40B4-BE49-F238E27FC236}">
                <a16:creationId xmlns:a16="http://schemas.microsoft.com/office/drawing/2014/main" id="{557D14CA-1202-11F3-C3D0-6AB4130D166A}"/>
              </a:ext>
            </a:extLst>
          </p:cNvPr>
          <p:cNvSpPr txBox="1"/>
          <p:nvPr/>
        </p:nvSpPr>
        <p:spPr>
          <a:xfrm rot="19968531">
            <a:off x="8575342" y="5468754"/>
            <a:ext cx="864339" cy="542649"/>
          </a:xfrm>
          <a:prstGeom prst="rect">
            <a:avLst/>
          </a:prstGeom>
          <a:noFill/>
        </p:spPr>
        <p:txBody>
          <a:bodyPr wrap="none" rtlCol="0">
            <a:spAutoFit/>
          </a:bodyPr>
          <a:lstStyle/>
          <a:p>
            <a:pPr>
              <a:lnSpc>
                <a:spcPct val="70000"/>
              </a:lnSpc>
            </a:pPr>
            <a:r>
              <a:rPr lang="en-US" sz="2000" dirty="0">
                <a:solidFill>
                  <a:schemeClr val="accent4"/>
                </a:solidFill>
                <a:latin typeface="Caveat" charset="0"/>
                <a:ea typeface="Caveat" charset="0"/>
                <a:cs typeface="Caveat" charset="0"/>
              </a:rPr>
              <a:t>Thanks</a:t>
            </a:r>
          </a:p>
          <a:p>
            <a:pPr>
              <a:lnSpc>
                <a:spcPct val="70000"/>
              </a:lnSpc>
            </a:pPr>
            <a:r>
              <a:rPr lang="en-US" sz="2000" dirty="0">
                <a:solidFill>
                  <a:schemeClr val="accent4"/>
                </a:solidFill>
                <a:latin typeface="Caveat" charset="0"/>
                <a:ea typeface="Caveat" charset="0"/>
                <a:cs typeface="Caveat" charset="0"/>
              </a:rPr>
              <a:t>Gargya!</a:t>
            </a:r>
          </a:p>
        </p:txBody>
      </p:sp>
      <p:sp>
        <p:nvSpPr>
          <p:cNvPr id="3" name="Freeform 2">
            <a:extLst>
              <a:ext uri="{FF2B5EF4-FFF2-40B4-BE49-F238E27FC236}">
                <a16:creationId xmlns:a16="http://schemas.microsoft.com/office/drawing/2014/main" id="{EB030344-C8B2-514D-6CB7-05016E8831D3}"/>
              </a:ext>
            </a:extLst>
          </p:cNvPr>
          <p:cNvSpPr/>
          <p:nvPr/>
        </p:nvSpPr>
        <p:spPr>
          <a:xfrm rot="679189">
            <a:off x="9472081" y="5487066"/>
            <a:ext cx="607162" cy="152644"/>
          </a:xfrm>
          <a:custGeom>
            <a:avLst/>
            <a:gdLst>
              <a:gd name="connsiteX0" fmla="*/ 0 w 607162"/>
              <a:gd name="connsiteY0" fmla="*/ 234087 h 234087"/>
              <a:gd name="connsiteX1" fmla="*/ 256032 w 607162"/>
              <a:gd name="connsiteY1" fmla="*/ 14631 h 234087"/>
              <a:gd name="connsiteX2" fmla="*/ 607162 w 607162"/>
              <a:gd name="connsiteY2" fmla="*/ 0 h 234087"/>
              <a:gd name="connsiteX0" fmla="*/ 0 w 607162"/>
              <a:gd name="connsiteY0" fmla="*/ 240072 h 240072"/>
              <a:gd name="connsiteX1" fmla="*/ 256032 w 607162"/>
              <a:gd name="connsiteY1" fmla="*/ 20616 h 240072"/>
              <a:gd name="connsiteX2" fmla="*/ 607162 w 607162"/>
              <a:gd name="connsiteY2" fmla="*/ 5985 h 240072"/>
              <a:gd name="connsiteX0" fmla="*/ 0 w 607162"/>
              <a:gd name="connsiteY0" fmla="*/ 249592 h 249592"/>
              <a:gd name="connsiteX1" fmla="*/ 256032 w 607162"/>
              <a:gd name="connsiteY1" fmla="*/ 30136 h 249592"/>
              <a:gd name="connsiteX2" fmla="*/ 607162 w 607162"/>
              <a:gd name="connsiteY2" fmla="*/ 15505 h 249592"/>
              <a:gd name="connsiteX0" fmla="*/ 0 w 607162"/>
              <a:gd name="connsiteY0" fmla="*/ 249592 h 249592"/>
              <a:gd name="connsiteX1" fmla="*/ 256032 w 607162"/>
              <a:gd name="connsiteY1" fmla="*/ 30136 h 249592"/>
              <a:gd name="connsiteX2" fmla="*/ 607162 w 607162"/>
              <a:gd name="connsiteY2" fmla="*/ 15505 h 249592"/>
              <a:gd name="connsiteX0" fmla="*/ 0 w 607162"/>
              <a:gd name="connsiteY0" fmla="*/ 249592 h 249592"/>
              <a:gd name="connsiteX1" fmla="*/ 256032 w 607162"/>
              <a:gd name="connsiteY1" fmla="*/ 30136 h 249592"/>
              <a:gd name="connsiteX2" fmla="*/ 607162 w 607162"/>
              <a:gd name="connsiteY2" fmla="*/ 15505 h 249592"/>
              <a:gd name="connsiteX0" fmla="*/ 0 w 607162"/>
              <a:gd name="connsiteY0" fmla="*/ 258833 h 258833"/>
              <a:gd name="connsiteX1" fmla="*/ 256032 w 607162"/>
              <a:gd name="connsiteY1" fmla="*/ 39377 h 258833"/>
              <a:gd name="connsiteX2" fmla="*/ 607162 w 607162"/>
              <a:gd name="connsiteY2" fmla="*/ 24746 h 258833"/>
              <a:gd name="connsiteX0" fmla="*/ 0 w 607162"/>
              <a:gd name="connsiteY0" fmla="*/ 258833 h 258833"/>
              <a:gd name="connsiteX1" fmla="*/ 256032 w 607162"/>
              <a:gd name="connsiteY1" fmla="*/ 39377 h 258833"/>
              <a:gd name="connsiteX2" fmla="*/ 607162 w 607162"/>
              <a:gd name="connsiteY2" fmla="*/ 24746 h 258833"/>
              <a:gd name="connsiteX0" fmla="*/ 0 w 607162"/>
              <a:gd name="connsiteY0" fmla="*/ 257095 h 257095"/>
              <a:gd name="connsiteX1" fmla="*/ 235862 w 607162"/>
              <a:gd name="connsiteY1" fmla="*/ 41001 h 257095"/>
              <a:gd name="connsiteX2" fmla="*/ 607162 w 607162"/>
              <a:gd name="connsiteY2" fmla="*/ 23008 h 257095"/>
              <a:gd name="connsiteX0" fmla="*/ 0 w 607162"/>
              <a:gd name="connsiteY0" fmla="*/ 257095 h 257095"/>
              <a:gd name="connsiteX1" fmla="*/ 235862 w 607162"/>
              <a:gd name="connsiteY1" fmla="*/ 41001 h 257095"/>
              <a:gd name="connsiteX2" fmla="*/ 607162 w 607162"/>
              <a:gd name="connsiteY2" fmla="*/ 23008 h 257095"/>
              <a:gd name="connsiteX0" fmla="*/ 0 w 607162"/>
              <a:gd name="connsiteY0" fmla="*/ 253450 h 253450"/>
              <a:gd name="connsiteX1" fmla="*/ 235862 w 607162"/>
              <a:gd name="connsiteY1" fmla="*/ 37356 h 253450"/>
              <a:gd name="connsiteX2" fmla="*/ 607162 w 607162"/>
              <a:gd name="connsiteY2" fmla="*/ 19363 h 253450"/>
              <a:gd name="connsiteX0" fmla="*/ 0 w 607162"/>
              <a:gd name="connsiteY0" fmla="*/ 253450 h 253450"/>
              <a:gd name="connsiteX1" fmla="*/ 235862 w 607162"/>
              <a:gd name="connsiteY1" fmla="*/ 37356 h 253450"/>
              <a:gd name="connsiteX2" fmla="*/ 607162 w 607162"/>
              <a:gd name="connsiteY2" fmla="*/ 19363 h 253450"/>
            </a:gdLst>
            <a:ahLst/>
            <a:cxnLst>
              <a:cxn ang="0">
                <a:pos x="connsiteX0" y="connsiteY0"/>
              </a:cxn>
              <a:cxn ang="0">
                <a:pos x="connsiteX1" y="connsiteY1"/>
              </a:cxn>
              <a:cxn ang="0">
                <a:pos x="connsiteX2" y="connsiteY2"/>
              </a:cxn>
            </a:cxnLst>
            <a:rect l="l" t="t" r="r" b="b"/>
            <a:pathLst>
              <a:path w="607162" h="253450">
                <a:moveTo>
                  <a:pt x="0" y="253450"/>
                </a:moveTo>
                <a:cubicBezTo>
                  <a:pt x="20286" y="217088"/>
                  <a:pt x="96317" y="98316"/>
                  <a:pt x="235862" y="37356"/>
                </a:cubicBezTo>
                <a:cubicBezTo>
                  <a:pt x="375407" y="-23604"/>
                  <a:pt x="523145" y="5065"/>
                  <a:pt x="607162" y="19363"/>
                </a:cubicBezTo>
              </a:path>
            </a:pathLst>
          </a:custGeom>
          <a:noFill/>
          <a:ln w="12700">
            <a:solidFill>
              <a:schemeClr val="accent4"/>
            </a:solidFill>
            <a:headEnd type="none" w="med" len="med"/>
            <a:tailEnd type="triangl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 name="Picture 3">
            <a:extLst>
              <a:ext uri="{FF2B5EF4-FFF2-40B4-BE49-F238E27FC236}">
                <a16:creationId xmlns:a16="http://schemas.microsoft.com/office/drawing/2014/main" id="{5B90E22E-4F19-E6B8-9C8F-4BAE44AC5FEC}"/>
              </a:ext>
            </a:extLst>
          </p:cNvPr>
          <p:cNvPicPr>
            <a:picLocks noChangeAspect="1"/>
          </p:cNvPicPr>
          <p:nvPr/>
        </p:nvPicPr>
        <p:blipFill rotWithShape="1">
          <a:blip r:embed="rId4"/>
          <a:srcRect l="6972" t="8891" r="2366" b="29083"/>
          <a:stretch/>
        </p:blipFill>
        <p:spPr>
          <a:xfrm rot="20700000">
            <a:off x="10155928" y="5002620"/>
            <a:ext cx="802912" cy="827190"/>
          </a:xfrm>
          <a:prstGeom prst="rect">
            <a:avLst/>
          </a:prstGeom>
          <a:ln>
            <a:noFill/>
          </a:ln>
          <a:effectLst>
            <a:outerShdw blurRad="292100" dist="139700" dir="2700000" algn="tl" rotWithShape="0">
              <a:srgbClr val="333333">
                <a:alpha val="65000"/>
              </a:srgbClr>
            </a:outerShdw>
          </a:effectLst>
        </p:spPr>
      </p:pic>
      <p:sp>
        <p:nvSpPr>
          <p:cNvPr id="8" name="Horizontal Scroll 7">
            <a:extLst>
              <a:ext uri="{FF2B5EF4-FFF2-40B4-BE49-F238E27FC236}">
                <a16:creationId xmlns:a16="http://schemas.microsoft.com/office/drawing/2014/main" id="{C2DDF3D1-BDF8-6690-3F42-C24583E15836}"/>
              </a:ext>
            </a:extLst>
          </p:cNvPr>
          <p:cNvSpPr/>
          <p:nvPr/>
        </p:nvSpPr>
        <p:spPr>
          <a:xfrm>
            <a:off x="2998816" y="3530636"/>
            <a:ext cx="6270495" cy="962972"/>
          </a:xfrm>
          <a:prstGeom prst="horizontalScroll">
            <a:avLst>
              <a:gd name="adj" fmla="val 14424"/>
            </a:avLst>
          </a:prstGeom>
          <a:solidFill>
            <a:srgbClr val="FFD34C"/>
          </a:solidFill>
          <a:ln>
            <a:noFill/>
          </a:ln>
        </p:spPr>
        <p:style>
          <a:lnRef idx="1">
            <a:schemeClr val="accent1"/>
          </a:lnRef>
          <a:fillRef idx="3">
            <a:schemeClr val="accent1"/>
          </a:fillRef>
          <a:effectRef idx="2">
            <a:schemeClr val="accent1"/>
          </a:effectRef>
          <a:fontRef idx="minor">
            <a:schemeClr val="lt1"/>
          </a:fontRef>
        </p:style>
        <p:txBody>
          <a:bodyPr tIns="46800" rIns="90000" rtlCol="0" anchor="ctr"/>
          <a:lstStyle/>
          <a:p>
            <a:r>
              <a:rPr lang="en-US" sz="1200" dirty="0">
                <a:solidFill>
                  <a:schemeClr val="accent4">
                    <a:lumMod val="50000"/>
                  </a:schemeClr>
                </a:solidFill>
                <a:latin typeface="UGent Panno Text" charset="0"/>
                <a:ea typeface="UGent Panno Text" charset="0"/>
                <a:cs typeface="UGent Panno Text" charset="0"/>
              </a:rPr>
              <a:t>G. Gokhale, B. </a:t>
            </a:r>
            <a:r>
              <a:rPr lang="en-US" sz="1200" dirty="0" err="1">
                <a:solidFill>
                  <a:schemeClr val="accent4">
                    <a:lumMod val="50000"/>
                  </a:schemeClr>
                </a:solidFill>
                <a:latin typeface="UGent Panno Text" charset="0"/>
                <a:ea typeface="UGent Panno Text" charset="0"/>
                <a:cs typeface="UGent Panno Text" charset="0"/>
              </a:rPr>
              <a:t>Claessens</a:t>
            </a:r>
            <a:r>
              <a:rPr lang="en-US" sz="1200" dirty="0">
                <a:solidFill>
                  <a:schemeClr val="accent4">
                    <a:lumMod val="50000"/>
                  </a:schemeClr>
                </a:solidFill>
                <a:latin typeface="UGent Panno Text" charset="0"/>
                <a:ea typeface="UGent Panno Text" charset="0"/>
                <a:cs typeface="UGent Panno Text" charset="0"/>
              </a:rPr>
              <a:t>, and C. Develder, </a:t>
            </a:r>
            <a:r>
              <a:rPr lang="en-US" sz="1200" b="1" dirty="0">
                <a:solidFill>
                  <a:schemeClr val="accent4">
                    <a:lumMod val="50000"/>
                  </a:schemeClr>
                </a:solidFill>
                <a:latin typeface="UGent Panno Text" charset="0"/>
                <a:ea typeface="UGent Panno Text" charset="0"/>
                <a:cs typeface="UGent Panno Text" charset="0"/>
              </a:rPr>
              <a:t>”Physics-informed neural networks for control-oriented thermal modeling of buildings”</a:t>
            </a:r>
            <a:r>
              <a:rPr lang="en-US" sz="1200" dirty="0">
                <a:solidFill>
                  <a:schemeClr val="accent4">
                    <a:lumMod val="50000"/>
                  </a:schemeClr>
                </a:solidFill>
                <a:latin typeface="UGent Panno Text" charset="0"/>
                <a:ea typeface="UGent Panno Text" charset="0"/>
                <a:cs typeface="UGent Panno Text" charset="0"/>
              </a:rPr>
              <a:t>, Appl. Energy, Vol. 314, 15 May 2022, pp. 1-10. </a:t>
            </a:r>
            <a:r>
              <a:rPr lang="en-US" sz="1200" dirty="0">
                <a:solidFill>
                  <a:schemeClr val="accent4">
                    <a:lumMod val="50000"/>
                  </a:schemeClr>
                </a:solidFill>
                <a:latin typeface="UGent Panno Text" charset="0"/>
                <a:ea typeface="UGent Panno Text" charset="0"/>
                <a:cs typeface="UGent Panno Text" charset="0"/>
                <a:hlinkClick r:id="rId5"/>
              </a:rPr>
              <a:t>doi:10.1016/j.apenergy.2022.118852</a:t>
            </a:r>
            <a:endParaRPr lang="en-US" sz="1200" dirty="0">
              <a:solidFill>
                <a:schemeClr val="accent4">
                  <a:lumMod val="50000"/>
                </a:schemeClr>
              </a:solidFill>
              <a:latin typeface="UGent Panno Text" charset="0"/>
              <a:ea typeface="UGent Panno Text" charset="0"/>
              <a:cs typeface="UGent Panno Text" charset="0"/>
            </a:endParaRPr>
          </a:p>
        </p:txBody>
      </p:sp>
      <p:sp>
        <p:nvSpPr>
          <p:cNvPr id="5" name="TextBox 4">
            <a:extLst>
              <a:ext uri="{FF2B5EF4-FFF2-40B4-BE49-F238E27FC236}">
                <a16:creationId xmlns:a16="http://schemas.microsoft.com/office/drawing/2014/main" id="{9C2D0630-19DD-BFF4-DE18-60CC2B283CCA}"/>
              </a:ext>
            </a:extLst>
          </p:cNvPr>
          <p:cNvSpPr txBox="1"/>
          <p:nvPr/>
        </p:nvSpPr>
        <p:spPr>
          <a:xfrm>
            <a:off x="5357186" y="764900"/>
            <a:ext cx="2090637" cy="1077218"/>
          </a:xfrm>
          <a:prstGeom prst="rect">
            <a:avLst/>
          </a:prstGeom>
          <a:noFill/>
        </p:spPr>
        <p:txBody>
          <a:bodyPr wrap="none" rtlCol="0">
            <a:spAutoFit/>
          </a:bodyPr>
          <a:lstStyle/>
          <a:p>
            <a:r>
              <a:rPr lang="en-BE" sz="3200" dirty="0">
                <a:solidFill>
                  <a:schemeClr val="bg1"/>
                </a:solidFill>
                <a:latin typeface="+mj-lt"/>
              </a:rPr>
              <a:t>Home Energy</a:t>
            </a:r>
            <a:br>
              <a:rPr lang="en-BE" sz="3200" dirty="0">
                <a:solidFill>
                  <a:schemeClr val="bg1"/>
                </a:solidFill>
                <a:latin typeface="+mj-lt"/>
              </a:rPr>
            </a:br>
            <a:r>
              <a:rPr lang="en-BE" sz="3200" dirty="0">
                <a:solidFill>
                  <a:schemeClr val="bg1"/>
                </a:solidFill>
                <a:latin typeface="+mj-lt"/>
              </a:rPr>
              <a:t>Management</a:t>
            </a:r>
          </a:p>
        </p:txBody>
      </p:sp>
      <p:pic>
        <p:nvPicPr>
          <p:cNvPr id="7" name="Picture 6">
            <a:extLst>
              <a:ext uri="{FF2B5EF4-FFF2-40B4-BE49-F238E27FC236}">
                <a16:creationId xmlns:a16="http://schemas.microsoft.com/office/drawing/2014/main" id="{0B1527CB-5BE3-07FE-0024-936A5D2E198C}"/>
              </a:ext>
            </a:extLst>
          </p:cNvPr>
          <p:cNvPicPr>
            <a:picLocks noChangeAspect="1"/>
          </p:cNvPicPr>
          <p:nvPr/>
        </p:nvPicPr>
        <p:blipFill>
          <a:blip r:embed="rId6"/>
          <a:stretch>
            <a:fillRect/>
          </a:stretch>
        </p:blipFill>
        <p:spPr>
          <a:xfrm>
            <a:off x="4238804" y="783375"/>
            <a:ext cx="1200000" cy="1053659"/>
          </a:xfrm>
          <a:prstGeom prst="rect">
            <a:avLst/>
          </a:prstGeom>
        </p:spPr>
      </p:pic>
      <p:sp>
        <p:nvSpPr>
          <p:cNvPr id="10" name="Slide Number Placeholder 9">
            <a:extLst>
              <a:ext uri="{FF2B5EF4-FFF2-40B4-BE49-F238E27FC236}">
                <a16:creationId xmlns:a16="http://schemas.microsoft.com/office/drawing/2014/main" id="{6811536A-09F9-7371-93FA-738DD525937A}"/>
              </a:ext>
            </a:extLst>
          </p:cNvPr>
          <p:cNvSpPr>
            <a:spLocks noGrp="1"/>
          </p:cNvSpPr>
          <p:nvPr>
            <p:ph type="sldNum" sz="quarter" idx="11"/>
          </p:nvPr>
        </p:nvSpPr>
        <p:spPr/>
        <p:txBody>
          <a:bodyPr/>
          <a:lstStyle/>
          <a:p>
            <a:pPr>
              <a:defRPr/>
            </a:pPr>
            <a:fld id="{837B71E7-1BA8-4BCA-B4F0-4746BEDF418B}" type="slidenum">
              <a:rPr lang="en-US" smtClean="0"/>
              <a:pPr>
                <a:defRPr/>
              </a:pPr>
              <a:t>6</a:t>
            </a:fld>
            <a:endParaRPr lang="en-US"/>
          </a:p>
        </p:txBody>
      </p:sp>
    </p:spTree>
    <p:extLst>
      <p:ext uri="{BB962C8B-B14F-4D97-AF65-F5344CB8AC3E}">
        <p14:creationId xmlns:p14="http://schemas.microsoft.com/office/powerpoint/2010/main" val="101321801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wipe(left)">
                                      <p:cBhvr>
                                        <p:cTn id="7" dur="500"/>
                                        <p:tgtEl>
                                          <p:spTgt spid="8"/>
                                        </p:tgtEl>
                                      </p:cBhvr>
                                    </p:animEffect>
                                  </p:childTnLst>
                                </p:cTn>
                              </p:par>
                              <p:par>
                                <p:cTn id="8" presetID="22" presetClass="entr" presetSubtype="8" fill="hold" grpId="0" nodeType="withEffect">
                                  <p:stCondLst>
                                    <p:cond delay="0"/>
                                  </p:stCondLst>
                                  <p:childTnLst>
                                    <p:set>
                                      <p:cBhvr>
                                        <p:cTn id="9" dur="1" fill="hold">
                                          <p:stCondLst>
                                            <p:cond delay="0"/>
                                          </p:stCondLst>
                                        </p:cTn>
                                        <p:tgtEl>
                                          <p:spTgt spid="9"/>
                                        </p:tgtEl>
                                        <p:attrNameLst>
                                          <p:attrName>style.visibility</p:attrName>
                                        </p:attrNameLst>
                                      </p:cBhvr>
                                      <p:to>
                                        <p:strVal val="visible"/>
                                      </p:to>
                                    </p:set>
                                    <p:animEffect transition="in" filter="wipe(left)">
                                      <p:cBhvr>
                                        <p:cTn id="10" dur="500"/>
                                        <p:tgtEl>
                                          <p:spTgt spid="9"/>
                                        </p:tgtEl>
                                      </p:cBhvr>
                                    </p:animEffect>
                                  </p:childTnLst>
                                </p:cTn>
                              </p:par>
                            </p:childTnLst>
                          </p:cTn>
                        </p:par>
                        <p:par>
                          <p:cTn id="11" fill="hold">
                            <p:stCondLst>
                              <p:cond delay="500"/>
                            </p:stCondLst>
                            <p:childTnLst>
                              <p:par>
                                <p:cTn id="12" presetID="1" presetClass="entr" presetSubtype="0" fill="hold" grpId="0" nodeType="afterEffect">
                                  <p:stCondLst>
                                    <p:cond delay="0"/>
                                  </p:stCondLst>
                                  <p:childTnLst>
                                    <p:set>
                                      <p:cBhvr>
                                        <p:cTn id="13" dur="1" fill="hold">
                                          <p:stCondLst>
                                            <p:cond delay="0"/>
                                          </p:stCondLst>
                                        </p:cTn>
                                        <p:tgtEl>
                                          <p:spTgt spid="3"/>
                                        </p:tgtEl>
                                        <p:attrNameLst>
                                          <p:attrName>style.visibility</p:attrName>
                                        </p:attrNameLst>
                                      </p:cBhvr>
                                      <p:to>
                                        <p:strVal val="visible"/>
                                      </p:to>
                                    </p:set>
                                  </p:childTnLst>
                                </p:cTn>
                              </p:par>
                              <p:par>
                                <p:cTn id="14" presetID="1" presetClass="entr" presetSubtype="0" fill="hold" grpId="0" nodeType="withEffect">
                                  <p:stCondLst>
                                    <p:cond delay="0"/>
                                  </p:stCondLst>
                                  <p:childTnLst>
                                    <p:set>
                                      <p:cBhvr>
                                        <p:cTn id="15" dur="1" fill="hold">
                                          <p:stCondLst>
                                            <p:cond delay="0"/>
                                          </p:stCondLst>
                                        </p:cTn>
                                        <p:tgtEl>
                                          <p:spTgt spid="2"/>
                                        </p:tgtEl>
                                        <p:attrNameLst>
                                          <p:attrName>style.visibility</p:attrName>
                                        </p:attrNameLst>
                                      </p:cBhvr>
                                      <p:to>
                                        <p:strVal val="visible"/>
                                      </p:to>
                                    </p:set>
                                  </p:childTnLst>
                                </p:cTn>
                              </p:par>
                              <p:par>
                                <p:cTn id="16" presetID="1" presetClass="entr" presetSubtype="0" fill="hold" nodeType="withEffect">
                                  <p:stCondLst>
                                    <p:cond delay="0"/>
                                  </p:stCondLst>
                                  <p:childTnLst>
                                    <p:set>
                                      <p:cBhvr>
                                        <p:cTn id="17"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animBg="1"/>
      <p:bldP spid="2" grpId="0"/>
      <p:bldP spid="3" grpId="0" animBg="1"/>
      <p:bldP spid="8" grpId="0" animBg="1"/>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 name="Oval 44">
            <a:extLst>
              <a:ext uri="{FF2B5EF4-FFF2-40B4-BE49-F238E27FC236}">
                <a16:creationId xmlns:a16="http://schemas.microsoft.com/office/drawing/2014/main" id="{40E374CF-FF95-D6F2-DF35-8E04B119395D}"/>
              </a:ext>
            </a:extLst>
          </p:cNvPr>
          <p:cNvSpPr/>
          <p:nvPr/>
        </p:nvSpPr>
        <p:spPr>
          <a:xfrm>
            <a:off x="5341350" y="2566656"/>
            <a:ext cx="219042" cy="219042"/>
          </a:xfrm>
          <a:prstGeom prst="ellipse">
            <a:avLst/>
          </a:prstGeom>
          <a:solidFill>
            <a:schemeClr val="bg1"/>
          </a:solidFill>
          <a:ln>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BE"/>
          </a:p>
        </p:txBody>
      </p:sp>
      <p:sp>
        <p:nvSpPr>
          <p:cNvPr id="46" name="Oval 45">
            <a:extLst>
              <a:ext uri="{FF2B5EF4-FFF2-40B4-BE49-F238E27FC236}">
                <a16:creationId xmlns:a16="http://schemas.microsoft.com/office/drawing/2014/main" id="{2A09A7D3-2288-C804-5E69-80DD95A00B7C}"/>
              </a:ext>
            </a:extLst>
          </p:cNvPr>
          <p:cNvSpPr/>
          <p:nvPr/>
        </p:nvSpPr>
        <p:spPr>
          <a:xfrm>
            <a:off x="5691608" y="2133437"/>
            <a:ext cx="552994" cy="474857"/>
          </a:xfrm>
          <a:prstGeom prst="ellipse">
            <a:avLst/>
          </a:prstGeom>
          <a:solidFill>
            <a:schemeClr val="bg1"/>
          </a:solidFill>
          <a:ln>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BE"/>
          </a:p>
        </p:txBody>
      </p:sp>
      <p:sp>
        <p:nvSpPr>
          <p:cNvPr id="47" name="Oval 46">
            <a:extLst>
              <a:ext uri="{FF2B5EF4-FFF2-40B4-BE49-F238E27FC236}">
                <a16:creationId xmlns:a16="http://schemas.microsoft.com/office/drawing/2014/main" id="{1A226343-E230-E6C6-2F19-50A327ECB1D6}"/>
              </a:ext>
            </a:extLst>
          </p:cNvPr>
          <p:cNvSpPr/>
          <p:nvPr/>
        </p:nvSpPr>
        <p:spPr>
          <a:xfrm>
            <a:off x="6380451" y="2016888"/>
            <a:ext cx="719396" cy="617747"/>
          </a:xfrm>
          <a:prstGeom prst="ellipse">
            <a:avLst/>
          </a:prstGeom>
          <a:solidFill>
            <a:schemeClr val="bg1"/>
          </a:solidFill>
          <a:ln>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BE"/>
          </a:p>
        </p:txBody>
      </p:sp>
      <p:sp>
        <p:nvSpPr>
          <p:cNvPr id="43" name="Cloud 42">
            <a:extLst>
              <a:ext uri="{FF2B5EF4-FFF2-40B4-BE49-F238E27FC236}">
                <a16:creationId xmlns:a16="http://schemas.microsoft.com/office/drawing/2014/main" id="{6798D9C4-0AF2-C9BB-78E5-C1C5A02B75FC}"/>
              </a:ext>
            </a:extLst>
          </p:cNvPr>
          <p:cNvSpPr/>
          <p:nvPr/>
        </p:nvSpPr>
        <p:spPr>
          <a:xfrm rot="217477">
            <a:off x="6033720" y="1992429"/>
            <a:ext cx="5880991" cy="3577935"/>
          </a:xfrm>
          <a:prstGeom prst="cloud">
            <a:avLst/>
          </a:prstGeom>
          <a:solidFill>
            <a:schemeClr val="bg1"/>
          </a:solidFill>
          <a:ln>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BE"/>
          </a:p>
        </p:txBody>
      </p:sp>
      <p:sp>
        <p:nvSpPr>
          <p:cNvPr id="5" name="Title 4">
            <a:extLst>
              <a:ext uri="{FF2B5EF4-FFF2-40B4-BE49-F238E27FC236}">
                <a16:creationId xmlns:a16="http://schemas.microsoft.com/office/drawing/2014/main" id="{815B79F3-D4C5-382E-23D2-8D895567C874}"/>
              </a:ext>
            </a:extLst>
          </p:cNvPr>
          <p:cNvSpPr>
            <a:spLocks noGrp="1"/>
          </p:cNvSpPr>
          <p:nvPr>
            <p:ph type="title"/>
          </p:nvPr>
        </p:nvSpPr>
        <p:spPr/>
        <p:txBody>
          <a:bodyPr/>
          <a:lstStyle/>
          <a:p>
            <a:r>
              <a:rPr lang="en-BE" dirty="0"/>
              <a:t>Reinforcement Learning: Heat pump control</a:t>
            </a:r>
          </a:p>
        </p:txBody>
      </p:sp>
      <p:sp>
        <p:nvSpPr>
          <p:cNvPr id="4" name="Footer Placeholder 3">
            <a:extLst>
              <a:ext uri="{FF2B5EF4-FFF2-40B4-BE49-F238E27FC236}">
                <a16:creationId xmlns:a16="http://schemas.microsoft.com/office/drawing/2014/main" id="{A62718FE-1562-721B-0788-75AED9942C31}"/>
              </a:ext>
            </a:extLst>
          </p:cNvPr>
          <p:cNvSpPr>
            <a:spLocks noGrp="1"/>
          </p:cNvSpPr>
          <p:nvPr>
            <p:ph type="ftr" sz="quarter" idx="10"/>
          </p:nvPr>
        </p:nvSpPr>
        <p:spPr/>
        <p:txBody>
          <a:bodyPr/>
          <a:lstStyle/>
          <a:p>
            <a:pPr>
              <a:defRPr/>
            </a:pPr>
            <a:r>
              <a:rPr lang="en-US"/>
              <a:t>C. Develder, "AI4E: Data-efficient and scalable algorithmss to exploit energy flexibility"</a:t>
            </a:r>
          </a:p>
        </p:txBody>
      </p:sp>
      <p:pic>
        <p:nvPicPr>
          <p:cNvPr id="3" name="Picture 2">
            <a:extLst>
              <a:ext uri="{FF2B5EF4-FFF2-40B4-BE49-F238E27FC236}">
                <a16:creationId xmlns:a16="http://schemas.microsoft.com/office/drawing/2014/main" id="{B79773BD-143A-DD8F-12D0-8F8B77F43EF4}"/>
              </a:ext>
            </a:extLst>
          </p:cNvPr>
          <p:cNvPicPr>
            <a:picLocks noChangeAspect="1"/>
          </p:cNvPicPr>
          <p:nvPr/>
        </p:nvPicPr>
        <p:blipFill>
          <a:blip r:embed="rId3"/>
          <a:stretch>
            <a:fillRect/>
          </a:stretch>
        </p:blipFill>
        <p:spPr>
          <a:xfrm>
            <a:off x="4906296" y="2903708"/>
            <a:ext cx="688109" cy="741040"/>
          </a:xfrm>
          <a:prstGeom prst="rect">
            <a:avLst/>
          </a:prstGeom>
        </p:spPr>
      </p:pic>
      <p:sp>
        <p:nvSpPr>
          <p:cNvPr id="7" name="TextBox 6">
            <a:extLst>
              <a:ext uri="{FF2B5EF4-FFF2-40B4-BE49-F238E27FC236}">
                <a16:creationId xmlns:a16="http://schemas.microsoft.com/office/drawing/2014/main" id="{45A9FAB3-3E10-FEB9-19BD-F4E7268B586D}"/>
              </a:ext>
            </a:extLst>
          </p:cNvPr>
          <p:cNvSpPr txBox="1"/>
          <p:nvPr/>
        </p:nvSpPr>
        <p:spPr>
          <a:xfrm>
            <a:off x="4600975" y="3730566"/>
            <a:ext cx="1298753" cy="830997"/>
          </a:xfrm>
          <a:prstGeom prst="rect">
            <a:avLst/>
          </a:prstGeom>
          <a:noFill/>
        </p:spPr>
        <p:txBody>
          <a:bodyPr wrap="none" rtlCol="0">
            <a:spAutoFit/>
          </a:bodyPr>
          <a:lstStyle/>
          <a:p>
            <a:pPr algn="ctr"/>
            <a:r>
              <a:rPr lang="en-BE" sz="2400" b="1" dirty="0">
                <a:latin typeface="+mn-lt"/>
              </a:rPr>
              <a:t>HEM</a:t>
            </a:r>
          </a:p>
          <a:p>
            <a:pPr algn="ctr"/>
            <a:r>
              <a:rPr lang="en-BE" sz="2400" b="1" dirty="0">
                <a:latin typeface="+mn-lt"/>
              </a:rPr>
              <a:t>controller</a:t>
            </a:r>
          </a:p>
        </p:txBody>
      </p:sp>
      <p:grpSp>
        <p:nvGrpSpPr>
          <p:cNvPr id="54" name="Group 53">
            <a:extLst>
              <a:ext uri="{FF2B5EF4-FFF2-40B4-BE49-F238E27FC236}">
                <a16:creationId xmlns:a16="http://schemas.microsoft.com/office/drawing/2014/main" id="{45E97E14-BEDC-B080-3F91-AA07F86F1A3C}"/>
              </a:ext>
            </a:extLst>
          </p:cNvPr>
          <p:cNvGrpSpPr/>
          <p:nvPr/>
        </p:nvGrpSpPr>
        <p:grpSpPr>
          <a:xfrm>
            <a:off x="7814636" y="3173369"/>
            <a:ext cx="2181308" cy="1259770"/>
            <a:chOff x="7602604" y="3305889"/>
            <a:chExt cx="2181308" cy="1259770"/>
          </a:xfrm>
        </p:grpSpPr>
        <p:grpSp>
          <p:nvGrpSpPr>
            <p:cNvPr id="50" name="Group 49">
              <a:extLst>
                <a:ext uri="{FF2B5EF4-FFF2-40B4-BE49-F238E27FC236}">
                  <a16:creationId xmlns:a16="http://schemas.microsoft.com/office/drawing/2014/main" id="{91F497A1-3A5C-8C6F-33E8-163664659CE1}"/>
                </a:ext>
              </a:extLst>
            </p:cNvPr>
            <p:cNvGrpSpPr/>
            <p:nvPr/>
          </p:nvGrpSpPr>
          <p:grpSpPr>
            <a:xfrm>
              <a:off x="8002355" y="3305889"/>
              <a:ext cx="1366363" cy="1259770"/>
              <a:chOff x="8119062" y="2903708"/>
              <a:chExt cx="2085112" cy="1922448"/>
            </a:xfrm>
          </p:grpSpPr>
          <p:sp>
            <p:nvSpPr>
              <p:cNvPr id="48" name="Rounded Rectangle 47">
                <a:extLst>
                  <a:ext uri="{FF2B5EF4-FFF2-40B4-BE49-F238E27FC236}">
                    <a16:creationId xmlns:a16="http://schemas.microsoft.com/office/drawing/2014/main" id="{B73E027D-7D05-3895-CEC2-FD0F3287B323}"/>
                  </a:ext>
                </a:extLst>
              </p:cNvPr>
              <p:cNvSpPr/>
              <p:nvPr/>
            </p:nvSpPr>
            <p:spPr>
              <a:xfrm>
                <a:off x="8119062" y="2903708"/>
                <a:ext cx="2085112" cy="1922448"/>
              </a:xfrm>
              <a:prstGeom prst="roundRect">
                <a:avLst/>
              </a:prstGeom>
              <a:solidFill>
                <a:schemeClr val="bg1">
                  <a:lumMod val="95000"/>
                </a:schemeClr>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BE"/>
              </a:p>
            </p:txBody>
          </p:sp>
          <p:grpSp>
            <p:nvGrpSpPr>
              <p:cNvPr id="13" name="Group 12">
                <a:extLst>
                  <a:ext uri="{FF2B5EF4-FFF2-40B4-BE49-F238E27FC236}">
                    <a16:creationId xmlns:a16="http://schemas.microsoft.com/office/drawing/2014/main" id="{84024CD5-0BFE-FA2C-0D50-BD1426129D12}"/>
                  </a:ext>
                </a:extLst>
              </p:cNvPr>
              <p:cNvGrpSpPr/>
              <p:nvPr/>
            </p:nvGrpSpPr>
            <p:grpSpPr>
              <a:xfrm>
                <a:off x="8339159" y="3138112"/>
                <a:ext cx="1772251" cy="1473558"/>
                <a:chOff x="6383257" y="1250651"/>
                <a:chExt cx="1974694" cy="1641880"/>
              </a:xfrm>
            </p:grpSpPr>
            <p:sp>
              <p:nvSpPr>
                <p:cNvPr id="14" name="Freeform: Shape 77">
                  <a:extLst>
                    <a:ext uri="{FF2B5EF4-FFF2-40B4-BE49-F238E27FC236}">
                      <a16:creationId xmlns:a16="http://schemas.microsoft.com/office/drawing/2014/main" id="{448B1ABA-7BDF-C7BA-5F9A-EBDAD64FA199}"/>
                    </a:ext>
                  </a:extLst>
                </p:cNvPr>
                <p:cNvSpPr/>
                <p:nvPr/>
              </p:nvSpPr>
              <p:spPr>
                <a:xfrm>
                  <a:off x="6505288" y="1372684"/>
                  <a:ext cx="576876" cy="232968"/>
                </a:xfrm>
                <a:custGeom>
                  <a:avLst/>
                  <a:gdLst>
                    <a:gd name="connsiteX0" fmla="*/ -1 w 309562"/>
                    <a:gd name="connsiteY0" fmla="*/ 125016 h 125015"/>
                    <a:gd name="connsiteX1" fmla="*/ 309562 w 309562"/>
                    <a:gd name="connsiteY1" fmla="*/ 0 h 125015"/>
                  </a:gdLst>
                  <a:ahLst/>
                  <a:cxnLst>
                    <a:cxn ang="0">
                      <a:pos x="connsiteX0" y="connsiteY0"/>
                    </a:cxn>
                    <a:cxn ang="0">
                      <a:pos x="connsiteX1" y="connsiteY1"/>
                    </a:cxn>
                  </a:cxnLst>
                  <a:rect l="l" t="t" r="r" b="b"/>
                  <a:pathLst>
                    <a:path w="309562" h="125015">
                      <a:moveTo>
                        <a:pt x="-1" y="125016"/>
                      </a:moveTo>
                      <a:lnTo>
                        <a:pt x="309562" y="0"/>
                      </a:lnTo>
                    </a:path>
                  </a:pathLst>
                </a:custGeom>
                <a:noFill/>
                <a:ln w="28575" cap="flat">
                  <a:solidFill>
                    <a:srgbClr val="C6C6FF"/>
                  </a:solidFill>
                  <a:prstDash val="solid"/>
                  <a:miter/>
                </a:ln>
              </p:spPr>
              <p:txBody>
                <a:bodyPr rtlCol="0" anchor="ctr"/>
                <a:lstStyle/>
                <a:p>
                  <a:endParaRPr lang="en-US"/>
                </a:p>
              </p:txBody>
            </p:sp>
            <p:sp>
              <p:nvSpPr>
                <p:cNvPr id="15" name="Freeform: Shape 78">
                  <a:extLst>
                    <a:ext uri="{FF2B5EF4-FFF2-40B4-BE49-F238E27FC236}">
                      <a16:creationId xmlns:a16="http://schemas.microsoft.com/office/drawing/2014/main" id="{5706F853-4FDB-9F4C-7F2D-7BD78127B30C}"/>
                    </a:ext>
                  </a:extLst>
                </p:cNvPr>
                <p:cNvSpPr/>
                <p:nvPr/>
              </p:nvSpPr>
              <p:spPr>
                <a:xfrm>
                  <a:off x="6505288" y="1605652"/>
                  <a:ext cx="576876" cy="698907"/>
                </a:xfrm>
                <a:custGeom>
                  <a:avLst/>
                  <a:gdLst>
                    <a:gd name="connsiteX0" fmla="*/ -1 w 309562"/>
                    <a:gd name="connsiteY0" fmla="*/ 0 h 375046"/>
                    <a:gd name="connsiteX1" fmla="*/ 309562 w 309562"/>
                    <a:gd name="connsiteY1" fmla="*/ 375047 h 375046"/>
                  </a:gdLst>
                  <a:ahLst/>
                  <a:cxnLst>
                    <a:cxn ang="0">
                      <a:pos x="connsiteX0" y="connsiteY0"/>
                    </a:cxn>
                    <a:cxn ang="0">
                      <a:pos x="connsiteX1" y="connsiteY1"/>
                    </a:cxn>
                  </a:cxnLst>
                  <a:rect l="l" t="t" r="r" b="b"/>
                  <a:pathLst>
                    <a:path w="309562" h="375046">
                      <a:moveTo>
                        <a:pt x="-1" y="0"/>
                      </a:moveTo>
                      <a:lnTo>
                        <a:pt x="309562" y="375047"/>
                      </a:lnTo>
                    </a:path>
                  </a:pathLst>
                </a:custGeom>
                <a:noFill/>
                <a:ln w="28575" cap="flat">
                  <a:solidFill>
                    <a:srgbClr val="7F7FFF"/>
                  </a:solidFill>
                  <a:prstDash val="solid"/>
                  <a:miter/>
                </a:ln>
              </p:spPr>
              <p:txBody>
                <a:bodyPr rtlCol="0" anchor="ctr"/>
                <a:lstStyle/>
                <a:p>
                  <a:endParaRPr lang="en-US"/>
                </a:p>
              </p:txBody>
            </p:sp>
            <p:sp>
              <p:nvSpPr>
                <p:cNvPr id="16" name="Freeform: Shape 81">
                  <a:extLst>
                    <a:ext uri="{FF2B5EF4-FFF2-40B4-BE49-F238E27FC236}">
                      <a16:creationId xmlns:a16="http://schemas.microsoft.com/office/drawing/2014/main" id="{3DD30720-69F0-B1EB-7FAD-CCE318671F62}"/>
                    </a:ext>
                  </a:extLst>
                </p:cNvPr>
                <p:cNvSpPr/>
                <p:nvPr/>
              </p:nvSpPr>
              <p:spPr>
                <a:xfrm>
                  <a:off x="6505288" y="1838623"/>
                  <a:ext cx="576876" cy="232968"/>
                </a:xfrm>
                <a:custGeom>
                  <a:avLst/>
                  <a:gdLst>
                    <a:gd name="connsiteX0" fmla="*/ -1 w 309562"/>
                    <a:gd name="connsiteY0" fmla="*/ 125016 h 125015"/>
                    <a:gd name="connsiteX1" fmla="*/ 309562 w 309562"/>
                    <a:gd name="connsiteY1" fmla="*/ 0 h 125015"/>
                  </a:gdLst>
                  <a:ahLst/>
                  <a:cxnLst>
                    <a:cxn ang="0">
                      <a:pos x="connsiteX0" y="connsiteY0"/>
                    </a:cxn>
                    <a:cxn ang="0">
                      <a:pos x="connsiteX1" y="connsiteY1"/>
                    </a:cxn>
                  </a:cxnLst>
                  <a:rect l="l" t="t" r="r" b="b"/>
                  <a:pathLst>
                    <a:path w="309562" h="125015">
                      <a:moveTo>
                        <a:pt x="-1" y="125016"/>
                      </a:moveTo>
                      <a:lnTo>
                        <a:pt x="309562" y="0"/>
                      </a:lnTo>
                    </a:path>
                  </a:pathLst>
                </a:custGeom>
                <a:noFill/>
                <a:ln w="28575" cap="flat">
                  <a:solidFill>
                    <a:srgbClr val="8A8AFF"/>
                  </a:solidFill>
                  <a:prstDash val="solid"/>
                  <a:miter/>
                </a:ln>
              </p:spPr>
              <p:txBody>
                <a:bodyPr rtlCol="0" anchor="ctr"/>
                <a:lstStyle/>
                <a:p>
                  <a:endParaRPr lang="en-US"/>
                </a:p>
              </p:txBody>
            </p:sp>
            <p:sp>
              <p:nvSpPr>
                <p:cNvPr id="17" name="Freeform: Shape 82">
                  <a:extLst>
                    <a:ext uri="{FF2B5EF4-FFF2-40B4-BE49-F238E27FC236}">
                      <a16:creationId xmlns:a16="http://schemas.microsoft.com/office/drawing/2014/main" id="{DCD1400C-11E2-09AF-630D-5FDB88FD5EEF}"/>
                    </a:ext>
                  </a:extLst>
                </p:cNvPr>
                <p:cNvSpPr/>
                <p:nvPr/>
              </p:nvSpPr>
              <p:spPr>
                <a:xfrm>
                  <a:off x="6505288" y="2071593"/>
                  <a:ext cx="576876" cy="232968"/>
                </a:xfrm>
                <a:custGeom>
                  <a:avLst/>
                  <a:gdLst>
                    <a:gd name="connsiteX0" fmla="*/ -1 w 309562"/>
                    <a:gd name="connsiteY0" fmla="*/ 0 h 125015"/>
                    <a:gd name="connsiteX1" fmla="*/ 309562 w 309562"/>
                    <a:gd name="connsiteY1" fmla="*/ 125016 h 125015"/>
                  </a:gdLst>
                  <a:ahLst/>
                  <a:cxnLst>
                    <a:cxn ang="0">
                      <a:pos x="connsiteX0" y="connsiteY0"/>
                    </a:cxn>
                    <a:cxn ang="0">
                      <a:pos x="connsiteX1" y="connsiteY1"/>
                    </a:cxn>
                  </a:cxnLst>
                  <a:rect l="l" t="t" r="r" b="b"/>
                  <a:pathLst>
                    <a:path w="309562" h="125015">
                      <a:moveTo>
                        <a:pt x="-1" y="0"/>
                      </a:moveTo>
                      <a:lnTo>
                        <a:pt x="309562" y="125016"/>
                      </a:lnTo>
                    </a:path>
                  </a:pathLst>
                </a:custGeom>
                <a:noFill/>
                <a:ln w="28575" cap="flat">
                  <a:solidFill>
                    <a:srgbClr val="2828FF"/>
                  </a:solidFill>
                  <a:prstDash val="solid"/>
                  <a:miter/>
                </a:ln>
              </p:spPr>
              <p:txBody>
                <a:bodyPr rtlCol="0" anchor="ctr"/>
                <a:lstStyle/>
                <a:p>
                  <a:endParaRPr lang="en-US"/>
                </a:p>
              </p:txBody>
            </p:sp>
            <p:sp>
              <p:nvSpPr>
                <p:cNvPr id="18" name="Freeform: Shape 83">
                  <a:extLst>
                    <a:ext uri="{FF2B5EF4-FFF2-40B4-BE49-F238E27FC236}">
                      <a16:creationId xmlns:a16="http://schemas.microsoft.com/office/drawing/2014/main" id="{2A1FE32A-AA74-3CBD-5684-F6E9FAE72A7D}"/>
                    </a:ext>
                  </a:extLst>
                </p:cNvPr>
                <p:cNvSpPr/>
                <p:nvPr/>
              </p:nvSpPr>
              <p:spPr>
                <a:xfrm>
                  <a:off x="6505288" y="2071593"/>
                  <a:ext cx="576876" cy="698907"/>
                </a:xfrm>
                <a:custGeom>
                  <a:avLst/>
                  <a:gdLst>
                    <a:gd name="connsiteX0" fmla="*/ -1 w 309562"/>
                    <a:gd name="connsiteY0" fmla="*/ 0 h 375046"/>
                    <a:gd name="connsiteX1" fmla="*/ 309562 w 309562"/>
                    <a:gd name="connsiteY1" fmla="*/ 375047 h 375046"/>
                  </a:gdLst>
                  <a:ahLst/>
                  <a:cxnLst>
                    <a:cxn ang="0">
                      <a:pos x="connsiteX0" y="connsiteY0"/>
                    </a:cxn>
                    <a:cxn ang="0">
                      <a:pos x="connsiteX1" y="connsiteY1"/>
                    </a:cxn>
                  </a:cxnLst>
                  <a:rect l="l" t="t" r="r" b="b"/>
                  <a:pathLst>
                    <a:path w="309562" h="375046">
                      <a:moveTo>
                        <a:pt x="-1" y="0"/>
                      </a:moveTo>
                      <a:lnTo>
                        <a:pt x="309562" y="375047"/>
                      </a:lnTo>
                    </a:path>
                  </a:pathLst>
                </a:custGeom>
                <a:noFill/>
                <a:ln w="28575" cap="flat">
                  <a:solidFill>
                    <a:srgbClr val="FFA2A2"/>
                  </a:solidFill>
                  <a:prstDash val="solid"/>
                  <a:miter/>
                </a:ln>
              </p:spPr>
              <p:txBody>
                <a:bodyPr rtlCol="0" anchor="ctr"/>
                <a:lstStyle/>
                <a:p>
                  <a:endParaRPr lang="en-US"/>
                </a:p>
              </p:txBody>
            </p:sp>
            <p:sp>
              <p:nvSpPr>
                <p:cNvPr id="19" name="Freeform: Shape 84">
                  <a:extLst>
                    <a:ext uri="{FF2B5EF4-FFF2-40B4-BE49-F238E27FC236}">
                      <a16:creationId xmlns:a16="http://schemas.microsoft.com/office/drawing/2014/main" id="{1326F330-1991-58C8-1A72-F5B257AB2332}"/>
                    </a:ext>
                  </a:extLst>
                </p:cNvPr>
                <p:cNvSpPr/>
                <p:nvPr/>
              </p:nvSpPr>
              <p:spPr>
                <a:xfrm>
                  <a:off x="6505288" y="2304561"/>
                  <a:ext cx="576876" cy="232968"/>
                </a:xfrm>
                <a:custGeom>
                  <a:avLst/>
                  <a:gdLst>
                    <a:gd name="connsiteX0" fmla="*/ -1 w 309562"/>
                    <a:gd name="connsiteY0" fmla="*/ 125016 h 125015"/>
                    <a:gd name="connsiteX1" fmla="*/ 309562 w 309562"/>
                    <a:gd name="connsiteY1" fmla="*/ 0 h 125015"/>
                  </a:gdLst>
                  <a:ahLst/>
                  <a:cxnLst>
                    <a:cxn ang="0">
                      <a:pos x="connsiteX0" y="connsiteY0"/>
                    </a:cxn>
                    <a:cxn ang="0">
                      <a:pos x="connsiteX1" y="connsiteY1"/>
                    </a:cxn>
                  </a:cxnLst>
                  <a:rect l="l" t="t" r="r" b="b"/>
                  <a:pathLst>
                    <a:path w="309562" h="125015">
                      <a:moveTo>
                        <a:pt x="-1" y="125016"/>
                      </a:moveTo>
                      <a:lnTo>
                        <a:pt x="309562" y="0"/>
                      </a:lnTo>
                    </a:path>
                  </a:pathLst>
                </a:custGeom>
                <a:noFill/>
                <a:ln w="28575" cap="flat">
                  <a:solidFill>
                    <a:srgbClr val="ACACFF"/>
                  </a:solidFill>
                  <a:prstDash val="solid"/>
                  <a:miter/>
                </a:ln>
              </p:spPr>
              <p:txBody>
                <a:bodyPr rtlCol="0" anchor="ctr"/>
                <a:lstStyle/>
                <a:p>
                  <a:endParaRPr lang="en-US"/>
                </a:p>
              </p:txBody>
            </p:sp>
            <p:sp>
              <p:nvSpPr>
                <p:cNvPr id="20" name="Freeform: Shape 85">
                  <a:extLst>
                    <a:ext uri="{FF2B5EF4-FFF2-40B4-BE49-F238E27FC236}">
                      <a16:creationId xmlns:a16="http://schemas.microsoft.com/office/drawing/2014/main" id="{2752C713-A536-7586-B8AD-A5ABF9AEC38A}"/>
                    </a:ext>
                  </a:extLst>
                </p:cNvPr>
                <p:cNvSpPr/>
                <p:nvPr/>
              </p:nvSpPr>
              <p:spPr>
                <a:xfrm>
                  <a:off x="6505288" y="2537532"/>
                  <a:ext cx="576876" cy="232968"/>
                </a:xfrm>
                <a:custGeom>
                  <a:avLst/>
                  <a:gdLst>
                    <a:gd name="connsiteX0" fmla="*/ -1 w 309562"/>
                    <a:gd name="connsiteY0" fmla="*/ 0 h 125015"/>
                    <a:gd name="connsiteX1" fmla="*/ 309562 w 309562"/>
                    <a:gd name="connsiteY1" fmla="*/ 125016 h 125015"/>
                  </a:gdLst>
                  <a:ahLst/>
                  <a:cxnLst>
                    <a:cxn ang="0">
                      <a:pos x="connsiteX0" y="connsiteY0"/>
                    </a:cxn>
                    <a:cxn ang="0">
                      <a:pos x="connsiteX1" y="connsiteY1"/>
                    </a:cxn>
                  </a:cxnLst>
                  <a:rect l="l" t="t" r="r" b="b"/>
                  <a:pathLst>
                    <a:path w="309562" h="125015">
                      <a:moveTo>
                        <a:pt x="-1" y="0"/>
                      </a:moveTo>
                      <a:lnTo>
                        <a:pt x="309562" y="125016"/>
                      </a:lnTo>
                    </a:path>
                  </a:pathLst>
                </a:custGeom>
                <a:noFill/>
                <a:ln w="28575" cap="flat">
                  <a:solidFill>
                    <a:srgbClr val="FF8D8D"/>
                  </a:solidFill>
                  <a:prstDash val="solid"/>
                  <a:miter/>
                </a:ln>
              </p:spPr>
              <p:txBody>
                <a:bodyPr rtlCol="0" anchor="ctr"/>
                <a:lstStyle/>
                <a:p>
                  <a:endParaRPr lang="en-US"/>
                </a:p>
              </p:txBody>
            </p:sp>
            <p:sp>
              <p:nvSpPr>
                <p:cNvPr id="21" name="Freeform: Shape 86">
                  <a:extLst>
                    <a:ext uri="{FF2B5EF4-FFF2-40B4-BE49-F238E27FC236}">
                      <a16:creationId xmlns:a16="http://schemas.microsoft.com/office/drawing/2014/main" id="{8B44D0E2-741F-6EF6-C89D-6BE56D00F637}"/>
                    </a:ext>
                  </a:extLst>
                </p:cNvPr>
                <p:cNvSpPr/>
                <p:nvPr/>
              </p:nvSpPr>
              <p:spPr>
                <a:xfrm>
                  <a:off x="7082166" y="1372684"/>
                  <a:ext cx="576876" cy="232968"/>
                </a:xfrm>
                <a:custGeom>
                  <a:avLst/>
                  <a:gdLst>
                    <a:gd name="connsiteX0" fmla="*/ -1 w 309562"/>
                    <a:gd name="connsiteY0" fmla="*/ 0 h 125015"/>
                    <a:gd name="connsiteX1" fmla="*/ 309562 w 309562"/>
                    <a:gd name="connsiteY1" fmla="*/ 125016 h 125015"/>
                  </a:gdLst>
                  <a:ahLst/>
                  <a:cxnLst>
                    <a:cxn ang="0">
                      <a:pos x="connsiteX0" y="connsiteY0"/>
                    </a:cxn>
                    <a:cxn ang="0">
                      <a:pos x="connsiteX1" y="connsiteY1"/>
                    </a:cxn>
                  </a:cxnLst>
                  <a:rect l="l" t="t" r="r" b="b"/>
                  <a:pathLst>
                    <a:path w="309562" h="125015">
                      <a:moveTo>
                        <a:pt x="-1" y="0"/>
                      </a:moveTo>
                      <a:lnTo>
                        <a:pt x="309562" y="125016"/>
                      </a:lnTo>
                    </a:path>
                  </a:pathLst>
                </a:custGeom>
                <a:noFill/>
                <a:ln w="28575" cap="flat">
                  <a:solidFill>
                    <a:srgbClr val="FF4747"/>
                  </a:solidFill>
                  <a:prstDash val="solid"/>
                  <a:miter/>
                </a:ln>
              </p:spPr>
              <p:txBody>
                <a:bodyPr rtlCol="0" anchor="ctr"/>
                <a:lstStyle/>
                <a:p>
                  <a:endParaRPr lang="en-US"/>
                </a:p>
              </p:txBody>
            </p:sp>
            <p:sp>
              <p:nvSpPr>
                <p:cNvPr id="22" name="Freeform: Shape 87">
                  <a:extLst>
                    <a:ext uri="{FF2B5EF4-FFF2-40B4-BE49-F238E27FC236}">
                      <a16:creationId xmlns:a16="http://schemas.microsoft.com/office/drawing/2014/main" id="{3E1EC15C-D9AA-B635-0B6F-617D05259ED3}"/>
                    </a:ext>
                  </a:extLst>
                </p:cNvPr>
                <p:cNvSpPr/>
                <p:nvPr/>
              </p:nvSpPr>
              <p:spPr>
                <a:xfrm>
                  <a:off x="7082166" y="1372684"/>
                  <a:ext cx="576876" cy="698907"/>
                </a:xfrm>
                <a:custGeom>
                  <a:avLst/>
                  <a:gdLst>
                    <a:gd name="connsiteX0" fmla="*/ -1 w 309562"/>
                    <a:gd name="connsiteY0" fmla="*/ 0 h 375046"/>
                    <a:gd name="connsiteX1" fmla="*/ 309562 w 309562"/>
                    <a:gd name="connsiteY1" fmla="*/ 375047 h 375046"/>
                  </a:gdLst>
                  <a:ahLst/>
                  <a:cxnLst>
                    <a:cxn ang="0">
                      <a:pos x="connsiteX0" y="connsiteY0"/>
                    </a:cxn>
                    <a:cxn ang="0">
                      <a:pos x="connsiteX1" y="connsiteY1"/>
                    </a:cxn>
                  </a:cxnLst>
                  <a:rect l="l" t="t" r="r" b="b"/>
                  <a:pathLst>
                    <a:path w="309562" h="375046">
                      <a:moveTo>
                        <a:pt x="-1" y="0"/>
                      </a:moveTo>
                      <a:lnTo>
                        <a:pt x="309562" y="375047"/>
                      </a:lnTo>
                    </a:path>
                  </a:pathLst>
                </a:custGeom>
                <a:noFill/>
                <a:ln w="28575" cap="flat">
                  <a:solidFill>
                    <a:srgbClr val="FF0C0C"/>
                  </a:solidFill>
                  <a:prstDash val="solid"/>
                  <a:miter/>
                </a:ln>
              </p:spPr>
              <p:txBody>
                <a:bodyPr rtlCol="0" anchor="ctr"/>
                <a:lstStyle/>
                <a:p>
                  <a:endParaRPr lang="en-US"/>
                </a:p>
              </p:txBody>
            </p:sp>
            <p:sp>
              <p:nvSpPr>
                <p:cNvPr id="23" name="Freeform: Shape 88">
                  <a:extLst>
                    <a:ext uri="{FF2B5EF4-FFF2-40B4-BE49-F238E27FC236}">
                      <a16:creationId xmlns:a16="http://schemas.microsoft.com/office/drawing/2014/main" id="{9E684B1F-2911-F907-35E6-F6057D156CB4}"/>
                    </a:ext>
                  </a:extLst>
                </p:cNvPr>
                <p:cNvSpPr/>
                <p:nvPr/>
              </p:nvSpPr>
              <p:spPr>
                <a:xfrm>
                  <a:off x="7082166" y="1605652"/>
                  <a:ext cx="576876" cy="232968"/>
                </a:xfrm>
                <a:custGeom>
                  <a:avLst/>
                  <a:gdLst>
                    <a:gd name="connsiteX0" fmla="*/ -1 w 309562"/>
                    <a:gd name="connsiteY0" fmla="*/ 125016 h 125015"/>
                    <a:gd name="connsiteX1" fmla="*/ 309562 w 309562"/>
                    <a:gd name="connsiteY1" fmla="*/ 0 h 125015"/>
                  </a:gdLst>
                  <a:ahLst/>
                  <a:cxnLst>
                    <a:cxn ang="0">
                      <a:pos x="connsiteX0" y="connsiteY0"/>
                    </a:cxn>
                    <a:cxn ang="0">
                      <a:pos x="connsiteX1" y="connsiteY1"/>
                    </a:cxn>
                  </a:cxnLst>
                  <a:rect l="l" t="t" r="r" b="b"/>
                  <a:pathLst>
                    <a:path w="309562" h="125015">
                      <a:moveTo>
                        <a:pt x="-1" y="125016"/>
                      </a:moveTo>
                      <a:lnTo>
                        <a:pt x="309562" y="0"/>
                      </a:lnTo>
                    </a:path>
                  </a:pathLst>
                </a:custGeom>
                <a:noFill/>
                <a:ln w="28575" cap="flat">
                  <a:solidFill>
                    <a:srgbClr val="9393FF"/>
                  </a:solidFill>
                  <a:prstDash val="solid"/>
                  <a:miter/>
                </a:ln>
              </p:spPr>
              <p:txBody>
                <a:bodyPr rtlCol="0" anchor="ctr"/>
                <a:lstStyle/>
                <a:p>
                  <a:endParaRPr lang="en-US"/>
                </a:p>
              </p:txBody>
            </p:sp>
            <p:sp>
              <p:nvSpPr>
                <p:cNvPr id="24" name="Freeform: Shape 89">
                  <a:extLst>
                    <a:ext uri="{FF2B5EF4-FFF2-40B4-BE49-F238E27FC236}">
                      <a16:creationId xmlns:a16="http://schemas.microsoft.com/office/drawing/2014/main" id="{B8A63F9C-EC0A-92F9-2A3B-AEACD6E4D09F}"/>
                    </a:ext>
                  </a:extLst>
                </p:cNvPr>
                <p:cNvSpPr/>
                <p:nvPr/>
              </p:nvSpPr>
              <p:spPr>
                <a:xfrm>
                  <a:off x="7082166" y="1838623"/>
                  <a:ext cx="576876" cy="232968"/>
                </a:xfrm>
                <a:custGeom>
                  <a:avLst/>
                  <a:gdLst>
                    <a:gd name="connsiteX0" fmla="*/ -1 w 309562"/>
                    <a:gd name="connsiteY0" fmla="*/ 0 h 125015"/>
                    <a:gd name="connsiteX1" fmla="*/ 309562 w 309562"/>
                    <a:gd name="connsiteY1" fmla="*/ 125016 h 125015"/>
                  </a:gdLst>
                  <a:ahLst/>
                  <a:cxnLst>
                    <a:cxn ang="0">
                      <a:pos x="connsiteX0" y="connsiteY0"/>
                    </a:cxn>
                    <a:cxn ang="0">
                      <a:pos x="connsiteX1" y="connsiteY1"/>
                    </a:cxn>
                  </a:cxnLst>
                  <a:rect l="l" t="t" r="r" b="b"/>
                  <a:pathLst>
                    <a:path w="309562" h="125015">
                      <a:moveTo>
                        <a:pt x="-1" y="0"/>
                      </a:moveTo>
                      <a:lnTo>
                        <a:pt x="309562" y="125016"/>
                      </a:lnTo>
                    </a:path>
                  </a:pathLst>
                </a:custGeom>
                <a:noFill/>
                <a:ln w="28575" cap="flat">
                  <a:solidFill>
                    <a:srgbClr val="FFBDBD"/>
                  </a:solidFill>
                  <a:prstDash val="solid"/>
                  <a:miter/>
                </a:ln>
              </p:spPr>
              <p:txBody>
                <a:bodyPr rtlCol="0" anchor="ctr"/>
                <a:lstStyle/>
                <a:p>
                  <a:endParaRPr lang="en-US"/>
                </a:p>
              </p:txBody>
            </p:sp>
            <p:sp>
              <p:nvSpPr>
                <p:cNvPr id="25" name="Freeform: Shape 90">
                  <a:extLst>
                    <a:ext uri="{FF2B5EF4-FFF2-40B4-BE49-F238E27FC236}">
                      <a16:creationId xmlns:a16="http://schemas.microsoft.com/office/drawing/2014/main" id="{851AA890-2593-C00D-E7EE-7C7D02E7E5D9}"/>
                    </a:ext>
                  </a:extLst>
                </p:cNvPr>
                <p:cNvSpPr/>
                <p:nvPr/>
              </p:nvSpPr>
              <p:spPr>
                <a:xfrm>
                  <a:off x="7082166" y="1605652"/>
                  <a:ext cx="576876" cy="698907"/>
                </a:xfrm>
                <a:custGeom>
                  <a:avLst/>
                  <a:gdLst>
                    <a:gd name="connsiteX0" fmla="*/ -1 w 309562"/>
                    <a:gd name="connsiteY0" fmla="*/ 375047 h 375046"/>
                    <a:gd name="connsiteX1" fmla="*/ 309562 w 309562"/>
                    <a:gd name="connsiteY1" fmla="*/ 0 h 375046"/>
                  </a:gdLst>
                  <a:ahLst/>
                  <a:cxnLst>
                    <a:cxn ang="0">
                      <a:pos x="connsiteX0" y="connsiteY0"/>
                    </a:cxn>
                    <a:cxn ang="0">
                      <a:pos x="connsiteX1" y="connsiteY1"/>
                    </a:cxn>
                  </a:cxnLst>
                  <a:rect l="l" t="t" r="r" b="b"/>
                  <a:pathLst>
                    <a:path w="309562" h="375046">
                      <a:moveTo>
                        <a:pt x="-1" y="375047"/>
                      </a:moveTo>
                      <a:lnTo>
                        <a:pt x="309562" y="0"/>
                      </a:lnTo>
                    </a:path>
                  </a:pathLst>
                </a:custGeom>
                <a:noFill/>
                <a:ln w="28575" cap="flat">
                  <a:solidFill>
                    <a:srgbClr val="3131FF"/>
                  </a:solidFill>
                  <a:prstDash val="solid"/>
                  <a:miter/>
                </a:ln>
              </p:spPr>
              <p:txBody>
                <a:bodyPr rtlCol="0" anchor="ctr"/>
                <a:lstStyle/>
                <a:p>
                  <a:endParaRPr lang="en-US"/>
                </a:p>
              </p:txBody>
            </p:sp>
            <p:sp>
              <p:nvSpPr>
                <p:cNvPr id="26" name="Freeform: Shape 91">
                  <a:extLst>
                    <a:ext uri="{FF2B5EF4-FFF2-40B4-BE49-F238E27FC236}">
                      <a16:creationId xmlns:a16="http://schemas.microsoft.com/office/drawing/2014/main" id="{7FF2FC31-205B-3FF6-ABE4-64879C416A0E}"/>
                    </a:ext>
                  </a:extLst>
                </p:cNvPr>
                <p:cNvSpPr/>
                <p:nvPr/>
              </p:nvSpPr>
              <p:spPr>
                <a:xfrm>
                  <a:off x="7082166" y="2071593"/>
                  <a:ext cx="576876" cy="232968"/>
                </a:xfrm>
                <a:custGeom>
                  <a:avLst/>
                  <a:gdLst>
                    <a:gd name="connsiteX0" fmla="*/ -1 w 309562"/>
                    <a:gd name="connsiteY0" fmla="*/ 125016 h 125015"/>
                    <a:gd name="connsiteX1" fmla="*/ 309562 w 309562"/>
                    <a:gd name="connsiteY1" fmla="*/ 0 h 125015"/>
                  </a:gdLst>
                  <a:ahLst/>
                  <a:cxnLst>
                    <a:cxn ang="0">
                      <a:pos x="connsiteX0" y="connsiteY0"/>
                    </a:cxn>
                    <a:cxn ang="0">
                      <a:pos x="connsiteX1" y="connsiteY1"/>
                    </a:cxn>
                  </a:cxnLst>
                  <a:rect l="l" t="t" r="r" b="b"/>
                  <a:pathLst>
                    <a:path w="309562" h="125015">
                      <a:moveTo>
                        <a:pt x="-1" y="125016"/>
                      </a:moveTo>
                      <a:lnTo>
                        <a:pt x="309562" y="0"/>
                      </a:lnTo>
                    </a:path>
                  </a:pathLst>
                </a:custGeom>
                <a:noFill/>
                <a:ln w="28575" cap="flat">
                  <a:solidFill>
                    <a:srgbClr val="9C9CFF"/>
                  </a:solidFill>
                  <a:prstDash val="solid"/>
                  <a:miter/>
                </a:ln>
              </p:spPr>
              <p:txBody>
                <a:bodyPr rtlCol="0" anchor="ctr"/>
                <a:lstStyle/>
                <a:p>
                  <a:endParaRPr lang="en-US"/>
                </a:p>
              </p:txBody>
            </p:sp>
            <p:sp>
              <p:nvSpPr>
                <p:cNvPr id="27" name="Freeform: Shape 92">
                  <a:extLst>
                    <a:ext uri="{FF2B5EF4-FFF2-40B4-BE49-F238E27FC236}">
                      <a16:creationId xmlns:a16="http://schemas.microsoft.com/office/drawing/2014/main" id="{E31E82B4-A6F5-1FB6-75D0-E7CEE8F7F47D}"/>
                    </a:ext>
                  </a:extLst>
                </p:cNvPr>
                <p:cNvSpPr/>
                <p:nvPr/>
              </p:nvSpPr>
              <p:spPr>
                <a:xfrm>
                  <a:off x="7659042" y="1605652"/>
                  <a:ext cx="576876" cy="465939"/>
                </a:xfrm>
                <a:custGeom>
                  <a:avLst/>
                  <a:gdLst>
                    <a:gd name="connsiteX0" fmla="*/ -1 w 309562"/>
                    <a:gd name="connsiteY0" fmla="*/ 0 h 250031"/>
                    <a:gd name="connsiteX1" fmla="*/ 309562 w 309562"/>
                    <a:gd name="connsiteY1" fmla="*/ 250031 h 250031"/>
                  </a:gdLst>
                  <a:ahLst/>
                  <a:cxnLst>
                    <a:cxn ang="0">
                      <a:pos x="connsiteX0" y="connsiteY0"/>
                    </a:cxn>
                    <a:cxn ang="0">
                      <a:pos x="connsiteX1" y="connsiteY1"/>
                    </a:cxn>
                  </a:cxnLst>
                  <a:rect l="l" t="t" r="r" b="b"/>
                  <a:pathLst>
                    <a:path w="309562" h="250031">
                      <a:moveTo>
                        <a:pt x="-1" y="0"/>
                      </a:moveTo>
                      <a:lnTo>
                        <a:pt x="309562" y="250031"/>
                      </a:lnTo>
                    </a:path>
                  </a:pathLst>
                </a:custGeom>
                <a:noFill/>
                <a:ln w="28575" cap="flat">
                  <a:solidFill>
                    <a:srgbClr val="FF7474"/>
                  </a:solidFill>
                  <a:prstDash val="solid"/>
                  <a:miter/>
                </a:ln>
              </p:spPr>
              <p:txBody>
                <a:bodyPr rtlCol="0" anchor="ctr"/>
                <a:lstStyle/>
                <a:p>
                  <a:endParaRPr lang="en-US"/>
                </a:p>
              </p:txBody>
            </p:sp>
            <p:sp>
              <p:nvSpPr>
                <p:cNvPr id="28" name="Freeform: Shape 93">
                  <a:extLst>
                    <a:ext uri="{FF2B5EF4-FFF2-40B4-BE49-F238E27FC236}">
                      <a16:creationId xmlns:a16="http://schemas.microsoft.com/office/drawing/2014/main" id="{7B858AEA-E6A5-FE2B-0170-C40C842F68A2}"/>
                    </a:ext>
                  </a:extLst>
                </p:cNvPr>
                <p:cNvSpPr/>
                <p:nvPr/>
              </p:nvSpPr>
              <p:spPr>
                <a:xfrm>
                  <a:off x="7659042" y="2071593"/>
                  <a:ext cx="576876" cy="11094"/>
                </a:xfrm>
                <a:custGeom>
                  <a:avLst/>
                  <a:gdLst>
                    <a:gd name="connsiteX0" fmla="*/ -1 w 309562"/>
                    <a:gd name="connsiteY0" fmla="*/ 0 h 5953"/>
                    <a:gd name="connsiteX1" fmla="*/ 309562 w 309562"/>
                    <a:gd name="connsiteY1" fmla="*/ 0 h 5953"/>
                  </a:gdLst>
                  <a:ahLst/>
                  <a:cxnLst>
                    <a:cxn ang="0">
                      <a:pos x="connsiteX0" y="connsiteY0"/>
                    </a:cxn>
                    <a:cxn ang="0">
                      <a:pos x="connsiteX1" y="connsiteY1"/>
                    </a:cxn>
                  </a:cxnLst>
                  <a:rect l="l" t="t" r="r" b="b"/>
                  <a:pathLst>
                    <a:path w="309562" h="5953">
                      <a:moveTo>
                        <a:pt x="-1" y="0"/>
                      </a:moveTo>
                      <a:lnTo>
                        <a:pt x="309562" y="0"/>
                      </a:lnTo>
                    </a:path>
                  </a:pathLst>
                </a:custGeom>
                <a:noFill/>
                <a:ln w="28575" cap="flat">
                  <a:solidFill>
                    <a:srgbClr val="FFCECE"/>
                  </a:solidFill>
                  <a:prstDash val="solid"/>
                  <a:miter/>
                </a:ln>
              </p:spPr>
              <p:txBody>
                <a:bodyPr rtlCol="0" anchor="ctr"/>
                <a:lstStyle/>
                <a:p>
                  <a:endParaRPr lang="en-US"/>
                </a:p>
              </p:txBody>
            </p:sp>
            <p:sp>
              <p:nvSpPr>
                <p:cNvPr id="29" name="Freeform: Shape 94">
                  <a:extLst>
                    <a:ext uri="{FF2B5EF4-FFF2-40B4-BE49-F238E27FC236}">
                      <a16:creationId xmlns:a16="http://schemas.microsoft.com/office/drawing/2014/main" id="{E457F8BB-9362-2427-0477-7455DE799311}"/>
                    </a:ext>
                  </a:extLst>
                </p:cNvPr>
                <p:cNvSpPr/>
                <p:nvPr/>
              </p:nvSpPr>
              <p:spPr>
                <a:xfrm>
                  <a:off x="7082166" y="2304561"/>
                  <a:ext cx="576876" cy="232968"/>
                </a:xfrm>
                <a:custGeom>
                  <a:avLst/>
                  <a:gdLst>
                    <a:gd name="connsiteX0" fmla="*/ -1 w 309562"/>
                    <a:gd name="connsiteY0" fmla="*/ 0 h 125015"/>
                    <a:gd name="connsiteX1" fmla="*/ 309562 w 309562"/>
                    <a:gd name="connsiteY1" fmla="*/ 125016 h 125015"/>
                  </a:gdLst>
                  <a:ahLst/>
                  <a:cxnLst>
                    <a:cxn ang="0">
                      <a:pos x="connsiteX0" y="connsiteY0"/>
                    </a:cxn>
                    <a:cxn ang="0">
                      <a:pos x="connsiteX1" y="connsiteY1"/>
                    </a:cxn>
                  </a:cxnLst>
                  <a:rect l="l" t="t" r="r" b="b"/>
                  <a:pathLst>
                    <a:path w="309562" h="125015">
                      <a:moveTo>
                        <a:pt x="-1" y="0"/>
                      </a:moveTo>
                      <a:lnTo>
                        <a:pt x="309562" y="125016"/>
                      </a:lnTo>
                    </a:path>
                  </a:pathLst>
                </a:custGeom>
                <a:noFill/>
                <a:ln w="28575" cap="flat">
                  <a:solidFill>
                    <a:srgbClr val="1F1FFF"/>
                  </a:solidFill>
                  <a:prstDash val="solid"/>
                  <a:miter/>
                </a:ln>
              </p:spPr>
              <p:txBody>
                <a:bodyPr rtlCol="0" anchor="ctr"/>
                <a:lstStyle/>
                <a:p>
                  <a:endParaRPr lang="en-US"/>
                </a:p>
              </p:txBody>
            </p:sp>
            <p:sp>
              <p:nvSpPr>
                <p:cNvPr id="30" name="Freeform: Shape 95">
                  <a:extLst>
                    <a:ext uri="{FF2B5EF4-FFF2-40B4-BE49-F238E27FC236}">
                      <a16:creationId xmlns:a16="http://schemas.microsoft.com/office/drawing/2014/main" id="{03651CE1-D18E-C038-29B8-3542BA60E979}"/>
                    </a:ext>
                  </a:extLst>
                </p:cNvPr>
                <p:cNvSpPr/>
                <p:nvPr/>
              </p:nvSpPr>
              <p:spPr>
                <a:xfrm>
                  <a:off x="7082166" y="2537532"/>
                  <a:ext cx="576876" cy="232968"/>
                </a:xfrm>
                <a:custGeom>
                  <a:avLst/>
                  <a:gdLst>
                    <a:gd name="connsiteX0" fmla="*/ -1 w 309562"/>
                    <a:gd name="connsiteY0" fmla="*/ 125016 h 125015"/>
                    <a:gd name="connsiteX1" fmla="*/ 309562 w 309562"/>
                    <a:gd name="connsiteY1" fmla="*/ 0 h 125015"/>
                  </a:gdLst>
                  <a:ahLst/>
                  <a:cxnLst>
                    <a:cxn ang="0">
                      <a:pos x="connsiteX0" y="connsiteY0"/>
                    </a:cxn>
                    <a:cxn ang="0">
                      <a:pos x="connsiteX1" y="connsiteY1"/>
                    </a:cxn>
                  </a:cxnLst>
                  <a:rect l="l" t="t" r="r" b="b"/>
                  <a:pathLst>
                    <a:path w="309562" h="125015">
                      <a:moveTo>
                        <a:pt x="-1" y="125016"/>
                      </a:moveTo>
                      <a:lnTo>
                        <a:pt x="309562" y="0"/>
                      </a:lnTo>
                    </a:path>
                  </a:pathLst>
                </a:custGeom>
                <a:noFill/>
                <a:ln w="28575" cap="flat">
                  <a:solidFill>
                    <a:srgbClr val="B5B5FF"/>
                  </a:solidFill>
                  <a:prstDash val="solid"/>
                  <a:miter/>
                </a:ln>
              </p:spPr>
              <p:txBody>
                <a:bodyPr rtlCol="0" anchor="ctr"/>
                <a:lstStyle/>
                <a:p>
                  <a:endParaRPr lang="en-US"/>
                </a:p>
              </p:txBody>
            </p:sp>
            <p:sp>
              <p:nvSpPr>
                <p:cNvPr id="31" name="Freeform: Shape 96">
                  <a:extLst>
                    <a:ext uri="{FF2B5EF4-FFF2-40B4-BE49-F238E27FC236}">
                      <a16:creationId xmlns:a16="http://schemas.microsoft.com/office/drawing/2014/main" id="{7F058A22-C4F6-20FB-57DA-640870E023E9}"/>
                    </a:ext>
                  </a:extLst>
                </p:cNvPr>
                <p:cNvSpPr/>
                <p:nvPr/>
              </p:nvSpPr>
              <p:spPr>
                <a:xfrm>
                  <a:off x="7659042" y="2071593"/>
                  <a:ext cx="576876" cy="465939"/>
                </a:xfrm>
                <a:custGeom>
                  <a:avLst/>
                  <a:gdLst>
                    <a:gd name="connsiteX0" fmla="*/ -1 w 309562"/>
                    <a:gd name="connsiteY0" fmla="*/ 250031 h 250031"/>
                    <a:gd name="connsiteX1" fmla="*/ 309562 w 309562"/>
                    <a:gd name="connsiteY1" fmla="*/ 0 h 250031"/>
                  </a:gdLst>
                  <a:ahLst/>
                  <a:cxnLst>
                    <a:cxn ang="0">
                      <a:pos x="connsiteX0" y="connsiteY0"/>
                    </a:cxn>
                    <a:cxn ang="0">
                      <a:pos x="connsiteX1" y="connsiteY1"/>
                    </a:cxn>
                  </a:cxnLst>
                  <a:rect l="l" t="t" r="r" b="b"/>
                  <a:pathLst>
                    <a:path w="309562" h="250031">
                      <a:moveTo>
                        <a:pt x="-1" y="250031"/>
                      </a:moveTo>
                      <a:lnTo>
                        <a:pt x="309562" y="0"/>
                      </a:lnTo>
                    </a:path>
                  </a:pathLst>
                </a:custGeom>
                <a:noFill/>
                <a:ln w="28575" cap="flat">
                  <a:solidFill>
                    <a:srgbClr val="FF6C6C"/>
                  </a:solidFill>
                  <a:prstDash val="solid"/>
                  <a:miter/>
                </a:ln>
              </p:spPr>
              <p:txBody>
                <a:bodyPr rtlCol="0" anchor="ctr"/>
                <a:lstStyle/>
                <a:p>
                  <a:endParaRPr lang="en-US"/>
                </a:p>
              </p:txBody>
            </p:sp>
            <p:sp>
              <p:nvSpPr>
                <p:cNvPr id="32" name="Freeform: Shape 97">
                  <a:extLst>
                    <a:ext uri="{FF2B5EF4-FFF2-40B4-BE49-F238E27FC236}">
                      <a16:creationId xmlns:a16="http://schemas.microsoft.com/office/drawing/2014/main" id="{A3217AFD-C699-7FF3-6A08-D05B999D1612}"/>
                    </a:ext>
                  </a:extLst>
                </p:cNvPr>
                <p:cNvSpPr/>
                <p:nvPr/>
              </p:nvSpPr>
              <p:spPr>
                <a:xfrm>
                  <a:off x="6383257" y="1483621"/>
                  <a:ext cx="244062" cy="244062"/>
                </a:xfrm>
                <a:custGeom>
                  <a:avLst/>
                  <a:gdLst>
                    <a:gd name="connsiteX0" fmla="*/ 130968 w 130968"/>
                    <a:gd name="connsiteY0" fmla="*/ 65484 h 130968"/>
                    <a:gd name="connsiteX1" fmla="*/ 65483 w 130968"/>
                    <a:gd name="connsiteY1" fmla="*/ 130969 h 130968"/>
                    <a:gd name="connsiteX2" fmla="*/ -1 w 130968"/>
                    <a:gd name="connsiteY2" fmla="*/ 65484 h 130968"/>
                    <a:gd name="connsiteX3" fmla="*/ 65483 w 130968"/>
                    <a:gd name="connsiteY3" fmla="*/ 0 h 130968"/>
                    <a:gd name="connsiteX4" fmla="*/ 130968 w 130968"/>
                    <a:gd name="connsiteY4" fmla="*/ 65484 h 13096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0968" h="130968">
                      <a:moveTo>
                        <a:pt x="130968" y="65484"/>
                      </a:moveTo>
                      <a:cubicBezTo>
                        <a:pt x="130968" y="101650"/>
                        <a:pt x="101649" y="130969"/>
                        <a:pt x="65483" y="130969"/>
                      </a:cubicBezTo>
                      <a:cubicBezTo>
                        <a:pt x="29317" y="130969"/>
                        <a:pt x="-1" y="101650"/>
                        <a:pt x="-1" y="65484"/>
                      </a:cubicBezTo>
                      <a:cubicBezTo>
                        <a:pt x="-1" y="29318"/>
                        <a:pt x="29317" y="0"/>
                        <a:pt x="65483" y="0"/>
                      </a:cubicBezTo>
                      <a:cubicBezTo>
                        <a:pt x="101649" y="0"/>
                        <a:pt x="130968" y="29318"/>
                        <a:pt x="130968" y="65484"/>
                      </a:cubicBezTo>
                      <a:close/>
                    </a:path>
                  </a:pathLst>
                </a:custGeom>
                <a:solidFill>
                  <a:srgbClr val="FFFFFF"/>
                </a:solidFill>
                <a:ln w="28575" cap="flat">
                  <a:solidFill>
                    <a:srgbClr val="333333"/>
                  </a:solidFill>
                  <a:prstDash val="solid"/>
                  <a:miter/>
                </a:ln>
              </p:spPr>
              <p:txBody>
                <a:bodyPr rtlCol="0" anchor="ctr"/>
                <a:lstStyle/>
                <a:p>
                  <a:endParaRPr lang="en-US"/>
                </a:p>
              </p:txBody>
            </p:sp>
            <p:sp>
              <p:nvSpPr>
                <p:cNvPr id="33" name="Freeform: Shape 98">
                  <a:extLst>
                    <a:ext uri="{FF2B5EF4-FFF2-40B4-BE49-F238E27FC236}">
                      <a16:creationId xmlns:a16="http://schemas.microsoft.com/office/drawing/2014/main" id="{C45334BB-D37B-1A49-B5AE-1D5BEDF9C45A}"/>
                    </a:ext>
                  </a:extLst>
                </p:cNvPr>
                <p:cNvSpPr/>
                <p:nvPr/>
              </p:nvSpPr>
              <p:spPr>
                <a:xfrm>
                  <a:off x="6383257" y="1949560"/>
                  <a:ext cx="244062" cy="244062"/>
                </a:xfrm>
                <a:custGeom>
                  <a:avLst/>
                  <a:gdLst>
                    <a:gd name="connsiteX0" fmla="*/ 130968 w 130968"/>
                    <a:gd name="connsiteY0" fmla="*/ 65484 h 130968"/>
                    <a:gd name="connsiteX1" fmla="*/ 65483 w 130968"/>
                    <a:gd name="connsiteY1" fmla="*/ 130969 h 130968"/>
                    <a:gd name="connsiteX2" fmla="*/ -1 w 130968"/>
                    <a:gd name="connsiteY2" fmla="*/ 65484 h 130968"/>
                    <a:gd name="connsiteX3" fmla="*/ 65483 w 130968"/>
                    <a:gd name="connsiteY3" fmla="*/ 0 h 130968"/>
                    <a:gd name="connsiteX4" fmla="*/ 130968 w 130968"/>
                    <a:gd name="connsiteY4" fmla="*/ 65484 h 13096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0968" h="130968">
                      <a:moveTo>
                        <a:pt x="130968" y="65484"/>
                      </a:moveTo>
                      <a:cubicBezTo>
                        <a:pt x="130968" y="101650"/>
                        <a:pt x="101649" y="130969"/>
                        <a:pt x="65483" y="130969"/>
                      </a:cubicBezTo>
                      <a:cubicBezTo>
                        <a:pt x="29317" y="130969"/>
                        <a:pt x="-1" y="101650"/>
                        <a:pt x="-1" y="65484"/>
                      </a:cubicBezTo>
                      <a:cubicBezTo>
                        <a:pt x="-1" y="29318"/>
                        <a:pt x="29317" y="0"/>
                        <a:pt x="65483" y="0"/>
                      </a:cubicBezTo>
                      <a:cubicBezTo>
                        <a:pt x="101649" y="0"/>
                        <a:pt x="130968" y="29318"/>
                        <a:pt x="130968" y="65484"/>
                      </a:cubicBezTo>
                      <a:close/>
                    </a:path>
                  </a:pathLst>
                </a:custGeom>
                <a:solidFill>
                  <a:srgbClr val="FFFFFF"/>
                </a:solidFill>
                <a:ln w="28575" cap="flat">
                  <a:solidFill>
                    <a:srgbClr val="333333"/>
                  </a:solidFill>
                  <a:prstDash val="solid"/>
                  <a:miter/>
                </a:ln>
              </p:spPr>
              <p:txBody>
                <a:bodyPr rtlCol="0" anchor="ctr"/>
                <a:lstStyle/>
                <a:p>
                  <a:endParaRPr lang="en-US"/>
                </a:p>
              </p:txBody>
            </p:sp>
            <p:sp>
              <p:nvSpPr>
                <p:cNvPr id="34" name="Freeform: Shape 99">
                  <a:extLst>
                    <a:ext uri="{FF2B5EF4-FFF2-40B4-BE49-F238E27FC236}">
                      <a16:creationId xmlns:a16="http://schemas.microsoft.com/office/drawing/2014/main" id="{221A8572-309B-07C0-AA5B-0B046015C1B8}"/>
                    </a:ext>
                  </a:extLst>
                </p:cNvPr>
                <p:cNvSpPr/>
                <p:nvPr/>
              </p:nvSpPr>
              <p:spPr>
                <a:xfrm>
                  <a:off x="6383257" y="2415501"/>
                  <a:ext cx="244062" cy="244062"/>
                </a:xfrm>
                <a:custGeom>
                  <a:avLst/>
                  <a:gdLst>
                    <a:gd name="connsiteX0" fmla="*/ 130968 w 130968"/>
                    <a:gd name="connsiteY0" fmla="*/ 65484 h 130968"/>
                    <a:gd name="connsiteX1" fmla="*/ 65483 w 130968"/>
                    <a:gd name="connsiteY1" fmla="*/ 130969 h 130968"/>
                    <a:gd name="connsiteX2" fmla="*/ -1 w 130968"/>
                    <a:gd name="connsiteY2" fmla="*/ 65484 h 130968"/>
                    <a:gd name="connsiteX3" fmla="*/ 65483 w 130968"/>
                    <a:gd name="connsiteY3" fmla="*/ 0 h 130968"/>
                    <a:gd name="connsiteX4" fmla="*/ 130968 w 130968"/>
                    <a:gd name="connsiteY4" fmla="*/ 65484 h 13096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0968" h="130968">
                      <a:moveTo>
                        <a:pt x="130968" y="65484"/>
                      </a:moveTo>
                      <a:cubicBezTo>
                        <a:pt x="130968" y="101650"/>
                        <a:pt x="101649" y="130969"/>
                        <a:pt x="65483" y="130969"/>
                      </a:cubicBezTo>
                      <a:cubicBezTo>
                        <a:pt x="29317" y="130969"/>
                        <a:pt x="-1" y="101650"/>
                        <a:pt x="-1" y="65484"/>
                      </a:cubicBezTo>
                      <a:cubicBezTo>
                        <a:pt x="-1" y="29318"/>
                        <a:pt x="29317" y="0"/>
                        <a:pt x="65483" y="0"/>
                      </a:cubicBezTo>
                      <a:cubicBezTo>
                        <a:pt x="101649" y="0"/>
                        <a:pt x="130968" y="29318"/>
                        <a:pt x="130968" y="65484"/>
                      </a:cubicBezTo>
                      <a:close/>
                    </a:path>
                  </a:pathLst>
                </a:custGeom>
                <a:solidFill>
                  <a:srgbClr val="FFFFFF"/>
                </a:solidFill>
                <a:ln w="28575" cap="flat">
                  <a:solidFill>
                    <a:srgbClr val="333333"/>
                  </a:solidFill>
                  <a:prstDash val="solid"/>
                  <a:miter/>
                </a:ln>
              </p:spPr>
              <p:txBody>
                <a:bodyPr rtlCol="0" anchor="ctr"/>
                <a:lstStyle/>
                <a:p>
                  <a:endParaRPr lang="en-US"/>
                </a:p>
              </p:txBody>
            </p:sp>
            <p:sp>
              <p:nvSpPr>
                <p:cNvPr id="35" name="Freeform: Shape 100">
                  <a:extLst>
                    <a:ext uri="{FF2B5EF4-FFF2-40B4-BE49-F238E27FC236}">
                      <a16:creationId xmlns:a16="http://schemas.microsoft.com/office/drawing/2014/main" id="{14A02D69-991F-D287-5F23-F3699EDAD536}"/>
                    </a:ext>
                  </a:extLst>
                </p:cNvPr>
                <p:cNvSpPr/>
                <p:nvPr/>
              </p:nvSpPr>
              <p:spPr>
                <a:xfrm>
                  <a:off x="6960135" y="1250651"/>
                  <a:ext cx="244062" cy="244062"/>
                </a:xfrm>
                <a:custGeom>
                  <a:avLst/>
                  <a:gdLst>
                    <a:gd name="connsiteX0" fmla="*/ 130968 w 130968"/>
                    <a:gd name="connsiteY0" fmla="*/ 65484 h 130968"/>
                    <a:gd name="connsiteX1" fmla="*/ 65483 w 130968"/>
                    <a:gd name="connsiteY1" fmla="*/ 130969 h 130968"/>
                    <a:gd name="connsiteX2" fmla="*/ -1 w 130968"/>
                    <a:gd name="connsiteY2" fmla="*/ 65484 h 130968"/>
                    <a:gd name="connsiteX3" fmla="*/ 65483 w 130968"/>
                    <a:gd name="connsiteY3" fmla="*/ 0 h 130968"/>
                    <a:gd name="connsiteX4" fmla="*/ 130968 w 130968"/>
                    <a:gd name="connsiteY4" fmla="*/ 65484 h 13096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0968" h="130968">
                      <a:moveTo>
                        <a:pt x="130968" y="65484"/>
                      </a:moveTo>
                      <a:cubicBezTo>
                        <a:pt x="130968" y="101650"/>
                        <a:pt x="101649" y="130969"/>
                        <a:pt x="65483" y="130969"/>
                      </a:cubicBezTo>
                      <a:cubicBezTo>
                        <a:pt x="29317" y="130969"/>
                        <a:pt x="-1" y="101650"/>
                        <a:pt x="-1" y="65484"/>
                      </a:cubicBezTo>
                      <a:cubicBezTo>
                        <a:pt x="-1" y="29318"/>
                        <a:pt x="29317" y="0"/>
                        <a:pt x="65483" y="0"/>
                      </a:cubicBezTo>
                      <a:cubicBezTo>
                        <a:pt x="101649" y="0"/>
                        <a:pt x="130968" y="29318"/>
                        <a:pt x="130968" y="65484"/>
                      </a:cubicBezTo>
                      <a:close/>
                    </a:path>
                  </a:pathLst>
                </a:custGeom>
                <a:solidFill>
                  <a:srgbClr val="FFFFFF"/>
                </a:solidFill>
                <a:ln w="28575" cap="flat">
                  <a:solidFill>
                    <a:srgbClr val="333333"/>
                  </a:solidFill>
                  <a:prstDash val="solid"/>
                  <a:miter/>
                </a:ln>
              </p:spPr>
              <p:txBody>
                <a:bodyPr rtlCol="0" anchor="ctr"/>
                <a:lstStyle/>
                <a:p>
                  <a:endParaRPr lang="en-US"/>
                </a:p>
              </p:txBody>
            </p:sp>
            <p:sp>
              <p:nvSpPr>
                <p:cNvPr id="36" name="Freeform: Shape 101">
                  <a:extLst>
                    <a:ext uri="{FF2B5EF4-FFF2-40B4-BE49-F238E27FC236}">
                      <a16:creationId xmlns:a16="http://schemas.microsoft.com/office/drawing/2014/main" id="{97A3D7CD-D853-07FF-53AF-FF90A25A531C}"/>
                    </a:ext>
                  </a:extLst>
                </p:cNvPr>
                <p:cNvSpPr/>
                <p:nvPr/>
              </p:nvSpPr>
              <p:spPr>
                <a:xfrm>
                  <a:off x="6960135" y="1716592"/>
                  <a:ext cx="244062" cy="244062"/>
                </a:xfrm>
                <a:custGeom>
                  <a:avLst/>
                  <a:gdLst>
                    <a:gd name="connsiteX0" fmla="*/ 130968 w 130968"/>
                    <a:gd name="connsiteY0" fmla="*/ 65484 h 130968"/>
                    <a:gd name="connsiteX1" fmla="*/ 65483 w 130968"/>
                    <a:gd name="connsiteY1" fmla="*/ 130969 h 130968"/>
                    <a:gd name="connsiteX2" fmla="*/ -1 w 130968"/>
                    <a:gd name="connsiteY2" fmla="*/ 65484 h 130968"/>
                    <a:gd name="connsiteX3" fmla="*/ 65483 w 130968"/>
                    <a:gd name="connsiteY3" fmla="*/ 0 h 130968"/>
                    <a:gd name="connsiteX4" fmla="*/ 130968 w 130968"/>
                    <a:gd name="connsiteY4" fmla="*/ 65484 h 13096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0968" h="130968">
                      <a:moveTo>
                        <a:pt x="130968" y="65484"/>
                      </a:moveTo>
                      <a:cubicBezTo>
                        <a:pt x="130968" y="101650"/>
                        <a:pt x="101649" y="130969"/>
                        <a:pt x="65483" y="130969"/>
                      </a:cubicBezTo>
                      <a:cubicBezTo>
                        <a:pt x="29317" y="130969"/>
                        <a:pt x="-1" y="101650"/>
                        <a:pt x="-1" y="65484"/>
                      </a:cubicBezTo>
                      <a:cubicBezTo>
                        <a:pt x="-1" y="29318"/>
                        <a:pt x="29317" y="0"/>
                        <a:pt x="65483" y="0"/>
                      </a:cubicBezTo>
                      <a:cubicBezTo>
                        <a:pt x="101649" y="0"/>
                        <a:pt x="130968" y="29318"/>
                        <a:pt x="130968" y="65484"/>
                      </a:cubicBezTo>
                      <a:close/>
                    </a:path>
                  </a:pathLst>
                </a:custGeom>
                <a:solidFill>
                  <a:srgbClr val="FFFFFF"/>
                </a:solidFill>
                <a:ln w="28575" cap="flat">
                  <a:solidFill>
                    <a:srgbClr val="333333"/>
                  </a:solidFill>
                  <a:prstDash val="solid"/>
                  <a:miter/>
                </a:ln>
              </p:spPr>
              <p:txBody>
                <a:bodyPr rtlCol="0" anchor="ctr"/>
                <a:lstStyle/>
                <a:p>
                  <a:endParaRPr lang="en-US"/>
                </a:p>
              </p:txBody>
            </p:sp>
            <p:sp>
              <p:nvSpPr>
                <p:cNvPr id="37" name="Freeform: Shape 102">
                  <a:extLst>
                    <a:ext uri="{FF2B5EF4-FFF2-40B4-BE49-F238E27FC236}">
                      <a16:creationId xmlns:a16="http://schemas.microsoft.com/office/drawing/2014/main" id="{1E487BDB-6F27-B2DC-FC51-7AD0AC3BF01A}"/>
                    </a:ext>
                  </a:extLst>
                </p:cNvPr>
                <p:cNvSpPr/>
                <p:nvPr/>
              </p:nvSpPr>
              <p:spPr>
                <a:xfrm>
                  <a:off x="6960135" y="2182530"/>
                  <a:ext cx="244062" cy="244062"/>
                </a:xfrm>
                <a:custGeom>
                  <a:avLst/>
                  <a:gdLst>
                    <a:gd name="connsiteX0" fmla="*/ 130968 w 130968"/>
                    <a:gd name="connsiteY0" fmla="*/ 65484 h 130968"/>
                    <a:gd name="connsiteX1" fmla="*/ 65483 w 130968"/>
                    <a:gd name="connsiteY1" fmla="*/ 130969 h 130968"/>
                    <a:gd name="connsiteX2" fmla="*/ -1 w 130968"/>
                    <a:gd name="connsiteY2" fmla="*/ 65484 h 130968"/>
                    <a:gd name="connsiteX3" fmla="*/ 65483 w 130968"/>
                    <a:gd name="connsiteY3" fmla="*/ 0 h 130968"/>
                    <a:gd name="connsiteX4" fmla="*/ 130968 w 130968"/>
                    <a:gd name="connsiteY4" fmla="*/ 65484 h 13096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0968" h="130968">
                      <a:moveTo>
                        <a:pt x="130968" y="65484"/>
                      </a:moveTo>
                      <a:cubicBezTo>
                        <a:pt x="130968" y="101650"/>
                        <a:pt x="101649" y="130969"/>
                        <a:pt x="65483" y="130969"/>
                      </a:cubicBezTo>
                      <a:cubicBezTo>
                        <a:pt x="29317" y="130969"/>
                        <a:pt x="-1" y="101650"/>
                        <a:pt x="-1" y="65484"/>
                      </a:cubicBezTo>
                      <a:cubicBezTo>
                        <a:pt x="-1" y="29318"/>
                        <a:pt x="29317" y="0"/>
                        <a:pt x="65483" y="0"/>
                      </a:cubicBezTo>
                      <a:cubicBezTo>
                        <a:pt x="101649" y="0"/>
                        <a:pt x="130968" y="29318"/>
                        <a:pt x="130968" y="65484"/>
                      </a:cubicBezTo>
                      <a:close/>
                    </a:path>
                  </a:pathLst>
                </a:custGeom>
                <a:solidFill>
                  <a:srgbClr val="FFFFFF"/>
                </a:solidFill>
                <a:ln w="28575" cap="flat">
                  <a:solidFill>
                    <a:srgbClr val="333333"/>
                  </a:solidFill>
                  <a:prstDash val="solid"/>
                  <a:miter/>
                </a:ln>
              </p:spPr>
              <p:txBody>
                <a:bodyPr rtlCol="0" anchor="ctr"/>
                <a:lstStyle/>
                <a:p>
                  <a:endParaRPr lang="en-US"/>
                </a:p>
              </p:txBody>
            </p:sp>
            <p:sp>
              <p:nvSpPr>
                <p:cNvPr id="38" name="Freeform: Shape 103">
                  <a:extLst>
                    <a:ext uri="{FF2B5EF4-FFF2-40B4-BE49-F238E27FC236}">
                      <a16:creationId xmlns:a16="http://schemas.microsoft.com/office/drawing/2014/main" id="{CFBF7995-53A0-FEA9-6D88-7FFC244FC023}"/>
                    </a:ext>
                  </a:extLst>
                </p:cNvPr>
                <p:cNvSpPr/>
                <p:nvPr/>
              </p:nvSpPr>
              <p:spPr>
                <a:xfrm>
                  <a:off x="6960135" y="2648469"/>
                  <a:ext cx="244062" cy="244062"/>
                </a:xfrm>
                <a:custGeom>
                  <a:avLst/>
                  <a:gdLst>
                    <a:gd name="connsiteX0" fmla="*/ 130968 w 130968"/>
                    <a:gd name="connsiteY0" fmla="*/ 65484 h 130968"/>
                    <a:gd name="connsiteX1" fmla="*/ 65483 w 130968"/>
                    <a:gd name="connsiteY1" fmla="*/ 130969 h 130968"/>
                    <a:gd name="connsiteX2" fmla="*/ -1 w 130968"/>
                    <a:gd name="connsiteY2" fmla="*/ 65484 h 130968"/>
                    <a:gd name="connsiteX3" fmla="*/ 65483 w 130968"/>
                    <a:gd name="connsiteY3" fmla="*/ 0 h 130968"/>
                    <a:gd name="connsiteX4" fmla="*/ 130968 w 130968"/>
                    <a:gd name="connsiteY4" fmla="*/ 65484 h 13096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0968" h="130968">
                      <a:moveTo>
                        <a:pt x="130968" y="65484"/>
                      </a:moveTo>
                      <a:cubicBezTo>
                        <a:pt x="130968" y="101650"/>
                        <a:pt x="101649" y="130969"/>
                        <a:pt x="65483" y="130969"/>
                      </a:cubicBezTo>
                      <a:cubicBezTo>
                        <a:pt x="29317" y="130969"/>
                        <a:pt x="-1" y="101650"/>
                        <a:pt x="-1" y="65484"/>
                      </a:cubicBezTo>
                      <a:cubicBezTo>
                        <a:pt x="-1" y="29318"/>
                        <a:pt x="29317" y="0"/>
                        <a:pt x="65483" y="0"/>
                      </a:cubicBezTo>
                      <a:cubicBezTo>
                        <a:pt x="101649" y="0"/>
                        <a:pt x="130968" y="29318"/>
                        <a:pt x="130968" y="65484"/>
                      </a:cubicBezTo>
                      <a:close/>
                    </a:path>
                  </a:pathLst>
                </a:custGeom>
                <a:solidFill>
                  <a:srgbClr val="FFFFFF"/>
                </a:solidFill>
                <a:ln w="28575" cap="flat">
                  <a:solidFill>
                    <a:srgbClr val="333333"/>
                  </a:solidFill>
                  <a:prstDash val="solid"/>
                  <a:miter/>
                </a:ln>
              </p:spPr>
              <p:txBody>
                <a:bodyPr rtlCol="0" anchor="ctr"/>
                <a:lstStyle/>
                <a:p>
                  <a:endParaRPr lang="en-US"/>
                </a:p>
              </p:txBody>
            </p:sp>
            <p:sp>
              <p:nvSpPr>
                <p:cNvPr id="39" name="Freeform: Shape 104">
                  <a:extLst>
                    <a:ext uri="{FF2B5EF4-FFF2-40B4-BE49-F238E27FC236}">
                      <a16:creationId xmlns:a16="http://schemas.microsoft.com/office/drawing/2014/main" id="{0B3D13C6-A25B-ACBC-6BF7-CE4105AFDC4C}"/>
                    </a:ext>
                  </a:extLst>
                </p:cNvPr>
                <p:cNvSpPr/>
                <p:nvPr/>
              </p:nvSpPr>
              <p:spPr>
                <a:xfrm>
                  <a:off x="7537011" y="1483621"/>
                  <a:ext cx="244062" cy="244062"/>
                </a:xfrm>
                <a:custGeom>
                  <a:avLst/>
                  <a:gdLst>
                    <a:gd name="connsiteX0" fmla="*/ 130968 w 130968"/>
                    <a:gd name="connsiteY0" fmla="*/ 65484 h 130968"/>
                    <a:gd name="connsiteX1" fmla="*/ 65483 w 130968"/>
                    <a:gd name="connsiteY1" fmla="*/ 130969 h 130968"/>
                    <a:gd name="connsiteX2" fmla="*/ -1 w 130968"/>
                    <a:gd name="connsiteY2" fmla="*/ 65484 h 130968"/>
                    <a:gd name="connsiteX3" fmla="*/ 65483 w 130968"/>
                    <a:gd name="connsiteY3" fmla="*/ 0 h 130968"/>
                    <a:gd name="connsiteX4" fmla="*/ 130968 w 130968"/>
                    <a:gd name="connsiteY4" fmla="*/ 65484 h 13096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0968" h="130968">
                      <a:moveTo>
                        <a:pt x="130968" y="65484"/>
                      </a:moveTo>
                      <a:cubicBezTo>
                        <a:pt x="130968" y="101650"/>
                        <a:pt x="101649" y="130969"/>
                        <a:pt x="65483" y="130969"/>
                      </a:cubicBezTo>
                      <a:cubicBezTo>
                        <a:pt x="29317" y="130969"/>
                        <a:pt x="-1" y="101650"/>
                        <a:pt x="-1" y="65484"/>
                      </a:cubicBezTo>
                      <a:cubicBezTo>
                        <a:pt x="-1" y="29318"/>
                        <a:pt x="29317" y="0"/>
                        <a:pt x="65483" y="0"/>
                      </a:cubicBezTo>
                      <a:cubicBezTo>
                        <a:pt x="101649" y="0"/>
                        <a:pt x="130968" y="29318"/>
                        <a:pt x="130968" y="65484"/>
                      </a:cubicBezTo>
                      <a:close/>
                    </a:path>
                  </a:pathLst>
                </a:custGeom>
                <a:solidFill>
                  <a:srgbClr val="FFFFFF"/>
                </a:solidFill>
                <a:ln w="28575" cap="flat">
                  <a:solidFill>
                    <a:srgbClr val="333333"/>
                  </a:solidFill>
                  <a:prstDash val="solid"/>
                  <a:miter/>
                </a:ln>
              </p:spPr>
              <p:txBody>
                <a:bodyPr rtlCol="0" anchor="ctr"/>
                <a:lstStyle/>
                <a:p>
                  <a:endParaRPr lang="en-US"/>
                </a:p>
              </p:txBody>
            </p:sp>
            <p:sp>
              <p:nvSpPr>
                <p:cNvPr id="40" name="Freeform: Shape 105">
                  <a:extLst>
                    <a:ext uri="{FF2B5EF4-FFF2-40B4-BE49-F238E27FC236}">
                      <a16:creationId xmlns:a16="http://schemas.microsoft.com/office/drawing/2014/main" id="{A3AC57CD-9B47-9DDE-3A81-EFA368B9D7CB}"/>
                    </a:ext>
                  </a:extLst>
                </p:cNvPr>
                <p:cNvSpPr/>
                <p:nvPr/>
              </p:nvSpPr>
              <p:spPr>
                <a:xfrm>
                  <a:off x="7537011" y="1949560"/>
                  <a:ext cx="244062" cy="244062"/>
                </a:xfrm>
                <a:custGeom>
                  <a:avLst/>
                  <a:gdLst>
                    <a:gd name="connsiteX0" fmla="*/ 130968 w 130968"/>
                    <a:gd name="connsiteY0" fmla="*/ 65484 h 130968"/>
                    <a:gd name="connsiteX1" fmla="*/ 65483 w 130968"/>
                    <a:gd name="connsiteY1" fmla="*/ 130969 h 130968"/>
                    <a:gd name="connsiteX2" fmla="*/ -1 w 130968"/>
                    <a:gd name="connsiteY2" fmla="*/ 65484 h 130968"/>
                    <a:gd name="connsiteX3" fmla="*/ 65483 w 130968"/>
                    <a:gd name="connsiteY3" fmla="*/ 0 h 130968"/>
                    <a:gd name="connsiteX4" fmla="*/ 130968 w 130968"/>
                    <a:gd name="connsiteY4" fmla="*/ 65484 h 13096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0968" h="130968">
                      <a:moveTo>
                        <a:pt x="130968" y="65484"/>
                      </a:moveTo>
                      <a:cubicBezTo>
                        <a:pt x="130968" y="101650"/>
                        <a:pt x="101649" y="130969"/>
                        <a:pt x="65483" y="130969"/>
                      </a:cubicBezTo>
                      <a:cubicBezTo>
                        <a:pt x="29317" y="130969"/>
                        <a:pt x="-1" y="101650"/>
                        <a:pt x="-1" y="65484"/>
                      </a:cubicBezTo>
                      <a:cubicBezTo>
                        <a:pt x="-1" y="29318"/>
                        <a:pt x="29317" y="0"/>
                        <a:pt x="65483" y="0"/>
                      </a:cubicBezTo>
                      <a:cubicBezTo>
                        <a:pt x="101649" y="0"/>
                        <a:pt x="130968" y="29318"/>
                        <a:pt x="130968" y="65484"/>
                      </a:cubicBezTo>
                      <a:close/>
                    </a:path>
                  </a:pathLst>
                </a:custGeom>
                <a:solidFill>
                  <a:srgbClr val="FFFFFF"/>
                </a:solidFill>
                <a:ln w="28575" cap="flat">
                  <a:solidFill>
                    <a:srgbClr val="333333"/>
                  </a:solidFill>
                  <a:prstDash val="solid"/>
                  <a:miter/>
                </a:ln>
              </p:spPr>
              <p:txBody>
                <a:bodyPr rtlCol="0" anchor="ctr"/>
                <a:lstStyle/>
                <a:p>
                  <a:endParaRPr lang="en-US"/>
                </a:p>
              </p:txBody>
            </p:sp>
            <p:sp>
              <p:nvSpPr>
                <p:cNvPr id="41" name="Freeform: Shape 106">
                  <a:extLst>
                    <a:ext uri="{FF2B5EF4-FFF2-40B4-BE49-F238E27FC236}">
                      <a16:creationId xmlns:a16="http://schemas.microsoft.com/office/drawing/2014/main" id="{CCEA0478-E571-D099-1846-832E4645D333}"/>
                    </a:ext>
                  </a:extLst>
                </p:cNvPr>
                <p:cNvSpPr/>
                <p:nvPr/>
              </p:nvSpPr>
              <p:spPr>
                <a:xfrm>
                  <a:off x="7537011" y="2415501"/>
                  <a:ext cx="244062" cy="244062"/>
                </a:xfrm>
                <a:custGeom>
                  <a:avLst/>
                  <a:gdLst>
                    <a:gd name="connsiteX0" fmla="*/ 130968 w 130968"/>
                    <a:gd name="connsiteY0" fmla="*/ 65484 h 130968"/>
                    <a:gd name="connsiteX1" fmla="*/ 65483 w 130968"/>
                    <a:gd name="connsiteY1" fmla="*/ 130969 h 130968"/>
                    <a:gd name="connsiteX2" fmla="*/ -1 w 130968"/>
                    <a:gd name="connsiteY2" fmla="*/ 65484 h 130968"/>
                    <a:gd name="connsiteX3" fmla="*/ 65483 w 130968"/>
                    <a:gd name="connsiteY3" fmla="*/ 0 h 130968"/>
                    <a:gd name="connsiteX4" fmla="*/ 130968 w 130968"/>
                    <a:gd name="connsiteY4" fmla="*/ 65484 h 13096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0968" h="130968">
                      <a:moveTo>
                        <a:pt x="130968" y="65484"/>
                      </a:moveTo>
                      <a:cubicBezTo>
                        <a:pt x="130968" y="101650"/>
                        <a:pt x="101649" y="130969"/>
                        <a:pt x="65483" y="130969"/>
                      </a:cubicBezTo>
                      <a:cubicBezTo>
                        <a:pt x="29317" y="130969"/>
                        <a:pt x="-1" y="101650"/>
                        <a:pt x="-1" y="65484"/>
                      </a:cubicBezTo>
                      <a:cubicBezTo>
                        <a:pt x="-1" y="29318"/>
                        <a:pt x="29317" y="0"/>
                        <a:pt x="65483" y="0"/>
                      </a:cubicBezTo>
                      <a:cubicBezTo>
                        <a:pt x="101649" y="0"/>
                        <a:pt x="130968" y="29318"/>
                        <a:pt x="130968" y="65484"/>
                      </a:cubicBezTo>
                      <a:close/>
                    </a:path>
                  </a:pathLst>
                </a:custGeom>
                <a:solidFill>
                  <a:srgbClr val="FFFFFF"/>
                </a:solidFill>
                <a:ln w="28575" cap="flat">
                  <a:solidFill>
                    <a:srgbClr val="333333"/>
                  </a:solidFill>
                  <a:prstDash val="solid"/>
                  <a:miter/>
                </a:ln>
              </p:spPr>
              <p:txBody>
                <a:bodyPr rtlCol="0" anchor="ctr"/>
                <a:lstStyle/>
                <a:p>
                  <a:endParaRPr lang="en-US"/>
                </a:p>
              </p:txBody>
            </p:sp>
            <p:sp>
              <p:nvSpPr>
                <p:cNvPr id="42" name="Freeform: Shape 107">
                  <a:extLst>
                    <a:ext uri="{FF2B5EF4-FFF2-40B4-BE49-F238E27FC236}">
                      <a16:creationId xmlns:a16="http://schemas.microsoft.com/office/drawing/2014/main" id="{6F24D1ED-4FC5-9688-20A9-C17FE550F2F1}"/>
                    </a:ext>
                  </a:extLst>
                </p:cNvPr>
                <p:cNvSpPr/>
                <p:nvPr/>
              </p:nvSpPr>
              <p:spPr>
                <a:xfrm>
                  <a:off x="8113889" y="1949560"/>
                  <a:ext cx="244062" cy="244062"/>
                </a:xfrm>
                <a:custGeom>
                  <a:avLst/>
                  <a:gdLst>
                    <a:gd name="connsiteX0" fmla="*/ 130968 w 130968"/>
                    <a:gd name="connsiteY0" fmla="*/ 65484 h 130968"/>
                    <a:gd name="connsiteX1" fmla="*/ 65483 w 130968"/>
                    <a:gd name="connsiteY1" fmla="*/ 130969 h 130968"/>
                    <a:gd name="connsiteX2" fmla="*/ -1 w 130968"/>
                    <a:gd name="connsiteY2" fmla="*/ 65484 h 130968"/>
                    <a:gd name="connsiteX3" fmla="*/ 65483 w 130968"/>
                    <a:gd name="connsiteY3" fmla="*/ 0 h 130968"/>
                    <a:gd name="connsiteX4" fmla="*/ 130968 w 130968"/>
                    <a:gd name="connsiteY4" fmla="*/ 65484 h 13096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0968" h="130968">
                      <a:moveTo>
                        <a:pt x="130968" y="65484"/>
                      </a:moveTo>
                      <a:cubicBezTo>
                        <a:pt x="130968" y="101650"/>
                        <a:pt x="101649" y="130969"/>
                        <a:pt x="65483" y="130969"/>
                      </a:cubicBezTo>
                      <a:cubicBezTo>
                        <a:pt x="29317" y="130969"/>
                        <a:pt x="-1" y="101650"/>
                        <a:pt x="-1" y="65484"/>
                      </a:cubicBezTo>
                      <a:cubicBezTo>
                        <a:pt x="-1" y="29318"/>
                        <a:pt x="29317" y="0"/>
                        <a:pt x="65483" y="0"/>
                      </a:cubicBezTo>
                      <a:cubicBezTo>
                        <a:pt x="101649" y="0"/>
                        <a:pt x="130968" y="29318"/>
                        <a:pt x="130968" y="65484"/>
                      </a:cubicBezTo>
                      <a:close/>
                    </a:path>
                  </a:pathLst>
                </a:custGeom>
                <a:solidFill>
                  <a:srgbClr val="FFFFFF"/>
                </a:solidFill>
                <a:ln w="28575" cap="flat">
                  <a:solidFill>
                    <a:srgbClr val="333333"/>
                  </a:solidFill>
                  <a:prstDash val="solid"/>
                  <a:miter/>
                </a:ln>
              </p:spPr>
              <p:txBody>
                <a:bodyPr rtlCol="0" anchor="ctr"/>
                <a:lstStyle/>
                <a:p>
                  <a:endParaRPr lang="en-US"/>
                </a:p>
              </p:txBody>
            </p:sp>
          </p:grpSp>
        </p:grpSp>
        <p:sp>
          <p:nvSpPr>
            <p:cNvPr id="49" name="Right Arrow 48">
              <a:extLst>
                <a:ext uri="{FF2B5EF4-FFF2-40B4-BE49-F238E27FC236}">
                  <a16:creationId xmlns:a16="http://schemas.microsoft.com/office/drawing/2014/main" id="{38338C55-6D40-0025-82D6-997760DAC2EB}"/>
                </a:ext>
              </a:extLst>
            </p:cNvPr>
            <p:cNvSpPr/>
            <p:nvPr/>
          </p:nvSpPr>
          <p:spPr>
            <a:xfrm>
              <a:off x="7602604" y="3731668"/>
              <a:ext cx="360000" cy="408212"/>
            </a:xfrm>
            <a:prstGeom prst="rightArrow">
              <a:avLst/>
            </a:prstGeom>
            <a:solidFill>
              <a:schemeClr val="accent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BE"/>
            </a:p>
          </p:txBody>
        </p:sp>
        <p:sp>
          <p:nvSpPr>
            <p:cNvPr id="51" name="Right Arrow 50">
              <a:extLst>
                <a:ext uri="{FF2B5EF4-FFF2-40B4-BE49-F238E27FC236}">
                  <a16:creationId xmlns:a16="http://schemas.microsoft.com/office/drawing/2014/main" id="{63126C26-BF99-A6F2-0E27-D39928146640}"/>
                </a:ext>
              </a:extLst>
            </p:cNvPr>
            <p:cNvSpPr/>
            <p:nvPr/>
          </p:nvSpPr>
          <p:spPr>
            <a:xfrm>
              <a:off x="9423912" y="3731668"/>
              <a:ext cx="360000" cy="408212"/>
            </a:xfrm>
            <a:prstGeom prst="rightArrow">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BE"/>
            </a:p>
          </p:txBody>
        </p:sp>
      </p:grpSp>
      <p:sp>
        <p:nvSpPr>
          <p:cNvPr id="52" name="TextBox 51">
            <a:extLst>
              <a:ext uri="{FF2B5EF4-FFF2-40B4-BE49-F238E27FC236}">
                <a16:creationId xmlns:a16="http://schemas.microsoft.com/office/drawing/2014/main" id="{F444DFAC-3858-7403-0BAC-45FB8573E477}"/>
              </a:ext>
            </a:extLst>
          </p:cNvPr>
          <p:cNvSpPr txBox="1"/>
          <p:nvPr/>
        </p:nvSpPr>
        <p:spPr>
          <a:xfrm>
            <a:off x="6789075" y="3280977"/>
            <a:ext cx="974947" cy="1077218"/>
          </a:xfrm>
          <a:prstGeom prst="rect">
            <a:avLst/>
          </a:prstGeom>
          <a:solidFill>
            <a:schemeClr val="bg1"/>
          </a:solidFill>
        </p:spPr>
        <p:txBody>
          <a:bodyPr wrap="none" rtlCol="0">
            <a:spAutoFit/>
          </a:bodyPr>
          <a:lstStyle/>
          <a:p>
            <a:r>
              <a:rPr lang="en-BE" dirty="0">
                <a:latin typeface="+mn-lt"/>
              </a:rPr>
              <a:t>- outdoor T</a:t>
            </a:r>
          </a:p>
          <a:p>
            <a:r>
              <a:rPr lang="en-BE" dirty="0">
                <a:latin typeface="+mn-lt"/>
              </a:rPr>
              <a:t>- indoor T</a:t>
            </a:r>
          </a:p>
          <a:p>
            <a:r>
              <a:rPr lang="en-BE" dirty="0">
                <a:latin typeface="+mn-lt"/>
              </a:rPr>
              <a:t>- price </a:t>
            </a:r>
          </a:p>
          <a:p>
            <a:r>
              <a:rPr lang="en-BE" dirty="0">
                <a:latin typeface="+mn-lt"/>
              </a:rPr>
              <a:t>- time</a:t>
            </a:r>
          </a:p>
        </p:txBody>
      </p:sp>
      <p:sp>
        <p:nvSpPr>
          <p:cNvPr id="55" name="TextBox 54">
            <a:extLst>
              <a:ext uri="{FF2B5EF4-FFF2-40B4-BE49-F238E27FC236}">
                <a16:creationId xmlns:a16="http://schemas.microsoft.com/office/drawing/2014/main" id="{39F27AA1-58F5-0465-A1DE-0B7DA2EB75D0}"/>
              </a:ext>
            </a:extLst>
          </p:cNvPr>
          <p:cNvSpPr txBox="1"/>
          <p:nvPr/>
        </p:nvSpPr>
        <p:spPr>
          <a:xfrm>
            <a:off x="6789075" y="2944767"/>
            <a:ext cx="663964" cy="400110"/>
          </a:xfrm>
          <a:prstGeom prst="rect">
            <a:avLst/>
          </a:prstGeom>
          <a:noFill/>
        </p:spPr>
        <p:txBody>
          <a:bodyPr wrap="none" rtlCol="0">
            <a:spAutoFit/>
          </a:bodyPr>
          <a:lstStyle/>
          <a:p>
            <a:r>
              <a:rPr lang="en-BE" sz="2000" b="1" dirty="0">
                <a:solidFill>
                  <a:schemeClr val="accent3"/>
                </a:solidFill>
                <a:latin typeface="+mn-lt"/>
              </a:rPr>
              <a:t>state</a:t>
            </a:r>
          </a:p>
        </p:txBody>
      </p:sp>
      <p:sp>
        <p:nvSpPr>
          <p:cNvPr id="56" name="TextBox 55">
            <a:extLst>
              <a:ext uri="{FF2B5EF4-FFF2-40B4-BE49-F238E27FC236}">
                <a16:creationId xmlns:a16="http://schemas.microsoft.com/office/drawing/2014/main" id="{404EDAC9-B69F-A6F4-7BBA-02456EDEEFB7}"/>
              </a:ext>
            </a:extLst>
          </p:cNvPr>
          <p:cNvSpPr txBox="1"/>
          <p:nvPr/>
        </p:nvSpPr>
        <p:spPr>
          <a:xfrm>
            <a:off x="9999227" y="3292329"/>
            <a:ext cx="764953" cy="400110"/>
          </a:xfrm>
          <a:prstGeom prst="rect">
            <a:avLst/>
          </a:prstGeom>
          <a:solidFill>
            <a:schemeClr val="bg1"/>
          </a:solidFill>
        </p:spPr>
        <p:txBody>
          <a:bodyPr wrap="none" rtlCol="0">
            <a:spAutoFit/>
          </a:bodyPr>
          <a:lstStyle/>
          <a:p>
            <a:r>
              <a:rPr lang="en-BE" sz="2000" b="1" dirty="0">
                <a:solidFill>
                  <a:schemeClr val="accent2"/>
                </a:solidFill>
                <a:latin typeface="+mn-lt"/>
              </a:rPr>
              <a:t>action</a:t>
            </a:r>
          </a:p>
        </p:txBody>
      </p:sp>
      <p:sp>
        <p:nvSpPr>
          <p:cNvPr id="57" name="TextBox 56">
            <a:extLst>
              <a:ext uri="{FF2B5EF4-FFF2-40B4-BE49-F238E27FC236}">
                <a16:creationId xmlns:a16="http://schemas.microsoft.com/office/drawing/2014/main" id="{33DFDB0B-92AD-7D1F-AEB3-A7678142C755}"/>
              </a:ext>
            </a:extLst>
          </p:cNvPr>
          <p:cNvSpPr txBox="1"/>
          <p:nvPr/>
        </p:nvSpPr>
        <p:spPr>
          <a:xfrm>
            <a:off x="9999227" y="3628539"/>
            <a:ext cx="1489510" cy="584775"/>
          </a:xfrm>
          <a:prstGeom prst="rect">
            <a:avLst/>
          </a:prstGeom>
          <a:solidFill>
            <a:schemeClr val="bg1"/>
          </a:solidFill>
        </p:spPr>
        <p:txBody>
          <a:bodyPr wrap="none" rtlCol="0">
            <a:spAutoFit/>
          </a:bodyPr>
          <a:lstStyle/>
          <a:p>
            <a:r>
              <a:rPr lang="en-BE" dirty="0">
                <a:latin typeface="+mn-lt"/>
              </a:rPr>
              <a:t>heat pump power</a:t>
            </a:r>
          </a:p>
          <a:p>
            <a:endParaRPr lang="en-BE" dirty="0">
              <a:latin typeface="+mn-lt"/>
            </a:endParaRPr>
          </a:p>
        </p:txBody>
      </p:sp>
      <p:sp>
        <p:nvSpPr>
          <p:cNvPr id="58" name="Arc 57">
            <a:extLst>
              <a:ext uri="{FF2B5EF4-FFF2-40B4-BE49-F238E27FC236}">
                <a16:creationId xmlns:a16="http://schemas.microsoft.com/office/drawing/2014/main" id="{800A36B9-2BA2-4C84-F5C1-103ECFDD8E34}"/>
              </a:ext>
            </a:extLst>
          </p:cNvPr>
          <p:cNvSpPr/>
          <p:nvPr/>
        </p:nvSpPr>
        <p:spPr>
          <a:xfrm rot="8100000">
            <a:off x="3312649" y="2545204"/>
            <a:ext cx="1223764" cy="1256327"/>
          </a:xfrm>
          <a:prstGeom prst="arc">
            <a:avLst/>
          </a:prstGeom>
          <a:ln w="57150">
            <a:solidFill>
              <a:schemeClr val="accent2"/>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BE" dirty="0"/>
          </a:p>
        </p:txBody>
      </p:sp>
      <p:sp>
        <p:nvSpPr>
          <p:cNvPr id="59" name="Arc 58">
            <a:extLst>
              <a:ext uri="{FF2B5EF4-FFF2-40B4-BE49-F238E27FC236}">
                <a16:creationId xmlns:a16="http://schemas.microsoft.com/office/drawing/2014/main" id="{35B7CB6F-8BD8-9762-71AC-AF5A5FC2A61F}"/>
              </a:ext>
            </a:extLst>
          </p:cNvPr>
          <p:cNvSpPr/>
          <p:nvPr/>
        </p:nvSpPr>
        <p:spPr>
          <a:xfrm rot="18900000">
            <a:off x="3363229" y="3016584"/>
            <a:ext cx="1223764" cy="1256327"/>
          </a:xfrm>
          <a:prstGeom prst="arc">
            <a:avLst/>
          </a:prstGeom>
          <a:ln w="57150">
            <a:solidFill>
              <a:schemeClr val="accent3"/>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BE"/>
          </a:p>
        </p:txBody>
      </p:sp>
      <p:pic>
        <p:nvPicPr>
          <p:cNvPr id="44" name="Picture 43">
            <a:extLst>
              <a:ext uri="{FF2B5EF4-FFF2-40B4-BE49-F238E27FC236}">
                <a16:creationId xmlns:a16="http://schemas.microsoft.com/office/drawing/2014/main" id="{361B0893-A9FF-A693-AD82-49CAB7C400D1}"/>
              </a:ext>
            </a:extLst>
          </p:cNvPr>
          <p:cNvPicPr>
            <a:picLocks noChangeAspect="1"/>
          </p:cNvPicPr>
          <p:nvPr/>
        </p:nvPicPr>
        <p:blipFill>
          <a:blip r:embed="rId4"/>
          <a:stretch>
            <a:fillRect/>
          </a:stretch>
        </p:blipFill>
        <p:spPr>
          <a:xfrm>
            <a:off x="756168" y="2510352"/>
            <a:ext cx="2469600" cy="2060961"/>
          </a:xfrm>
          <a:prstGeom prst="rect">
            <a:avLst/>
          </a:prstGeom>
        </p:spPr>
      </p:pic>
      <p:grpSp>
        <p:nvGrpSpPr>
          <p:cNvPr id="8" name="Group 7">
            <a:extLst>
              <a:ext uri="{FF2B5EF4-FFF2-40B4-BE49-F238E27FC236}">
                <a16:creationId xmlns:a16="http://schemas.microsoft.com/office/drawing/2014/main" id="{3B160364-0490-5484-E80B-248C17E5585F}"/>
              </a:ext>
            </a:extLst>
          </p:cNvPr>
          <p:cNvGrpSpPr/>
          <p:nvPr/>
        </p:nvGrpSpPr>
        <p:grpSpPr>
          <a:xfrm>
            <a:off x="3499802" y="1192183"/>
            <a:ext cx="5223139" cy="1874021"/>
            <a:chOff x="3499802" y="1192183"/>
            <a:chExt cx="5223139" cy="1874021"/>
          </a:xfrm>
        </p:grpSpPr>
        <p:sp>
          <p:nvSpPr>
            <p:cNvPr id="2" name="TextBox 1">
              <a:extLst>
                <a:ext uri="{FF2B5EF4-FFF2-40B4-BE49-F238E27FC236}">
                  <a16:creationId xmlns:a16="http://schemas.microsoft.com/office/drawing/2014/main" id="{7FA87F94-C3D0-B050-5457-29854C69A55D}"/>
                </a:ext>
              </a:extLst>
            </p:cNvPr>
            <p:cNvSpPr txBox="1"/>
            <p:nvPr/>
          </p:nvSpPr>
          <p:spPr>
            <a:xfrm rot="21109871">
              <a:off x="3499802" y="1192183"/>
              <a:ext cx="4456135" cy="1143494"/>
            </a:xfrm>
            <a:prstGeom prst="rect">
              <a:avLst/>
            </a:prstGeom>
            <a:solidFill>
              <a:schemeClr val="accent4">
                <a:lumMod val="40000"/>
                <a:lumOff val="60000"/>
              </a:schemeClr>
            </a:solidFill>
          </p:spPr>
          <p:txBody>
            <a:bodyPr wrap="square" rtlCol="0" anchor="ctr">
              <a:noAutofit/>
            </a:bodyPr>
            <a:lstStyle/>
            <a:p>
              <a:pPr algn="ctr">
                <a:lnSpc>
                  <a:spcPct val="85000"/>
                </a:lnSpc>
              </a:pPr>
              <a:r>
                <a:rPr lang="en-US" sz="3200" b="1" dirty="0">
                  <a:solidFill>
                    <a:schemeClr val="accent4">
                      <a:lumMod val="50000"/>
                    </a:schemeClr>
                  </a:solidFill>
                  <a:latin typeface="Caveat" pitchFamily="2" charset="77"/>
                </a:rPr>
                <a:t>Challenge: Learn </a:t>
              </a:r>
              <a:r>
                <a:rPr lang="en-US" sz="3200" b="1" u="sng" dirty="0">
                  <a:solidFill>
                    <a:schemeClr val="accent4">
                      <a:lumMod val="50000"/>
                    </a:schemeClr>
                  </a:solidFill>
                  <a:latin typeface="Caveat" pitchFamily="2" charset="77"/>
                </a:rPr>
                <a:t>good policy</a:t>
              </a:r>
              <a:br>
                <a:rPr lang="en-US" sz="3200" b="1" u="sng" dirty="0">
                  <a:solidFill>
                    <a:schemeClr val="accent4">
                      <a:lumMod val="50000"/>
                    </a:schemeClr>
                  </a:solidFill>
                  <a:latin typeface="Caveat" pitchFamily="2" charset="77"/>
                </a:rPr>
              </a:br>
              <a:r>
                <a:rPr lang="en-US" sz="3200" b="1" dirty="0">
                  <a:solidFill>
                    <a:schemeClr val="accent4">
                      <a:lumMod val="50000"/>
                    </a:schemeClr>
                  </a:solidFill>
                  <a:latin typeface="Caveat" pitchFamily="2" charset="77"/>
                </a:rPr>
                <a:t>from </a:t>
              </a:r>
              <a:r>
                <a:rPr lang="en-US" sz="3200" b="1" u="sng" dirty="0">
                  <a:solidFill>
                    <a:schemeClr val="accent4">
                      <a:lumMod val="50000"/>
                    </a:schemeClr>
                  </a:solidFill>
                  <a:latin typeface="Caveat" pitchFamily="2" charset="77"/>
                </a:rPr>
                <a:t>little data!</a:t>
              </a:r>
            </a:p>
          </p:txBody>
        </p:sp>
        <p:sp>
          <p:nvSpPr>
            <p:cNvPr id="6" name="Freeform 5">
              <a:extLst>
                <a:ext uri="{FF2B5EF4-FFF2-40B4-BE49-F238E27FC236}">
                  <a16:creationId xmlns:a16="http://schemas.microsoft.com/office/drawing/2014/main" id="{AD7BAF30-B803-6B60-A1BD-033E16D8CC94}"/>
                </a:ext>
              </a:extLst>
            </p:cNvPr>
            <p:cNvSpPr/>
            <p:nvPr/>
          </p:nvSpPr>
          <p:spPr>
            <a:xfrm>
              <a:off x="6966731" y="1694604"/>
              <a:ext cx="1756210" cy="1371600"/>
            </a:xfrm>
            <a:custGeom>
              <a:avLst/>
              <a:gdLst>
                <a:gd name="csX0" fmla="*/ 0 w 1756210"/>
                <a:gd name="csY0" fmla="*/ 0 h 1371600"/>
                <a:gd name="csX1" fmla="*/ 1527243 w 1756210"/>
                <a:gd name="csY1" fmla="*/ 544749 h 1371600"/>
                <a:gd name="csX2" fmla="*/ 1721796 w 1756210"/>
                <a:gd name="csY2" fmla="*/ 1371600 h 1371600"/>
              </a:gdLst>
              <a:ahLst/>
              <a:cxnLst>
                <a:cxn ang="0">
                  <a:pos x="csX0" y="csY0"/>
                </a:cxn>
                <a:cxn ang="0">
                  <a:pos x="csX1" y="csY1"/>
                </a:cxn>
                <a:cxn ang="0">
                  <a:pos x="csX2" y="csY2"/>
                </a:cxn>
              </a:cxnLst>
              <a:rect l="l" t="t" r="r" b="b"/>
              <a:pathLst>
                <a:path w="1756210" h="1371600">
                  <a:moveTo>
                    <a:pt x="0" y="0"/>
                  </a:moveTo>
                  <a:cubicBezTo>
                    <a:pt x="620138" y="158074"/>
                    <a:pt x="1240277" y="316149"/>
                    <a:pt x="1527243" y="544749"/>
                  </a:cubicBezTo>
                  <a:cubicBezTo>
                    <a:pt x="1814209" y="773349"/>
                    <a:pt x="1768002" y="1072474"/>
                    <a:pt x="1721796" y="1371600"/>
                  </a:cubicBezTo>
                </a:path>
              </a:pathLst>
            </a:custGeom>
            <a:noFill/>
            <a:ln w="76200">
              <a:solidFill>
                <a:schemeClr val="accent4">
                  <a:lumMod val="40000"/>
                  <a:lumOff val="60000"/>
                </a:schemeClr>
              </a:solidFill>
              <a:headEnd type="none" w="med" len="med"/>
              <a:tailEnd type="triangle" w="med" len="me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BE"/>
            </a:p>
          </p:txBody>
        </p:sp>
      </p:grpSp>
      <p:sp>
        <p:nvSpPr>
          <p:cNvPr id="9" name="Slide Number Placeholder 8">
            <a:extLst>
              <a:ext uri="{FF2B5EF4-FFF2-40B4-BE49-F238E27FC236}">
                <a16:creationId xmlns:a16="http://schemas.microsoft.com/office/drawing/2014/main" id="{1CB47268-4A6E-230C-C41A-45D47F3316BC}"/>
              </a:ext>
            </a:extLst>
          </p:cNvPr>
          <p:cNvSpPr>
            <a:spLocks noGrp="1"/>
          </p:cNvSpPr>
          <p:nvPr>
            <p:ph type="sldNum" sz="quarter" idx="11"/>
          </p:nvPr>
        </p:nvSpPr>
        <p:spPr/>
        <p:txBody>
          <a:bodyPr/>
          <a:lstStyle/>
          <a:p>
            <a:pPr>
              <a:defRPr/>
            </a:pPr>
            <a:fld id="{968663A2-1950-48E6-8399-8A0176E7D7D3}" type="slidenum">
              <a:rPr lang="en-US" smtClean="0"/>
              <a:pPr>
                <a:defRPr/>
              </a:pPr>
              <a:t>7</a:t>
            </a:fld>
            <a:endParaRPr lang="en-US"/>
          </a:p>
        </p:txBody>
      </p:sp>
    </p:spTree>
    <p:extLst>
      <p:ext uri="{BB962C8B-B14F-4D97-AF65-F5344CB8AC3E}">
        <p14:creationId xmlns:p14="http://schemas.microsoft.com/office/powerpoint/2010/main" val="109859442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F2DA609C-E356-38C1-3C21-95785B34BB8B}"/>
              </a:ext>
            </a:extLst>
          </p:cNvPr>
          <p:cNvSpPr/>
          <p:nvPr/>
        </p:nvSpPr>
        <p:spPr>
          <a:xfrm>
            <a:off x="369870" y="4569205"/>
            <a:ext cx="5959011" cy="927470"/>
          </a:xfrm>
          <a:prstGeom prst="rect">
            <a:avLst/>
          </a:prstGeom>
          <a:solidFill>
            <a:schemeClr val="accent2">
              <a:lumMod val="20000"/>
              <a:lumOff val="80000"/>
            </a:schemeClr>
          </a:solidFill>
          <a:ln>
            <a:noFill/>
          </a:ln>
        </p:spPr>
        <p:style>
          <a:lnRef idx="2">
            <a:schemeClr val="accent3">
              <a:shade val="15000"/>
            </a:schemeClr>
          </a:lnRef>
          <a:fillRef idx="1">
            <a:schemeClr val="accent3"/>
          </a:fillRef>
          <a:effectRef idx="0">
            <a:schemeClr val="accent3"/>
          </a:effectRef>
          <a:fontRef idx="minor">
            <a:schemeClr val="lt1"/>
          </a:fontRef>
        </p:style>
        <p:txBody>
          <a:bodyPr rtlCol="0" anchor="ctr"/>
          <a:lstStyle/>
          <a:p>
            <a:pPr algn="ctr"/>
            <a:endParaRPr lang="en-BE"/>
          </a:p>
        </p:txBody>
      </p:sp>
      <p:sp>
        <p:nvSpPr>
          <p:cNvPr id="5" name="Title 4">
            <a:extLst>
              <a:ext uri="{FF2B5EF4-FFF2-40B4-BE49-F238E27FC236}">
                <a16:creationId xmlns:a16="http://schemas.microsoft.com/office/drawing/2014/main" id="{6A6A376F-A893-0FB9-E208-3EF07F661D8D}"/>
              </a:ext>
            </a:extLst>
          </p:cNvPr>
          <p:cNvSpPr>
            <a:spLocks noGrp="1"/>
          </p:cNvSpPr>
          <p:nvPr>
            <p:ph type="title"/>
          </p:nvPr>
        </p:nvSpPr>
        <p:spPr/>
        <p:txBody>
          <a:bodyPr/>
          <a:lstStyle/>
          <a:p>
            <a:r>
              <a:rPr lang="en-BE" dirty="0"/>
              <a:t>Reinforcement Learning: Agent acts in an environment</a:t>
            </a:r>
          </a:p>
        </p:txBody>
      </p:sp>
      <p:sp>
        <p:nvSpPr>
          <p:cNvPr id="28" name="Content Placeholder 27">
            <a:extLst>
              <a:ext uri="{FF2B5EF4-FFF2-40B4-BE49-F238E27FC236}">
                <a16:creationId xmlns:a16="http://schemas.microsoft.com/office/drawing/2014/main" id="{A53ADD9B-BFD7-2D9A-3F8A-08E253A48A43}"/>
              </a:ext>
            </a:extLst>
          </p:cNvPr>
          <p:cNvSpPr>
            <a:spLocks noGrp="1"/>
          </p:cNvSpPr>
          <p:nvPr>
            <p:ph idx="1"/>
          </p:nvPr>
        </p:nvSpPr>
        <p:spPr>
          <a:prstGeom prst="rect">
            <a:avLst/>
          </a:prstGeom>
        </p:spPr>
        <p:txBody>
          <a:bodyPr/>
          <a:lstStyle/>
          <a:p>
            <a:r>
              <a:rPr lang="en-BE" dirty="0"/>
              <a:t>At each timestep </a:t>
            </a:r>
            <a:r>
              <a:rPr lang="en-BE" i="1" dirty="0"/>
              <a:t>t </a:t>
            </a:r>
            <a:r>
              <a:rPr lang="en-BE" dirty="0"/>
              <a:t> the agent</a:t>
            </a:r>
          </a:p>
          <a:p>
            <a:pPr lvl="1"/>
            <a:r>
              <a:rPr lang="en-BE" dirty="0"/>
              <a:t>Gets </a:t>
            </a:r>
            <a:r>
              <a:rPr lang="en-BE" b="1" dirty="0">
                <a:solidFill>
                  <a:schemeClr val="accent3"/>
                </a:solidFill>
              </a:rPr>
              <a:t>state</a:t>
            </a:r>
            <a:r>
              <a:rPr lang="en-BE" dirty="0"/>
              <a:t> observation </a:t>
            </a:r>
            <a:r>
              <a:rPr lang="en-BE" i="1" dirty="0"/>
              <a:t>s</a:t>
            </a:r>
            <a:r>
              <a:rPr lang="en-BE" i="1" baseline="-25000" dirty="0"/>
              <a:t>t</a:t>
            </a:r>
          </a:p>
          <a:p>
            <a:pPr lvl="1"/>
            <a:r>
              <a:rPr lang="en-BE" dirty="0"/>
              <a:t>Gets scalar </a:t>
            </a:r>
            <a:r>
              <a:rPr lang="en-BE" b="1" dirty="0">
                <a:solidFill>
                  <a:schemeClr val="accent3"/>
                </a:solidFill>
              </a:rPr>
              <a:t>reward</a:t>
            </a:r>
            <a:r>
              <a:rPr lang="en-BE" dirty="0"/>
              <a:t> </a:t>
            </a:r>
            <a:r>
              <a:rPr lang="en-BE" i="1" dirty="0"/>
              <a:t>r</a:t>
            </a:r>
            <a:r>
              <a:rPr lang="en-BE" i="1" baseline="-25000" dirty="0"/>
              <a:t>t </a:t>
            </a:r>
            <a:r>
              <a:rPr lang="en-BE" i="1" dirty="0"/>
              <a:t>  </a:t>
            </a:r>
            <a:r>
              <a:rPr lang="en-BE" dirty="0">
                <a:solidFill>
                  <a:schemeClr val="bg2">
                    <a:lumMod val="60000"/>
                    <a:lumOff val="40000"/>
                  </a:schemeClr>
                </a:solidFill>
              </a:rPr>
              <a:t>(depending on current state and thus previous action(s))</a:t>
            </a:r>
            <a:endParaRPr lang="en-BE" i="1" baseline="-25000" dirty="0"/>
          </a:p>
          <a:p>
            <a:pPr lvl="1"/>
            <a:r>
              <a:rPr lang="en-BE" dirty="0"/>
              <a:t>Decides to take </a:t>
            </a:r>
            <a:r>
              <a:rPr lang="en-BE" b="1" dirty="0">
                <a:solidFill>
                  <a:schemeClr val="accent2"/>
                </a:solidFill>
              </a:rPr>
              <a:t>action</a:t>
            </a:r>
            <a:r>
              <a:rPr lang="en-BE" dirty="0"/>
              <a:t> </a:t>
            </a:r>
            <a:r>
              <a:rPr lang="en-BE" i="1" dirty="0"/>
              <a:t>a</a:t>
            </a:r>
            <a:r>
              <a:rPr lang="en-BE" i="1" baseline="-25000" dirty="0"/>
              <a:t>t</a:t>
            </a:r>
          </a:p>
          <a:p>
            <a:r>
              <a:rPr lang="en-BE" dirty="0"/>
              <a:t>The environment</a:t>
            </a:r>
          </a:p>
          <a:p>
            <a:pPr lvl="1"/>
            <a:r>
              <a:rPr lang="en-BE" dirty="0"/>
              <a:t>Receives action </a:t>
            </a:r>
            <a:r>
              <a:rPr lang="en-BE" i="1" dirty="0"/>
              <a:t>a</a:t>
            </a:r>
            <a:r>
              <a:rPr lang="en-BE" i="1" baseline="-25000" dirty="0"/>
              <a:t>t</a:t>
            </a:r>
          </a:p>
          <a:p>
            <a:pPr lvl="1"/>
            <a:r>
              <a:rPr lang="en-BE" dirty="0"/>
              <a:t>Emits </a:t>
            </a:r>
            <a:r>
              <a:rPr lang="en-BE" b="1" dirty="0"/>
              <a:t>state</a:t>
            </a:r>
            <a:r>
              <a:rPr lang="en-BE" dirty="0"/>
              <a:t> </a:t>
            </a:r>
            <a:r>
              <a:rPr lang="en-BE" i="1" dirty="0"/>
              <a:t>s</a:t>
            </a:r>
            <a:r>
              <a:rPr lang="en-BE" i="1" baseline="-25000" dirty="0"/>
              <a:t>t </a:t>
            </a:r>
            <a:r>
              <a:rPr lang="en-BE" baseline="-25000" dirty="0"/>
              <a:t>+1</a:t>
            </a:r>
            <a:r>
              <a:rPr lang="en-BE" dirty="0"/>
              <a:t>  </a:t>
            </a:r>
            <a:r>
              <a:rPr lang="en-BE" dirty="0">
                <a:solidFill>
                  <a:schemeClr val="bg2">
                    <a:lumMod val="60000"/>
                    <a:lumOff val="40000"/>
                  </a:schemeClr>
                </a:solidFill>
              </a:rPr>
              <a:t>(which will depend on action)</a:t>
            </a:r>
            <a:endParaRPr lang="en-BE" baseline="-25000" dirty="0">
              <a:solidFill>
                <a:schemeClr val="bg2">
                  <a:lumMod val="60000"/>
                  <a:lumOff val="40000"/>
                </a:schemeClr>
              </a:solidFill>
            </a:endParaRPr>
          </a:p>
          <a:p>
            <a:pPr lvl="1"/>
            <a:r>
              <a:rPr lang="en-BE" dirty="0"/>
              <a:t>Emits scalar </a:t>
            </a:r>
            <a:r>
              <a:rPr lang="en-BE" b="1" dirty="0"/>
              <a:t>reward</a:t>
            </a:r>
            <a:r>
              <a:rPr lang="en-BE" dirty="0"/>
              <a:t> </a:t>
            </a:r>
            <a:r>
              <a:rPr lang="en-BE" i="1" dirty="0"/>
              <a:t>r</a:t>
            </a:r>
            <a:r>
              <a:rPr lang="en-BE" i="1" baseline="-25000" dirty="0"/>
              <a:t>t</a:t>
            </a:r>
            <a:r>
              <a:rPr lang="en-BE" baseline="-25000" dirty="0"/>
              <a:t> + 1</a:t>
            </a:r>
            <a:endParaRPr lang="en-BE" i="1" baseline="-25000" dirty="0"/>
          </a:p>
          <a:p>
            <a:pPr lvl="1"/>
            <a:endParaRPr lang="en-BE" i="1" baseline="-25000" dirty="0"/>
          </a:p>
          <a:p>
            <a:pPr marL="0" indent="0">
              <a:buNone/>
            </a:pPr>
            <a:r>
              <a:rPr lang="en-BE" b="1" dirty="0"/>
              <a:t>RL idea</a:t>
            </a:r>
            <a:r>
              <a:rPr lang="en-BE" dirty="0"/>
              <a:t>: learn a policy that maps state </a:t>
            </a:r>
            <a:r>
              <a:rPr lang="en-BE" i="1" dirty="0"/>
              <a:t>s</a:t>
            </a:r>
            <a:r>
              <a:rPr lang="en-BE" i="1" baseline="-25000" dirty="0"/>
              <a:t>t</a:t>
            </a:r>
            <a:r>
              <a:rPr lang="en-BE" dirty="0"/>
              <a:t>  to action </a:t>
            </a:r>
            <a:r>
              <a:rPr lang="en-BE" i="1" dirty="0"/>
              <a:t>a</a:t>
            </a:r>
            <a:r>
              <a:rPr lang="en-BE" i="1" baseline="-25000" dirty="0"/>
              <a:t>t </a:t>
            </a:r>
            <a:r>
              <a:rPr lang="en-BE" i="1" dirty="0"/>
              <a:t>,</a:t>
            </a:r>
            <a:br>
              <a:rPr lang="en-BE" i="1" dirty="0"/>
            </a:br>
            <a:r>
              <a:rPr lang="en-BE" dirty="0"/>
              <a:t>such that long-term reward ∑</a:t>
            </a:r>
            <a:r>
              <a:rPr lang="en-BE" i="1" dirty="0"/>
              <a:t>r</a:t>
            </a:r>
            <a:r>
              <a:rPr lang="en-BE" i="1" baseline="-25000" dirty="0"/>
              <a:t>t</a:t>
            </a:r>
            <a:r>
              <a:rPr lang="en-BE" dirty="0"/>
              <a:t>  is maximized </a:t>
            </a:r>
            <a:r>
              <a:rPr lang="en-BE" dirty="0">
                <a:solidFill>
                  <a:schemeClr val="accent3"/>
                </a:solidFill>
              </a:rPr>
              <a:t> </a:t>
            </a:r>
          </a:p>
          <a:p>
            <a:pPr lvl="1"/>
            <a:endParaRPr lang="en-BE" dirty="0"/>
          </a:p>
        </p:txBody>
      </p:sp>
      <p:sp>
        <p:nvSpPr>
          <p:cNvPr id="4" name="Footer Placeholder 3">
            <a:extLst>
              <a:ext uri="{FF2B5EF4-FFF2-40B4-BE49-F238E27FC236}">
                <a16:creationId xmlns:a16="http://schemas.microsoft.com/office/drawing/2014/main" id="{DE8325DA-76DB-F9B8-C6AD-B081B83B89F8}"/>
              </a:ext>
            </a:extLst>
          </p:cNvPr>
          <p:cNvSpPr>
            <a:spLocks noGrp="1"/>
          </p:cNvSpPr>
          <p:nvPr>
            <p:ph type="ftr" sz="quarter" idx="10"/>
          </p:nvPr>
        </p:nvSpPr>
        <p:spPr/>
        <p:txBody>
          <a:bodyPr/>
          <a:lstStyle/>
          <a:p>
            <a:pPr>
              <a:defRPr/>
            </a:pPr>
            <a:r>
              <a:rPr lang="en-US"/>
              <a:t>C. Develder, "AI4E: Data-efficient and scalable algorithmss to exploit energy flexibility"</a:t>
            </a:r>
          </a:p>
        </p:txBody>
      </p:sp>
      <p:sp>
        <p:nvSpPr>
          <p:cNvPr id="35" name="Arc 34">
            <a:extLst>
              <a:ext uri="{FF2B5EF4-FFF2-40B4-BE49-F238E27FC236}">
                <a16:creationId xmlns:a16="http://schemas.microsoft.com/office/drawing/2014/main" id="{C3F9F08D-745F-FE0F-7A28-40C10151C5A0}"/>
              </a:ext>
            </a:extLst>
          </p:cNvPr>
          <p:cNvSpPr/>
          <p:nvPr/>
        </p:nvSpPr>
        <p:spPr>
          <a:xfrm rot="2700000">
            <a:off x="8691713" y="1612539"/>
            <a:ext cx="2483427" cy="2483427"/>
          </a:xfrm>
          <a:prstGeom prst="arc">
            <a:avLst/>
          </a:prstGeom>
          <a:ln w="57150">
            <a:solidFill>
              <a:schemeClr val="accent2"/>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BE" dirty="0"/>
          </a:p>
        </p:txBody>
      </p:sp>
      <p:sp>
        <p:nvSpPr>
          <p:cNvPr id="36" name="Arc 35">
            <a:extLst>
              <a:ext uri="{FF2B5EF4-FFF2-40B4-BE49-F238E27FC236}">
                <a16:creationId xmlns:a16="http://schemas.microsoft.com/office/drawing/2014/main" id="{A7B4D4B4-C2DE-310A-791C-9EFE62B9A06E}"/>
              </a:ext>
            </a:extLst>
          </p:cNvPr>
          <p:cNvSpPr/>
          <p:nvPr/>
        </p:nvSpPr>
        <p:spPr>
          <a:xfrm rot="13500000">
            <a:off x="9357491" y="1603969"/>
            <a:ext cx="2483427" cy="2483427"/>
          </a:xfrm>
          <a:prstGeom prst="arc">
            <a:avLst/>
          </a:prstGeom>
          <a:ln w="57150">
            <a:solidFill>
              <a:schemeClr val="accent3"/>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BE"/>
          </a:p>
        </p:txBody>
      </p:sp>
      <p:sp>
        <p:nvSpPr>
          <p:cNvPr id="38" name="Arc 37">
            <a:extLst>
              <a:ext uri="{FF2B5EF4-FFF2-40B4-BE49-F238E27FC236}">
                <a16:creationId xmlns:a16="http://schemas.microsoft.com/office/drawing/2014/main" id="{23019A14-3AAD-27BD-637D-3196168C9C05}"/>
              </a:ext>
            </a:extLst>
          </p:cNvPr>
          <p:cNvSpPr/>
          <p:nvPr/>
        </p:nvSpPr>
        <p:spPr>
          <a:xfrm rot="13500000">
            <a:off x="8728174" y="1603971"/>
            <a:ext cx="2483427" cy="2483427"/>
          </a:xfrm>
          <a:prstGeom prst="arc">
            <a:avLst/>
          </a:prstGeom>
          <a:ln w="57150">
            <a:solidFill>
              <a:schemeClr val="accent3"/>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BE"/>
          </a:p>
        </p:txBody>
      </p:sp>
      <p:sp>
        <p:nvSpPr>
          <p:cNvPr id="39" name="TextBox 38">
            <a:extLst>
              <a:ext uri="{FF2B5EF4-FFF2-40B4-BE49-F238E27FC236}">
                <a16:creationId xmlns:a16="http://schemas.microsoft.com/office/drawing/2014/main" id="{07A58AA4-081D-B2D3-60E9-B49C5BC30EA4}"/>
              </a:ext>
            </a:extLst>
          </p:cNvPr>
          <p:cNvSpPr txBox="1"/>
          <p:nvPr/>
        </p:nvSpPr>
        <p:spPr>
          <a:xfrm>
            <a:off x="8554720" y="3682333"/>
            <a:ext cx="766557" cy="461665"/>
          </a:xfrm>
          <a:prstGeom prst="rect">
            <a:avLst/>
          </a:prstGeom>
          <a:noFill/>
        </p:spPr>
        <p:txBody>
          <a:bodyPr wrap="none" rtlCol="0">
            <a:spAutoFit/>
          </a:bodyPr>
          <a:lstStyle/>
          <a:p>
            <a:r>
              <a:rPr lang="en-BE" sz="2400" b="1" dirty="0">
                <a:solidFill>
                  <a:schemeClr val="accent3"/>
                </a:solidFill>
                <a:latin typeface="UGent Panno Text" panose="02000506040000040003" pitchFamily="2" charset="0"/>
              </a:rPr>
              <a:t>State</a:t>
            </a:r>
          </a:p>
        </p:txBody>
      </p:sp>
      <p:sp>
        <p:nvSpPr>
          <p:cNvPr id="40" name="TextBox 39">
            <a:extLst>
              <a:ext uri="{FF2B5EF4-FFF2-40B4-BE49-F238E27FC236}">
                <a16:creationId xmlns:a16="http://schemas.microsoft.com/office/drawing/2014/main" id="{6C20B892-3ECA-AED0-DCF5-C914C582EA1B}"/>
              </a:ext>
            </a:extLst>
          </p:cNvPr>
          <p:cNvSpPr txBox="1"/>
          <p:nvPr/>
        </p:nvSpPr>
        <p:spPr>
          <a:xfrm>
            <a:off x="9290004" y="3682333"/>
            <a:ext cx="1037463" cy="461665"/>
          </a:xfrm>
          <a:prstGeom prst="rect">
            <a:avLst/>
          </a:prstGeom>
          <a:noFill/>
        </p:spPr>
        <p:txBody>
          <a:bodyPr wrap="none" rtlCol="0">
            <a:spAutoFit/>
          </a:bodyPr>
          <a:lstStyle/>
          <a:p>
            <a:r>
              <a:rPr lang="en-BE" sz="2400" b="1" dirty="0">
                <a:solidFill>
                  <a:schemeClr val="accent3"/>
                </a:solidFill>
                <a:latin typeface="UGent Panno Text" panose="02000506040000040003" pitchFamily="2" charset="0"/>
              </a:rPr>
              <a:t>Reward</a:t>
            </a:r>
          </a:p>
        </p:txBody>
      </p:sp>
      <p:sp>
        <p:nvSpPr>
          <p:cNvPr id="41" name="Cloud Callout 40">
            <a:extLst>
              <a:ext uri="{FF2B5EF4-FFF2-40B4-BE49-F238E27FC236}">
                <a16:creationId xmlns:a16="http://schemas.microsoft.com/office/drawing/2014/main" id="{F69672FC-7796-242E-817A-E6632EF2EE69}"/>
              </a:ext>
            </a:extLst>
          </p:cNvPr>
          <p:cNvSpPr/>
          <p:nvPr/>
        </p:nvSpPr>
        <p:spPr>
          <a:xfrm>
            <a:off x="10289001" y="835241"/>
            <a:ext cx="1143422" cy="639899"/>
          </a:xfrm>
          <a:prstGeom prst="cloudCallout">
            <a:avLst>
              <a:gd name="adj1" fmla="val -75498"/>
              <a:gd name="adj2" fmla="val 8914"/>
            </a:avLst>
          </a:prstGeom>
          <a:solidFill>
            <a:schemeClr val="bg1"/>
          </a:solid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BE"/>
          </a:p>
        </p:txBody>
      </p:sp>
      <p:sp>
        <p:nvSpPr>
          <p:cNvPr id="42" name="TextBox 41">
            <a:extLst>
              <a:ext uri="{FF2B5EF4-FFF2-40B4-BE49-F238E27FC236}">
                <a16:creationId xmlns:a16="http://schemas.microsoft.com/office/drawing/2014/main" id="{8869FD9D-3608-37C9-AFBD-DF2A9B8001A6}"/>
              </a:ext>
            </a:extLst>
          </p:cNvPr>
          <p:cNvSpPr txBox="1"/>
          <p:nvPr/>
        </p:nvSpPr>
        <p:spPr>
          <a:xfrm>
            <a:off x="10371358" y="897354"/>
            <a:ext cx="889987" cy="461665"/>
          </a:xfrm>
          <a:prstGeom prst="rect">
            <a:avLst/>
          </a:prstGeom>
          <a:noFill/>
        </p:spPr>
        <p:txBody>
          <a:bodyPr wrap="none" rtlCol="0">
            <a:spAutoFit/>
          </a:bodyPr>
          <a:lstStyle/>
          <a:p>
            <a:r>
              <a:rPr lang="en-BE" sz="2400" b="1" dirty="0">
                <a:solidFill>
                  <a:schemeClr val="accent2"/>
                </a:solidFill>
                <a:latin typeface="UGent Panno Text" panose="02000506040000040003" pitchFamily="2" charset="0"/>
              </a:rPr>
              <a:t>Action</a:t>
            </a:r>
          </a:p>
        </p:txBody>
      </p:sp>
      <p:pic>
        <p:nvPicPr>
          <p:cNvPr id="43" name="Content Placeholder 16">
            <a:extLst>
              <a:ext uri="{FF2B5EF4-FFF2-40B4-BE49-F238E27FC236}">
                <a16:creationId xmlns:a16="http://schemas.microsoft.com/office/drawing/2014/main" id="{8974AD1A-8D24-E294-3F04-96F93A062A0A}"/>
              </a:ext>
            </a:extLst>
          </p:cNvPr>
          <p:cNvPicPr>
            <a:picLocks noChangeAspect="1"/>
          </p:cNvPicPr>
          <p:nvPr/>
        </p:nvPicPr>
        <p:blipFill>
          <a:blip r:embed="rId2">
            <a:clrChange>
              <a:clrFrom>
                <a:srgbClr val="F6F6F6"/>
              </a:clrFrom>
              <a:clrTo>
                <a:srgbClr val="F6F6F6">
                  <a:alpha val="0"/>
                </a:srgbClr>
              </a:clrTo>
            </a:clrChange>
            <a:extLst>
              <a:ext uri="{28A0092B-C50C-407E-A947-70E740481C1C}">
                <a14:useLocalDpi xmlns:a14="http://schemas.microsoft.com/office/drawing/2010/main" val="0"/>
              </a:ext>
            </a:extLst>
          </a:blip>
          <a:stretch>
            <a:fillRect/>
          </a:stretch>
        </p:blipFill>
        <p:spPr bwMode="auto">
          <a:xfrm>
            <a:off x="8960231" y="4044030"/>
            <a:ext cx="2189233" cy="1762065"/>
          </a:xfrm>
          <a:prstGeom prst="rect">
            <a:avLst/>
          </a:prstGeom>
          <a:noFill/>
          <a:ln w="9525">
            <a:noFill/>
            <a:miter lim="800000"/>
            <a:headEnd/>
            <a:tailEnd/>
          </a:ln>
        </p:spPr>
      </p:pic>
      <p:sp>
        <p:nvSpPr>
          <p:cNvPr id="44" name="TextBox 43">
            <a:extLst>
              <a:ext uri="{FF2B5EF4-FFF2-40B4-BE49-F238E27FC236}">
                <a16:creationId xmlns:a16="http://schemas.microsoft.com/office/drawing/2014/main" id="{EA685A67-1902-8B6A-C8CA-96B1BE18106A}"/>
              </a:ext>
            </a:extLst>
          </p:cNvPr>
          <p:cNvSpPr txBox="1"/>
          <p:nvPr/>
        </p:nvSpPr>
        <p:spPr>
          <a:xfrm>
            <a:off x="8324141" y="2572001"/>
            <a:ext cx="396063" cy="369332"/>
          </a:xfrm>
          <a:prstGeom prst="rect">
            <a:avLst/>
          </a:prstGeom>
          <a:noFill/>
        </p:spPr>
        <p:txBody>
          <a:bodyPr wrap="square">
            <a:spAutoFit/>
          </a:bodyPr>
          <a:lstStyle/>
          <a:p>
            <a:r>
              <a:rPr lang="en-BE" sz="1800" i="1" dirty="0">
                <a:solidFill>
                  <a:schemeClr val="accent3"/>
                </a:solidFill>
                <a:latin typeface="+mn-lt"/>
              </a:rPr>
              <a:t>s</a:t>
            </a:r>
            <a:r>
              <a:rPr lang="en-BE" sz="1800" i="1" baseline="-25000" dirty="0">
                <a:solidFill>
                  <a:schemeClr val="accent3"/>
                </a:solidFill>
                <a:latin typeface="+mn-lt"/>
              </a:rPr>
              <a:t>t</a:t>
            </a:r>
            <a:endParaRPr lang="en-BE" sz="1800" dirty="0">
              <a:solidFill>
                <a:schemeClr val="accent3"/>
              </a:solidFill>
              <a:latin typeface="+mn-lt"/>
            </a:endParaRPr>
          </a:p>
        </p:txBody>
      </p:sp>
      <p:sp>
        <p:nvSpPr>
          <p:cNvPr id="45" name="TextBox 44">
            <a:extLst>
              <a:ext uri="{FF2B5EF4-FFF2-40B4-BE49-F238E27FC236}">
                <a16:creationId xmlns:a16="http://schemas.microsoft.com/office/drawing/2014/main" id="{76703F1B-A21F-FBBF-953C-C12BE647D694}"/>
              </a:ext>
            </a:extLst>
          </p:cNvPr>
          <p:cNvSpPr txBox="1"/>
          <p:nvPr/>
        </p:nvSpPr>
        <p:spPr>
          <a:xfrm>
            <a:off x="8778998" y="2572001"/>
            <a:ext cx="396063" cy="369332"/>
          </a:xfrm>
          <a:prstGeom prst="rect">
            <a:avLst/>
          </a:prstGeom>
          <a:noFill/>
        </p:spPr>
        <p:txBody>
          <a:bodyPr wrap="square">
            <a:spAutoFit/>
          </a:bodyPr>
          <a:lstStyle/>
          <a:p>
            <a:r>
              <a:rPr lang="en-BE" sz="1800" i="1" dirty="0">
                <a:solidFill>
                  <a:schemeClr val="accent3"/>
                </a:solidFill>
                <a:latin typeface="+mn-lt"/>
              </a:rPr>
              <a:t>r</a:t>
            </a:r>
            <a:r>
              <a:rPr lang="en-BE" sz="1800" i="1" baseline="-25000" dirty="0">
                <a:solidFill>
                  <a:schemeClr val="accent3"/>
                </a:solidFill>
                <a:latin typeface="+mn-lt"/>
              </a:rPr>
              <a:t>t</a:t>
            </a:r>
            <a:endParaRPr lang="en-BE" sz="1800" dirty="0">
              <a:solidFill>
                <a:schemeClr val="accent3"/>
              </a:solidFill>
              <a:latin typeface="+mn-lt"/>
            </a:endParaRPr>
          </a:p>
        </p:txBody>
      </p:sp>
      <p:sp>
        <p:nvSpPr>
          <p:cNvPr id="46" name="TextBox 45">
            <a:extLst>
              <a:ext uri="{FF2B5EF4-FFF2-40B4-BE49-F238E27FC236}">
                <a16:creationId xmlns:a16="http://schemas.microsoft.com/office/drawing/2014/main" id="{508786DC-A810-B082-0869-516F2F32D0D2}"/>
              </a:ext>
            </a:extLst>
          </p:cNvPr>
          <p:cNvSpPr txBox="1"/>
          <p:nvPr/>
        </p:nvSpPr>
        <p:spPr>
          <a:xfrm>
            <a:off x="11198551" y="2605094"/>
            <a:ext cx="396063" cy="369332"/>
          </a:xfrm>
          <a:prstGeom prst="rect">
            <a:avLst/>
          </a:prstGeom>
          <a:noFill/>
        </p:spPr>
        <p:txBody>
          <a:bodyPr wrap="square">
            <a:spAutoFit/>
          </a:bodyPr>
          <a:lstStyle/>
          <a:p>
            <a:r>
              <a:rPr lang="en-BE" sz="1800" i="1" dirty="0">
                <a:solidFill>
                  <a:schemeClr val="accent2"/>
                </a:solidFill>
                <a:latin typeface="+mn-lt"/>
              </a:rPr>
              <a:t>a</a:t>
            </a:r>
            <a:r>
              <a:rPr lang="en-BE" sz="1800" i="1" baseline="-25000" dirty="0">
                <a:solidFill>
                  <a:schemeClr val="accent2"/>
                </a:solidFill>
                <a:latin typeface="+mn-lt"/>
              </a:rPr>
              <a:t>t</a:t>
            </a:r>
            <a:endParaRPr lang="en-BE" sz="1800" dirty="0">
              <a:solidFill>
                <a:schemeClr val="accent2"/>
              </a:solidFill>
              <a:latin typeface="+mn-lt"/>
            </a:endParaRPr>
          </a:p>
        </p:txBody>
      </p:sp>
      <p:sp>
        <p:nvSpPr>
          <p:cNvPr id="47" name="Oval 46">
            <a:extLst>
              <a:ext uri="{FF2B5EF4-FFF2-40B4-BE49-F238E27FC236}">
                <a16:creationId xmlns:a16="http://schemas.microsoft.com/office/drawing/2014/main" id="{62BDAD4C-5797-0C9D-F413-5CFB5625BAD4}"/>
              </a:ext>
            </a:extLst>
          </p:cNvPr>
          <p:cNvSpPr/>
          <p:nvPr/>
        </p:nvSpPr>
        <p:spPr>
          <a:xfrm>
            <a:off x="9126667" y="2586167"/>
            <a:ext cx="444137" cy="402425"/>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BE"/>
          </a:p>
        </p:txBody>
      </p:sp>
      <p:pic>
        <p:nvPicPr>
          <p:cNvPr id="48" name="Content Placeholder 10">
            <a:extLst>
              <a:ext uri="{FF2B5EF4-FFF2-40B4-BE49-F238E27FC236}">
                <a16:creationId xmlns:a16="http://schemas.microsoft.com/office/drawing/2014/main" id="{87EF9093-5185-3339-B04E-97E3C38A23B9}"/>
              </a:ext>
            </a:extLst>
          </p:cNvPr>
          <p:cNvPicPr>
            <a:picLocks noChangeAspect="1"/>
          </p:cNvPicPr>
          <p:nvPr/>
        </p:nvPicPr>
        <p:blipFill rotWithShape="1">
          <a:blip r:embed="rId3">
            <a:clrChange>
              <a:clrFrom>
                <a:srgbClr val="FFFFFF"/>
              </a:clrFrom>
              <a:clrTo>
                <a:srgbClr val="FFFFFF">
                  <a:alpha val="0"/>
                </a:srgbClr>
              </a:clrTo>
            </a:clrChange>
            <a:extLst>
              <a:ext uri="{28A0092B-C50C-407E-A947-70E740481C1C}">
                <a14:useLocalDpi xmlns:a14="http://schemas.microsoft.com/office/drawing/2010/main" val="0"/>
              </a:ext>
            </a:extLst>
          </a:blip>
          <a:srcRect l="9498" r="11593" b="22207"/>
          <a:stretch/>
        </p:blipFill>
        <p:spPr bwMode="auto">
          <a:xfrm>
            <a:off x="9061284" y="2521827"/>
            <a:ext cx="538727" cy="531107"/>
          </a:xfrm>
          <a:prstGeom prst="rect">
            <a:avLst/>
          </a:prstGeom>
          <a:noFill/>
          <a:ln w="9525">
            <a:noFill/>
            <a:miter lim="800000"/>
            <a:headEnd/>
            <a:tailEnd/>
          </a:ln>
        </p:spPr>
      </p:pic>
      <p:sp>
        <p:nvSpPr>
          <p:cNvPr id="49" name="Oval 48">
            <a:extLst>
              <a:ext uri="{FF2B5EF4-FFF2-40B4-BE49-F238E27FC236}">
                <a16:creationId xmlns:a16="http://schemas.microsoft.com/office/drawing/2014/main" id="{C7DB4560-242D-879E-BD28-809B9B8DF691}"/>
              </a:ext>
            </a:extLst>
          </p:cNvPr>
          <p:cNvSpPr/>
          <p:nvPr/>
        </p:nvSpPr>
        <p:spPr>
          <a:xfrm>
            <a:off x="9330447" y="980051"/>
            <a:ext cx="393306" cy="784741"/>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BE"/>
          </a:p>
        </p:txBody>
      </p:sp>
      <p:pic>
        <p:nvPicPr>
          <p:cNvPr id="50" name="Picture 49">
            <a:extLst>
              <a:ext uri="{FF2B5EF4-FFF2-40B4-BE49-F238E27FC236}">
                <a16:creationId xmlns:a16="http://schemas.microsoft.com/office/drawing/2014/main" id="{1A364B50-9186-9C81-00EE-E1D5F4F9815F}"/>
              </a:ext>
            </a:extLst>
          </p:cNvPr>
          <p:cNvPicPr>
            <a:picLocks noChangeAspect="1"/>
          </p:cNvPicPr>
          <p:nvPr/>
        </p:nvPicPr>
        <p:blipFill>
          <a:blip r:embed="rId4">
            <a:clrChange>
              <a:clrFrom>
                <a:srgbClr val="FFFFFF"/>
              </a:clrFrom>
              <a:clrTo>
                <a:srgbClr val="FFFFFF">
                  <a:alpha val="0"/>
                </a:srgbClr>
              </a:clrTo>
            </a:clrChange>
            <a:extLst>
              <a:ext uri="{28A0092B-C50C-407E-A947-70E740481C1C}">
                <a14:useLocalDpi xmlns:a14="http://schemas.microsoft.com/office/drawing/2010/main" val="0"/>
              </a:ext>
            </a:extLst>
          </a:blip>
          <a:stretch>
            <a:fillRect/>
          </a:stretch>
        </p:blipFill>
        <p:spPr>
          <a:xfrm>
            <a:off x="9086761" y="877986"/>
            <a:ext cx="968087" cy="963784"/>
          </a:xfrm>
          <a:prstGeom prst="rect">
            <a:avLst/>
          </a:prstGeom>
        </p:spPr>
      </p:pic>
      <p:sp>
        <p:nvSpPr>
          <p:cNvPr id="3" name="Slide Number Placeholder 2">
            <a:extLst>
              <a:ext uri="{FF2B5EF4-FFF2-40B4-BE49-F238E27FC236}">
                <a16:creationId xmlns:a16="http://schemas.microsoft.com/office/drawing/2014/main" id="{F872E002-B471-BFC3-6970-B5C411C6E65D}"/>
              </a:ext>
            </a:extLst>
          </p:cNvPr>
          <p:cNvSpPr>
            <a:spLocks noGrp="1"/>
          </p:cNvSpPr>
          <p:nvPr>
            <p:ph type="sldNum" sz="quarter" idx="11"/>
          </p:nvPr>
        </p:nvSpPr>
        <p:spPr/>
        <p:txBody>
          <a:bodyPr/>
          <a:lstStyle/>
          <a:p>
            <a:pPr>
              <a:defRPr/>
            </a:pPr>
            <a:fld id="{968663A2-1950-48E6-8399-8A0176E7D7D3}" type="slidenum">
              <a:rPr lang="en-US" smtClean="0"/>
              <a:pPr>
                <a:defRPr/>
              </a:pPr>
              <a:t>8</a:t>
            </a:fld>
            <a:endParaRPr lang="en-US"/>
          </a:p>
        </p:txBody>
      </p:sp>
    </p:spTree>
    <p:extLst>
      <p:ext uri="{BB962C8B-B14F-4D97-AF65-F5344CB8AC3E}">
        <p14:creationId xmlns:p14="http://schemas.microsoft.com/office/powerpoint/2010/main" val="222115601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1CA68E5D-EC64-D67D-3B1E-EF10D72AEB05}"/>
              </a:ext>
            </a:extLst>
          </p:cNvPr>
          <p:cNvSpPr/>
          <p:nvPr/>
        </p:nvSpPr>
        <p:spPr>
          <a:xfrm>
            <a:off x="369870" y="4569205"/>
            <a:ext cx="5959011" cy="927470"/>
          </a:xfrm>
          <a:prstGeom prst="rect">
            <a:avLst/>
          </a:prstGeom>
          <a:solidFill>
            <a:schemeClr val="accent2">
              <a:lumMod val="20000"/>
              <a:lumOff val="80000"/>
            </a:schemeClr>
          </a:solidFill>
          <a:ln>
            <a:noFill/>
          </a:ln>
        </p:spPr>
        <p:style>
          <a:lnRef idx="2">
            <a:schemeClr val="accent3">
              <a:shade val="15000"/>
            </a:schemeClr>
          </a:lnRef>
          <a:fillRef idx="1">
            <a:schemeClr val="accent3"/>
          </a:fillRef>
          <a:effectRef idx="0">
            <a:schemeClr val="accent3"/>
          </a:effectRef>
          <a:fontRef idx="minor">
            <a:schemeClr val="lt1"/>
          </a:fontRef>
        </p:style>
        <p:txBody>
          <a:bodyPr rtlCol="0" anchor="ctr"/>
          <a:lstStyle/>
          <a:p>
            <a:pPr algn="ctr"/>
            <a:endParaRPr lang="en-BE"/>
          </a:p>
        </p:txBody>
      </p:sp>
      <p:sp>
        <p:nvSpPr>
          <p:cNvPr id="5" name="Title 4">
            <a:extLst>
              <a:ext uri="{FF2B5EF4-FFF2-40B4-BE49-F238E27FC236}">
                <a16:creationId xmlns:a16="http://schemas.microsoft.com/office/drawing/2014/main" id="{6A6A376F-A893-0FB9-E208-3EF07F661D8D}"/>
              </a:ext>
            </a:extLst>
          </p:cNvPr>
          <p:cNvSpPr>
            <a:spLocks noGrp="1"/>
          </p:cNvSpPr>
          <p:nvPr>
            <p:ph type="title"/>
          </p:nvPr>
        </p:nvSpPr>
        <p:spPr/>
        <p:txBody>
          <a:bodyPr/>
          <a:lstStyle/>
          <a:p>
            <a:r>
              <a:rPr lang="en-BE" dirty="0"/>
              <a:t>Reinforcement Learning: Agent acts in an environment</a:t>
            </a:r>
          </a:p>
        </p:txBody>
      </p:sp>
      <p:sp>
        <p:nvSpPr>
          <p:cNvPr id="28" name="Content Placeholder 27">
            <a:extLst>
              <a:ext uri="{FF2B5EF4-FFF2-40B4-BE49-F238E27FC236}">
                <a16:creationId xmlns:a16="http://schemas.microsoft.com/office/drawing/2014/main" id="{A53ADD9B-BFD7-2D9A-3F8A-08E253A48A43}"/>
              </a:ext>
            </a:extLst>
          </p:cNvPr>
          <p:cNvSpPr>
            <a:spLocks noGrp="1"/>
          </p:cNvSpPr>
          <p:nvPr>
            <p:ph idx="1"/>
          </p:nvPr>
        </p:nvSpPr>
        <p:spPr>
          <a:prstGeom prst="rect">
            <a:avLst/>
          </a:prstGeom>
        </p:spPr>
        <p:txBody>
          <a:bodyPr/>
          <a:lstStyle/>
          <a:p>
            <a:r>
              <a:rPr lang="en-BE" dirty="0"/>
              <a:t>At each timestep </a:t>
            </a:r>
            <a:r>
              <a:rPr lang="en-BE" i="1" dirty="0"/>
              <a:t>t </a:t>
            </a:r>
            <a:r>
              <a:rPr lang="en-BE" dirty="0"/>
              <a:t> the agent</a:t>
            </a:r>
          </a:p>
          <a:p>
            <a:pPr lvl="1"/>
            <a:r>
              <a:rPr lang="en-BE" dirty="0"/>
              <a:t>Gets </a:t>
            </a:r>
            <a:r>
              <a:rPr lang="en-BE" b="1" dirty="0">
                <a:solidFill>
                  <a:schemeClr val="accent3"/>
                </a:solidFill>
              </a:rPr>
              <a:t>state</a:t>
            </a:r>
            <a:r>
              <a:rPr lang="en-BE" dirty="0"/>
              <a:t> observation </a:t>
            </a:r>
            <a:r>
              <a:rPr lang="en-BE" i="1" dirty="0"/>
              <a:t>s</a:t>
            </a:r>
            <a:r>
              <a:rPr lang="en-BE" i="1" baseline="-25000" dirty="0"/>
              <a:t>t</a:t>
            </a:r>
          </a:p>
          <a:p>
            <a:pPr lvl="1"/>
            <a:r>
              <a:rPr lang="en-BE" dirty="0"/>
              <a:t>Gets scalar </a:t>
            </a:r>
            <a:r>
              <a:rPr lang="en-BE" b="1" dirty="0">
                <a:solidFill>
                  <a:schemeClr val="accent3"/>
                </a:solidFill>
              </a:rPr>
              <a:t>reward</a:t>
            </a:r>
            <a:r>
              <a:rPr lang="en-BE" dirty="0"/>
              <a:t> </a:t>
            </a:r>
            <a:r>
              <a:rPr lang="en-BE" i="1" dirty="0"/>
              <a:t>r</a:t>
            </a:r>
            <a:r>
              <a:rPr lang="en-BE" i="1" baseline="-25000" dirty="0"/>
              <a:t>t </a:t>
            </a:r>
            <a:r>
              <a:rPr lang="en-BE" i="1" dirty="0"/>
              <a:t>  </a:t>
            </a:r>
            <a:r>
              <a:rPr lang="en-BE" dirty="0">
                <a:solidFill>
                  <a:schemeClr val="bg2">
                    <a:lumMod val="60000"/>
                    <a:lumOff val="40000"/>
                  </a:schemeClr>
                </a:solidFill>
              </a:rPr>
              <a:t>(depending on current state and thus previous action(s))</a:t>
            </a:r>
            <a:endParaRPr lang="en-BE" i="1" baseline="-25000" dirty="0"/>
          </a:p>
          <a:p>
            <a:pPr lvl="1"/>
            <a:r>
              <a:rPr lang="en-BE" dirty="0"/>
              <a:t>Decides to take </a:t>
            </a:r>
            <a:r>
              <a:rPr lang="en-BE" b="1" dirty="0">
                <a:solidFill>
                  <a:schemeClr val="accent2"/>
                </a:solidFill>
              </a:rPr>
              <a:t>action</a:t>
            </a:r>
            <a:r>
              <a:rPr lang="en-BE" dirty="0"/>
              <a:t> </a:t>
            </a:r>
            <a:r>
              <a:rPr lang="en-BE" i="1" dirty="0"/>
              <a:t>a</a:t>
            </a:r>
            <a:r>
              <a:rPr lang="en-BE" i="1" baseline="-25000" dirty="0"/>
              <a:t>t</a:t>
            </a:r>
          </a:p>
          <a:p>
            <a:r>
              <a:rPr lang="en-BE" dirty="0"/>
              <a:t>The environment</a:t>
            </a:r>
          </a:p>
          <a:p>
            <a:pPr lvl="1"/>
            <a:r>
              <a:rPr lang="en-BE" dirty="0"/>
              <a:t>Receives action </a:t>
            </a:r>
            <a:r>
              <a:rPr lang="en-BE" i="1" dirty="0"/>
              <a:t>a</a:t>
            </a:r>
            <a:r>
              <a:rPr lang="en-BE" i="1" baseline="-25000" dirty="0"/>
              <a:t>t</a:t>
            </a:r>
          </a:p>
          <a:p>
            <a:pPr lvl="1"/>
            <a:r>
              <a:rPr lang="en-BE" dirty="0"/>
              <a:t>Emits </a:t>
            </a:r>
            <a:r>
              <a:rPr lang="en-BE" b="1" dirty="0"/>
              <a:t>state</a:t>
            </a:r>
            <a:r>
              <a:rPr lang="en-BE" dirty="0"/>
              <a:t> </a:t>
            </a:r>
            <a:r>
              <a:rPr lang="en-BE" i="1" dirty="0"/>
              <a:t>s</a:t>
            </a:r>
            <a:r>
              <a:rPr lang="en-BE" i="1" baseline="-25000" dirty="0"/>
              <a:t>t </a:t>
            </a:r>
            <a:r>
              <a:rPr lang="en-BE" baseline="-25000" dirty="0"/>
              <a:t>+1</a:t>
            </a:r>
            <a:r>
              <a:rPr lang="en-BE" dirty="0"/>
              <a:t>  </a:t>
            </a:r>
            <a:r>
              <a:rPr lang="en-BE" dirty="0">
                <a:solidFill>
                  <a:schemeClr val="bg2">
                    <a:lumMod val="60000"/>
                    <a:lumOff val="40000"/>
                  </a:schemeClr>
                </a:solidFill>
              </a:rPr>
              <a:t>(which will depend on action)</a:t>
            </a:r>
            <a:endParaRPr lang="en-BE" baseline="-25000" dirty="0">
              <a:solidFill>
                <a:schemeClr val="bg2">
                  <a:lumMod val="60000"/>
                  <a:lumOff val="40000"/>
                </a:schemeClr>
              </a:solidFill>
            </a:endParaRPr>
          </a:p>
          <a:p>
            <a:pPr lvl="1"/>
            <a:r>
              <a:rPr lang="en-BE" dirty="0"/>
              <a:t>Emits scalar </a:t>
            </a:r>
            <a:r>
              <a:rPr lang="en-BE" b="1" dirty="0"/>
              <a:t>reward</a:t>
            </a:r>
            <a:r>
              <a:rPr lang="en-BE" dirty="0"/>
              <a:t> </a:t>
            </a:r>
            <a:r>
              <a:rPr lang="en-BE" i="1" dirty="0"/>
              <a:t>r</a:t>
            </a:r>
            <a:r>
              <a:rPr lang="en-BE" i="1" baseline="-25000" dirty="0"/>
              <a:t>t</a:t>
            </a:r>
            <a:r>
              <a:rPr lang="en-BE" baseline="-25000" dirty="0"/>
              <a:t> + 1</a:t>
            </a:r>
            <a:endParaRPr lang="en-BE" i="1" baseline="-25000" dirty="0"/>
          </a:p>
          <a:p>
            <a:pPr lvl="1"/>
            <a:endParaRPr lang="en-BE" i="1" baseline="-25000" dirty="0"/>
          </a:p>
          <a:p>
            <a:pPr marL="0" indent="0">
              <a:buNone/>
            </a:pPr>
            <a:r>
              <a:rPr lang="en-BE" b="1" dirty="0"/>
              <a:t>RL idea</a:t>
            </a:r>
            <a:r>
              <a:rPr lang="en-BE" dirty="0"/>
              <a:t>: learn a policy that maps state </a:t>
            </a:r>
            <a:r>
              <a:rPr lang="en-BE" i="1" dirty="0"/>
              <a:t>s</a:t>
            </a:r>
            <a:r>
              <a:rPr lang="en-BE" i="1" baseline="-25000" dirty="0"/>
              <a:t>t</a:t>
            </a:r>
            <a:r>
              <a:rPr lang="en-BE" dirty="0"/>
              <a:t>  to action </a:t>
            </a:r>
            <a:r>
              <a:rPr lang="en-BE" i="1" dirty="0"/>
              <a:t>a</a:t>
            </a:r>
            <a:r>
              <a:rPr lang="en-BE" i="1" baseline="-25000" dirty="0"/>
              <a:t>t </a:t>
            </a:r>
            <a:r>
              <a:rPr lang="en-BE" i="1" dirty="0"/>
              <a:t>,</a:t>
            </a:r>
            <a:br>
              <a:rPr lang="en-BE" i="1" dirty="0"/>
            </a:br>
            <a:r>
              <a:rPr lang="en-BE" dirty="0"/>
              <a:t>such that long-term reward ∑</a:t>
            </a:r>
            <a:r>
              <a:rPr lang="en-BE" i="1" dirty="0"/>
              <a:t>r</a:t>
            </a:r>
            <a:r>
              <a:rPr lang="en-BE" i="1" baseline="-25000" dirty="0"/>
              <a:t>t</a:t>
            </a:r>
            <a:r>
              <a:rPr lang="en-BE" dirty="0"/>
              <a:t>  is maximized  </a:t>
            </a:r>
          </a:p>
          <a:p>
            <a:pPr lvl="1"/>
            <a:endParaRPr lang="en-BE" dirty="0"/>
          </a:p>
        </p:txBody>
      </p:sp>
      <p:sp>
        <p:nvSpPr>
          <p:cNvPr id="4" name="Footer Placeholder 3">
            <a:extLst>
              <a:ext uri="{FF2B5EF4-FFF2-40B4-BE49-F238E27FC236}">
                <a16:creationId xmlns:a16="http://schemas.microsoft.com/office/drawing/2014/main" id="{DE8325DA-76DB-F9B8-C6AD-B081B83B89F8}"/>
              </a:ext>
            </a:extLst>
          </p:cNvPr>
          <p:cNvSpPr>
            <a:spLocks noGrp="1"/>
          </p:cNvSpPr>
          <p:nvPr>
            <p:ph type="ftr" sz="quarter" idx="10"/>
          </p:nvPr>
        </p:nvSpPr>
        <p:spPr/>
        <p:txBody>
          <a:bodyPr/>
          <a:lstStyle/>
          <a:p>
            <a:pPr>
              <a:defRPr/>
            </a:pPr>
            <a:r>
              <a:rPr lang="en-US"/>
              <a:t>C. Develder, "AI4E: Data-efficient and scalable algorithmss to exploit energy flexibility"</a:t>
            </a:r>
          </a:p>
        </p:txBody>
      </p:sp>
      <p:sp>
        <p:nvSpPr>
          <p:cNvPr id="35" name="Arc 34">
            <a:extLst>
              <a:ext uri="{FF2B5EF4-FFF2-40B4-BE49-F238E27FC236}">
                <a16:creationId xmlns:a16="http://schemas.microsoft.com/office/drawing/2014/main" id="{C3F9F08D-745F-FE0F-7A28-40C10151C5A0}"/>
              </a:ext>
            </a:extLst>
          </p:cNvPr>
          <p:cNvSpPr/>
          <p:nvPr/>
        </p:nvSpPr>
        <p:spPr>
          <a:xfrm rot="2700000">
            <a:off x="8691713" y="1612539"/>
            <a:ext cx="2483427" cy="2483427"/>
          </a:xfrm>
          <a:prstGeom prst="arc">
            <a:avLst/>
          </a:prstGeom>
          <a:ln w="57150">
            <a:solidFill>
              <a:schemeClr val="accent2"/>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BE" dirty="0"/>
          </a:p>
        </p:txBody>
      </p:sp>
      <p:sp>
        <p:nvSpPr>
          <p:cNvPr id="36" name="Arc 35">
            <a:extLst>
              <a:ext uri="{FF2B5EF4-FFF2-40B4-BE49-F238E27FC236}">
                <a16:creationId xmlns:a16="http://schemas.microsoft.com/office/drawing/2014/main" id="{A7B4D4B4-C2DE-310A-791C-9EFE62B9A06E}"/>
              </a:ext>
            </a:extLst>
          </p:cNvPr>
          <p:cNvSpPr/>
          <p:nvPr/>
        </p:nvSpPr>
        <p:spPr>
          <a:xfrm rot="13500000">
            <a:off x="9357491" y="1603969"/>
            <a:ext cx="2483427" cy="2483427"/>
          </a:xfrm>
          <a:prstGeom prst="arc">
            <a:avLst/>
          </a:prstGeom>
          <a:ln w="57150">
            <a:solidFill>
              <a:schemeClr val="accent3"/>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BE"/>
          </a:p>
        </p:txBody>
      </p:sp>
      <p:sp>
        <p:nvSpPr>
          <p:cNvPr id="38" name="Arc 37">
            <a:extLst>
              <a:ext uri="{FF2B5EF4-FFF2-40B4-BE49-F238E27FC236}">
                <a16:creationId xmlns:a16="http://schemas.microsoft.com/office/drawing/2014/main" id="{23019A14-3AAD-27BD-637D-3196168C9C05}"/>
              </a:ext>
            </a:extLst>
          </p:cNvPr>
          <p:cNvSpPr/>
          <p:nvPr/>
        </p:nvSpPr>
        <p:spPr>
          <a:xfrm rot="13500000">
            <a:off x="8728174" y="1603971"/>
            <a:ext cx="2483427" cy="2483427"/>
          </a:xfrm>
          <a:prstGeom prst="arc">
            <a:avLst/>
          </a:prstGeom>
          <a:ln w="57150">
            <a:solidFill>
              <a:schemeClr val="accent3"/>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BE"/>
          </a:p>
        </p:txBody>
      </p:sp>
      <p:sp>
        <p:nvSpPr>
          <p:cNvPr id="39" name="TextBox 38">
            <a:extLst>
              <a:ext uri="{FF2B5EF4-FFF2-40B4-BE49-F238E27FC236}">
                <a16:creationId xmlns:a16="http://schemas.microsoft.com/office/drawing/2014/main" id="{07A58AA4-081D-B2D3-60E9-B49C5BC30EA4}"/>
              </a:ext>
            </a:extLst>
          </p:cNvPr>
          <p:cNvSpPr txBox="1"/>
          <p:nvPr/>
        </p:nvSpPr>
        <p:spPr>
          <a:xfrm>
            <a:off x="8554720" y="3682333"/>
            <a:ext cx="766557" cy="461665"/>
          </a:xfrm>
          <a:prstGeom prst="rect">
            <a:avLst/>
          </a:prstGeom>
          <a:noFill/>
        </p:spPr>
        <p:txBody>
          <a:bodyPr wrap="none" rtlCol="0">
            <a:spAutoFit/>
          </a:bodyPr>
          <a:lstStyle/>
          <a:p>
            <a:r>
              <a:rPr lang="en-BE" sz="2400" b="1" dirty="0">
                <a:solidFill>
                  <a:schemeClr val="accent3"/>
                </a:solidFill>
                <a:latin typeface="UGent Panno Text" panose="02000506040000040003" pitchFamily="2" charset="0"/>
              </a:rPr>
              <a:t>State</a:t>
            </a:r>
          </a:p>
        </p:txBody>
      </p:sp>
      <p:sp>
        <p:nvSpPr>
          <p:cNvPr id="40" name="TextBox 39">
            <a:extLst>
              <a:ext uri="{FF2B5EF4-FFF2-40B4-BE49-F238E27FC236}">
                <a16:creationId xmlns:a16="http://schemas.microsoft.com/office/drawing/2014/main" id="{6C20B892-3ECA-AED0-DCF5-C914C582EA1B}"/>
              </a:ext>
            </a:extLst>
          </p:cNvPr>
          <p:cNvSpPr txBox="1"/>
          <p:nvPr/>
        </p:nvSpPr>
        <p:spPr>
          <a:xfrm>
            <a:off x="9352350" y="3682333"/>
            <a:ext cx="667170" cy="461665"/>
          </a:xfrm>
          <a:prstGeom prst="rect">
            <a:avLst/>
          </a:prstGeom>
          <a:noFill/>
        </p:spPr>
        <p:txBody>
          <a:bodyPr wrap="none" rtlCol="0">
            <a:spAutoFit/>
          </a:bodyPr>
          <a:lstStyle/>
          <a:p>
            <a:r>
              <a:rPr lang="en-BE" sz="2400" b="1" dirty="0">
                <a:solidFill>
                  <a:schemeClr val="accent3"/>
                </a:solidFill>
                <a:latin typeface="UGent Panno Text" panose="02000506040000040003" pitchFamily="2" charset="0"/>
              </a:rPr>
              <a:t>Cost</a:t>
            </a:r>
          </a:p>
        </p:txBody>
      </p:sp>
      <p:sp>
        <p:nvSpPr>
          <p:cNvPr id="41" name="Cloud Callout 40">
            <a:extLst>
              <a:ext uri="{FF2B5EF4-FFF2-40B4-BE49-F238E27FC236}">
                <a16:creationId xmlns:a16="http://schemas.microsoft.com/office/drawing/2014/main" id="{F69672FC-7796-242E-817A-E6632EF2EE69}"/>
              </a:ext>
            </a:extLst>
          </p:cNvPr>
          <p:cNvSpPr/>
          <p:nvPr/>
        </p:nvSpPr>
        <p:spPr>
          <a:xfrm>
            <a:off x="10289001" y="835241"/>
            <a:ext cx="1143422" cy="639899"/>
          </a:xfrm>
          <a:prstGeom prst="cloudCallout">
            <a:avLst>
              <a:gd name="adj1" fmla="val -75498"/>
              <a:gd name="adj2" fmla="val 8914"/>
            </a:avLst>
          </a:prstGeom>
          <a:solidFill>
            <a:schemeClr val="bg1"/>
          </a:solid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BE"/>
          </a:p>
        </p:txBody>
      </p:sp>
      <p:sp>
        <p:nvSpPr>
          <p:cNvPr id="42" name="TextBox 41">
            <a:extLst>
              <a:ext uri="{FF2B5EF4-FFF2-40B4-BE49-F238E27FC236}">
                <a16:creationId xmlns:a16="http://schemas.microsoft.com/office/drawing/2014/main" id="{8869FD9D-3608-37C9-AFBD-DF2A9B8001A6}"/>
              </a:ext>
            </a:extLst>
          </p:cNvPr>
          <p:cNvSpPr txBox="1"/>
          <p:nvPr/>
        </p:nvSpPr>
        <p:spPr>
          <a:xfrm>
            <a:off x="10371358" y="897354"/>
            <a:ext cx="889987" cy="461665"/>
          </a:xfrm>
          <a:prstGeom prst="rect">
            <a:avLst/>
          </a:prstGeom>
          <a:noFill/>
        </p:spPr>
        <p:txBody>
          <a:bodyPr wrap="none" rtlCol="0">
            <a:spAutoFit/>
          </a:bodyPr>
          <a:lstStyle/>
          <a:p>
            <a:r>
              <a:rPr lang="en-BE" sz="2400" b="1" dirty="0">
                <a:solidFill>
                  <a:schemeClr val="accent2"/>
                </a:solidFill>
                <a:latin typeface="UGent Panno Text" panose="02000506040000040003" pitchFamily="2" charset="0"/>
              </a:rPr>
              <a:t>Action</a:t>
            </a:r>
          </a:p>
        </p:txBody>
      </p:sp>
      <p:sp>
        <p:nvSpPr>
          <p:cNvPr id="44" name="TextBox 43">
            <a:extLst>
              <a:ext uri="{FF2B5EF4-FFF2-40B4-BE49-F238E27FC236}">
                <a16:creationId xmlns:a16="http://schemas.microsoft.com/office/drawing/2014/main" id="{EA685A67-1902-8B6A-C8CA-96B1BE18106A}"/>
              </a:ext>
            </a:extLst>
          </p:cNvPr>
          <p:cNvSpPr txBox="1"/>
          <p:nvPr/>
        </p:nvSpPr>
        <p:spPr>
          <a:xfrm>
            <a:off x="8324141" y="2572001"/>
            <a:ext cx="396063" cy="369332"/>
          </a:xfrm>
          <a:prstGeom prst="rect">
            <a:avLst/>
          </a:prstGeom>
          <a:noFill/>
        </p:spPr>
        <p:txBody>
          <a:bodyPr wrap="square">
            <a:spAutoFit/>
          </a:bodyPr>
          <a:lstStyle/>
          <a:p>
            <a:r>
              <a:rPr lang="en-BE" sz="1800" i="1" dirty="0">
                <a:solidFill>
                  <a:schemeClr val="accent3"/>
                </a:solidFill>
                <a:latin typeface="+mn-lt"/>
              </a:rPr>
              <a:t>s</a:t>
            </a:r>
            <a:r>
              <a:rPr lang="en-BE" sz="1800" i="1" baseline="-25000" dirty="0">
                <a:solidFill>
                  <a:schemeClr val="accent3"/>
                </a:solidFill>
                <a:latin typeface="+mn-lt"/>
              </a:rPr>
              <a:t>t</a:t>
            </a:r>
            <a:endParaRPr lang="en-BE" sz="1800" dirty="0">
              <a:solidFill>
                <a:schemeClr val="accent3"/>
              </a:solidFill>
              <a:latin typeface="+mn-lt"/>
            </a:endParaRPr>
          </a:p>
        </p:txBody>
      </p:sp>
      <p:sp>
        <p:nvSpPr>
          <p:cNvPr id="45" name="TextBox 44">
            <a:extLst>
              <a:ext uri="{FF2B5EF4-FFF2-40B4-BE49-F238E27FC236}">
                <a16:creationId xmlns:a16="http://schemas.microsoft.com/office/drawing/2014/main" id="{76703F1B-A21F-FBBF-953C-C12BE647D694}"/>
              </a:ext>
            </a:extLst>
          </p:cNvPr>
          <p:cNvSpPr txBox="1"/>
          <p:nvPr/>
        </p:nvSpPr>
        <p:spPr>
          <a:xfrm>
            <a:off x="8778998" y="2572001"/>
            <a:ext cx="396063" cy="369332"/>
          </a:xfrm>
          <a:prstGeom prst="rect">
            <a:avLst/>
          </a:prstGeom>
          <a:noFill/>
        </p:spPr>
        <p:txBody>
          <a:bodyPr wrap="square">
            <a:spAutoFit/>
          </a:bodyPr>
          <a:lstStyle/>
          <a:p>
            <a:r>
              <a:rPr lang="en-BE" sz="1800" i="1" dirty="0">
                <a:solidFill>
                  <a:schemeClr val="accent3"/>
                </a:solidFill>
                <a:latin typeface="+mn-lt"/>
              </a:rPr>
              <a:t>r</a:t>
            </a:r>
            <a:r>
              <a:rPr lang="en-BE" sz="1800" i="1" baseline="-25000" dirty="0">
                <a:solidFill>
                  <a:schemeClr val="accent3"/>
                </a:solidFill>
                <a:latin typeface="+mn-lt"/>
              </a:rPr>
              <a:t>t</a:t>
            </a:r>
            <a:endParaRPr lang="en-BE" sz="1800" dirty="0">
              <a:solidFill>
                <a:schemeClr val="accent3"/>
              </a:solidFill>
              <a:latin typeface="+mn-lt"/>
            </a:endParaRPr>
          </a:p>
        </p:txBody>
      </p:sp>
      <p:sp>
        <p:nvSpPr>
          <p:cNvPr id="46" name="TextBox 45">
            <a:extLst>
              <a:ext uri="{FF2B5EF4-FFF2-40B4-BE49-F238E27FC236}">
                <a16:creationId xmlns:a16="http://schemas.microsoft.com/office/drawing/2014/main" id="{508786DC-A810-B082-0869-516F2F32D0D2}"/>
              </a:ext>
            </a:extLst>
          </p:cNvPr>
          <p:cNvSpPr txBox="1"/>
          <p:nvPr/>
        </p:nvSpPr>
        <p:spPr>
          <a:xfrm>
            <a:off x="11198551" y="2605094"/>
            <a:ext cx="396063" cy="369332"/>
          </a:xfrm>
          <a:prstGeom prst="rect">
            <a:avLst/>
          </a:prstGeom>
          <a:noFill/>
        </p:spPr>
        <p:txBody>
          <a:bodyPr wrap="square">
            <a:spAutoFit/>
          </a:bodyPr>
          <a:lstStyle/>
          <a:p>
            <a:r>
              <a:rPr lang="en-BE" sz="1800" i="1" dirty="0">
                <a:solidFill>
                  <a:schemeClr val="accent2"/>
                </a:solidFill>
                <a:latin typeface="+mn-lt"/>
              </a:rPr>
              <a:t>a</a:t>
            </a:r>
            <a:r>
              <a:rPr lang="en-BE" sz="1800" i="1" baseline="-25000" dirty="0">
                <a:solidFill>
                  <a:schemeClr val="accent2"/>
                </a:solidFill>
                <a:latin typeface="+mn-lt"/>
              </a:rPr>
              <a:t>t</a:t>
            </a:r>
            <a:endParaRPr lang="en-BE" sz="1800" dirty="0">
              <a:solidFill>
                <a:schemeClr val="accent2"/>
              </a:solidFill>
              <a:latin typeface="+mn-lt"/>
            </a:endParaRPr>
          </a:p>
        </p:txBody>
      </p:sp>
      <p:sp>
        <p:nvSpPr>
          <p:cNvPr id="47" name="Oval 46">
            <a:extLst>
              <a:ext uri="{FF2B5EF4-FFF2-40B4-BE49-F238E27FC236}">
                <a16:creationId xmlns:a16="http://schemas.microsoft.com/office/drawing/2014/main" id="{62BDAD4C-5797-0C9D-F413-5CFB5625BAD4}"/>
              </a:ext>
            </a:extLst>
          </p:cNvPr>
          <p:cNvSpPr/>
          <p:nvPr/>
        </p:nvSpPr>
        <p:spPr>
          <a:xfrm>
            <a:off x="9126667" y="2586167"/>
            <a:ext cx="444137" cy="402425"/>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BE"/>
          </a:p>
        </p:txBody>
      </p:sp>
      <p:sp>
        <p:nvSpPr>
          <p:cNvPr id="49" name="Oval 48">
            <a:extLst>
              <a:ext uri="{FF2B5EF4-FFF2-40B4-BE49-F238E27FC236}">
                <a16:creationId xmlns:a16="http://schemas.microsoft.com/office/drawing/2014/main" id="{C7DB4560-242D-879E-BD28-809B9B8DF691}"/>
              </a:ext>
            </a:extLst>
          </p:cNvPr>
          <p:cNvSpPr/>
          <p:nvPr/>
        </p:nvSpPr>
        <p:spPr>
          <a:xfrm>
            <a:off x="9330447" y="980051"/>
            <a:ext cx="393306" cy="784741"/>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BE"/>
          </a:p>
        </p:txBody>
      </p:sp>
      <p:sp>
        <p:nvSpPr>
          <p:cNvPr id="7" name="TextBox 6">
            <a:extLst>
              <a:ext uri="{FF2B5EF4-FFF2-40B4-BE49-F238E27FC236}">
                <a16:creationId xmlns:a16="http://schemas.microsoft.com/office/drawing/2014/main" id="{CC35F5BA-799E-7E0F-B868-ADB52FA0CFAA}"/>
              </a:ext>
            </a:extLst>
          </p:cNvPr>
          <p:cNvSpPr txBox="1"/>
          <p:nvPr/>
        </p:nvSpPr>
        <p:spPr>
          <a:xfrm>
            <a:off x="7720051" y="1079827"/>
            <a:ext cx="1298753" cy="669414"/>
          </a:xfrm>
          <a:prstGeom prst="rect">
            <a:avLst/>
          </a:prstGeom>
          <a:noFill/>
        </p:spPr>
        <p:txBody>
          <a:bodyPr wrap="none" rtlCol="0">
            <a:spAutoFit/>
          </a:bodyPr>
          <a:lstStyle/>
          <a:p>
            <a:pPr algn="ctr">
              <a:lnSpc>
                <a:spcPct val="75000"/>
              </a:lnSpc>
            </a:pPr>
            <a:r>
              <a:rPr lang="en-BE" sz="2400" b="1" dirty="0">
                <a:solidFill>
                  <a:schemeClr val="accent6">
                    <a:lumMod val="40000"/>
                    <a:lumOff val="60000"/>
                  </a:schemeClr>
                </a:solidFill>
                <a:latin typeface="+mn-lt"/>
              </a:rPr>
              <a:t>HEM</a:t>
            </a:r>
          </a:p>
          <a:p>
            <a:pPr algn="ctr">
              <a:lnSpc>
                <a:spcPct val="75000"/>
              </a:lnSpc>
            </a:pPr>
            <a:r>
              <a:rPr lang="en-BE" sz="2400" b="1" dirty="0">
                <a:solidFill>
                  <a:schemeClr val="accent6">
                    <a:lumMod val="40000"/>
                    <a:lumOff val="60000"/>
                  </a:schemeClr>
                </a:solidFill>
                <a:latin typeface="+mn-lt"/>
              </a:rPr>
              <a:t>controller</a:t>
            </a:r>
          </a:p>
        </p:txBody>
      </p:sp>
      <p:pic>
        <p:nvPicPr>
          <p:cNvPr id="8" name="Picture 7">
            <a:extLst>
              <a:ext uri="{FF2B5EF4-FFF2-40B4-BE49-F238E27FC236}">
                <a16:creationId xmlns:a16="http://schemas.microsoft.com/office/drawing/2014/main" id="{5E5B55A7-2435-6862-8856-AEC749411203}"/>
              </a:ext>
            </a:extLst>
          </p:cNvPr>
          <p:cNvPicPr>
            <a:picLocks noChangeAspect="1"/>
          </p:cNvPicPr>
          <p:nvPr/>
        </p:nvPicPr>
        <p:blipFill>
          <a:blip r:embed="rId2"/>
          <a:stretch>
            <a:fillRect/>
          </a:stretch>
        </p:blipFill>
        <p:spPr>
          <a:xfrm>
            <a:off x="8997825" y="892421"/>
            <a:ext cx="879219" cy="946851"/>
          </a:xfrm>
          <a:prstGeom prst="rect">
            <a:avLst/>
          </a:prstGeom>
        </p:spPr>
      </p:pic>
      <p:grpSp>
        <p:nvGrpSpPr>
          <p:cNvPr id="14" name="Group 13">
            <a:extLst>
              <a:ext uri="{FF2B5EF4-FFF2-40B4-BE49-F238E27FC236}">
                <a16:creationId xmlns:a16="http://schemas.microsoft.com/office/drawing/2014/main" id="{329798BC-3F69-F5AB-0809-F5AF5406A2D7}"/>
              </a:ext>
            </a:extLst>
          </p:cNvPr>
          <p:cNvGrpSpPr/>
          <p:nvPr/>
        </p:nvGrpSpPr>
        <p:grpSpPr>
          <a:xfrm>
            <a:off x="9091438" y="2485584"/>
            <a:ext cx="632315" cy="707886"/>
            <a:chOff x="6058707" y="1548907"/>
            <a:chExt cx="744118" cy="833049"/>
          </a:xfrm>
        </p:grpSpPr>
        <p:sp>
          <p:nvSpPr>
            <p:cNvPr id="12" name="Oval 11">
              <a:extLst>
                <a:ext uri="{FF2B5EF4-FFF2-40B4-BE49-F238E27FC236}">
                  <a16:creationId xmlns:a16="http://schemas.microsoft.com/office/drawing/2014/main" id="{C6984461-44C5-C6F5-BDA7-B031BEBA63A7}"/>
                </a:ext>
              </a:extLst>
            </p:cNvPr>
            <p:cNvSpPr/>
            <p:nvPr/>
          </p:nvSpPr>
          <p:spPr>
            <a:xfrm>
              <a:off x="6058707" y="1652155"/>
              <a:ext cx="665778" cy="665778"/>
            </a:xfrm>
            <a:prstGeom prst="ellipse">
              <a:avLst/>
            </a:prstGeom>
            <a:solidFill>
              <a:schemeClr val="accent4">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BE"/>
            </a:p>
          </p:txBody>
        </p:sp>
        <p:sp>
          <p:nvSpPr>
            <p:cNvPr id="13" name="Oval 12">
              <a:extLst>
                <a:ext uri="{FF2B5EF4-FFF2-40B4-BE49-F238E27FC236}">
                  <a16:creationId xmlns:a16="http://schemas.microsoft.com/office/drawing/2014/main" id="{FD5A1C2F-7A76-35F8-8972-B73394832CE8}"/>
                </a:ext>
              </a:extLst>
            </p:cNvPr>
            <p:cNvSpPr/>
            <p:nvPr/>
          </p:nvSpPr>
          <p:spPr>
            <a:xfrm>
              <a:off x="6137047" y="1652155"/>
              <a:ext cx="665778" cy="665778"/>
            </a:xfrm>
            <a:prstGeom prst="ellipse">
              <a:avLst/>
            </a:pr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BE"/>
            </a:p>
          </p:txBody>
        </p:sp>
        <p:sp>
          <p:nvSpPr>
            <p:cNvPr id="11" name="TextBox 10">
              <a:extLst>
                <a:ext uri="{FF2B5EF4-FFF2-40B4-BE49-F238E27FC236}">
                  <a16:creationId xmlns:a16="http://schemas.microsoft.com/office/drawing/2014/main" id="{718458FD-4A39-567B-C39A-D334E89AC26A}"/>
                </a:ext>
              </a:extLst>
            </p:cNvPr>
            <p:cNvSpPr txBox="1"/>
            <p:nvPr/>
          </p:nvSpPr>
          <p:spPr>
            <a:xfrm>
              <a:off x="6178114" y="1548907"/>
              <a:ext cx="381866" cy="833049"/>
            </a:xfrm>
            <a:prstGeom prst="rect">
              <a:avLst/>
            </a:prstGeom>
            <a:noFill/>
          </p:spPr>
          <p:txBody>
            <a:bodyPr wrap="square">
              <a:spAutoFit/>
            </a:bodyPr>
            <a:lstStyle/>
            <a:p>
              <a:r>
                <a:rPr lang="en-BE" sz="4000" b="0" i="0" dirty="0">
                  <a:solidFill>
                    <a:schemeClr val="accent4">
                      <a:lumMod val="75000"/>
                    </a:schemeClr>
                  </a:solidFill>
                  <a:effectLst/>
                  <a:latin typeface="Google Sans"/>
                </a:rPr>
                <a:t>€</a:t>
              </a:r>
              <a:endParaRPr lang="en-BE" sz="4000" dirty="0">
                <a:solidFill>
                  <a:schemeClr val="accent4">
                    <a:lumMod val="75000"/>
                  </a:schemeClr>
                </a:solidFill>
              </a:endParaRPr>
            </a:p>
          </p:txBody>
        </p:sp>
      </p:grpSp>
      <p:pic>
        <p:nvPicPr>
          <p:cNvPr id="6" name="Picture 5">
            <a:extLst>
              <a:ext uri="{FF2B5EF4-FFF2-40B4-BE49-F238E27FC236}">
                <a16:creationId xmlns:a16="http://schemas.microsoft.com/office/drawing/2014/main" id="{BAF99597-C426-87F6-367E-50C6573A1E27}"/>
              </a:ext>
            </a:extLst>
          </p:cNvPr>
          <p:cNvPicPr>
            <a:picLocks noChangeAspect="1"/>
          </p:cNvPicPr>
          <p:nvPr/>
        </p:nvPicPr>
        <p:blipFill>
          <a:blip r:embed="rId3"/>
          <a:stretch>
            <a:fillRect/>
          </a:stretch>
        </p:blipFill>
        <p:spPr>
          <a:xfrm>
            <a:off x="9246462" y="4179648"/>
            <a:ext cx="1764000" cy="1472115"/>
          </a:xfrm>
          <a:prstGeom prst="rect">
            <a:avLst/>
          </a:prstGeom>
        </p:spPr>
      </p:pic>
      <p:sp>
        <p:nvSpPr>
          <p:cNvPr id="2" name="Slide Number Placeholder 1">
            <a:extLst>
              <a:ext uri="{FF2B5EF4-FFF2-40B4-BE49-F238E27FC236}">
                <a16:creationId xmlns:a16="http://schemas.microsoft.com/office/drawing/2014/main" id="{B83E2A61-7251-9BDE-0DB4-DE7844F8861F}"/>
              </a:ext>
            </a:extLst>
          </p:cNvPr>
          <p:cNvSpPr>
            <a:spLocks noGrp="1"/>
          </p:cNvSpPr>
          <p:nvPr>
            <p:ph type="sldNum" sz="quarter" idx="11"/>
          </p:nvPr>
        </p:nvSpPr>
        <p:spPr/>
        <p:txBody>
          <a:bodyPr/>
          <a:lstStyle/>
          <a:p>
            <a:pPr>
              <a:defRPr/>
            </a:pPr>
            <a:fld id="{968663A2-1950-48E6-8399-8A0176E7D7D3}" type="slidenum">
              <a:rPr lang="en-US" smtClean="0"/>
              <a:pPr>
                <a:defRPr/>
              </a:pPr>
              <a:t>9</a:t>
            </a:fld>
            <a:endParaRPr lang="en-US"/>
          </a:p>
        </p:txBody>
      </p:sp>
    </p:spTree>
    <p:extLst>
      <p:ext uri="{BB962C8B-B14F-4D97-AF65-F5344CB8AC3E}">
        <p14:creationId xmlns:p14="http://schemas.microsoft.com/office/powerpoint/2010/main" val="196704540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1759DFC-4436-10A5-9945-BCC11B4C5CDF}"/>
              </a:ext>
            </a:extLst>
          </p:cNvPr>
          <p:cNvSpPr>
            <a:spLocks noGrp="1"/>
          </p:cNvSpPr>
          <p:nvPr>
            <p:ph type="title"/>
          </p:nvPr>
        </p:nvSpPr>
        <p:spPr/>
        <p:txBody>
          <a:bodyPr/>
          <a:lstStyle/>
          <a:p>
            <a:r>
              <a:rPr lang="en-BE" dirty="0"/>
              <a:t>PhysQ: A physics-informed reinforcement learning framework</a:t>
            </a:r>
          </a:p>
        </p:txBody>
      </p:sp>
      <p:sp>
        <p:nvSpPr>
          <p:cNvPr id="3" name="Content Placeholder 2">
            <a:extLst>
              <a:ext uri="{FF2B5EF4-FFF2-40B4-BE49-F238E27FC236}">
                <a16:creationId xmlns:a16="http://schemas.microsoft.com/office/drawing/2014/main" id="{B3B4E856-790D-FD96-C59B-4F463B786183}"/>
              </a:ext>
            </a:extLst>
          </p:cNvPr>
          <p:cNvSpPr>
            <a:spLocks noGrp="1"/>
          </p:cNvSpPr>
          <p:nvPr>
            <p:ph idx="1"/>
          </p:nvPr>
        </p:nvSpPr>
        <p:spPr>
          <a:xfrm>
            <a:off x="476212" y="1359878"/>
            <a:ext cx="5127622" cy="4731847"/>
          </a:xfrm>
        </p:spPr>
        <p:txBody>
          <a:bodyPr/>
          <a:lstStyle/>
          <a:p>
            <a:r>
              <a:rPr lang="en-GB" b="1" dirty="0" err="1"/>
              <a:t>PhysQ</a:t>
            </a:r>
            <a:r>
              <a:rPr lang="en-GB" dirty="0"/>
              <a:t>:</a:t>
            </a:r>
          </a:p>
          <a:p>
            <a:pPr lvl="1"/>
            <a:r>
              <a:rPr lang="en-GB" dirty="0"/>
              <a:t>Physics informed RL framework</a:t>
            </a:r>
          </a:p>
          <a:p>
            <a:pPr lvl="1"/>
            <a:r>
              <a:rPr lang="en-GB" dirty="0"/>
              <a:t>Leverages prior physics to learn physically relevant </a:t>
            </a:r>
            <a:r>
              <a:rPr lang="en-GB" b="1" dirty="0">
                <a:solidFill>
                  <a:schemeClr val="accent4">
                    <a:lumMod val="75000"/>
                  </a:schemeClr>
                </a:solidFill>
              </a:rPr>
              <a:t>latent representations</a:t>
            </a:r>
          </a:p>
          <a:p>
            <a:pPr lvl="1"/>
            <a:r>
              <a:rPr lang="en-GB" dirty="0"/>
              <a:t>Learns a control policy using this latent representation </a:t>
            </a:r>
            <a:br>
              <a:rPr lang="en-GB" dirty="0"/>
            </a:br>
            <a:endParaRPr lang="en-GB" dirty="0"/>
          </a:p>
          <a:p>
            <a:r>
              <a:rPr lang="en-GB" dirty="0"/>
              <a:t>Two-step Algorithm:</a:t>
            </a:r>
          </a:p>
          <a:p>
            <a:pPr lvl="1"/>
            <a:r>
              <a:rPr lang="en-GB" b="1" dirty="0"/>
              <a:t>Step 1:</a:t>
            </a:r>
            <a:r>
              <a:rPr lang="en-GB" dirty="0"/>
              <a:t>  Learn physically relevant </a:t>
            </a:r>
            <a:r>
              <a:rPr lang="en-GB" b="1" dirty="0">
                <a:solidFill>
                  <a:schemeClr val="accent4">
                    <a:lumMod val="75000"/>
                  </a:schemeClr>
                </a:solidFill>
              </a:rPr>
              <a:t>representation</a:t>
            </a:r>
            <a:r>
              <a:rPr lang="en-GB" dirty="0"/>
              <a:t> (</a:t>
            </a:r>
            <a:r>
              <a:rPr lang="en-GB" dirty="0">
                <a:solidFill>
                  <a:schemeClr val="accent3"/>
                </a:solidFill>
              </a:rPr>
              <a:t>bulk temperature T</a:t>
            </a:r>
            <a:r>
              <a:rPr lang="en-GB" baseline="-25000" dirty="0">
                <a:solidFill>
                  <a:schemeClr val="accent3"/>
                </a:solidFill>
              </a:rPr>
              <a:t>m</a:t>
            </a:r>
            <a:r>
              <a:rPr lang="en-GB" dirty="0"/>
              <a:t>), from </a:t>
            </a:r>
            <a:r>
              <a:rPr lang="en-GB" dirty="0">
                <a:solidFill>
                  <a:srgbClr val="628B99"/>
                </a:solidFill>
              </a:rPr>
              <a:t>predicting state </a:t>
            </a:r>
            <a:r>
              <a:rPr lang="en-GB" dirty="0"/>
              <a:t>transitions</a:t>
            </a:r>
          </a:p>
          <a:p>
            <a:pPr lvl="1"/>
            <a:r>
              <a:rPr lang="en-GB" b="1" dirty="0"/>
              <a:t>Step 2:</a:t>
            </a:r>
            <a:r>
              <a:rPr lang="en-GB" dirty="0"/>
              <a:t>  Learn a low-dimensional </a:t>
            </a:r>
            <a:r>
              <a:rPr lang="en-GB" b="1" dirty="0">
                <a:solidFill>
                  <a:schemeClr val="accent1">
                    <a:lumMod val="75000"/>
                  </a:schemeClr>
                </a:solidFill>
              </a:rPr>
              <a:t>Q-function </a:t>
            </a:r>
            <a:r>
              <a:rPr lang="en-GB" dirty="0"/>
              <a:t>based on this representation, to perform the actual control</a:t>
            </a:r>
          </a:p>
          <a:p>
            <a:pPr lvl="1"/>
            <a:endParaRPr lang="en-GB" dirty="0"/>
          </a:p>
          <a:p>
            <a:endParaRPr lang="en-GB" dirty="0"/>
          </a:p>
          <a:p>
            <a:endParaRPr lang="en-BE" dirty="0"/>
          </a:p>
        </p:txBody>
      </p:sp>
      <p:sp>
        <p:nvSpPr>
          <p:cNvPr id="4" name="Footer Placeholder 3">
            <a:extLst>
              <a:ext uri="{FF2B5EF4-FFF2-40B4-BE49-F238E27FC236}">
                <a16:creationId xmlns:a16="http://schemas.microsoft.com/office/drawing/2014/main" id="{E84BDCCF-D5C4-F327-0A7B-3EA55A50BC4C}"/>
              </a:ext>
            </a:extLst>
          </p:cNvPr>
          <p:cNvSpPr>
            <a:spLocks noGrp="1"/>
          </p:cNvSpPr>
          <p:nvPr>
            <p:ph type="ftr" sz="quarter" idx="10"/>
          </p:nvPr>
        </p:nvSpPr>
        <p:spPr/>
        <p:txBody>
          <a:bodyPr/>
          <a:lstStyle/>
          <a:p>
            <a:pPr>
              <a:defRPr/>
            </a:pPr>
            <a:r>
              <a:rPr lang="en-US"/>
              <a:t>C. Develder, "AI4E: Data-efficient and scalable algorithmss to exploit energy flexibility"</a:t>
            </a:r>
            <a:endParaRPr lang="en-US" dirty="0"/>
          </a:p>
        </p:txBody>
      </p:sp>
      <p:sp>
        <p:nvSpPr>
          <p:cNvPr id="6" name="Rectangle 5">
            <a:extLst>
              <a:ext uri="{FF2B5EF4-FFF2-40B4-BE49-F238E27FC236}">
                <a16:creationId xmlns:a16="http://schemas.microsoft.com/office/drawing/2014/main" id="{6CB665E2-A638-335C-A320-816C6A1F837A}"/>
              </a:ext>
            </a:extLst>
          </p:cNvPr>
          <p:cNvSpPr/>
          <p:nvPr/>
        </p:nvSpPr>
        <p:spPr>
          <a:xfrm>
            <a:off x="6805591" y="1282397"/>
            <a:ext cx="1979158" cy="1827368"/>
          </a:xfrm>
          <a:prstGeom prst="rect">
            <a:avLst/>
          </a:prstGeom>
          <a:solidFill>
            <a:schemeClr val="accent4">
              <a:alpha val="19608"/>
            </a:scheme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BE" sz="1400"/>
          </a:p>
        </p:txBody>
      </p:sp>
      <p:sp>
        <p:nvSpPr>
          <p:cNvPr id="8" name="Rectangle 7">
            <a:extLst>
              <a:ext uri="{FF2B5EF4-FFF2-40B4-BE49-F238E27FC236}">
                <a16:creationId xmlns:a16="http://schemas.microsoft.com/office/drawing/2014/main" id="{87CD16B0-6BB9-D86E-2FE0-CBF5092CD5C6}"/>
              </a:ext>
            </a:extLst>
          </p:cNvPr>
          <p:cNvSpPr/>
          <p:nvPr/>
        </p:nvSpPr>
        <p:spPr>
          <a:xfrm>
            <a:off x="9065741" y="1282396"/>
            <a:ext cx="2125762" cy="1827368"/>
          </a:xfrm>
          <a:prstGeom prst="rect">
            <a:avLst/>
          </a:prstGeom>
          <a:solidFill>
            <a:srgbClr val="57B3E8">
              <a:alpha val="19608"/>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BE" sz="1400"/>
          </a:p>
        </p:txBody>
      </p:sp>
      <p:pic>
        <p:nvPicPr>
          <p:cNvPr id="10" name="Picture 9">
            <a:extLst>
              <a:ext uri="{FF2B5EF4-FFF2-40B4-BE49-F238E27FC236}">
                <a16:creationId xmlns:a16="http://schemas.microsoft.com/office/drawing/2014/main" id="{7C795ABC-A020-B903-3C2D-5D7D0AA90677}"/>
              </a:ext>
            </a:extLst>
          </p:cNvPr>
          <p:cNvPicPr>
            <a:picLocks noChangeAspect="1"/>
          </p:cNvPicPr>
          <p:nvPr/>
        </p:nvPicPr>
        <p:blipFill>
          <a:blip r:embed="rId3">
            <a:clrChange>
              <a:clrFrom>
                <a:srgbClr val="FFFFFF">
                  <a:alpha val="0"/>
                </a:srgbClr>
              </a:clrFrom>
              <a:clrTo>
                <a:srgbClr val="FFFFFF">
                  <a:alpha val="0"/>
                </a:srgbClr>
              </a:clrTo>
            </a:clrChange>
          </a:blip>
          <a:srcRect b="43240"/>
          <a:stretch>
            <a:fillRect/>
          </a:stretch>
        </p:blipFill>
        <p:spPr>
          <a:xfrm>
            <a:off x="5993755" y="1052357"/>
            <a:ext cx="5722032" cy="2846981"/>
          </a:xfrm>
          <a:prstGeom prst="rect">
            <a:avLst/>
          </a:prstGeom>
        </p:spPr>
      </p:pic>
      <p:sp>
        <p:nvSpPr>
          <p:cNvPr id="15" name="Oval 14">
            <a:extLst>
              <a:ext uri="{FF2B5EF4-FFF2-40B4-BE49-F238E27FC236}">
                <a16:creationId xmlns:a16="http://schemas.microsoft.com/office/drawing/2014/main" id="{BD14FA87-7D9B-B313-9CFE-8D43A0A3CCC2}"/>
              </a:ext>
            </a:extLst>
          </p:cNvPr>
          <p:cNvSpPr/>
          <p:nvPr/>
        </p:nvSpPr>
        <p:spPr>
          <a:xfrm>
            <a:off x="8547652" y="1975943"/>
            <a:ext cx="622852" cy="435953"/>
          </a:xfrm>
          <a:prstGeom prst="ellipse">
            <a:avLst/>
          </a:prstGeom>
          <a:noFill/>
          <a:ln w="38100">
            <a:solidFill>
              <a:schemeClr val="accent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BE"/>
          </a:p>
        </p:txBody>
      </p:sp>
      <p:grpSp>
        <p:nvGrpSpPr>
          <p:cNvPr id="9" name="Group 8">
            <a:extLst>
              <a:ext uri="{FF2B5EF4-FFF2-40B4-BE49-F238E27FC236}">
                <a16:creationId xmlns:a16="http://schemas.microsoft.com/office/drawing/2014/main" id="{C31B1C1D-0BE3-7126-E215-1C07E664087B}"/>
              </a:ext>
            </a:extLst>
          </p:cNvPr>
          <p:cNvGrpSpPr/>
          <p:nvPr/>
        </p:nvGrpSpPr>
        <p:grpSpPr>
          <a:xfrm>
            <a:off x="6096000" y="3953418"/>
            <a:ext cx="5722032" cy="2197846"/>
            <a:chOff x="6096000" y="3953418"/>
            <a:chExt cx="5722032" cy="2197846"/>
          </a:xfrm>
        </p:grpSpPr>
        <p:sp>
          <p:nvSpPr>
            <p:cNvPr id="5" name="Rectangle 4">
              <a:extLst>
                <a:ext uri="{FF2B5EF4-FFF2-40B4-BE49-F238E27FC236}">
                  <a16:creationId xmlns:a16="http://schemas.microsoft.com/office/drawing/2014/main" id="{59F17AE3-43F6-13DB-BC43-FCCB7E029B76}"/>
                </a:ext>
              </a:extLst>
            </p:cNvPr>
            <p:cNvSpPr/>
            <p:nvPr/>
          </p:nvSpPr>
          <p:spPr>
            <a:xfrm>
              <a:off x="8463733" y="4849330"/>
              <a:ext cx="2125762" cy="406022"/>
            </a:xfrm>
            <a:prstGeom prst="rect">
              <a:avLst/>
            </a:prstGeom>
            <a:solidFill>
              <a:schemeClr val="accent4">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BE"/>
            </a:p>
          </p:txBody>
        </p:sp>
        <p:sp>
          <p:nvSpPr>
            <p:cNvPr id="7" name="Rectangle 6">
              <a:extLst>
                <a:ext uri="{FF2B5EF4-FFF2-40B4-BE49-F238E27FC236}">
                  <a16:creationId xmlns:a16="http://schemas.microsoft.com/office/drawing/2014/main" id="{815FC8F1-EEF4-F89E-7586-331537B79227}"/>
                </a:ext>
              </a:extLst>
            </p:cNvPr>
            <p:cNvSpPr/>
            <p:nvPr/>
          </p:nvSpPr>
          <p:spPr>
            <a:xfrm>
              <a:off x="9326804" y="5688239"/>
              <a:ext cx="2322651" cy="406022"/>
            </a:xfrm>
            <a:prstGeom prst="rect">
              <a:avLst/>
            </a:prstGeom>
            <a:solidFill>
              <a:srgbClr val="DFF1FB"/>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BE"/>
            </a:p>
          </p:txBody>
        </p:sp>
        <p:sp>
          <p:nvSpPr>
            <p:cNvPr id="12" name="TextBox 11">
              <a:extLst>
                <a:ext uri="{FF2B5EF4-FFF2-40B4-BE49-F238E27FC236}">
                  <a16:creationId xmlns:a16="http://schemas.microsoft.com/office/drawing/2014/main" id="{CDE11C55-DF63-8644-A527-ED4A230C6B5F}"/>
                </a:ext>
              </a:extLst>
            </p:cNvPr>
            <p:cNvSpPr txBox="1"/>
            <p:nvPr/>
          </p:nvSpPr>
          <p:spPr>
            <a:xfrm>
              <a:off x="6096000" y="3953418"/>
              <a:ext cx="5722032" cy="2197846"/>
            </a:xfrm>
            <a:prstGeom prst="rect">
              <a:avLst/>
            </a:prstGeom>
            <a:noFill/>
          </p:spPr>
          <p:txBody>
            <a:bodyPr wrap="square" rtlCol="0">
              <a:spAutoFit/>
            </a:bodyPr>
            <a:lstStyle/>
            <a:p>
              <a:pPr>
                <a:lnSpc>
                  <a:spcPct val="85000"/>
                </a:lnSpc>
              </a:pPr>
              <a:r>
                <a:rPr lang="en-BE" sz="3200" b="1" dirty="0">
                  <a:solidFill>
                    <a:schemeClr val="accent3"/>
                  </a:solidFill>
                  <a:latin typeface="Caveat" pitchFamily="2" charset="77"/>
                </a:rPr>
                <a:t>Idea:</a:t>
              </a:r>
            </a:p>
            <a:p>
              <a:pPr marL="312738" indent="-312738">
                <a:lnSpc>
                  <a:spcPct val="85000"/>
                </a:lnSpc>
                <a:buFont typeface="Arial" panose="020B0604020202020204" pitchFamily="34" charset="0"/>
                <a:buChar char="•"/>
              </a:pPr>
              <a:r>
                <a:rPr lang="en-BE" sz="3200" b="1" dirty="0">
                  <a:solidFill>
                    <a:schemeClr val="accent3"/>
                  </a:solidFill>
                  <a:latin typeface="Caveat" pitchFamily="2" charset="77"/>
                </a:rPr>
                <a:t>Add </a:t>
              </a:r>
              <a:r>
                <a:rPr lang="en-BE" sz="3200" b="1" u="sng" dirty="0">
                  <a:solidFill>
                    <a:schemeClr val="accent3"/>
                  </a:solidFill>
                  <a:latin typeface="Caveat" pitchFamily="2" charset="77"/>
                </a:rPr>
                <a:t>physical quantity </a:t>
              </a:r>
              <a:r>
                <a:rPr lang="en-BE" sz="3200" b="1" dirty="0">
                  <a:solidFill>
                    <a:schemeClr val="accent3"/>
                  </a:solidFill>
                  <a:latin typeface="Caveat" pitchFamily="2" charset="77"/>
                </a:rPr>
                <a:t>(following laws of physics) to </a:t>
              </a:r>
              <a:r>
                <a:rPr lang="en-BE" sz="3200" b="1" u="sng" dirty="0">
                  <a:solidFill>
                    <a:schemeClr val="accent3"/>
                  </a:solidFill>
                  <a:latin typeface="Caveat" pitchFamily="2" charset="77"/>
                </a:rPr>
                <a:t>representation</a:t>
              </a:r>
            </a:p>
            <a:p>
              <a:pPr marL="312738" indent="-312738">
                <a:lnSpc>
                  <a:spcPct val="85000"/>
                </a:lnSpc>
                <a:buFont typeface="Arial" panose="020B0604020202020204" pitchFamily="34" charset="0"/>
                <a:buChar char="•"/>
              </a:pPr>
              <a:r>
                <a:rPr lang="en-BE" sz="3200" b="1" dirty="0">
                  <a:solidFill>
                    <a:schemeClr val="accent3"/>
                  </a:solidFill>
                  <a:latin typeface="Caveat" pitchFamily="2" charset="77"/>
                </a:rPr>
                <a:t>Here: building mass temperature; learn it from indoor temp. prediction</a:t>
              </a:r>
            </a:p>
          </p:txBody>
        </p:sp>
      </p:grpSp>
      <p:sp>
        <p:nvSpPr>
          <p:cNvPr id="11" name="Freeform 10">
            <a:extLst>
              <a:ext uri="{FF2B5EF4-FFF2-40B4-BE49-F238E27FC236}">
                <a16:creationId xmlns:a16="http://schemas.microsoft.com/office/drawing/2014/main" id="{F9428DB4-659C-1594-A859-840E03A0CDCD}"/>
              </a:ext>
            </a:extLst>
          </p:cNvPr>
          <p:cNvSpPr/>
          <p:nvPr/>
        </p:nvSpPr>
        <p:spPr>
          <a:xfrm>
            <a:off x="6697621" y="2226157"/>
            <a:ext cx="1833587" cy="1579853"/>
          </a:xfrm>
          <a:custGeom>
            <a:avLst/>
            <a:gdLst>
              <a:gd name="csX0" fmla="*/ 1833587 w 1833587"/>
              <a:gd name="csY0" fmla="*/ 0 h 1579853"/>
              <a:gd name="csX1" fmla="*/ 488318 w 1833587"/>
              <a:gd name="csY1" fmla="*/ 536193 h 1579853"/>
              <a:gd name="csX2" fmla="*/ 0 w 1833587"/>
              <a:gd name="csY2" fmla="*/ 1579853 h 1579853"/>
            </a:gdLst>
            <a:ahLst/>
            <a:cxnLst>
              <a:cxn ang="0">
                <a:pos x="csX0" y="csY0"/>
              </a:cxn>
              <a:cxn ang="0">
                <a:pos x="csX1" y="csY1"/>
              </a:cxn>
              <a:cxn ang="0">
                <a:pos x="csX2" y="csY2"/>
              </a:cxn>
            </a:cxnLst>
            <a:rect l="l" t="t" r="r" b="b"/>
            <a:pathLst>
              <a:path w="1833587" h="1579853">
                <a:moveTo>
                  <a:pt x="1833587" y="0"/>
                </a:moveTo>
                <a:cubicBezTo>
                  <a:pt x="1313751" y="136442"/>
                  <a:pt x="793916" y="272884"/>
                  <a:pt x="488318" y="536193"/>
                </a:cubicBezTo>
                <a:cubicBezTo>
                  <a:pt x="182720" y="799502"/>
                  <a:pt x="91360" y="1189677"/>
                  <a:pt x="0" y="1579853"/>
                </a:cubicBezTo>
              </a:path>
            </a:pathLst>
          </a:custGeom>
          <a:noFill/>
          <a:ln w="38100">
            <a:solidFill>
              <a:schemeClr val="accent3"/>
            </a:solidFill>
            <a:headEnd type="none" w="med" len="med"/>
            <a:tailEnd type="triangle" w="med" len="me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BE"/>
          </a:p>
        </p:txBody>
      </p:sp>
      <p:sp>
        <p:nvSpPr>
          <p:cNvPr id="13" name="Slide Number Placeholder 12">
            <a:extLst>
              <a:ext uri="{FF2B5EF4-FFF2-40B4-BE49-F238E27FC236}">
                <a16:creationId xmlns:a16="http://schemas.microsoft.com/office/drawing/2014/main" id="{70896A1F-51FC-14F7-F214-CA2B5BB9B222}"/>
              </a:ext>
            </a:extLst>
          </p:cNvPr>
          <p:cNvSpPr>
            <a:spLocks noGrp="1"/>
          </p:cNvSpPr>
          <p:nvPr>
            <p:ph type="sldNum" sz="quarter" idx="11"/>
          </p:nvPr>
        </p:nvSpPr>
        <p:spPr/>
        <p:txBody>
          <a:bodyPr/>
          <a:lstStyle/>
          <a:p>
            <a:pPr>
              <a:defRPr/>
            </a:pPr>
            <a:fld id="{968663A2-1950-48E6-8399-8A0176E7D7D3}" type="slidenum">
              <a:rPr lang="en-US" smtClean="0"/>
              <a:pPr>
                <a:defRPr/>
              </a:pPr>
              <a:t>10</a:t>
            </a:fld>
            <a:endParaRPr lang="en-US"/>
          </a:p>
        </p:txBody>
      </p:sp>
      <p:sp>
        <p:nvSpPr>
          <p:cNvPr id="14" name="TextBox 13">
            <a:extLst>
              <a:ext uri="{FF2B5EF4-FFF2-40B4-BE49-F238E27FC236}">
                <a16:creationId xmlns:a16="http://schemas.microsoft.com/office/drawing/2014/main" id="{D3A40104-2933-50D6-AF84-63B26FDE1157}"/>
              </a:ext>
            </a:extLst>
          </p:cNvPr>
          <p:cNvSpPr txBox="1"/>
          <p:nvPr/>
        </p:nvSpPr>
        <p:spPr>
          <a:xfrm rot="16200000">
            <a:off x="5891850" y="2062337"/>
            <a:ext cx="562975" cy="338554"/>
          </a:xfrm>
          <a:prstGeom prst="rect">
            <a:avLst/>
          </a:prstGeom>
          <a:noFill/>
        </p:spPr>
        <p:txBody>
          <a:bodyPr wrap="none" rtlCol="0">
            <a:spAutoFit/>
          </a:bodyPr>
          <a:lstStyle/>
          <a:p>
            <a:r>
              <a:rPr lang="en-BE" dirty="0">
                <a:latin typeface="Times New Roman" panose="02020603050405020304" pitchFamily="18" charset="0"/>
                <a:cs typeface="Times New Roman" panose="02020603050405020304" pitchFamily="18" charset="0"/>
              </a:rPr>
              <a:t>state</a:t>
            </a:r>
          </a:p>
        </p:txBody>
      </p:sp>
    </p:spTree>
    <p:extLst>
      <p:ext uri="{BB962C8B-B14F-4D97-AF65-F5344CB8AC3E}">
        <p14:creationId xmlns:p14="http://schemas.microsoft.com/office/powerpoint/2010/main" val="163335920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4075DDD-4B70-3F5B-BDE2-693A210F3BE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BDF6E1E-7E74-4ECB-05DF-08E195D3E1F5}"/>
              </a:ext>
            </a:extLst>
          </p:cNvPr>
          <p:cNvSpPr>
            <a:spLocks noGrp="1"/>
          </p:cNvSpPr>
          <p:nvPr>
            <p:ph type="title"/>
          </p:nvPr>
        </p:nvSpPr>
        <p:spPr>
          <a:xfrm>
            <a:off x="476213" y="332879"/>
            <a:ext cx="11430079" cy="836613"/>
          </a:xfrm>
        </p:spPr>
        <p:txBody>
          <a:bodyPr/>
          <a:lstStyle/>
          <a:p>
            <a:r>
              <a:rPr lang="en-BE" dirty="0"/>
              <a:t>PhysQ: A physics-informed reinforcement learning framework</a:t>
            </a:r>
          </a:p>
        </p:txBody>
      </p:sp>
      <p:sp>
        <p:nvSpPr>
          <p:cNvPr id="3" name="Content Placeholder 2">
            <a:extLst>
              <a:ext uri="{FF2B5EF4-FFF2-40B4-BE49-F238E27FC236}">
                <a16:creationId xmlns:a16="http://schemas.microsoft.com/office/drawing/2014/main" id="{1C8F6DB8-B9D1-4D1B-B47D-AEE3961AFF28}"/>
              </a:ext>
            </a:extLst>
          </p:cNvPr>
          <p:cNvSpPr>
            <a:spLocks noGrp="1"/>
          </p:cNvSpPr>
          <p:nvPr>
            <p:ph idx="1"/>
          </p:nvPr>
        </p:nvSpPr>
        <p:spPr>
          <a:xfrm>
            <a:off x="476212" y="1359878"/>
            <a:ext cx="5115291" cy="4731847"/>
          </a:xfrm>
        </p:spPr>
        <p:txBody>
          <a:bodyPr/>
          <a:lstStyle/>
          <a:p>
            <a:r>
              <a:rPr lang="en-GB" b="1" dirty="0" err="1"/>
              <a:t>PhysQ</a:t>
            </a:r>
            <a:r>
              <a:rPr lang="en-GB" dirty="0"/>
              <a:t>:</a:t>
            </a:r>
          </a:p>
          <a:p>
            <a:pPr lvl="1"/>
            <a:r>
              <a:rPr lang="en-GB" dirty="0"/>
              <a:t>Physics informed RL framework</a:t>
            </a:r>
          </a:p>
          <a:p>
            <a:pPr lvl="1"/>
            <a:r>
              <a:rPr lang="en-GB" dirty="0"/>
              <a:t>Leverages prior physics to learn physically relevant </a:t>
            </a:r>
            <a:r>
              <a:rPr lang="en-GB" b="1" dirty="0">
                <a:solidFill>
                  <a:schemeClr val="accent4">
                    <a:lumMod val="75000"/>
                  </a:schemeClr>
                </a:solidFill>
              </a:rPr>
              <a:t>latent representations</a:t>
            </a:r>
          </a:p>
          <a:p>
            <a:pPr lvl="1"/>
            <a:r>
              <a:rPr lang="en-GB" dirty="0"/>
              <a:t>Learns a control policy using this latent representation </a:t>
            </a:r>
            <a:br>
              <a:rPr lang="en-GB" dirty="0"/>
            </a:br>
            <a:endParaRPr lang="en-GB" dirty="0"/>
          </a:p>
          <a:p>
            <a:r>
              <a:rPr lang="en-GB" dirty="0"/>
              <a:t>Two-step Algorithm:</a:t>
            </a:r>
          </a:p>
          <a:p>
            <a:pPr lvl="1"/>
            <a:r>
              <a:rPr lang="en-GB" b="1" dirty="0"/>
              <a:t>Step 1:</a:t>
            </a:r>
            <a:r>
              <a:rPr lang="en-GB" dirty="0"/>
              <a:t>  Learn physically relevant </a:t>
            </a:r>
            <a:r>
              <a:rPr lang="en-GB" b="1" dirty="0">
                <a:solidFill>
                  <a:schemeClr val="accent4">
                    <a:lumMod val="75000"/>
                  </a:schemeClr>
                </a:solidFill>
              </a:rPr>
              <a:t>representation</a:t>
            </a:r>
            <a:r>
              <a:rPr lang="en-GB" dirty="0"/>
              <a:t> (</a:t>
            </a:r>
            <a:r>
              <a:rPr lang="en-GB" dirty="0">
                <a:solidFill>
                  <a:schemeClr val="accent3"/>
                </a:solidFill>
              </a:rPr>
              <a:t>bulk temperature T</a:t>
            </a:r>
            <a:r>
              <a:rPr lang="en-GB" baseline="-25000" dirty="0">
                <a:solidFill>
                  <a:schemeClr val="accent3"/>
                </a:solidFill>
              </a:rPr>
              <a:t>m</a:t>
            </a:r>
            <a:r>
              <a:rPr lang="en-GB" dirty="0"/>
              <a:t>), from </a:t>
            </a:r>
            <a:r>
              <a:rPr lang="en-GB" dirty="0">
                <a:solidFill>
                  <a:srgbClr val="628B99"/>
                </a:solidFill>
              </a:rPr>
              <a:t>predicting state </a:t>
            </a:r>
            <a:r>
              <a:rPr lang="en-GB" dirty="0"/>
              <a:t>transitions</a:t>
            </a:r>
          </a:p>
          <a:p>
            <a:pPr lvl="1"/>
            <a:r>
              <a:rPr lang="en-GB" b="1" dirty="0"/>
              <a:t>Step 2:</a:t>
            </a:r>
            <a:r>
              <a:rPr lang="en-GB" dirty="0"/>
              <a:t>  Learn a low-dimensional </a:t>
            </a:r>
            <a:r>
              <a:rPr lang="en-GB" b="1" dirty="0">
                <a:solidFill>
                  <a:schemeClr val="accent1">
                    <a:lumMod val="75000"/>
                  </a:schemeClr>
                </a:solidFill>
              </a:rPr>
              <a:t>Q-function </a:t>
            </a:r>
            <a:r>
              <a:rPr lang="en-GB" dirty="0"/>
              <a:t>based on this representation, to perform the actual control</a:t>
            </a:r>
          </a:p>
          <a:p>
            <a:endParaRPr lang="en-GB" dirty="0"/>
          </a:p>
          <a:p>
            <a:endParaRPr lang="en-BE" dirty="0"/>
          </a:p>
        </p:txBody>
      </p:sp>
      <p:sp>
        <p:nvSpPr>
          <p:cNvPr id="4" name="Footer Placeholder 3">
            <a:extLst>
              <a:ext uri="{FF2B5EF4-FFF2-40B4-BE49-F238E27FC236}">
                <a16:creationId xmlns:a16="http://schemas.microsoft.com/office/drawing/2014/main" id="{141A0299-B0F9-3CB8-31C8-196ACB003B2E}"/>
              </a:ext>
            </a:extLst>
          </p:cNvPr>
          <p:cNvSpPr>
            <a:spLocks noGrp="1"/>
          </p:cNvSpPr>
          <p:nvPr>
            <p:ph type="ftr" sz="quarter" idx="10"/>
          </p:nvPr>
        </p:nvSpPr>
        <p:spPr/>
        <p:txBody>
          <a:bodyPr/>
          <a:lstStyle/>
          <a:p>
            <a:pPr>
              <a:defRPr/>
            </a:pPr>
            <a:r>
              <a:rPr lang="en-US"/>
              <a:t>C. Develder, "AI4E: Data-efficient and scalable algorithmss to exploit energy flexibility"</a:t>
            </a:r>
            <a:endParaRPr lang="en-US" dirty="0"/>
          </a:p>
        </p:txBody>
      </p:sp>
      <p:sp>
        <p:nvSpPr>
          <p:cNvPr id="6" name="Rectangle 5">
            <a:extLst>
              <a:ext uri="{FF2B5EF4-FFF2-40B4-BE49-F238E27FC236}">
                <a16:creationId xmlns:a16="http://schemas.microsoft.com/office/drawing/2014/main" id="{7BB03706-A53B-5236-25A5-18CE2A649953}"/>
              </a:ext>
            </a:extLst>
          </p:cNvPr>
          <p:cNvSpPr/>
          <p:nvPr/>
        </p:nvSpPr>
        <p:spPr>
          <a:xfrm>
            <a:off x="6805591" y="1282397"/>
            <a:ext cx="1979158" cy="1827368"/>
          </a:xfrm>
          <a:prstGeom prst="rect">
            <a:avLst/>
          </a:prstGeom>
          <a:solidFill>
            <a:schemeClr val="accent4">
              <a:alpha val="19608"/>
            </a:scheme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BE" sz="1400"/>
          </a:p>
        </p:txBody>
      </p:sp>
      <p:sp>
        <p:nvSpPr>
          <p:cNvPr id="7" name="Rectangle 6">
            <a:extLst>
              <a:ext uri="{FF2B5EF4-FFF2-40B4-BE49-F238E27FC236}">
                <a16:creationId xmlns:a16="http://schemas.microsoft.com/office/drawing/2014/main" id="{5A9FE3C0-C089-FFCB-F362-C63466D33291}"/>
              </a:ext>
            </a:extLst>
          </p:cNvPr>
          <p:cNvSpPr/>
          <p:nvPr/>
        </p:nvSpPr>
        <p:spPr>
          <a:xfrm>
            <a:off x="6805591" y="4304388"/>
            <a:ext cx="1979158" cy="1787337"/>
          </a:xfrm>
          <a:prstGeom prst="rect">
            <a:avLst/>
          </a:prstGeom>
          <a:solidFill>
            <a:schemeClr val="accent4">
              <a:alpha val="19608"/>
            </a:scheme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BE" sz="1400"/>
          </a:p>
        </p:txBody>
      </p:sp>
      <p:sp>
        <p:nvSpPr>
          <p:cNvPr id="8" name="Rectangle 7">
            <a:extLst>
              <a:ext uri="{FF2B5EF4-FFF2-40B4-BE49-F238E27FC236}">
                <a16:creationId xmlns:a16="http://schemas.microsoft.com/office/drawing/2014/main" id="{5A564F8B-C3CC-E075-4670-A8EC10CF57CE}"/>
              </a:ext>
            </a:extLst>
          </p:cNvPr>
          <p:cNvSpPr/>
          <p:nvPr/>
        </p:nvSpPr>
        <p:spPr>
          <a:xfrm>
            <a:off x="9065741" y="1282396"/>
            <a:ext cx="2125762" cy="1827368"/>
          </a:xfrm>
          <a:prstGeom prst="rect">
            <a:avLst/>
          </a:prstGeom>
          <a:solidFill>
            <a:srgbClr val="57B3E8">
              <a:alpha val="19608"/>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BE" sz="1400"/>
          </a:p>
        </p:txBody>
      </p:sp>
      <p:sp>
        <p:nvSpPr>
          <p:cNvPr id="9" name="Rectangle 8">
            <a:extLst>
              <a:ext uri="{FF2B5EF4-FFF2-40B4-BE49-F238E27FC236}">
                <a16:creationId xmlns:a16="http://schemas.microsoft.com/office/drawing/2014/main" id="{C9F513FC-B45C-68A7-857A-CA569561218C}"/>
              </a:ext>
            </a:extLst>
          </p:cNvPr>
          <p:cNvSpPr/>
          <p:nvPr/>
        </p:nvSpPr>
        <p:spPr>
          <a:xfrm>
            <a:off x="9065741" y="4304388"/>
            <a:ext cx="2125762" cy="1787337"/>
          </a:xfrm>
          <a:prstGeom prst="rect">
            <a:avLst/>
          </a:prstGeom>
          <a:solidFill>
            <a:schemeClr val="accent1">
              <a:lumMod val="75000"/>
              <a:alpha val="19608"/>
            </a:scheme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BE" sz="1400"/>
          </a:p>
        </p:txBody>
      </p:sp>
      <p:pic>
        <p:nvPicPr>
          <p:cNvPr id="10" name="Picture 9">
            <a:extLst>
              <a:ext uri="{FF2B5EF4-FFF2-40B4-BE49-F238E27FC236}">
                <a16:creationId xmlns:a16="http://schemas.microsoft.com/office/drawing/2014/main" id="{9840A7F5-F8EB-F01C-0F95-0DEE132A4467}"/>
              </a:ext>
            </a:extLst>
          </p:cNvPr>
          <p:cNvPicPr>
            <a:picLocks noChangeAspect="1"/>
          </p:cNvPicPr>
          <p:nvPr/>
        </p:nvPicPr>
        <p:blipFill>
          <a:blip r:embed="rId2">
            <a:clrChange>
              <a:clrFrom>
                <a:srgbClr val="FFFFFF">
                  <a:alpha val="0"/>
                </a:srgbClr>
              </a:clrFrom>
              <a:clrTo>
                <a:srgbClr val="FFFFFF">
                  <a:alpha val="0"/>
                </a:srgbClr>
              </a:clrTo>
            </a:clrChange>
          </a:blip>
          <a:stretch>
            <a:fillRect/>
          </a:stretch>
        </p:blipFill>
        <p:spPr>
          <a:xfrm>
            <a:off x="5993755" y="1052357"/>
            <a:ext cx="5722032" cy="5015847"/>
          </a:xfrm>
          <a:prstGeom prst="rect">
            <a:avLst/>
          </a:prstGeom>
        </p:spPr>
      </p:pic>
      <p:sp>
        <p:nvSpPr>
          <p:cNvPr id="15" name="Rectangle 14">
            <a:extLst>
              <a:ext uri="{FF2B5EF4-FFF2-40B4-BE49-F238E27FC236}">
                <a16:creationId xmlns:a16="http://schemas.microsoft.com/office/drawing/2014/main" id="{540E6F15-A457-ECB4-AD4C-0B3E15D1C181}"/>
              </a:ext>
            </a:extLst>
          </p:cNvPr>
          <p:cNvSpPr/>
          <p:nvPr/>
        </p:nvSpPr>
        <p:spPr>
          <a:xfrm>
            <a:off x="5803250" y="1052357"/>
            <a:ext cx="5912537" cy="2782665"/>
          </a:xfrm>
          <a:prstGeom prst="rect">
            <a:avLst/>
          </a:prstGeom>
          <a:solidFill>
            <a:srgbClr val="FFFFFF">
              <a:alpha val="74902"/>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BE"/>
          </a:p>
        </p:txBody>
      </p:sp>
      <p:grpSp>
        <p:nvGrpSpPr>
          <p:cNvPr id="19" name="Group 18">
            <a:extLst>
              <a:ext uri="{FF2B5EF4-FFF2-40B4-BE49-F238E27FC236}">
                <a16:creationId xmlns:a16="http://schemas.microsoft.com/office/drawing/2014/main" id="{E042EDE4-EAEE-0AA6-C38A-C9E1641C17E0}"/>
              </a:ext>
            </a:extLst>
          </p:cNvPr>
          <p:cNvGrpSpPr/>
          <p:nvPr/>
        </p:nvGrpSpPr>
        <p:grpSpPr>
          <a:xfrm>
            <a:off x="5803249" y="2553612"/>
            <a:ext cx="5912537" cy="3077815"/>
            <a:chOff x="5803249" y="2553612"/>
            <a:chExt cx="5912537" cy="3077815"/>
          </a:xfrm>
        </p:grpSpPr>
        <p:sp>
          <p:nvSpPr>
            <p:cNvPr id="13" name="Oval 12">
              <a:extLst>
                <a:ext uri="{FF2B5EF4-FFF2-40B4-BE49-F238E27FC236}">
                  <a16:creationId xmlns:a16="http://schemas.microsoft.com/office/drawing/2014/main" id="{8572F3EC-8A74-23B6-D9CF-825DD1E9DE42}"/>
                </a:ext>
              </a:extLst>
            </p:cNvPr>
            <p:cNvSpPr/>
            <p:nvPr/>
          </p:nvSpPr>
          <p:spPr>
            <a:xfrm>
              <a:off x="8675790" y="4790365"/>
              <a:ext cx="622852" cy="841062"/>
            </a:xfrm>
            <a:prstGeom prst="ellipse">
              <a:avLst/>
            </a:prstGeom>
            <a:noFill/>
            <a:ln w="38100">
              <a:solidFill>
                <a:schemeClr val="accent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BE"/>
            </a:p>
          </p:txBody>
        </p:sp>
        <p:sp>
          <p:nvSpPr>
            <p:cNvPr id="14" name="Rectangle 13">
              <a:extLst>
                <a:ext uri="{FF2B5EF4-FFF2-40B4-BE49-F238E27FC236}">
                  <a16:creationId xmlns:a16="http://schemas.microsoft.com/office/drawing/2014/main" id="{C4C597C9-0DBC-A81E-39C1-E03B7D7DDCB3}"/>
                </a:ext>
              </a:extLst>
            </p:cNvPr>
            <p:cNvSpPr/>
            <p:nvPr/>
          </p:nvSpPr>
          <p:spPr>
            <a:xfrm>
              <a:off x="7296913" y="3374408"/>
              <a:ext cx="2221992" cy="406022"/>
            </a:xfrm>
            <a:prstGeom prst="rect">
              <a:avLst/>
            </a:prstGeom>
            <a:solidFill>
              <a:srgbClr val="D6ECE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BE"/>
            </a:p>
          </p:txBody>
        </p:sp>
        <p:sp>
          <p:nvSpPr>
            <p:cNvPr id="18" name="Rectangle 17">
              <a:extLst>
                <a:ext uri="{FF2B5EF4-FFF2-40B4-BE49-F238E27FC236}">
                  <a16:creationId xmlns:a16="http://schemas.microsoft.com/office/drawing/2014/main" id="{F9D33144-FBDD-285F-5819-8C04FE308239}"/>
                </a:ext>
              </a:extLst>
            </p:cNvPr>
            <p:cNvSpPr/>
            <p:nvPr/>
          </p:nvSpPr>
          <p:spPr>
            <a:xfrm>
              <a:off x="7430461" y="2944865"/>
              <a:ext cx="2125762" cy="406022"/>
            </a:xfrm>
            <a:prstGeom prst="rect">
              <a:avLst/>
            </a:prstGeom>
            <a:solidFill>
              <a:schemeClr val="accent4">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BE"/>
            </a:p>
          </p:txBody>
        </p:sp>
        <p:sp>
          <p:nvSpPr>
            <p:cNvPr id="5" name="TextBox 4">
              <a:extLst>
                <a:ext uri="{FF2B5EF4-FFF2-40B4-BE49-F238E27FC236}">
                  <a16:creationId xmlns:a16="http://schemas.microsoft.com/office/drawing/2014/main" id="{5A9B5880-C7EF-7799-AC49-58F2615F0417}"/>
                </a:ext>
              </a:extLst>
            </p:cNvPr>
            <p:cNvSpPr txBox="1"/>
            <p:nvPr/>
          </p:nvSpPr>
          <p:spPr>
            <a:xfrm>
              <a:off x="5803249" y="2553612"/>
              <a:ext cx="5912537" cy="1281410"/>
            </a:xfrm>
            <a:prstGeom prst="rect">
              <a:avLst/>
            </a:prstGeom>
            <a:noFill/>
            <a:ln>
              <a:noFill/>
            </a:ln>
          </p:spPr>
          <p:txBody>
            <a:bodyPr wrap="square" rtlCol="0" anchor="b">
              <a:noAutofit/>
            </a:bodyPr>
            <a:lstStyle/>
            <a:p>
              <a:pPr marL="498475" indent="-269875">
                <a:lnSpc>
                  <a:spcPct val="85000"/>
                </a:lnSpc>
              </a:pPr>
              <a:r>
                <a:rPr lang="en-BE" sz="3200" b="1" dirty="0">
                  <a:solidFill>
                    <a:schemeClr val="accent3"/>
                  </a:solidFill>
                  <a:latin typeface="Caveat" pitchFamily="2" charset="77"/>
                </a:rPr>
                <a:t>Idea:</a:t>
              </a:r>
            </a:p>
            <a:p>
              <a:pPr marL="228600">
                <a:lnSpc>
                  <a:spcPct val="85000"/>
                </a:lnSpc>
              </a:pPr>
              <a:r>
                <a:rPr lang="en-BE" sz="3200" b="1" dirty="0">
                  <a:solidFill>
                    <a:schemeClr val="accent3"/>
                  </a:solidFill>
                  <a:latin typeface="Caveat" pitchFamily="2" charset="77"/>
                </a:rPr>
                <a:t>Use that representation (incl. physics) to learn control actions </a:t>
              </a:r>
            </a:p>
          </p:txBody>
        </p:sp>
      </p:grpSp>
      <p:sp>
        <p:nvSpPr>
          <p:cNvPr id="20" name="Freeform 19">
            <a:extLst>
              <a:ext uri="{FF2B5EF4-FFF2-40B4-BE49-F238E27FC236}">
                <a16:creationId xmlns:a16="http://schemas.microsoft.com/office/drawing/2014/main" id="{8E50E022-A89B-11B6-A712-351DA502681E}"/>
              </a:ext>
            </a:extLst>
          </p:cNvPr>
          <p:cNvSpPr/>
          <p:nvPr/>
        </p:nvSpPr>
        <p:spPr>
          <a:xfrm>
            <a:off x="7132320" y="3990535"/>
            <a:ext cx="1538068" cy="1144173"/>
          </a:xfrm>
          <a:custGeom>
            <a:avLst/>
            <a:gdLst>
              <a:gd name="csX0" fmla="*/ 1538068 w 1538068"/>
              <a:gd name="csY0" fmla="*/ 1144173 h 1144173"/>
              <a:gd name="csX1" fmla="*/ 482991 w 1538068"/>
              <a:gd name="csY1" fmla="*/ 815927 h 1144173"/>
              <a:gd name="csX2" fmla="*/ 0 w 1538068"/>
              <a:gd name="csY2" fmla="*/ 0 h 1144173"/>
            </a:gdLst>
            <a:ahLst/>
            <a:cxnLst>
              <a:cxn ang="0">
                <a:pos x="csX0" y="csY0"/>
              </a:cxn>
              <a:cxn ang="0">
                <a:pos x="csX1" y="csY1"/>
              </a:cxn>
              <a:cxn ang="0">
                <a:pos x="csX2" y="csY2"/>
              </a:cxn>
            </a:cxnLst>
            <a:rect l="l" t="t" r="r" b="b"/>
            <a:pathLst>
              <a:path w="1538068" h="1144173">
                <a:moveTo>
                  <a:pt x="1538068" y="1144173"/>
                </a:moveTo>
                <a:cubicBezTo>
                  <a:pt x="1138702" y="1075397"/>
                  <a:pt x="739336" y="1006622"/>
                  <a:pt x="482991" y="815927"/>
                </a:cubicBezTo>
                <a:cubicBezTo>
                  <a:pt x="226646" y="625232"/>
                  <a:pt x="113323" y="312616"/>
                  <a:pt x="0" y="0"/>
                </a:cubicBezTo>
              </a:path>
            </a:pathLst>
          </a:custGeom>
          <a:noFill/>
          <a:ln w="38100">
            <a:solidFill>
              <a:schemeClr val="accent3"/>
            </a:solidFill>
            <a:headEnd type="none" w="med" len="med"/>
            <a:tailEnd type="triangle" w="med" len="me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BE"/>
          </a:p>
        </p:txBody>
      </p:sp>
      <p:sp>
        <p:nvSpPr>
          <p:cNvPr id="21" name="Slide Number Placeholder 20">
            <a:extLst>
              <a:ext uri="{FF2B5EF4-FFF2-40B4-BE49-F238E27FC236}">
                <a16:creationId xmlns:a16="http://schemas.microsoft.com/office/drawing/2014/main" id="{94B41677-75D3-C4DC-5357-80FD1785BDFF}"/>
              </a:ext>
            </a:extLst>
          </p:cNvPr>
          <p:cNvSpPr>
            <a:spLocks noGrp="1"/>
          </p:cNvSpPr>
          <p:nvPr>
            <p:ph type="sldNum" sz="quarter" idx="11"/>
          </p:nvPr>
        </p:nvSpPr>
        <p:spPr/>
        <p:txBody>
          <a:bodyPr/>
          <a:lstStyle/>
          <a:p>
            <a:pPr>
              <a:defRPr/>
            </a:pPr>
            <a:fld id="{968663A2-1950-48E6-8399-8A0176E7D7D3}" type="slidenum">
              <a:rPr lang="en-US" smtClean="0"/>
              <a:pPr>
                <a:defRPr/>
              </a:pPr>
              <a:t>11</a:t>
            </a:fld>
            <a:endParaRPr lang="en-US"/>
          </a:p>
        </p:txBody>
      </p:sp>
      <p:sp>
        <p:nvSpPr>
          <p:cNvPr id="12" name="TextBox 11">
            <a:extLst>
              <a:ext uri="{FF2B5EF4-FFF2-40B4-BE49-F238E27FC236}">
                <a16:creationId xmlns:a16="http://schemas.microsoft.com/office/drawing/2014/main" id="{5FE76897-CEED-7CCF-8815-D1642CA4D84A}"/>
              </a:ext>
            </a:extLst>
          </p:cNvPr>
          <p:cNvSpPr txBox="1"/>
          <p:nvPr/>
        </p:nvSpPr>
        <p:spPr>
          <a:xfrm rot="16200000">
            <a:off x="5876607" y="5076659"/>
            <a:ext cx="562975" cy="338554"/>
          </a:xfrm>
          <a:prstGeom prst="rect">
            <a:avLst/>
          </a:prstGeom>
          <a:noFill/>
        </p:spPr>
        <p:txBody>
          <a:bodyPr wrap="none" rtlCol="0">
            <a:spAutoFit/>
          </a:bodyPr>
          <a:lstStyle/>
          <a:p>
            <a:r>
              <a:rPr lang="en-BE" dirty="0">
                <a:latin typeface="Times New Roman" panose="02020603050405020304" pitchFamily="18" charset="0"/>
                <a:cs typeface="Times New Roman" panose="02020603050405020304" pitchFamily="18" charset="0"/>
              </a:rPr>
              <a:t>state</a:t>
            </a:r>
          </a:p>
        </p:txBody>
      </p:sp>
    </p:spTree>
    <p:extLst>
      <p:ext uri="{BB962C8B-B14F-4D97-AF65-F5344CB8AC3E}">
        <p14:creationId xmlns:p14="http://schemas.microsoft.com/office/powerpoint/2010/main" val="275787483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D526F5C-190F-9861-9125-3A40D577D46F}"/>
              </a:ext>
            </a:extLst>
          </p:cNvPr>
          <p:cNvSpPr>
            <a:spLocks noGrp="1"/>
          </p:cNvSpPr>
          <p:nvPr>
            <p:ph type="title"/>
          </p:nvPr>
        </p:nvSpPr>
        <p:spPr/>
        <p:txBody>
          <a:bodyPr/>
          <a:lstStyle/>
          <a:p>
            <a:r>
              <a:rPr lang="en-BE" dirty="0"/>
              <a:t>Simulation results</a:t>
            </a:r>
          </a:p>
        </p:txBody>
      </p:sp>
      <p:sp>
        <p:nvSpPr>
          <p:cNvPr id="4" name="Footer Placeholder 3">
            <a:extLst>
              <a:ext uri="{FF2B5EF4-FFF2-40B4-BE49-F238E27FC236}">
                <a16:creationId xmlns:a16="http://schemas.microsoft.com/office/drawing/2014/main" id="{217836C4-E4EE-2B66-1D15-C6BBDE9C92D2}"/>
              </a:ext>
            </a:extLst>
          </p:cNvPr>
          <p:cNvSpPr>
            <a:spLocks noGrp="1"/>
          </p:cNvSpPr>
          <p:nvPr>
            <p:ph type="ftr" sz="quarter" idx="10"/>
          </p:nvPr>
        </p:nvSpPr>
        <p:spPr/>
        <p:txBody>
          <a:bodyPr/>
          <a:lstStyle/>
          <a:p>
            <a:pPr>
              <a:defRPr/>
            </a:pPr>
            <a:r>
              <a:rPr lang="en-US"/>
              <a:t>C. Develder, "AI4E: Data-efficient and scalable algorithmss to exploit energy flexibility"</a:t>
            </a:r>
            <a:endParaRPr lang="en-US" dirty="0"/>
          </a:p>
        </p:txBody>
      </p:sp>
      <p:sp>
        <p:nvSpPr>
          <p:cNvPr id="5" name="Content Placeholder 9">
            <a:extLst>
              <a:ext uri="{FF2B5EF4-FFF2-40B4-BE49-F238E27FC236}">
                <a16:creationId xmlns:a16="http://schemas.microsoft.com/office/drawing/2014/main" id="{AA29B49D-AEA4-F981-4E90-88214B66A740}"/>
              </a:ext>
            </a:extLst>
          </p:cNvPr>
          <p:cNvSpPr txBox="1">
            <a:spLocks/>
          </p:cNvSpPr>
          <p:nvPr/>
        </p:nvSpPr>
        <p:spPr>
          <a:xfrm>
            <a:off x="955856" y="1169492"/>
            <a:ext cx="4501182" cy="894401"/>
          </a:xfrm>
          <a:prstGeom prst="rect">
            <a:avLst/>
          </a:prstGeom>
        </p:spPr>
        <p:txBody>
          <a:bodyPr>
            <a:normAutofit/>
          </a:bodyPr>
          <a:lstStyle>
            <a:lvl1pPr marL="228600" indent="-228600" algn="l" rtl="0" eaLnBrk="0" fontAlgn="base" hangingPunct="0">
              <a:spcBef>
                <a:spcPct val="20000"/>
              </a:spcBef>
              <a:spcAft>
                <a:spcPct val="0"/>
              </a:spcAft>
              <a:buClr>
                <a:schemeClr val="accent6"/>
              </a:buClr>
              <a:buFont typeface="Wingdings" pitchFamily="2" charset="2"/>
              <a:buChar char="§"/>
              <a:defRPr sz="2400">
                <a:solidFill>
                  <a:schemeClr val="tx1"/>
                </a:solidFill>
                <a:latin typeface="UGent Panno Text" charset="0"/>
                <a:ea typeface="UGent Panno Text" charset="0"/>
                <a:cs typeface="UGent Panno Text" charset="0"/>
              </a:defRPr>
            </a:lvl1pPr>
            <a:lvl2pPr marL="685800" indent="-228600" algn="l" rtl="0" eaLnBrk="0" fontAlgn="base" hangingPunct="0">
              <a:spcBef>
                <a:spcPct val="20000"/>
              </a:spcBef>
              <a:spcAft>
                <a:spcPct val="0"/>
              </a:spcAft>
              <a:buClr>
                <a:schemeClr val="accent2"/>
              </a:buClr>
              <a:buSzPct val="110000"/>
              <a:buFont typeface="Calibri" pitchFamily="34" charset="0"/>
              <a:buChar char="•"/>
              <a:defRPr sz="2000">
                <a:solidFill>
                  <a:schemeClr val="tx1"/>
                </a:solidFill>
                <a:latin typeface="UGent Panno Text" charset="0"/>
                <a:ea typeface="UGent Panno Text" charset="0"/>
                <a:cs typeface="UGent Panno Text" charset="0"/>
              </a:defRPr>
            </a:lvl2pPr>
            <a:lvl3pPr marL="1104900" indent="-190500" algn="l" rtl="0" eaLnBrk="0" fontAlgn="base" hangingPunct="0">
              <a:spcBef>
                <a:spcPct val="20000"/>
              </a:spcBef>
              <a:spcAft>
                <a:spcPct val="0"/>
              </a:spcAft>
              <a:buClr>
                <a:schemeClr val="accent6"/>
              </a:buClr>
              <a:buFont typeface="Wingdings" pitchFamily="2" charset="2"/>
              <a:buChar char="§"/>
              <a:defRPr sz="2000">
                <a:solidFill>
                  <a:schemeClr val="tx1"/>
                </a:solidFill>
                <a:latin typeface="UGent Panno Text" charset="0"/>
                <a:ea typeface="UGent Panno Text" charset="0"/>
                <a:cs typeface="UGent Panno Text" charset="0"/>
              </a:defRPr>
            </a:lvl3pPr>
            <a:lvl4pPr marL="1562100" indent="-190500" algn="l" rtl="0" eaLnBrk="0" fontAlgn="base" hangingPunct="0">
              <a:spcBef>
                <a:spcPct val="20000"/>
              </a:spcBef>
              <a:spcAft>
                <a:spcPct val="0"/>
              </a:spcAft>
              <a:buClr>
                <a:schemeClr val="accent2"/>
              </a:buClr>
              <a:buFont typeface="Arial" pitchFamily="34" charset="0"/>
              <a:buChar char="•"/>
              <a:defRPr sz="1800">
                <a:solidFill>
                  <a:schemeClr val="tx1"/>
                </a:solidFill>
                <a:latin typeface="UGent Panno Text" charset="0"/>
                <a:ea typeface="UGent Panno Text" charset="0"/>
                <a:cs typeface="UGent Panno Text" charset="0"/>
              </a:defRPr>
            </a:lvl4pPr>
            <a:lvl5pPr marL="2019300" indent="-190500" algn="l" rtl="0" eaLnBrk="0" fontAlgn="base" hangingPunct="0">
              <a:spcBef>
                <a:spcPct val="20000"/>
              </a:spcBef>
              <a:spcAft>
                <a:spcPct val="0"/>
              </a:spcAft>
              <a:buClr>
                <a:schemeClr val="accent6"/>
              </a:buClr>
              <a:buFont typeface="Calibri" pitchFamily="34" charset="0"/>
              <a:buChar char="–"/>
              <a:defRPr sz="1800">
                <a:solidFill>
                  <a:schemeClr val="tx1"/>
                </a:solidFill>
                <a:latin typeface="UGent Panno Text" charset="0"/>
                <a:ea typeface="UGent Panno Text" charset="0"/>
                <a:cs typeface="UGent Panno Text" charset="0"/>
              </a:defRPr>
            </a:lvl5pPr>
            <a:lvl6pPr marL="2476500" indent="-190500" algn="l" rtl="0" fontAlgn="base">
              <a:spcBef>
                <a:spcPct val="20000"/>
              </a:spcBef>
              <a:spcAft>
                <a:spcPct val="0"/>
              </a:spcAft>
              <a:buClr>
                <a:srgbClr val="CC0066"/>
              </a:buClr>
              <a:buFont typeface="Wingdings" pitchFamily="2" charset="2"/>
              <a:buChar char="§"/>
              <a:defRPr sz="2000">
                <a:solidFill>
                  <a:schemeClr val="tx1"/>
                </a:solidFill>
                <a:latin typeface="+mn-lt"/>
                <a:cs typeface="+mn-cs"/>
              </a:defRPr>
            </a:lvl6pPr>
            <a:lvl7pPr marL="2933700" indent="-190500" algn="l" rtl="0" fontAlgn="base">
              <a:spcBef>
                <a:spcPct val="20000"/>
              </a:spcBef>
              <a:spcAft>
                <a:spcPct val="0"/>
              </a:spcAft>
              <a:buClr>
                <a:srgbClr val="CC0066"/>
              </a:buClr>
              <a:buFont typeface="Wingdings" pitchFamily="2" charset="2"/>
              <a:buChar char="§"/>
              <a:defRPr sz="2000">
                <a:solidFill>
                  <a:schemeClr val="tx1"/>
                </a:solidFill>
                <a:latin typeface="+mn-lt"/>
                <a:cs typeface="+mn-cs"/>
              </a:defRPr>
            </a:lvl7pPr>
            <a:lvl8pPr marL="3390900" indent="-190500" algn="l" rtl="0" fontAlgn="base">
              <a:spcBef>
                <a:spcPct val="20000"/>
              </a:spcBef>
              <a:spcAft>
                <a:spcPct val="0"/>
              </a:spcAft>
              <a:buClr>
                <a:srgbClr val="CC0066"/>
              </a:buClr>
              <a:buFont typeface="Wingdings" pitchFamily="2" charset="2"/>
              <a:buChar char="§"/>
              <a:defRPr sz="2000">
                <a:solidFill>
                  <a:schemeClr val="tx1"/>
                </a:solidFill>
                <a:latin typeface="+mn-lt"/>
                <a:cs typeface="+mn-cs"/>
              </a:defRPr>
            </a:lvl8pPr>
            <a:lvl9pPr marL="3848100" indent="-190500" algn="l" rtl="0" fontAlgn="base">
              <a:spcBef>
                <a:spcPct val="20000"/>
              </a:spcBef>
              <a:spcAft>
                <a:spcPct val="0"/>
              </a:spcAft>
              <a:buClr>
                <a:srgbClr val="CC0066"/>
              </a:buClr>
              <a:buFont typeface="Wingdings" pitchFamily="2" charset="2"/>
              <a:buChar char="§"/>
              <a:defRPr sz="2000">
                <a:solidFill>
                  <a:schemeClr val="tx1"/>
                </a:solidFill>
                <a:latin typeface="+mn-lt"/>
                <a:cs typeface="+mn-cs"/>
              </a:defRPr>
            </a:lvl9pPr>
          </a:lstStyle>
          <a:p>
            <a:pPr marL="0" indent="0">
              <a:buFont typeface="Wingdings" pitchFamily="2" charset="2"/>
              <a:buNone/>
            </a:pPr>
            <a:r>
              <a:rPr lang="en-US" kern="0" dirty="0"/>
              <a:t>Results for BELPEX prices using a building simulator</a:t>
            </a:r>
          </a:p>
          <a:p>
            <a:endParaRPr lang="en-US" kern="0" dirty="0"/>
          </a:p>
          <a:p>
            <a:endParaRPr lang="en-US" kern="0" dirty="0"/>
          </a:p>
        </p:txBody>
      </p:sp>
      <p:sp>
        <p:nvSpPr>
          <p:cNvPr id="6" name="Content Placeholder 16">
            <a:extLst>
              <a:ext uri="{FF2B5EF4-FFF2-40B4-BE49-F238E27FC236}">
                <a16:creationId xmlns:a16="http://schemas.microsoft.com/office/drawing/2014/main" id="{BA793663-412D-531E-90F2-E10D1A279BEE}"/>
              </a:ext>
            </a:extLst>
          </p:cNvPr>
          <p:cNvSpPr txBox="1">
            <a:spLocks/>
          </p:cNvSpPr>
          <p:nvPr/>
        </p:nvSpPr>
        <p:spPr>
          <a:xfrm>
            <a:off x="6951518" y="1169493"/>
            <a:ext cx="4880798" cy="1002026"/>
          </a:xfrm>
          <a:prstGeom prst="rect">
            <a:avLst/>
          </a:prstGeom>
        </p:spPr>
        <p:txBody>
          <a:bodyPr/>
          <a:lstStyle>
            <a:lvl1pPr marL="228600" indent="-228600" algn="l" rtl="0" eaLnBrk="0" fontAlgn="base" hangingPunct="0">
              <a:spcBef>
                <a:spcPct val="20000"/>
              </a:spcBef>
              <a:spcAft>
                <a:spcPct val="0"/>
              </a:spcAft>
              <a:buClr>
                <a:schemeClr val="accent6"/>
              </a:buClr>
              <a:buFont typeface="Wingdings" pitchFamily="2" charset="2"/>
              <a:buChar char="§"/>
              <a:defRPr sz="2400">
                <a:solidFill>
                  <a:schemeClr val="tx1"/>
                </a:solidFill>
                <a:latin typeface="UGent Panno Text" charset="0"/>
                <a:ea typeface="UGent Panno Text" charset="0"/>
                <a:cs typeface="UGent Panno Text" charset="0"/>
              </a:defRPr>
            </a:lvl1pPr>
            <a:lvl2pPr marL="685800" indent="-228600" algn="l" rtl="0" eaLnBrk="0" fontAlgn="base" hangingPunct="0">
              <a:spcBef>
                <a:spcPct val="20000"/>
              </a:spcBef>
              <a:spcAft>
                <a:spcPct val="0"/>
              </a:spcAft>
              <a:buClr>
                <a:schemeClr val="accent2"/>
              </a:buClr>
              <a:buSzPct val="110000"/>
              <a:buFont typeface="Calibri" pitchFamily="34" charset="0"/>
              <a:buChar char="•"/>
              <a:defRPr sz="2000">
                <a:solidFill>
                  <a:schemeClr val="tx1"/>
                </a:solidFill>
                <a:latin typeface="UGent Panno Text" charset="0"/>
                <a:ea typeface="UGent Panno Text" charset="0"/>
                <a:cs typeface="UGent Panno Text" charset="0"/>
              </a:defRPr>
            </a:lvl2pPr>
            <a:lvl3pPr marL="1104900" indent="-190500" algn="l" rtl="0" eaLnBrk="0" fontAlgn="base" hangingPunct="0">
              <a:spcBef>
                <a:spcPct val="20000"/>
              </a:spcBef>
              <a:spcAft>
                <a:spcPct val="0"/>
              </a:spcAft>
              <a:buClr>
                <a:schemeClr val="accent6"/>
              </a:buClr>
              <a:buFont typeface="Wingdings" pitchFamily="2" charset="2"/>
              <a:buChar char="§"/>
              <a:defRPr sz="2000">
                <a:solidFill>
                  <a:schemeClr val="tx1"/>
                </a:solidFill>
                <a:latin typeface="UGent Panno Text" charset="0"/>
                <a:ea typeface="UGent Panno Text" charset="0"/>
                <a:cs typeface="UGent Panno Text" charset="0"/>
              </a:defRPr>
            </a:lvl3pPr>
            <a:lvl4pPr marL="1562100" indent="-190500" algn="l" rtl="0" eaLnBrk="0" fontAlgn="base" hangingPunct="0">
              <a:spcBef>
                <a:spcPct val="20000"/>
              </a:spcBef>
              <a:spcAft>
                <a:spcPct val="0"/>
              </a:spcAft>
              <a:buClr>
                <a:schemeClr val="accent2"/>
              </a:buClr>
              <a:buFont typeface="Arial" pitchFamily="34" charset="0"/>
              <a:buChar char="•"/>
              <a:defRPr sz="1800">
                <a:solidFill>
                  <a:schemeClr val="tx1"/>
                </a:solidFill>
                <a:latin typeface="UGent Panno Text" charset="0"/>
                <a:ea typeface="UGent Panno Text" charset="0"/>
                <a:cs typeface="UGent Panno Text" charset="0"/>
              </a:defRPr>
            </a:lvl4pPr>
            <a:lvl5pPr marL="2019300" indent="-190500" algn="l" rtl="0" eaLnBrk="0" fontAlgn="base" hangingPunct="0">
              <a:spcBef>
                <a:spcPct val="20000"/>
              </a:spcBef>
              <a:spcAft>
                <a:spcPct val="0"/>
              </a:spcAft>
              <a:buClr>
                <a:schemeClr val="accent6"/>
              </a:buClr>
              <a:buFont typeface="Calibri" pitchFamily="34" charset="0"/>
              <a:buChar char="–"/>
              <a:defRPr sz="1800">
                <a:solidFill>
                  <a:schemeClr val="tx1"/>
                </a:solidFill>
                <a:latin typeface="UGent Panno Text" charset="0"/>
                <a:ea typeface="UGent Panno Text" charset="0"/>
                <a:cs typeface="UGent Panno Text" charset="0"/>
              </a:defRPr>
            </a:lvl5pPr>
            <a:lvl6pPr marL="2476500" indent="-190500" algn="l" rtl="0" fontAlgn="base">
              <a:spcBef>
                <a:spcPct val="20000"/>
              </a:spcBef>
              <a:spcAft>
                <a:spcPct val="0"/>
              </a:spcAft>
              <a:buClr>
                <a:srgbClr val="CC0066"/>
              </a:buClr>
              <a:buFont typeface="Wingdings" pitchFamily="2" charset="2"/>
              <a:buChar char="§"/>
              <a:defRPr sz="2000">
                <a:solidFill>
                  <a:schemeClr val="tx1"/>
                </a:solidFill>
                <a:latin typeface="+mn-lt"/>
                <a:cs typeface="+mn-cs"/>
              </a:defRPr>
            </a:lvl6pPr>
            <a:lvl7pPr marL="2933700" indent="-190500" algn="l" rtl="0" fontAlgn="base">
              <a:spcBef>
                <a:spcPct val="20000"/>
              </a:spcBef>
              <a:spcAft>
                <a:spcPct val="0"/>
              </a:spcAft>
              <a:buClr>
                <a:srgbClr val="CC0066"/>
              </a:buClr>
              <a:buFont typeface="Wingdings" pitchFamily="2" charset="2"/>
              <a:buChar char="§"/>
              <a:defRPr sz="2000">
                <a:solidFill>
                  <a:schemeClr val="tx1"/>
                </a:solidFill>
                <a:latin typeface="+mn-lt"/>
                <a:cs typeface="+mn-cs"/>
              </a:defRPr>
            </a:lvl7pPr>
            <a:lvl8pPr marL="3390900" indent="-190500" algn="l" rtl="0" fontAlgn="base">
              <a:spcBef>
                <a:spcPct val="20000"/>
              </a:spcBef>
              <a:spcAft>
                <a:spcPct val="0"/>
              </a:spcAft>
              <a:buClr>
                <a:srgbClr val="CC0066"/>
              </a:buClr>
              <a:buFont typeface="Wingdings" pitchFamily="2" charset="2"/>
              <a:buChar char="§"/>
              <a:defRPr sz="2000">
                <a:solidFill>
                  <a:schemeClr val="tx1"/>
                </a:solidFill>
                <a:latin typeface="+mn-lt"/>
                <a:cs typeface="+mn-cs"/>
              </a:defRPr>
            </a:lvl8pPr>
            <a:lvl9pPr marL="3848100" indent="-190500" algn="l" rtl="0" fontAlgn="base">
              <a:spcBef>
                <a:spcPct val="20000"/>
              </a:spcBef>
              <a:spcAft>
                <a:spcPct val="0"/>
              </a:spcAft>
              <a:buClr>
                <a:srgbClr val="CC0066"/>
              </a:buClr>
              <a:buFont typeface="Wingdings" pitchFamily="2" charset="2"/>
              <a:buChar char="§"/>
              <a:defRPr sz="2000">
                <a:solidFill>
                  <a:schemeClr val="tx1"/>
                </a:solidFill>
                <a:latin typeface="+mn-lt"/>
                <a:cs typeface="+mn-cs"/>
              </a:defRPr>
            </a:lvl9pPr>
          </a:lstStyle>
          <a:p>
            <a:pPr marL="0" indent="0">
              <a:buFont typeface="Wingdings" pitchFamily="2" charset="2"/>
              <a:buNone/>
            </a:pPr>
            <a:r>
              <a:rPr lang="en-US" kern="0" dirty="0"/>
              <a:t>Comparison over different training data sizes and agent types</a:t>
            </a:r>
          </a:p>
        </p:txBody>
      </p:sp>
      <p:pic>
        <p:nvPicPr>
          <p:cNvPr id="7" name="Picture 6">
            <a:extLst>
              <a:ext uri="{FF2B5EF4-FFF2-40B4-BE49-F238E27FC236}">
                <a16:creationId xmlns:a16="http://schemas.microsoft.com/office/drawing/2014/main" id="{77B2A1B0-A96A-754E-982C-9F0CECB619E0}"/>
              </a:ext>
            </a:extLst>
          </p:cNvPr>
          <p:cNvPicPr>
            <a:picLocks noChangeAspect="1"/>
          </p:cNvPicPr>
          <p:nvPr/>
        </p:nvPicPr>
        <p:blipFill>
          <a:blip r:embed="rId2"/>
          <a:stretch>
            <a:fillRect/>
          </a:stretch>
        </p:blipFill>
        <p:spPr>
          <a:xfrm>
            <a:off x="686417" y="2198644"/>
            <a:ext cx="5087248" cy="3815436"/>
          </a:xfrm>
          <a:prstGeom prst="rect">
            <a:avLst/>
          </a:prstGeom>
        </p:spPr>
      </p:pic>
      <p:pic>
        <p:nvPicPr>
          <p:cNvPr id="8" name="Picture 7">
            <a:extLst>
              <a:ext uri="{FF2B5EF4-FFF2-40B4-BE49-F238E27FC236}">
                <a16:creationId xmlns:a16="http://schemas.microsoft.com/office/drawing/2014/main" id="{D6D9BE0A-79BD-560E-C268-0B741E61A7EE}"/>
              </a:ext>
            </a:extLst>
          </p:cNvPr>
          <p:cNvPicPr>
            <a:picLocks noChangeAspect="1"/>
          </p:cNvPicPr>
          <p:nvPr/>
        </p:nvPicPr>
        <p:blipFill rotWithShape="1">
          <a:blip r:embed="rId3" cstate="hqprint">
            <a:extLst>
              <a:ext uri="{28A0092B-C50C-407E-A947-70E740481C1C}">
                <a14:useLocalDpi xmlns:a14="http://schemas.microsoft.com/office/drawing/2010/main"/>
              </a:ext>
            </a:extLst>
          </a:blip>
          <a:srcRect t="4128"/>
          <a:stretch/>
        </p:blipFill>
        <p:spPr>
          <a:xfrm>
            <a:off x="6337690" y="2356136"/>
            <a:ext cx="5494626" cy="3657944"/>
          </a:xfrm>
          <a:prstGeom prst="rect">
            <a:avLst/>
          </a:prstGeom>
        </p:spPr>
      </p:pic>
      <p:sp>
        <p:nvSpPr>
          <p:cNvPr id="16" name="Rectangle 15">
            <a:extLst>
              <a:ext uri="{FF2B5EF4-FFF2-40B4-BE49-F238E27FC236}">
                <a16:creationId xmlns:a16="http://schemas.microsoft.com/office/drawing/2014/main" id="{88D2CE2C-AE8B-0BCD-88A8-CE8B7672576C}"/>
              </a:ext>
            </a:extLst>
          </p:cNvPr>
          <p:cNvSpPr/>
          <p:nvPr/>
        </p:nvSpPr>
        <p:spPr>
          <a:xfrm>
            <a:off x="813915" y="4367828"/>
            <a:ext cx="204913" cy="360119"/>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BE" sz="1400"/>
          </a:p>
        </p:txBody>
      </p:sp>
      <p:sp>
        <p:nvSpPr>
          <p:cNvPr id="17" name="TextBox 16">
            <a:extLst>
              <a:ext uri="{FF2B5EF4-FFF2-40B4-BE49-F238E27FC236}">
                <a16:creationId xmlns:a16="http://schemas.microsoft.com/office/drawing/2014/main" id="{EB6C1DA4-1AFC-3BCF-E867-7446621FF899}"/>
              </a:ext>
            </a:extLst>
          </p:cNvPr>
          <p:cNvSpPr txBox="1"/>
          <p:nvPr/>
        </p:nvSpPr>
        <p:spPr>
          <a:xfrm>
            <a:off x="724789" y="4450947"/>
            <a:ext cx="333745" cy="276999"/>
          </a:xfrm>
          <a:prstGeom prst="rect">
            <a:avLst/>
          </a:prstGeom>
          <a:noFill/>
        </p:spPr>
        <p:txBody>
          <a:bodyPr wrap="none" rtlCol="0">
            <a:spAutoFit/>
          </a:bodyPr>
          <a:lstStyle/>
          <a:p>
            <a:pPr algn="r"/>
            <a:r>
              <a:rPr lang="en-BE" sz="1200" b="1" dirty="0">
                <a:solidFill>
                  <a:schemeClr val="accent2"/>
                </a:solidFill>
                <a:latin typeface="UGent Panno Text" panose="02000506040000040003" pitchFamily="2" charset="0"/>
              </a:rPr>
              <a:t>On</a:t>
            </a:r>
          </a:p>
        </p:txBody>
      </p:sp>
      <p:sp>
        <p:nvSpPr>
          <p:cNvPr id="19" name="TextBox 18">
            <a:extLst>
              <a:ext uri="{FF2B5EF4-FFF2-40B4-BE49-F238E27FC236}">
                <a16:creationId xmlns:a16="http://schemas.microsoft.com/office/drawing/2014/main" id="{542128AA-0E42-695A-3309-D094BF771A72}"/>
              </a:ext>
            </a:extLst>
          </p:cNvPr>
          <p:cNvSpPr txBox="1"/>
          <p:nvPr/>
        </p:nvSpPr>
        <p:spPr>
          <a:xfrm>
            <a:off x="6951518" y="4919699"/>
            <a:ext cx="2426228" cy="809069"/>
          </a:xfrm>
          <a:prstGeom prst="rect">
            <a:avLst/>
          </a:prstGeom>
          <a:solidFill>
            <a:srgbClr val="FFFFFF">
              <a:alpha val="51373"/>
            </a:srgbClr>
          </a:solidFill>
        </p:spPr>
        <p:txBody>
          <a:bodyPr wrap="square" rtlCol="0">
            <a:spAutoFit/>
          </a:bodyPr>
          <a:lstStyle/>
          <a:p>
            <a:pPr algn="ctr">
              <a:lnSpc>
                <a:spcPct val="85000"/>
              </a:lnSpc>
            </a:pPr>
            <a:r>
              <a:rPr lang="en-US" sz="1800" b="1" dirty="0">
                <a:solidFill>
                  <a:srgbClr val="F56C42"/>
                </a:solidFill>
                <a:latin typeface="+mn-lt"/>
              </a:rPr>
              <a:t>Lower overall cost,</a:t>
            </a:r>
          </a:p>
          <a:p>
            <a:pPr algn="ctr">
              <a:lnSpc>
                <a:spcPct val="85000"/>
              </a:lnSpc>
            </a:pPr>
            <a:r>
              <a:rPr lang="en-US" sz="1800" b="1" dirty="0">
                <a:solidFill>
                  <a:srgbClr val="F56C42"/>
                </a:solidFill>
                <a:latin typeface="+mn-lt"/>
              </a:rPr>
              <a:t>especially for low volumes of training data</a:t>
            </a:r>
            <a:endParaRPr lang="en-BE" sz="1800" b="1" dirty="0">
              <a:solidFill>
                <a:srgbClr val="F56C42"/>
              </a:solidFill>
              <a:latin typeface="+mn-lt"/>
            </a:endParaRPr>
          </a:p>
        </p:txBody>
      </p:sp>
      <p:grpSp>
        <p:nvGrpSpPr>
          <p:cNvPr id="20" name="Group 19">
            <a:extLst>
              <a:ext uri="{FF2B5EF4-FFF2-40B4-BE49-F238E27FC236}">
                <a16:creationId xmlns:a16="http://schemas.microsoft.com/office/drawing/2014/main" id="{38E4D78A-FB75-5491-A736-68902043A0C6}"/>
              </a:ext>
            </a:extLst>
          </p:cNvPr>
          <p:cNvGrpSpPr/>
          <p:nvPr/>
        </p:nvGrpSpPr>
        <p:grpSpPr>
          <a:xfrm flipV="1">
            <a:off x="9085003" y="2712284"/>
            <a:ext cx="1149511" cy="366969"/>
            <a:chOff x="6739122" y="1748900"/>
            <a:chExt cx="867684" cy="337352"/>
          </a:xfrm>
        </p:grpSpPr>
        <p:cxnSp>
          <p:nvCxnSpPr>
            <p:cNvPr id="21" name="Straight Arrow Connector 20">
              <a:extLst>
                <a:ext uri="{FF2B5EF4-FFF2-40B4-BE49-F238E27FC236}">
                  <a16:creationId xmlns:a16="http://schemas.microsoft.com/office/drawing/2014/main" id="{0A8C904A-3177-0E5D-3647-A0AA187C7F11}"/>
                </a:ext>
              </a:extLst>
            </p:cNvPr>
            <p:cNvCxnSpPr>
              <a:cxnSpLocks/>
            </p:cNvCxnSpPr>
            <p:nvPr/>
          </p:nvCxnSpPr>
          <p:spPr>
            <a:xfrm flipH="1">
              <a:off x="6739122" y="1748900"/>
              <a:ext cx="220971" cy="337352"/>
            </a:xfrm>
            <a:prstGeom prst="straightConnector1">
              <a:avLst/>
            </a:prstGeom>
            <a:ln w="3175" cmpd="sng">
              <a:solidFill>
                <a:schemeClr val="bg2"/>
              </a:solidFill>
              <a:tailEnd type="triangle"/>
            </a:ln>
            <a:effectLst/>
          </p:spPr>
          <p:style>
            <a:lnRef idx="2">
              <a:schemeClr val="accent1"/>
            </a:lnRef>
            <a:fillRef idx="0">
              <a:schemeClr val="accent1"/>
            </a:fillRef>
            <a:effectRef idx="1">
              <a:schemeClr val="accent1"/>
            </a:effectRef>
            <a:fontRef idx="minor">
              <a:schemeClr val="tx1"/>
            </a:fontRef>
          </p:style>
        </p:cxnSp>
        <p:cxnSp>
          <p:nvCxnSpPr>
            <p:cNvPr id="22" name="Straight Arrow Connector 21">
              <a:extLst>
                <a:ext uri="{FF2B5EF4-FFF2-40B4-BE49-F238E27FC236}">
                  <a16:creationId xmlns:a16="http://schemas.microsoft.com/office/drawing/2014/main" id="{1BA0C805-8BD4-EEA7-6B40-56FEA6D94E92}"/>
                </a:ext>
              </a:extLst>
            </p:cNvPr>
            <p:cNvCxnSpPr>
              <a:cxnSpLocks/>
            </p:cNvCxnSpPr>
            <p:nvPr/>
          </p:nvCxnSpPr>
          <p:spPr>
            <a:xfrm>
              <a:off x="7385835" y="1748900"/>
              <a:ext cx="220971" cy="337352"/>
            </a:xfrm>
            <a:prstGeom prst="straightConnector1">
              <a:avLst/>
            </a:prstGeom>
            <a:ln w="3175" cmpd="sng">
              <a:solidFill>
                <a:schemeClr val="bg2"/>
              </a:solidFill>
              <a:tailEnd type="triangle"/>
            </a:ln>
            <a:effectLst/>
          </p:spPr>
          <p:style>
            <a:lnRef idx="2">
              <a:schemeClr val="accent1"/>
            </a:lnRef>
            <a:fillRef idx="0">
              <a:schemeClr val="accent1"/>
            </a:fillRef>
            <a:effectRef idx="1">
              <a:schemeClr val="accent1"/>
            </a:effectRef>
            <a:fontRef idx="minor">
              <a:schemeClr val="tx1"/>
            </a:fontRef>
          </p:style>
        </p:cxnSp>
      </p:grpSp>
      <p:grpSp>
        <p:nvGrpSpPr>
          <p:cNvPr id="39" name="Group 38">
            <a:extLst>
              <a:ext uri="{FF2B5EF4-FFF2-40B4-BE49-F238E27FC236}">
                <a16:creationId xmlns:a16="http://schemas.microsoft.com/office/drawing/2014/main" id="{EA0EDE42-226E-58F6-E6DE-B3355E878D1B}"/>
              </a:ext>
            </a:extLst>
          </p:cNvPr>
          <p:cNvGrpSpPr/>
          <p:nvPr/>
        </p:nvGrpSpPr>
        <p:grpSpPr>
          <a:xfrm>
            <a:off x="1151499" y="4595616"/>
            <a:ext cx="3714319" cy="1007499"/>
            <a:chOff x="1151499" y="4595616"/>
            <a:chExt cx="3714319" cy="1007499"/>
          </a:xfrm>
        </p:grpSpPr>
        <p:sp>
          <p:nvSpPr>
            <p:cNvPr id="9" name="Down Arrow 8">
              <a:extLst>
                <a:ext uri="{FF2B5EF4-FFF2-40B4-BE49-F238E27FC236}">
                  <a16:creationId xmlns:a16="http://schemas.microsoft.com/office/drawing/2014/main" id="{C1CF1EA0-CD2E-D51B-85C2-8500A5F1F160}"/>
                </a:ext>
              </a:extLst>
            </p:cNvPr>
            <p:cNvSpPr/>
            <p:nvPr/>
          </p:nvSpPr>
          <p:spPr>
            <a:xfrm rot="8795988">
              <a:off x="3169998" y="4595616"/>
              <a:ext cx="240358" cy="264661"/>
            </a:xfrm>
            <a:prstGeom prst="downArrow">
              <a:avLst>
                <a:gd name="adj1" fmla="val 42168"/>
                <a:gd name="adj2" fmla="val 49101"/>
              </a:avLst>
            </a:prstGeom>
            <a:solidFill>
              <a:schemeClr val="accent2">
                <a:lumMod val="60000"/>
                <a:lumOff val="40000"/>
                <a:alpha val="50196"/>
              </a:scheme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BE" sz="1400"/>
            </a:p>
          </p:txBody>
        </p:sp>
        <p:sp>
          <p:nvSpPr>
            <p:cNvPr id="10" name="Down Arrow 9">
              <a:extLst>
                <a:ext uri="{FF2B5EF4-FFF2-40B4-BE49-F238E27FC236}">
                  <a16:creationId xmlns:a16="http://schemas.microsoft.com/office/drawing/2014/main" id="{AF803E84-C15E-B0F0-2FB0-3B13A98650EE}"/>
                </a:ext>
              </a:extLst>
            </p:cNvPr>
            <p:cNvSpPr/>
            <p:nvPr/>
          </p:nvSpPr>
          <p:spPr>
            <a:xfrm rot="8795988">
              <a:off x="2362286" y="4595616"/>
              <a:ext cx="240358" cy="264661"/>
            </a:xfrm>
            <a:prstGeom prst="downArrow">
              <a:avLst>
                <a:gd name="adj1" fmla="val 42168"/>
                <a:gd name="adj2" fmla="val 49101"/>
              </a:avLst>
            </a:prstGeom>
            <a:solidFill>
              <a:schemeClr val="accent2">
                <a:lumMod val="60000"/>
                <a:lumOff val="40000"/>
                <a:alpha val="50196"/>
              </a:scheme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BE" sz="1400"/>
            </a:p>
          </p:txBody>
        </p:sp>
        <p:sp>
          <p:nvSpPr>
            <p:cNvPr id="11" name="Down Arrow 10">
              <a:extLst>
                <a:ext uri="{FF2B5EF4-FFF2-40B4-BE49-F238E27FC236}">
                  <a16:creationId xmlns:a16="http://schemas.microsoft.com/office/drawing/2014/main" id="{CC809BFE-42F6-C872-942B-04C066A70EFF}"/>
                </a:ext>
              </a:extLst>
            </p:cNvPr>
            <p:cNvSpPr/>
            <p:nvPr/>
          </p:nvSpPr>
          <p:spPr>
            <a:xfrm rot="8795988">
              <a:off x="1625083" y="4595616"/>
              <a:ext cx="240358" cy="264661"/>
            </a:xfrm>
            <a:prstGeom prst="downArrow">
              <a:avLst>
                <a:gd name="adj1" fmla="val 42168"/>
                <a:gd name="adj2" fmla="val 49101"/>
              </a:avLst>
            </a:prstGeom>
            <a:solidFill>
              <a:schemeClr val="accent2">
                <a:lumMod val="60000"/>
                <a:lumOff val="40000"/>
                <a:alpha val="50196"/>
              </a:scheme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BE" sz="1400"/>
            </a:p>
          </p:txBody>
        </p:sp>
        <p:sp>
          <p:nvSpPr>
            <p:cNvPr id="12" name="Down Arrow 11">
              <a:extLst>
                <a:ext uri="{FF2B5EF4-FFF2-40B4-BE49-F238E27FC236}">
                  <a16:creationId xmlns:a16="http://schemas.microsoft.com/office/drawing/2014/main" id="{35045CF3-7969-FB9B-BF66-D9BBB2CEAF8B}"/>
                </a:ext>
              </a:extLst>
            </p:cNvPr>
            <p:cNvSpPr/>
            <p:nvPr/>
          </p:nvSpPr>
          <p:spPr>
            <a:xfrm rot="8795988">
              <a:off x="1204496" y="4595616"/>
              <a:ext cx="240358" cy="264661"/>
            </a:xfrm>
            <a:prstGeom prst="downArrow">
              <a:avLst>
                <a:gd name="adj1" fmla="val 42168"/>
                <a:gd name="adj2" fmla="val 49101"/>
              </a:avLst>
            </a:prstGeom>
            <a:solidFill>
              <a:schemeClr val="accent2">
                <a:lumMod val="60000"/>
                <a:lumOff val="40000"/>
                <a:alpha val="50196"/>
              </a:scheme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BE" sz="1400"/>
            </a:p>
          </p:txBody>
        </p:sp>
        <p:sp>
          <p:nvSpPr>
            <p:cNvPr id="13" name="Down Arrow 12">
              <a:extLst>
                <a:ext uri="{FF2B5EF4-FFF2-40B4-BE49-F238E27FC236}">
                  <a16:creationId xmlns:a16="http://schemas.microsoft.com/office/drawing/2014/main" id="{58B2B9AA-0F54-6ADD-78FE-AE5153C6D884}"/>
                </a:ext>
              </a:extLst>
            </p:cNvPr>
            <p:cNvSpPr/>
            <p:nvPr/>
          </p:nvSpPr>
          <p:spPr>
            <a:xfrm rot="8795988">
              <a:off x="3770612" y="4595616"/>
              <a:ext cx="240358" cy="264661"/>
            </a:xfrm>
            <a:prstGeom prst="downArrow">
              <a:avLst>
                <a:gd name="adj1" fmla="val 42168"/>
                <a:gd name="adj2" fmla="val 49101"/>
              </a:avLst>
            </a:prstGeom>
            <a:solidFill>
              <a:schemeClr val="accent2">
                <a:lumMod val="60000"/>
                <a:lumOff val="40000"/>
                <a:alpha val="50196"/>
              </a:scheme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BE" sz="1400"/>
            </a:p>
          </p:txBody>
        </p:sp>
        <p:sp>
          <p:nvSpPr>
            <p:cNvPr id="14" name="Down Arrow 13">
              <a:extLst>
                <a:ext uri="{FF2B5EF4-FFF2-40B4-BE49-F238E27FC236}">
                  <a16:creationId xmlns:a16="http://schemas.microsoft.com/office/drawing/2014/main" id="{893C5CC1-840B-17B9-853D-E42C96D51A59}"/>
                </a:ext>
              </a:extLst>
            </p:cNvPr>
            <p:cNvSpPr/>
            <p:nvPr/>
          </p:nvSpPr>
          <p:spPr>
            <a:xfrm rot="8795988">
              <a:off x="4186142" y="4595616"/>
              <a:ext cx="240358" cy="264661"/>
            </a:xfrm>
            <a:prstGeom prst="downArrow">
              <a:avLst>
                <a:gd name="adj1" fmla="val 42168"/>
                <a:gd name="adj2" fmla="val 49101"/>
              </a:avLst>
            </a:prstGeom>
            <a:solidFill>
              <a:schemeClr val="accent2">
                <a:lumMod val="60000"/>
                <a:lumOff val="40000"/>
                <a:alpha val="50196"/>
              </a:scheme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BE" sz="1400"/>
            </a:p>
          </p:txBody>
        </p:sp>
        <p:sp>
          <p:nvSpPr>
            <p:cNvPr id="15" name="Down Arrow 14">
              <a:extLst>
                <a:ext uri="{FF2B5EF4-FFF2-40B4-BE49-F238E27FC236}">
                  <a16:creationId xmlns:a16="http://schemas.microsoft.com/office/drawing/2014/main" id="{470F39A1-EF8D-5662-E4ED-1E16BE74BE06}"/>
                </a:ext>
              </a:extLst>
            </p:cNvPr>
            <p:cNvSpPr/>
            <p:nvPr/>
          </p:nvSpPr>
          <p:spPr>
            <a:xfrm rot="8795988">
              <a:off x="4625460" y="4595616"/>
              <a:ext cx="240358" cy="264661"/>
            </a:xfrm>
            <a:prstGeom prst="downArrow">
              <a:avLst>
                <a:gd name="adj1" fmla="val 42168"/>
                <a:gd name="adj2" fmla="val 49101"/>
              </a:avLst>
            </a:prstGeom>
            <a:solidFill>
              <a:schemeClr val="accent2">
                <a:lumMod val="60000"/>
                <a:lumOff val="40000"/>
                <a:alpha val="50196"/>
              </a:scheme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BE" sz="1400"/>
            </a:p>
          </p:txBody>
        </p:sp>
        <p:sp>
          <p:nvSpPr>
            <p:cNvPr id="23" name="Rectangle 22">
              <a:extLst>
                <a:ext uri="{FF2B5EF4-FFF2-40B4-BE49-F238E27FC236}">
                  <a16:creationId xmlns:a16="http://schemas.microsoft.com/office/drawing/2014/main" id="{F77FF311-B14B-BD93-BAF8-23BD7F97EF95}"/>
                </a:ext>
              </a:extLst>
            </p:cNvPr>
            <p:cNvSpPr/>
            <p:nvPr/>
          </p:nvSpPr>
          <p:spPr>
            <a:xfrm>
              <a:off x="1151499" y="5039331"/>
              <a:ext cx="147268" cy="87404"/>
            </a:xfrm>
            <a:prstGeom prst="rect">
              <a:avLst/>
            </a:prstGeom>
            <a:solidFill>
              <a:srgbClr val="00CC99">
                <a:alpha val="29804"/>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BE" sz="1400"/>
            </a:p>
          </p:txBody>
        </p:sp>
        <p:sp>
          <p:nvSpPr>
            <p:cNvPr id="24" name="Rectangle 23">
              <a:extLst>
                <a:ext uri="{FF2B5EF4-FFF2-40B4-BE49-F238E27FC236}">
                  <a16:creationId xmlns:a16="http://schemas.microsoft.com/office/drawing/2014/main" id="{2FFAC1F9-C115-DFAD-0DC5-575B77B46886}"/>
                </a:ext>
              </a:extLst>
            </p:cNvPr>
            <p:cNvSpPr/>
            <p:nvPr/>
          </p:nvSpPr>
          <p:spPr>
            <a:xfrm>
              <a:off x="1617960" y="5164650"/>
              <a:ext cx="147268" cy="87404"/>
            </a:xfrm>
            <a:prstGeom prst="rect">
              <a:avLst/>
            </a:prstGeom>
            <a:solidFill>
              <a:srgbClr val="00CC99">
                <a:alpha val="29804"/>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BE" sz="1400"/>
            </a:p>
          </p:txBody>
        </p:sp>
        <p:sp>
          <p:nvSpPr>
            <p:cNvPr id="25" name="Rectangle 24">
              <a:extLst>
                <a:ext uri="{FF2B5EF4-FFF2-40B4-BE49-F238E27FC236}">
                  <a16:creationId xmlns:a16="http://schemas.microsoft.com/office/drawing/2014/main" id="{D81A0726-7066-3672-01D1-B2FE42D05DE6}"/>
                </a:ext>
              </a:extLst>
            </p:cNvPr>
            <p:cNvSpPr/>
            <p:nvPr/>
          </p:nvSpPr>
          <p:spPr>
            <a:xfrm>
              <a:off x="2300241" y="5338697"/>
              <a:ext cx="230811" cy="123600"/>
            </a:xfrm>
            <a:prstGeom prst="rect">
              <a:avLst/>
            </a:prstGeom>
            <a:solidFill>
              <a:srgbClr val="00CC99">
                <a:alpha val="29804"/>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BE" sz="1400"/>
            </a:p>
          </p:txBody>
        </p:sp>
        <p:sp>
          <p:nvSpPr>
            <p:cNvPr id="26" name="Rectangle 25">
              <a:extLst>
                <a:ext uri="{FF2B5EF4-FFF2-40B4-BE49-F238E27FC236}">
                  <a16:creationId xmlns:a16="http://schemas.microsoft.com/office/drawing/2014/main" id="{D280854E-6C1E-4324-9782-085D67EAC166}"/>
                </a:ext>
              </a:extLst>
            </p:cNvPr>
            <p:cNvSpPr/>
            <p:nvPr/>
          </p:nvSpPr>
          <p:spPr>
            <a:xfrm>
              <a:off x="3117000" y="5400497"/>
              <a:ext cx="284312" cy="202618"/>
            </a:xfrm>
            <a:prstGeom prst="rect">
              <a:avLst/>
            </a:prstGeom>
            <a:solidFill>
              <a:srgbClr val="00CC99">
                <a:alpha val="29804"/>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BE" sz="1400"/>
            </a:p>
          </p:txBody>
        </p:sp>
        <p:sp>
          <p:nvSpPr>
            <p:cNvPr id="27" name="Rectangle 26">
              <a:extLst>
                <a:ext uri="{FF2B5EF4-FFF2-40B4-BE49-F238E27FC236}">
                  <a16:creationId xmlns:a16="http://schemas.microsoft.com/office/drawing/2014/main" id="{ACA18A64-E9AC-FBFA-CFE2-0E2F04AC5523}"/>
                </a:ext>
              </a:extLst>
            </p:cNvPr>
            <p:cNvSpPr/>
            <p:nvPr/>
          </p:nvSpPr>
          <p:spPr>
            <a:xfrm>
              <a:off x="3741398" y="5081106"/>
              <a:ext cx="60569" cy="83545"/>
            </a:xfrm>
            <a:prstGeom prst="rect">
              <a:avLst/>
            </a:prstGeom>
            <a:solidFill>
              <a:srgbClr val="00CC99">
                <a:alpha val="29804"/>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BE" sz="1400"/>
            </a:p>
          </p:txBody>
        </p:sp>
        <p:sp>
          <p:nvSpPr>
            <p:cNvPr id="28" name="Rectangle 27">
              <a:extLst>
                <a:ext uri="{FF2B5EF4-FFF2-40B4-BE49-F238E27FC236}">
                  <a16:creationId xmlns:a16="http://schemas.microsoft.com/office/drawing/2014/main" id="{F10AE82D-84F7-E475-BD5F-04D75C262EBA}"/>
                </a:ext>
              </a:extLst>
            </p:cNvPr>
            <p:cNvSpPr/>
            <p:nvPr/>
          </p:nvSpPr>
          <p:spPr>
            <a:xfrm>
              <a:off x="4207859" y="5122878"/>
              <a:ext cx="60569" cy="83545"/>
            </a:xfrm>
            <a:prstGeom prst="rect">
              <a:avLst/>
            </a:prstGeom>
            <a:solidFill>
              <a:srgbClr val="00CC99">
                <a:alpha val="29804"/>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BE" sz="1400"/>
            </a:p>
          </p:txBody>
        </p:sp>
        <p:sp>
          <p:nvSpPr>
            <p:cNvPr id="29" name="Rectangle 28">
              <a:extLst>
                <a:ext uri="{FF2B5EF4-FFF2-40B4-BE49-F238E27FC236}">
                  <a16:creationId xmlns:a16="http://schemas.microsoft.com/office/drawing/2014/main" id="{F2B04DBE-83DF-F5AB-7BFF-2DA6FFFB1F4F}"/>
                </a:ext>
              </a:extLst>
            </p:cNvPr>
            <p:cNvSpPr/>
            <p:nvPr/>
          </p:nvSpPr>
          <p:spPr>
            <a:xfrm>
              <a:off x="4625994" y="4964842"/>
              <a:ext cx="60569" cy="83545"/>
            </a:xfrm>
            <a:prstGeom prst="rect">
              <a:avLst/>
            </a:prstGeom>
            <a:solidFill>
              <a:srgbClr val="00CC99">
                <a:alpha val="29804"/>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BE" sz="1400"/>
            </a:p>
          </p:txBody>
        </p:sp>
      </p:grpSp>
      <p:sp>
        <p:nvSpPr>
          <p:cNvPr id="30" name="TextBox 29">
            <a:extLst>
              <a:ext uri="{FF2B5EF4-FFF2-40B4-BE49-F238E27FC236}">
                <a16:creationId xmlns:a16="http://schemas.microsoft.com/office/drawing/2014/main" id="{DDC70581-C561-8849-1890-CEC74BE958E0}"/>
              </a:ext>
            </a:extLst>
          </p:cNvPr>
          <p:cNvSpPr txBox="1"/>
          <p:nvPr/>
        </p:nvSpPr>
        <p:spPr>
          <a:xfrm>
            <a:off x="8752706" y="3033490"/>
            <a:ext cx="1892176" cy="369332"/>
          </a:xfrm>
          <a:prstGeom prst="rect">
            <a:avLst/>
          </a:prstGeom>
          <a:noFill/>
        </p:spPr>
        <p:txBody>
          <a:bodyPr wrap="square" rtlCol="0">
            <a:spAutoFit/>
          </a:bodyPr>
          <a:lstStyle/>
          <a:p>
            <a:pPr algn="ctr"/>
            <a:r>
              <a:rPr lang="en-GB" sz="1800" dirty="0">
                <a:solidFill>
                  <a:schemeClr val="bg2"/>
                </a:solidFill>
                <a:latin typeface="+mn-lt"/>
              </a:rPr>
              <a:t>B</a:t>
            </a:r>
            <a:r>
              <a:rPr lang="en-BE" sz="1800" dirty="0">
                <a:solidFill>
                  <a:schemeClr val="bg2"/>
                </a:solidFill>
                <a:latin typeface="+mn-lt"/>
              </a:rPr>
              <a:t>lack box models</a:t>
            </a:r>
          </a:p>
        </p:txBody>
      </p:sp>
      <p:sp>
        <p:nvSpPr>
          <p:cNvPr id="33" name="TextBox 32">
            <a:extLst>
              <a:ext uri="{FF2B5EF4-FFF2-40B4-BE49-F238E27FC236}">
                <a16:creationId xmlns:a16="http://schemas.microsoft.com/office/drawing/2014/main" id="{D03A0AE6-2291-A96B-7CF0-DCF06525FB8C}"/>
              </a:ext>
            </a:extLst>
          </p:cNvPr>
          <p:cNvSpPr txBox="1"/>
          <p:nvPr/>
        </p:nvSpPr>
        <p:spPr>
          <a:xfrm>
            <a:off x="682263" y="5445591"/>
            <a:ext cx="356187" cy="276999"/>
          </a:xfrm>
          <a:prstGeom prst="rect">
            <a:avLst/>
          </a:prstGeom>
          <a:solidFill>
            <a:schemeClr val="bg1"/>
          </a:solidFill>
        </p:spPr>
        <p:txBody>
          <a:bodyPr wrap="none" rtlCol="0">
            <a:spAutoFit/>
          </a:bodyPr>
          <a:lstStyle/>
          <a:p>
            <a:pPr algn="r"/>
            <a:r>
              <a:rPr lang="en-BE" sz="1200" b="1" dirty="0">
                <a:solidFill>
                  <a:schemeClr val="accent2"/>
                </a:solidFill>
                <a:latin typeface="UGent Panno Text" panose="02000506040000040003" pitchFamily="2" charset="0"/>
              </a:rPr>
              <a:t>Off</a:t>
            </a:r>
          </a:p>
        </p:txBody>
      </p:sp>
      <p:grpSp>
        <p:nvGrpSpPr>
          <p:cNvPr id="38" name="Group 37">
            <a:extLst>
              <a:ext uri="{FF2B5EF4-FFF2-40B4-BE49-F238E27FC236}">
                <a16:creationId xmlns:a16="http://schemas.microsoft.com/office/drawing/2014/main" id="{3ADAF0A5-EC81-A5A2-C2F6-5C7DCA5EFE79}"/>
              </a:ext>
            </a:extLst>
          </p:cNvPr>
          <p:cNvGrpSpPr/>
          <p:nvPr/>
        </p:nvGrpSpPr>
        <p:grpSpPr>
          <a:xfrm>
            <a:off x="955857" y="3898346"/>
            <a:ext cx="2109809" cy="646331"/>
            <a:chOff x="955857" y="3898346"/>
            <a:chExt cx="2109809" cy="646331"/>
          </a:xfrm>
        </p:grpSpPr>
        <p:sp>
          <p:nvSpPr>
            <p:cNvPr id="34" name="Process 33">
              <a:extLst>
                <a:ext uri="{FF2B5EF4-FFF2-40B4-BE49-F238E27FC236}">
                  <a16:creationId xmlns:a16="http://schemas.microsoft.com/office/drawing/2014/main" id="{BD20DF96-6D6B-FCA9-2DC5-A9E2907B054F}"/>
                </a:ext>
              </a:extLst>
            </p:cNvPr>
            <p:cNvSpPr/>
            <p:nvPr/>
          </p:nvSpPr>
          <p:spPr>
            <a:xfrm>
              <a:off x="1058534" y="3954162"/>
              <a:ext cx="686728" cy="230946"/>
            </a:xfrm>
            <a:prstGeom prst="flowChartProcess">
              <a:avLst/>
            </a:prstGeom>
            <a:solidFill>
              <a:schemeClr val="accent2">
                <a:lumMod val="60000"/>
                <a:lumOff val="40000"/>
                <a:alpha val="50196"/>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BE"/>
            </a:p>
          </p:txBody>
        </p:sp>
        <p:sp>
          <p:nvSpPr>
            <p:cNvPr id="18" name="TextBox 17">
              <a:extLst>
                <a:ext uri="{FF2B5EF4-FFF2-40B4-BE49-F238E27FC236}">
                  <a16:creationId xmlns:a16="http://schemas.microsoft.com/office/drawing/2014/main" id="{A7D30CFE-8BEA-7680-7069-8C2178A5E5CF}"/>
                </a:ext>
              </a:extLst>
            </p:cNvPr>
            <p:cNvSpPr txBox="1"/>
            <p:nvPr/>
          </p:nvSpPr>
          <p:spPr>
            <a:xfrm>
              <a:off x="955857" y="3898346"/>
              <a:ext cx="2109809" cy="646331"/>
            </a:xfrm>
            <a:prstGeom prst="rect">
              <a:avLst/>
            </a:prstGeom>
            <a:solidFill>
              <a:srgbClr val="FFFFFF">
                <a:alpha val="51373"/>
              </a:srgbClr>
            </a:solidFill>
          </p:spPr>
          <p:txBody>
            <a:bodyPr wrap="square" rtlCol="0">
              <a:spAutoFit/>
            </a:bodyPr>
            <a:lstStyle/>
            <a:p>
              <a:pPr algn="ctr"/>
              <a:r>
                <a:rPr lang="en-GB" sz="1800" b="1" dirty="0">
                  <a:solidFill>
                    <a:srgbClr val="149E75"/>
                  </a:solidFill>
                  <a:latin typeface="+mn-lt"/>
                </a:rPr>
                <a:t>H</a:t>
              </a:r>
              <a:r>
                <a:rPr lang="en-BE" sz="1800" b="1" dirty="0">
                  <a:solidFill>
                    <a:srgbClr val="149E75"/>
                  </a:solidFill>
                  <a:latin typeface="+mn-lt"/>
                </a:rPr>
                <a:t>eating at (relatively) low price points</a:t>
              </a:r>
            </a:p>
          </p:txBody>
        </p:sp>
        <p:sp>
          <p:nvSpPr>
            <p:cNvPr id="35" name="Rectangle 34">
              <a:extLst>
                <a:ext uri="{FF2B5EF4-FFF2-40B4-BE49-F238E27FC236}">
                  <a16:creationId xmlns:a16="http://schemas.microsoft.com/office/drawing/2014/main" id="{928EA6F2-08FF-71BE-9823-AFAE6570F40D}"/>
                </a:ext>
              </a:extLst>
            </p:cNvPr>
            <p:cNvSpPr/>
            <p:nvPr/>
          </p:nvSpPr>
          <p:spPr>
            <a:xfrm>
              <a:off x="1323432" y="4240044"/>
              <a:ext cx="789573" cy="230945"/>
            </a:xfrm>
            <a:prstGeom prst="rect">
              <a:avLst/>
            </a:prstGeom>
            <a:solidFill>
              <a:srgbClr val="00CC99">
                <a:alpha val="29804"/>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BE" sz="1400"/>
            </a:p>
          </p:txBody>
        </p:sp>
      </p:grpSp>
      <p:sp>
        <p:nvSpPr>
          <p:cNvPr id="36" name="Rectangle 35">
            <a:extLst>
              <a:ext uri="{FF2B5EF4-FFF2-40B4-BE49-F238E27FC236}">
                <a16:creationId xmlns:a16="http://schemas.microsoft.com/office/drawing/2014/main" id="{FC294488-0EAE-5AF9-6D08-CCAD25CCC204}"/>
              </a:ext>
            </a:extLst>
          </p:cNvPr>
          <p:cNvSpPr/>
          <p:nvPr/>
        </p:nvSpPr>
        <p:spPr>
          <a:xfrm rot="745075">
            <a:off x="7272770" y="4599893"/>
            <a:ext cx="1349897" cy="224315"/>
          </a:xfrm>
          <a:prstGeom prst="rect">
            <a:avLst/>
          </a:prstGeom>
          <a:solidFill>
            <a:srgbClr val="F66C41">
              <a:alpha val="25098"/>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BE" sz="1400"/>
          </a:p>
        </p:txBody>
      </p:sp>
      <p:sp>
        <p:nvSpPr>
          <p:cNvPr id="37" name="Rectangle 36">
            <a:extLst>
              <a:ext uri="{FF2B5EF4-FFF2-40B4-BE49-F238E27FC236}">
                <a16:creationId xmlns:a16="http://schemas.microsoft.com/office/drawing/2014/main" id="{1E302D06-E22B-1E65-A14F-4462BDAE4A84}"/>
              </a:ext>
            </a:extLst>
          </p:cNvPr>
          <p:cNvSpPr/>
          <p:nvPr/>
        </p:nvSpPr>
        <p:spPr>
          <a:xfrm>
            <a:off x="5978769" y="0"/>
            <a:ext cx="6213231" cy="6198698"/>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BE"/>
          </a:p>
        </p:txBody>
      </p:sp>
      <p:sp>
        <p:nvSpPr>
          <p:cNvPr id="3" name="Slide Number Placeholder 2">
            <a:extLst>
              <a:ext uri="{FF2B5EF4-FFF2-40B4-BE49-F238E27FC236}">
                <a16:creationId xmlns:a16="http://schemas.microsoft.com/office/drawing/2014/main" id="{23DA52BF-35ED-15BF-9B80-E03DD62DB89C}"/>
              </a:ext>
            </a:extLst>
          </p:cNvPr>
          <p:cNvSpPr>
            <a:spLocks noGrp="1"/>
          </p:cNvSpPr>
          <p:nvPr>
            <p:ph type="sldNum" sz="quarter" idx="11"/>
          </p:nvPr>
        </p:nvSpPr>
        <p:spPr/>
        <p:txBody>
          <a:bodyPr/>
          <a:lstStyle/>
          <a:p>
            <a:pPr>
              <a:defRPr/>
            </a:pPr>
            <a:fld id="{4908A2AA-746C-4DBB-9102-670E2680A299}" type="slidenum">
              <a:rPr lang="en-US" smtClean="0"/>
              <a:pPr>
                <a:defRPr/>
              </a:pPr>
              <a:t>12</a:t>
            </a:fld>
            <a:endParaRPr lang="en-US"/>
          </a:p>
        </p:txBody>
      </p:sp>
    </p:spTree>
    <p:extLst>
      <p:ext uri="{BB962C8B-B14F-4D97-AF65-F5344CB8AC3E}">
        <p14:creationId xmlns:p14="http://schemas.microsoft.com/office/powerpoint/2010/main" val="378259323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D526F5C-190F-9861-9125-3A40D577D46F}"/>
              </a:ext>
            </a:extLst>
          </p:cNvPr>
          <p:cNvSpPr>
            <a:spLocks noGrp="1"/>
          </p:cNvSpPr>
          <p:nvPr>
            <p:ph type="title"/>
          </p:nvPr>
        </p:nvSpPr>
        <p:spPr/>
        <p:txBody>
          <a:bodyPr/>
          <a:lstStyle/>
          <a:p>
            <a:r>
              <a:rPr lang="en-BE" dirty="0"/>
              <a:t>Simulation results</a:t>
            </a:r>
          </a:p>
        </p:txBody>
      </p:sp>
      <p:sp>
        <p:nvSpPr>
          <p:cNvPr id="4" name="Footer Placeholder 3">
            <a:extLst>
              <a:ext uri="{FF2B5EF4-FFF2-40B4-BE49-F238E27FC236}">
                <a16:creationId xmlns:a16="http://schemas.microsoft.com/office/drawing/2014/main" id="{217836C4-E4EE-2B66-1D15-C6BBDE9C92D2}"/>
              </a:ext>
            </a:extLst>
          </p:cNvPr>
          <p:cNvSpPr>
            <a:spLocks noGrp="1"/>
          </p:cNvSpPr>
          <p:nvPr>
            <p:ph type="ftr" sz="quarter" idx="10"/>
          </p:nvPr>
        </p:nvSpPr>
        <p:spPr/>
        <p:txBody>
          <a:bodyPr/>
          <a:lstStyle/>
          <a:p>
            <a:pPr>
              <a:defRPr/>
            </a:pPr>
            <a:r>
              <a:rPr lang="en-US"/>
              <a:t>C. Develder, "AI4E: Data-efficient and scalable algorithmss to exploit energy flexibility"</a:t>
            </a:r>
            <a:endParaRPr lang="en-US" dirty="0"/>
          </a:p>
        </p:txBody>
      </p:sp>
      <p:sp>
        <p:nvSpPr>
          <p:cNvPr id="5" name="Content Placeholder 9">
            <a:extLst>
              <a:ext uri="{FF2B5EF4-FFF2-40B4-BE49-F238E27FC236}">
                <a16:creationId xmlns:a16="http://schemas.microsoft.com/office/drawing/2014/main" id="{AA29B49D-AEA4-F981-4E90-88214B66A740}"/>
              </a:ext>
            </a:extLst>
          </p:cNvPr>
          <p:cNvSpPr txBox="1">
            <a:spLocks/>
          </p:cNvSpPr>
          <p:nvPr/>
        </p:nvSpPr>
        <p:spPr>
          <a:xfrm>
            <a:off x="955856" y="1169492"/>
            <a:ext cx="4501182" cy="894401"/>
          </a:xfrm>
          <a:prstGeom prst="rect">
            <a:avLst/>
          </a:prstGeom>
        </p:spPr>
        <p:txBody>
          <a:bodyPr>
            <a:normAutofit/>
          </a:bodyPr>
          <a:lstStyle>
            <a:lvl1pPr marL="228600" indent="-228600" algn="l" rtl="0" eaLnBrk="0" fontAlgn="base" hangingPunct="0">
              <a:spcBef>
                <a:spcPct val="20000"/>
              </a:spcBef>
              <a:spcAft>
                <a:spcPct val="0"/>
              </a:spcAft>
              <a:buClr>
                <a:schemeClr val="accent6"/>
              </a:buClr>
              <a:buFont typeface="Wingdings" pitchFamily="2" charset="2"/>
              <a:buChar char="§"/>
              <a:defRPr sz="2400">
                <a:solidFill>
                  <a:schemeClr val="tx1"/>
                </a:solidFill>
                <a:latin typeface="UGent Panno Text" charset="0"/>
                <a:ea typeface="UGent Panno Text" charset="0"/>
                <a:cs typeface="UGent Panno Text" charset="0"/>
              </a:defRPr>
            </a:lvl1pPr>
            <a:lvl2pPr marL="685800" indent="-228600" algn="l" rtl="0" eaLnBrk="0" fontAlgn="base" hangingPunct="0">
              <a:spcBef>
                <a:spcPct val="20000"/>
              </a:spcBef>
              <a:spcAft>
                <a:spcPct val="0"/>
              </a:spcAft>
              <a:buClr>
                <a:schemeClr val="accent2"/>
              </a:buClr>
              <a:buSzPct val="110000"/>
              <a:buFont typeface="Calibri" pitchFamily="34" charset="0"/>
              <a:buChar char="•"/>
              <a:defRPr sz="2000">
                <a:solidFill>
                  <a:schemeClr val="tx1"/>
                </a:solidFill>
                <a:latin typeface="UGent Panno Text" charset="0"/>
                <a:ea typeface="UGent Panno Text" charset="0"/>
                <a:cs typeface="UGent Panno Text" charset="0"/>
              </a:defRPr>
            </a:lvl2pPr>
            <a:lvl3pPr marL="1104900" indent="-190500" algn="l" rtl="0" eaLnBrk="0" fontAlgn="base" hangingPunct="0">
              <a:spcBef>
                <a:spcPct val="20000"/>
              </a:spcBef>
              <a:spcAft>
                <a:spcPct val="0"/>
              </a:spcAft>
              <a:buClr>
                <a:schemeClr val="accent6"/>
              </a:buClr>
              <a:buFont typeface="Wingdings" pitchFamily="2" charset="2"/>
              <a:buChar char="§"/>
              <a:defRPr sz="2000">
                <a:solidFill>
                  <a:schemeClr val="tx1"/>
                </a:solidFill>
                <a:latin typeface="UGent Panno Text" charset="0"/>
                <a:ea typeface="UGent Panno Text" charset="0"/>
                <a:cs typeface="UGent Panno Text" charset="0"/>
              </a:defRPr>
            </a:lvl3pPr>
            <a:lvl4pPr marL="1562100" indent="-190500" algn="l" rtl="0" eaLnBrk="0" fontAlgn="base" hangingPunct="0">
              <a:spcBef>
                <a:spcPct val="20000"/>
              </a:spcBef>
              <a:spcAft>
                <a:spcPct val="0"/>
              </a:spcAft>
              <a:buClr>
                <a:schemeClr val="accent2"/>
              </a:buClr>
              <a:buFont typeface="Arial" pitchFamily="34" charset="0"/>
              <a:buChar char="•"/>
              <a:defRPr sz="1800">
                <a:solidFill>
                  <a:schemeClr val="tx1"/>
                </a:solidFill>
                <a:latin typeface="UGent Panno Text" charset="0"/>
                <a:ea typeface="UGent Panno Text" charset="0"/>
                <a:cs typeface="UGent Panno Text" charset="0"/>
              </a:defRPr>
            </a:lvl4pPr>
            <a:lvl5pPr marL="2019300" indent="-190500" algn="l" rtl="0" eaLnBrk="0" fontAlgn="base" hangingPunct="0">
              <a:spcBef>
                <a:spcPct val="20000"/>
              </a:spcBef>
              <a:spcAft>
                <a:spcPct val="0"/>
              </a:spcAft>
              <a:buClr>
                <a:schemeClr val="accent6"/>
              </a:buClr>
              <a:buFont typeface="Calibri" pitchFamily="34" charset="0"/>
              <a:buChar char="–"/>
              <a:defRPr sz="1800">
                <a:solidFill>
                  <a:schemeClr val="tx1"/>
                </a:solidFill>
                <a:latin typeface="UGent Panno Text" charset="0"/>
                <a:ea typeface="UGent Panno Text" charset="0"/>
                <a:cs typeface="UGent Panno Text" charset="0"/>
              </a:defRPr>
            </a:lvl5pPr>
            <a:lvl6pPr marL="2476500" indent="-190500" algn="l" rtl="0" fontAlgn="base">
              <a:spcBef>
                <a:spcPct val="20000"/>
              </a:spcBef>
              <a:spcAft>
                <a:spcPct val="0"/>
              </a:spcAft>
              <a:buClr>
                <a:srgbClr val="CC0066"/>
              </a:buClr>
              <a:buFont typeface="Wingdings" pitchFamily="2" charset="2"/>
              <a:buChar char="§"/>
              <a:defRPr sz="2000">
                <a:solidFill>
                  <a:schemeClr val="tx1"/>
                </a:solidFill>
                <a:latin typeface="+mn-lt"/>
                <a:cs typeface="+mn-cs"/>
              </a:defRPr>
            </a:lvl6pPr>
            <a:lvl7pPr marL="2933700" indent="-190500" algn="l" rtl="0" fontAlgn="base">
              <a:spcBef>
                <a:spcPct val="20000"/>
              </a:spcBef>
              <a:spcAft>
                <a:spcPct val="0"/>
              </a:spcAft>
              <a:buClr>
                <a:srgbClr val="CC0066"/>
              </a:buClr>
              <a:buFont typeface="Wingdings" pitchFamily="2" charset="2"/>
              <a:buChar char="§"/>
              <a:defRPr sz="2000">
                <a:solidFill>
                  <a:schemeClr val="tx1"/>
                </a:solidFill>
                <a:latin typeface="+mn-lt"/>
                <a:cs typeface="+mn-cs"/>
              </a:defRPr>
            </a:lvl7pPr>
            <a:lvl8pPr marL="3390900" indent="-190500" algn="l" rtl="0" fontAlgn="base">
              <a:spcBef>
                <a:spcPct val="20000"/>
              </a:spcBef>
              <a:spcAft>
                <a:spcPct val="0"/>
              </a:spcAft>
              <a:buClr>
                <a:srgbClr val="CC0066"/>
              </a:buClr>
              <a:buFont typeface="Wingdings" pitchFamily="2" charset="2"/>
              <a:buChar char="§"/>
              <a:defRPr sz="2000">
                <a:solidFill>
                  <a:schemeClr val="tx1"/>
                </a:solidFill>
                <a:latin typeface="+mn-lt"/>
                <a:cs typeface="+mn-cs"/>
              </a:defRPr>
            </a:lvl8pPr>
            <a:lvl9pPr marL="3848100" indent="-190500" algn="l" rtl="0" fontAlgn="base">
              <a:spcBef>
                <a:spcPct val="20000"/>
              </a:spcBef>
              <a:spcAft>
                <a:spcPct val="0"/>
              </a:spcAft>
              <a:buClr>
                <a:srgbClr val="CC0066"/>
              </a:buClr>
              <a:buFont typeface="Wingdings" pitchFamily="2" charset="2"/>
              <a:buChar char="§"/>
              <a:defRPr sz="2000">
                <a:solidFill>
                  <a:schemeClr val="tx1"/>
                </a:solidFill>
                <a:latin typeface="+mn-lt"/>
                <a:cs typeface="+mn-cs"/>
              </a:defRPr>
            </a:lvl9pPr>
          </a:lstStyle>
          <a:p>
            <a:pPr marL="0" indent="0">
              <a:buFont typeface="Wingdings" pitchFamily="2" charset="2"/>
              <a:buNone/>
            </a:pPr>
            <a:r>
              <a:rPr lang="en-US" kern="0" dirty="0"/>
              <a:t>Results for BELPEX prices using a building simulator</a:t>
            </a:r>
          </a:p>
          <a:p>
            <a:endParaRPr lang="en-US" kern="0" dirty="0"/>
          </a:p>
          <a:p>
            <a:endParaRPr lang="en-US" kern="0" dirty="0"/>
          </a:p>
        </p:txBody>
      </p:sp>
      <p:sp>
        <p:nvSpPr>
          <p:cNvPr id="6" name="Content Placeholder 16">
            <a:extLst>
              <a:ext uri="{FF2B5EF4-FFF2-40B4-BE49-F238E27FC236}">
                <a16:creationId xmlns:a16="http://schemas.microsoft.com/office/drawing/2014/main" id="{BA793663-412D-531E-90F2-E10D1A279BEE}"/>
              </a:ext>
            </a:extLst>
          </p:cNvPr>
          <p:cNvSpPr txBox="1">
            <a:spLocks/>
          </p:cNvSpPr>
          <p:nvPr/>
        </p:nvSpPr>
        <p:spPr>
          <a:xfrm>
            <a:off x="6951518" y="1169493"/>
            <a:ext cx="4880798" cy="1002026"/>
          </a:xfrm>
          <a:prstGeom prst="rect">
            <a:avLst/>
          </a:prstGeom>
        </p:spPr>
        <p:txBody>
          <a:bodyPr/>
          <a:lstStyle>
            <a:lvl1pPr marL="228600" indent="-228600" algn="l" rtl="0" eaLnBrk="0" fontAlgn="base" hangingPunct="0">
              <a:spcBef>
                <a:spcPct val="20000"/>
              </a:spcBef>
              <a:spcAft>
                <a:spcPct val="0"/>
              </a:spcAft>
              <a:buClr>
                <a:schemeClr val="accent6"/>
              </a:buClr>
              <a:buFont typeface="Wingdings" pitchFamily="2" charset="2"/>
              <a:buChar char="§"/>
              <a:defRPr sz="2400">
                <a:solidFill>
                  <a:schemeClr val="tx1"/>
                </a:solidFill>
                <a:latin typeface="UGent Panno Text" charset="0"/>
                <a:ea typeface="UGent Panno Text" charset="0"/>
                <a:cs typeface="UGent Panno Text" charset="0"/>
              </a:defRPr>
            </a:lvl1pPr>
            <a:lvl2pPr marL="685800" indent="-228600" algn="l" rtl="0" eaLnBrk="0" fontAlgn="base" hangingPunct="0">
              <a:spcBef>
                <a:spcPct val="20000"/>
              </a:spcBef>
              <a:spcAft>
                <a:spcPct val="0"/>
              </a:spcAft>
              <a:buClr>
                <a:schemeClr val="accent2"/>
              </a:buClr>
              <a:buSzPct val="110000"/>
              <a:buFont typeface="Calibri" pitchFamily="34" charset="0"/>
              <a:buChar char="•"/>
              <a:defRPr sz="2000">
                <a:solidFill>
                  <a:schemeClr val="tx1"/>
                </a:solidFill>
                <a:latin typeface="UGent Panno Text" charset="0"/>
                <a:ea typeface="UGent Panno Text" charset="0"/>
                <a:cs typeface="UGent Panno Text" charset="0"/>
              </a:defRPr>
            </a:lvl2pPr>
            <a:lvl3pPr marL="1104900" indent="-190500" algn="l" rtl="0" eaLnBrk="0" fontAlgn="base" hangingPunct="0">
              <a:spcBef>
                <a:spcPct val="20000"/>
              </a:spcBef>
              <a:spcAft>
                <a:spcPct val="0"/>
              </a:spcAft>
              <a:buClr>
                <a:schemeClr val="accent6"/>
              </a:buClr>
              <a:buFont typeface="Wingdings" pitchFamily="2" charset="2"/>
              <a:buChar char="§"/>
              <a:defRPr sz="2000">
                <a:solidFill>
                  <a:schemeClr val="tx1"/>
                </a:solidFill>
                <a:latin typeface="UGent Panno Text" charset="0"/>
                <a:ea typeface="UGent Panno Text" charset="0"/>
                <a:cs typeface="UGent Panno Text" charset="0"/>
              </a:defRPr>
            </a:lvl3pPr>
            <a:lvl4pPr marL="1562100" indent="-190500" algn="l" rtl="0" eaLnBrk="0" fontAlgn="base" hangingPunct="0">
              <a:spcBef>
                <a:spcPct val="20000"/>
              </a:spcBef>
              <a:spcAft>
                <a:spcPct val="0"/>
              </a:spcAft>
              <a:buClr>
                <a:schemeClr val="accent2"/>
              </a:buClr>
              <a:buFont typeface="Arial" pitchFamily="34" charset="0"/>
              <a:buChar char="•"/>
              <a:defRPr sz="1800">
                <a:solidFill>
                  <a:schemeClr val="tx1"/>
                </a:solidFill>
                <a:latin typeface="UGent Panno Text" charset="0"/>
                <a:ea typeface="UGent Panno Text" charset="0"/>
                <a:cs typeface="UGent Panno Text" charset="0"/>
              </a:defRPr>
            </a:lvl4pPr>
            <a:lvl5pPr marL="2019300" indent="-190500" algn="l" rtl="0" eaLnBrk="0" fontAlgn="base" hangingPunct="0">
              <a:spcBef>
                <a:spcPct val="20000"/>
              </a:spcBef>
              <a:spcAft>
                <a:spcPct val="0"/>
              </a:spcAft>
              <a:buClr>
                <a:schemeClr val="accent6"/>
              </a:buClr>
              <a:buFont typeface="Calibri" pitchFamily="34" charset="0"/>
              <a:buChar char="–"/>
              <a:defRPr sz="1800">
                <a:solidFill>
                  <a:schemeClr val="tx1"/>
                </a:solidFill>
                <a:latin typeface="UGent Panno Text" charset="0"/>
                <a:ea typeface="UGent Panno Text" charset="0"/>
                <a:cs typeface="UGent Panno Text" charset="0"/>
              </a:defRPr>
            </a:lvl5pPr>
            <a:lvl6pPr marL="2476500" indent="-190500" algn="l" rtl="0" fontAlgn="base">
              <a:spcBef>
                <a:spcPct val="20000"/>
              </a:spcBef>
              <a:spcAft>
                <a:spcPct val="0"/>
              </a:spcAft>
              <a:buClr>
                <a:srgbClr val="CC0066"/>
              </a:buClr>
              <a:buFont typeface="Wingdings" pitchFamily="2" charset="2"/>
              <a:buChar char="§"/>
              <a:defRPr sz="2000">
                <a:solidFill>
                  <a:schemeClr val="tx1"/>
                </a:solidFill>
                <a:latin typeface="+mn-lt"/>
                <a:cs typeface="+mn-cs"/>
              </a:defRPr>
            </a:lvl6pPr>
            <a:lvl7pPr marL="2933700" indent="-190500" algn="l" rtl="0" fontAlgn="base">
              <a:spcBef>
                <a:spcPct val="20000"/>
              </a:spcBef>
              <a:spcAft>
                <a:spcPct val="0"/>
              </a:spcAft>
              <a:buClr>
                <a:srgbClr val="CC0066"/>
              </a:buClr>
              <a:buFont typeface="Wingdings" pitchFamily="2" charset="2"/>
              <a:buChar char="§"/>
              <a:defRPr sz="2000">
                <a:solidFill>
                  <a:schemeClr val="tx1"/>
                </a:solidFill>
                <a:latin typeface="+mn-lt"/>
                <a:cs typeface="+mn-cs"/>
              </a:defRPr>
            </a:lvl7pPr>
            <a:lvl8pPr marL="3390900" indent="-190500" algn="l" rtl="0" fontAlgn="base">
              <a:spcBef>
                <a:spcPct val="20000"/>
              </a:spcBef>
              <a:spcAft>
                <a:spcPct val="0"/>
              </a:spcAft>
              <a:buClr>
                <a:srgbClr val="CC0066"/>
              </a:buClr>
              <a:buFont typeface="Wingdings" pitchFamily="2" charset="2"/>
              <a:buChar char="§"/>
              <a:defRPr sz="2000">
                <a:solidFill>
                  <a:schemeClr val="tx1"/>
                </a:solidFill>
                <a:latin typeface="+mn-lt"/>
                <a:cs typeface="+mn-cs"/>
              </a:defRPr>
            </a:lvl8pPr>
            <a:lvl9pPr marL="3848100" indent="-190500" algn="l" rtl="0" fontAlgn="base">
              <a:spcBef>
                <a:spcPct val="20000"/>
              </a:spcBef>
              <a:spcAft>
                <a:spcPct val="0"/>
              </a:spcAft>
              <a:buClr>
                <a:srgbClr val="CC0066"/>
              </a:buClr>
              <a:buFont typeface="Wingdings" pitchFamily="2" charset="2"/>
              <a:buChar char="§"/>
              <a:defRPr sz="2000">
                <a:solidFill>
                  <a:schemeClr val="tx1"/>
                </a:solidFill>
                <a:latin typeface="+mn-lt"/>
                <a:cs typeface="+mn-cs"/>
              </a:defRPr>
            </a:lvl9pPr>
          </a:lstStyle>
          <a:p>
            <a:pPr marL="0" indent="0">
              <a:buFont typeface="Wingdings" pitchFamily="2" charset="2"/>
              <a:buNone/>
            </a:pPr>
            <a:r>
              <a:rPr lang="en-US" kern="0" dirty="0"/>
              <a:t>Comparison over different training data sizes and agent types</a:t>
            </a:r>
          </a:p>
        </p:txBody>
      </p:sp>
      <p:pic>
        <p:nvPicPr>
          <p:cNvPr id="7" name="Picture 6">
            <a:extLst>
              <a:ext uri="{FF2B5EF4-FFF2-40B4-BE49-F238E27FC236}">
                <a16:creationId xmlns:a16="http://schemas.microsoft.com/office/drawing/2014/main" id="{77B2A1B0-A96A-754E-982C-9F0CECB619E0}"/>
              </a:ext>
            </a:extLst>
          </p:cNvPr>
          <p:cNvPicPr>
            <a:picLocks noChangeAspect="1"/>
          </p:cNvPicPr>
          <p:nvPr/>
        </p:nvPicPr>
        <p:blipFill>
          <a:blip r:embed="rId2"/>
          <a:stretch>
            <a:fillRect/>
          </a:stretch>
        </p:blipFill>
        <p:spPr>
          <a:xfrm>
            <a:off x="686417" y="2198644"/>
            <a:ext cx="5087248" cy="3815436"/>
          </a:xfrm>
          <a:prstGeom prst="rect">
            <a:avLst/>
          </a:prstGeom>
        </p:spPr>
      </p:pic>
      <p:pic>
        <p:nvPicPr>
          <p:cNvPr id="8" name="Picture 7">
            <a:extLst>
              <a:ext uri="{FF2B5EF4-FFF2-40B4-BE49-F238E27FC236}">
                <a16:creationId xmlns:a16="http://schemas.microsoft.com/office/drawing/2014/main" id="{D6D9BE0A-79BD-560E-C268-0B741E61A7EE}"/>
              </a:ext>
            </a:extLst>
          </p:cNvPr>
          <p:cNvPicPr>
            <a:picLocks noChangeAspect="1"/>
          </p:cNvPicPr>
          <p:nvPr/>
        </p:nvPicPr>
        <p:blipFill rotWithShape="1">
          <a:blip r:embed="rId3" cstate="hqprint">
            <a:extLst>
              <a:ext uri="{28A0092B-C50C-407E-A947-70E740481C1C}">
                <a14:useLocalDpi xmlns:a14="http://schemas.microsoft.com/office/drawing/2010/main"/>
              </a:ext>
            </a:extLst>
          </a:blip>
          <a:srcRect t="4128"/>
          <a:stretch/>
        </p:blipFill>
        <p:spPr>
          <a:xfrm>
            <a:off x="6337690" y="2356136"/>
            <a:ext cx="5494626" cy="3657944"/>
          </a:xfrm>
          <a:prstGeom prst="rect">
            <a:avLst/>
          </a:prstGeom>
        </p:spPr>
      </p:pic>
      <p:sp>
        <p:nvSpPr>
          <p:cNvPr id="9" name="Down Arrow 8">
            <a:extLst>
              <a:ext uri="{FF2B5EF4-FFF2-40B4-BE49-F238E27FC236}">
                <a16:creationId xmlns:a16="http://schemas.microsoft.com/office/drawing/2014/main" id="{C1CF1EA0-CD2E-D51B-85C2-8500A5F1F160}"/>
              </a:ext>
            </a:extLst>
          </p:cNvPr>
          <p:cNvSpPr/>
          <p:nvPr/>
        </p:nvSpPr>
        <p:spPr>
          <a:xfrm rot="8795988">
            <a:off x="3169998" y="4595616"/>
            <a:ext cx="240358" cy="264661"/>
          </a:xfrm>
          <a:prstGeom prst="downArrow">
            <a:avLst>
              <a:gd name="adj1" fmla="val 42168"/>
              <a:gd name="adj2" fmla="val 49101"/>
            </a:avLst>
          </a:prstGeom>
          <a:solidFill>
            <a:schemeClr val="accent2">
              <a:lumMod val="60000"/>
              <a:lumOff val="40000"/>
              <a:alpha val="50196"/>
            </a:scheme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BE" sz="1400"/>
          </a:p>
        </p:txBody>
      </p:sp>
      <p:sp>
        <p:nvSpPr>
          <p:cNvPr id="10" name="Down Arrow 9">
            <a:extLst>
              <a:ext uri="{FF2B5EF4-FFF2-40B4-BE49-F238E27FC236}">
                <a16:creationId xmlns:a16="http://schemas.microsoft.com/office/drawing/2014/main" id="{AF803E84-C15E-B0F0-2FB0-3B13A98650EE}"/>
              </a:ext>
            </a:extLst>
          </p:cNvPr>
          <p:cNvSpPr/>
          <p:nvPr/>
        </p:nvSpPr>
        <p:spPr>
          <a:xfrm rot="8795988">
            <a:off x="2362286" y="4595616"/>
            <a:ext cx="240358" cy="264661"/>
          </a:xfrm>
          <a:prstGeom prst="downArrow">
            <a:avLst>
              <a:gd name="adj1" fmla="val 42168"/>
              <a:gd name="adj2" fmla="val 49101"/>
            </a:avLst>
          </a:prstGeom>
          <a:solidFill>
            <a:schemeClr val="accent2">
              <a:lumMod val="60000"/>
              <a:lumOff val="40000"/>
              <a:alpha val="50196"/>
            </a:scheme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BE" sz="1400"/>
          </a:p>
        </p:txBody>
      </p:sp>
      <p:sp>
        <p:nvSpPr>
          <p:cNvPr id="11" name="Down Arrow 10">
            <a:extLst>
              <a:ext uri="{FF2B5EF4-FFF2-40B4-BE49-F238E27FC236}">
                <a16:creationId xmlns:a16="http://schemas.microsoft.com/office/drawing/2014/main" id="{CC809BFE-42F6-C872-942B-04C066A70EFF}"/>
              </a:ext>
            </a:extLst>
          </p:cNvPr>
          <p:cNvSpPr/>
          <p:nvPr/>
        </p:nvSpPr>
        <p:spPr>
          <a:xfrm rot="8795988">
            <a:off x="1625083" y="4595616"/>
            <a:ext cx="240358" cy="264661"/>
          </a:xfrm>
          <a:prstGeom prst="downArrow">
            <a:avLst>
              <a:gd name="adj1" fmla="val 42168"/>
              <a:gd name="adj2" fmla="val 49101"/>
            </a:avLst>
          </a:prstGeom>
          <a:solidFill>
            <a:schemeClr val="accent2">
              <a:lumMod val="60000"/>
              <a:lumOff val="40000"/>
              <a:alpha val="50196"/>
            </a:scheme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BE" sz="1400"/>
          </a:p>
        </p:txBody>
      </p:sp>
      <p:sp>
        <p:nvSpPr>
          <p:cNvPr id="12" name="Down Arrow 11">
            <a:extLst>
              <a:ext uri="{FF2B5EF4-FFF2-40B4-BE49-F238E27FC236}">
                <a16:creationId xmlns:a16="http://schemas.microsoft.com/office/drawing/2014/main" id="{35045CF3-7969-FB9B-BF66-D9BBB2CEAF8B}"/>
              </a:ext>
            </a:extLst>
          </p:cNvPr>
          <p:cNvSpPr/>
          <p:nvPr/>
        </p:nvSpPr>
        <p:spPr>
          <a:xfrm rot="8795988">
            <a:off x="1204496" y="4595616"/>
            <a:ext cx="240358" cy="264661"/>
          </a:xfrm>
          <a:prstGeom prst="downArrow">
            <a:avLst>
              <a:gd name="adj1" fmla="val 42168"/>
              <a:gd name="adj2" fmla="val 49101"/>
            </a:avLst>
          </a:prstGeom>
          <a:solidFill>
            <a:schemeClr val="accent2">
              <a:lumMod val="60000"/>
              <a:lumOff val="40000"/>
              <a:alpha val="50196"/>
            </a:scheme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BE" sz="1400"/>
          </a:p>
        </p:txBody>
      </p:sp>
      <p:sp>
        <p:nvSpPr>
          <p:cNvPr id="13" name="Down Arrow 12">
            <a:extLst>
              <a:ext uri="{FF2B5EF4-FFF2-40B4-BE49-F238E27FC236}">
                <a16:creationId xmlns:a16="http://schemas.microsoft.com/office/drawing/2014/main" id="{58B2B9AA-0F54-6ADD-78FE-AE5153C6D884}"/>
              </a:ext>
            </a:extLst>
          </p:cNvPr>
          <p:cNvSpPr/>
          <p:nvPr/>
        </p:nvSpPr>
        <p:spPr>
          <a:xfrm rot="8795988">
            <a:off x="3770612" y="4595616"/>
            <a:ext cx="240358" cy="264661"/>
          </a:xfrm>
          <a:prstGeom prst="downArrow">
            <a:avLst>
              <a:gd name="adj1" fmla="val 42168"/>
              <a:gd name="adj2" fmla="val 49101"/>
            </a:avLst>
          </a:prstGeom>
          <a:solidFill>
            <a:schemeClr val="accent2">
              <a:lumMod val="60000"/>
              <a:lumOff val="40000"/>
              <a:alpha val="50196"/>
            </a:scheme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BE" sz="1400"/>
          </a:p>
        </p:txBody>
      </p:sp>
      <p:sp>
        <p:nvSpPr>
          <p:cNvPr id="14" name="Down Arrow 13">
            <a:extLst>
              <a:ext uri="{FF2B5EF4-FFF2-40B4-BE49-F238E27FC236}">
                <a16:creationId xmlns:a16="http://schemas.microsoft.com/office/drawing/2014/main" id="{893C5CC1-840B-17B9-853D-E42C96D51A59}"/>
              </a:ext>
            </a:extLst>
          </p:cNvPr>
          <p:cNvSpPr/>
          <p:nvPr/>
        </p:nvSpPr>
        <p:spPr>
          <a:xfrm rot="8795988">
            <a:off x="4186142" y="4595616"/>
            <a:ext cx="240358" cy="264661"/>
          </a:xfrm>
          <a:prstGeom prst="downArrow">
            <a:avLst>
              <a:gd name="adj1" fmla="val 42168"/>
              <a:gd name="adj2" fmla="val 49101"/>
            </a:avLst>
          </a:prstGeom>
          <a:solidFill>
            <a:schemeClr val="accent2">
              <a:lumMod val="60000"/>
              <a:lumOff val="40000"/>
              <a:alpha val="50196"/>
            </a:scheme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BE" sz="1400"/>
          </a:p>
        </p:txBody>
      </p:sp>
      <p:sp>
        <p:nvSpPr>
          <p:cNvPr id="15" name="Down Arrow 14">
            <a:extLst>
              <a:ext uri="{FF2B5EF4-FFF2-40B4-BE49-F238E27FC236}">
                <a16:creationId xmlns:a16="http://schemas.microsoft.com/office/drawing/2014/main" id="{470F39A1-EF8D-5662-E4ED-1E16BE74BE06}"/>
              </a:ext>
            </a:extLst>
          </p:cNvPr>
          <p:cNvSpPr/>
          <p:nvPr/>
        </p:nvSpPr>
        <p:spPr>
          <a:xfrm rot="8795988">
            <a:off x="4625460" y="4595616"/>
            <a:ext cx="240358" cy="264661"/>
          </a:xfrm>
          <a:prstGeom prst="downArrow">
            <a:avLst>
              <a:gd name="adj1" fmla="val 42168"/>
              <a:gd name="adj2" fmla="val 49101"/>
            </a:avLst>
          </a:prstGeom>
          <a:solidFill>
            <a:schemeClr val="accent2">
              <a:lumMod val="60000"/>
              <a:lumOff val="40000"/>
              <a:alpha val="50196"/>
            </a:scheme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BE" sz="1400"/>
          </a:p>
        </p:txBody>
      </p:sp>
      <p:sp>
        <p:nvSpPr>
          <p:cNvPr id="16" name="Rectangle 15">
            <a:extLst>
              <a:ext uri="{FF2B5EF4-FFF2-40B4-BE49-F238E27FC236}">
                <a16:creationId xmlns:a16="http://schemas.microsoft.com/office/drawing/2014/main" id="{88D2CE2C-AE8B-0BCD-88A8-CE8B7672576C}"/>
              </a:ext>
            </a:extLst>
          </p:cNvPr>
          <p:cNvSpPr/>
          <p:nvPr/>
        </p:nvSpPr>
        <p:spPr>
          <a:xfrm>
            <a:off x="813915" y="4367828"/>
            <a:ext cx="204913" cy="360119"/>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BE" sz="1400"/>
          </a:p>
        </p:txBody>
      </p:sp>
      <p:sp>
        <p:nvSpPr>
          <p:cNvPr id="17" name="TextBox 16">
            <a:extLst>
              <a:ext uri="{FF2B5EF4-FFF2-40B4-BE49-F238E27FC236}">
                <a16:creationId xmlns:a16="http://schemas.microsoft.com/office/drawing/2014/main" id="{EB6C1DA4-1AFC-3BCF-E867-7446621FF899}"/>
              </a:ext>
            </a:extLst>
          </p:cNvPr>
          <p:cNvSpPr txBox="1"/>
          <p:nvPr/>
        </p:nvSpPr>
        <p:spPr>
          <a:xfrm>
            <a:off x="724789" y="4450947"/>
            <a:ext cx="333745" cy="276999"/>
          </a:xfrm>
          <a:prstGeom prst="rect">
            <a:avLst/>
          </a:prstGeom>
          <a:noFill/>
        </p:spPr>
        <p:txBody>
          <a:bodyPr wrap="none" rtlCol="0">
            <a:spAutoFit/>
          </a:bodyPr>
          <a:lstStyle/>
          <a:p>
            <a:pPr algn="r"/>
            <a:r>
              <a:rPr lang="en-BE" sz="1200" b="1" dirty="0">
                <a:solidFill>
                  <a:schemeClr val="accent2"/>
                </a:solidFill>
                <a:latin typeface="UGent Panno Text" panose="02000506040000040003" pitchFamily="2" charset="0"/>
              </a:rPr>
              <a:t>On</a:t>
            </a:r>
          </a:p>
        </p:txBody>
      </p:sp>
      <p:grpSp>
        <p:nvGrpSpPr>
          <p:cNvPr id="20" name="Group 19">
            <a:extLst>
              <a:ext uri="{FF2B5EF4-FFF2-40B4-BE49-F238E27FC236}">
                <a16:creationId xmlns:a16="http://schemas.microsoft.com/office/drawing/2014/main" id="{38E4D78A-FB75-5491-A736-68902043A0C6}"/>
              </a:ext>
            </a:extLst>
          </p:cNvPr>
          <p:cNvGrpSpPr/>
          <p:nvPr/>
        </p:nvGrpSpPr>
        <p:grpSpPr>
          <a:xfrm flipV="1">
            <a:off x="9085003" y="2712284"/>
            <a:ext cx="1149511" cy="366969"/>
            <a:chOff x="6739122" y="1748900"/>
            <a:chExt cx="867684" cy="337352"/>
          </a:xfrm>
        </p:grpSpPr>
        <p:cxnSp>
          <p:nvCxnSpPr>
            <p:cNvPr id="21" name="Straight Arrow Connector 20">
              <a:extLst>
                <a:ext uri="{FF2B5EF4-FFF2-40B4-BE49-F238E27FC236}">
                  <a16:creationId xmlns:a16="http://schemas.microsoft.com/office/drawing/2014/main" id="{0A8C904A-3177-0E5D-3647-A0AA187C7F11}"/>
                </a:ext>
              </a:extLst>
            </p:cNvPr>
            <p:cNvCxnSpPr>
              <a:cxnSpLocks/>
            </p:cNvCxnSpPr>
            <p:nvPr/>
          </p:nvCxnSpPr>
          <p:spPr>
            <a:xfrm flipH="1">
              <a:off x="6739122" y="1748900"/>
              <a:ext cx="220971" cy="337352"/>
            </a:xfrm>
            <a:prstGeom prst="straightConnector1">
              <a:avLst/>
            </a:prstGeom>
            <a:ln w="3175" cmpd="sng">
              <a:solidFill>
                <a:schemeClr val="bg2"/>
              </a:solidFill>
              <a:tailEnd type="triangle"/>
            </a:ln>
            <a:effectLst/>
          </p:spPr>
          <p:style>
            <a:lnRef idx="2">
              <a:schemeClr val="accent1"/>
            </a:lnRef>
            <a:fillRef idx="0">
              <a:schemeClr val="accent1"/>
            </a:fillRef>
            <a:effectRef idx="1">
              <a:schemeClr val="accent1"/>
            </a:effectRef>
            <a:fontRef idx="minor">
              <a:schemeClr val="tx1"/>
            </a:fontRef>
          </p:style>
        </p:cxnSp>
        <p:cxnSp>
          <p:nvCxnSpPr>
            <p:cNvPr id="22" name="Straight Arrow Connector 21">
              <a:extLst>
                <a:ext uri="{FF2B5EF4-FFF2-40B4-BE49-F238E27FC236}">
                  <a16:creationId xmlns:a16="http://schemas.microsoft.com/office/drawing/2014/main" id="{1BA0C805-8BD4-EEA7-6B40-56FEA6D94E92}"/>
                </a:ext>
              </a:extLst>
            </p:cNvPr>
            <p:cNvCxnSpPr>
              <a:cxnSpLocks/>
            </p:cNvCxnSpPr>
            <p:nvPr/>
          </p:nvCxnSpPr>
          <p:spPr>
            <a:xfrm>
              <a:off x="7385835" y="1748900"/>
              <a:ext cx="220971" cy="337352"/>
            </a:xfrm>
            <a:prstGeom prst="straightConnector1">
              <a:avLst/>
            </a:prstGeom>
            <a:ln w="3175" cmpd="sng">
              <a:solidFill>
                <a:schemeClr val="bg2"/>
              </a:solidFill>
              <a:tailEnd type="triangle"/>
            </a:ln>
            <a:effectLst/>
          </p:spPr>
          <p:style>
            <a:lnRef idx="2">
              <a:schemeClr val="accent1"/>
            </a:lnRef>
            <a:fillRef idx="0">
              <a:schemeClr val="accent1"/>
            </a:fillRef>
            <a:effectRef idx="1">
              <a:schemeClr val="accent1"/>
            </a:effectRef>
            <a:fontRef idx="minor">
              <a:schemeClr val="tx1"/>
            </a:fontRef>
          </p:style>
        </p:cxnSp>
      </p:grpSp>
      <p:sp>
        <p:nvSpPr>
          <p:cNvPr id="23" name="Rectangle 22">
            <a:extLst>
              <a:ext uri="{FF2B5EF4-FFF2-40B4-BE49-F238E27FC236}">
                <a16:creationId xmlns:a16="http://schemas.microsoft.com/office/drawing/2014/main" id="{F77FF311-B14B-BD93-BAF8-23BD7F97EF95}"/>
              </a:ext>
            </a:extLst>
          </p:cNvPr>
          <p:cNvSpPr/>
          <p:nvPr/>
        </p:nvSpPr>
        <p:spPr>
          <a:xfrm>
            <a:off x="1151499" y="5039331"/>
            <a:ext cx="147268" cy="87404"/>
          </a:xfrm>
          <a:prstGeom prst="rect">
            <a:avLst/>
          </a:prstGeom>
          <a:solidFill>
            <a:srgbClr val="00CC99">
              <a:alpha val="29804"/>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BE" sz="1400"/>
          </a:p>
        </p:txBody>
      </p:sp>
      <p:sp>
        <p:nvSpPr>
          <p:cNvPr id="24" name="Rectangle 23">
            <a:extLst>
              <a:ext uri="{FF2B5EF4-FFF2-40B4-BE49-F238E27FC236}">
                <a16:creationId xmlns:a16="http://schemas.microsoft.com/office/drawing/2014/main" id="{2FFAC1F9-C115-DFAD-0DC5-575B77B46886}"/>
              </a:ext>
            </a:extLst>
          </p:cNvPr>
          <p:cNvSpPr/>
          <p:nvPr/>
        </p:nvSpPr>
        <p:spPr>
          <a:xfrm>
            <a:off x="1617960" y="5164650"/>
            <a:ext cx="147268" cy="87404"/>
          </a:xfrm>
          <a:prstGeom prst="rect">
            <a:avLst/>
          </a:prstGeom>
          <a:solidFill>
            <a:srgbClr val="00CC99">
              <a:alpha val="29804"/>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BE" sz="1400"/>
          </a:p>
        </p:txBody>
      </p:sp>
      <p:sp>
        <p:nvSpPr>
          <p:cNvPr id="25" name="Rectangle 24">
            <a:extLst>
              <a:ext uri="{FF2B5EF4-FFF2-40B4-BE49-F238E27FC236}">
                <a16:creationId xmlns:a16="http://schemas.microsoft.com/office/drawing/2014/main" id="{D81A0726-7066-3672-01D1-B2FE42D05DE6}"/>
              </a:ext>
            </a:extLst>
          </p:cNvPr>
          <p:cNvSpPr/>
          <p:nvPr/>
        </p:nvSpPr>
        <p:spPr>
          <a:xfrm>
            <a:off x="2300241" y="5338697"/>
            <a:ext cx="230811" cy="123600"/>
          </a:xfrm>
          <a:prstGeom prst="rect">
            <a:avLst/>
          </a:prstGeom>
          <a:solidFill>
            <a:srgbClr val="00CC99">
              <a:alpha val="29804"/>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BE" sz="1400"/>
          </a:p>
        </p:txBody>
      </p:sp>
      <p:sp>
        <p:nvSpPr>
          <p:cNvPr id="26" name="Rectangle 25">
            <a:extLst>
              <a:ext uri="{FF2B5EF4-FFF2-40B4-BE49-F238E27FC236}">
                <a16:creationId xmlns:a16="http://schemas.microsoft.com/office/drawing/2014/main" id="{D280854E-6C1E-4324-9782-085D67EAC166}"/>
              </a:ext>
            </a:extLst>
          </p:cNvPr>
          <p:cNvSpPr/>
          <p:nvPr/>
        </p:nvSpPr>
        <p:spPr>
          <a:xfrm>
            <a:off x="3117000" y="5400497"/>
            <a:ext cx="284312" cy="202618"/>
          </a:xfrm>
          <a:prstGeom prst="rect">
            <a:avLst/>
          </a:prstGeom>
          <a:solidFill>
            <a:srgbClr val="00CC99">
              <a:alpha val="29804"/>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BE" sz="1400"/>
          </a:p>
        </p:txBody>
      </p:sp>
      <p:sp>
        <p:nvSpPr>
          <p:cNvPr id="27" name="Rectangle 26">
            <a:extLst>
              <a:ext uri="{FF2B5EF4-FFF2-40B4-BE49-F238E27FC236}">
                <a16:creationId xmlns:a16="http://schemas.microsoft.com/office/drawing/2014/main" id="{ACA18A64-E9AC-FBFA-CFE2-0E2F04AC5523}"/>
              </a:ext>
            </a:extLst>
          </p:cNvPr>
          <p:cNvSpPr/>
          <p:nvPr/>
        </p:nvSpPr>
        <p:spPr>
          <a:xfrm>
            <a:off x="3741398" y="5081106"/>
            <a:ext cx="60569" cy="83545"/>
          </a:xfrm>
          <a:prstGeom prst="rect">
            <a:avLst/>
          </a:prstGeom>
          <a:solidFill>
            <a:srgbClr val="00CC99">
              <a:alpha val="29804"/>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BE" sz="1400"/>
          </a:p>
        </p:txBody>
      </p:sp>
      <p:sp>
        <p:nvSpPr>
          <p:cNvPr id="28" name="Rectangle 27">
            <a:extLst>
              <a:ext uri="{FF2B5EF4-FFF2-40B4-BE49-F238E27FC236}">
                <a16:creationId xmlns:a16="http://schemas.microsoft.com/office/drawing/2014/main" id="{F10AE82D-84F7-E475-BD5F-04D75C262EBA}"/>
              </a:ext>
            </a:extLst>
          </p:cNvPr>
          <p:cNvSpPr/>
          <p:nvPr/>
        </p:nvSpPr>
        <p:spPr>
          <a:xfrm>
            <a:off x="4207859" y="5122878"/>
            <a:ext cx="60569" cy="83545"/>
          </a:xfrm>
          <a:prstGeom prst="rect">
            <a:avLst/>
          </a:prstGeom>
          <a:solidFill>
            <a:srgbClr val="00CC99">
              <a:alpha val="29804"/>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BE" sz="1400"/>
          </a:p>
        </p:txBody>
      </p:sp>
      <p:sp>
        <p:nvSpPr>
          <p:cNvPr id="29" name="Rectangle 28">
            <a:extLst>
              <a:ext uri="{FF2B5EF4-FFF2-40B4-BE49-F238E27FC236}">
                <a16:creationId xmlns:a16="http://schemas.microsoft.com/office/drawing/2014/main" id="{F2B04DBE-83DF-F5AB-7BFF-2DA6FFFB1F4F}"/>
              </a:ext>
            </a:extLst>
          </p:cNvPr>
          <p:cNvSpPr/>
          <p:nvPr/>
        </p:nvSpPr>
        <p:spPr>
          <a:xfrm>
            <a:off x="4625994" y="4964842"/>
            <a:ext cx="60569" cy="83545"/>
          </a:xfrm>
          <a:prstGeom prst="rect">
            <a:avLst/>
          </a:prstGeom>
          <a:solidFill>
            <a:srgbClr val="00CC99">
              <a:alpha val="29804"/>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BE" sz="1400"/>
          </a:p>
        </p:txBody>
      </p:sp>
      <p:sp>
        <p:nvSpPr>
          <p:cNvPr id="30" name="TextBox 29">
            <a:extLst>
              <a:ext uri="{FF2B5EF4-FFF2-40B4-BE49-F238E27FC236}">
                <a16:creationId xmlns:a16="http://schemas.microsoft.com/office/drawing/2014/main" id="{DDC70581-C561-8849-1890-CEC74BE958E0}"/>
              </a:ext>
            </a:extLst>
          </p:cNvPr>
          <p:cNvSpPr txBox="1"/>
          <p:nvPr/>
        </p:nvSpPr>
        <p:spPr>
          <a:xfrm>
            <a:off x="8752706" y="3033490"/>
            <a:ext cx="1892176" cy="369332"/>
          </a:xfrm>
          <a:prstGeom prst="rect">
            <a:avLst/>
          </a:prstGeom>
          <a:noFill/>
        </p:spPr>
        <p:txBody>
          <a:bodyPr wrap="square" rtlCol="0">
            <a:spAutoFit/>
          </a:bodyPr>
          <a:lstStyle/>
          <a:p>
            <a:pPr algn="ctr"/>
            <a:r>
              <a:rPr lang="en-GB" sz="1800" dirty="0">
                <a:solidFill>
                  <a:schemeClr val="bg2"/>
                </a:solidFill>
                <a:latin typeface="+mn-lt"/>
              </a:rPr>
              <a:t>B</a:t>
            </a:r>
            <a:r>
              <a:rPr lang="en-BE" sz="1800" dirty="0">
                <a:solidFill>
                  <a:schemeClr val="bg2"/>
                </a:solidFill>
                <a:latin typeface="+mn-lt"/>
              </a:rPr>
              <a:t>lack box models</a:t>
            </a:r>
          </a:p>
        </p:txBody>
      </p:sp>
      <p:sp>
        <p:nvSpPr>
          <p:cNvPr id="34" name="Process 33">
            <a:extLst>
              <a:ext uri="{FF2B5EF4-FFF2-40B4-BE49-F238E27FC236}">
                <a16:creationId xmlns:a16="http://schemas.microsoft.com/office/drawing/2014/main" id="{BD20DF96-6D6B-FCA9-2DC5-A9E2907B054F}"/>
              </a:ext>
            </a:extLst>
          </p:cNvPr>
          <p:cNvSpPr/>
          <p:nvPr/>
        </p:nvSpPr>
        <p:spPr>
          <a:xfrm>
            <a:off x="1058534" y="3954162"/>
            <a:ext cx="686728" cy="230946"/>
          </a:xfrm>
          <a:prstGeom prst="flowChartProcess">
            <a:avLst/>
          </a:prstGeom>
          <a:solidFill>
            <a:schemeClr val="accent2">
              <a:lumMod val="60000"/>
              <a:lumOff val="40000"/>
              <a:alpha val="50196"/>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BE"/>
          </a:p>
        </p:txBody>
      </p:sp>
      <p:sp>
        <p:nvSpPr>
          <p:cNvPr id="33" name="TextBox 32">
            <a:extLst>
              <a:ext uri="{FF2B5EF4-FFF2-40B4-BE49-F238E27FC236}">
                <a16:creationId xmlns:a16="http://schemas.microsoft.com/office/drawing/2014/main" id="{D03A0AE6-2291-A96B-7CF0-DCF06525FB8C}"/>
              </a:ext>
            </a:extLst>
          </p:cNvPr>
          <p:cNvSpPr txBox="1"/>
          <p:nvPr/>
        </p:nvSpPr>
        <p:spPr>
          <a:xfrm>
            <a:off x="682263" y="5445591"/>
            <a:ext cx="356187" cy="276999"/>
          </a:xfrm>
          <a:prstGeom prst="rect">
            <a:avLst/>
          </a:prstGeom>
          <a:solidFill>
            <a:schemeClr val="bg1"/>
          </a:solidFill>
        </p:spPr>
        <p:txBody>
          <a:bodyPr wrap="none" rtlCol="0">
            <a:spAutoFit/>
          </a:bodyPr>
          <a:lstStyle/>
          <a:p>
            <a:pPr algn="r"/>
            <a:r>
              <a:rPr lang="en-BE" sz="1200" b="1" dirty="0">
                <a:solidFill>
                  <a:schemeClr val="accent2"/>
                </a:solidFill>
                <a:latin typeface="UGent Panno Text" panose="02000506040000040003" pitchFamily="2" charset="0"/>
              </a:rPr>
              <a:t>Off</a:t>
            </a:r>
          </a:p>
        </p:txBody>
      </p:sp>
      <p:sp>
        <p:nvSpPr>
          <p:cNvPr id="18" name="TextBox 17">
            <a:extLst>
              <a:ext uri="{FF2B5EF4-FFF2-40B4-BE49-F238E27FC236}">
                <a16:creationId xmlns:a16="http://schemas.microsoft.com/office/drawing/2014/main" id="{A7D30CFE-8BEA-7680-7069-8C2178A5E5CF}"/>
              </a:ext>
            </a:extLst>
          </p:cNvPr>
          <p:cNvSpPr txBox="1"/>
          <p:nvPr/>
        </p:nvSpPr>
        <p:spPr>
          <a:xfrm>
            <a:off x="955857" y="3898346"/>
            <a:ext cx="2109809" cy="646331"/>
          </a:xfrm>
          <a:prstGeom prst="rect">
            <a:avLst/>
          </a:prstGeom>
          <a:solidFill>
            <a:srgbClr val="FFFFFF">
              <a:alpha val="51373"/>
            </a:srgbClr>
          </a:solidFill>
        </p:spPr>
        <p:txBody>
          <a:bodyPr wrap="square" rtlCol="0">
            <a:spAutoFit/>
          </a:bodyPr>
          <a:lstStyle/>
          <a:p>
            <a:pPr algn="ctr"/>
            <a:r>
              <a:rPr lang="en-GB" sz="1800" b="1" dirty="0">
                <a:solidFill>
                  <a:srgbClr val="149E75"/>
                </a:solidFill>
                <a:latin typeface="+mn-lt"/>
              </a:rPr>
              <a:t>H</a:t>
            </a:r>
            <a:r>
              <a:rPr lang="en-BE" sz="1800" b="1" dirty="0">
                <a:solidFill>
                  <a:srgbClr val="149E75"/>
                </a:solidFill>
                <a:latin typeface="+mn-lt"/>
              </a:rPr>
              <a:t>eating at (relatively) low price points</a:t>
            </a:r>
          </a:p>
        </p:txBody>
      </p:sp>
      <p:sp>
        <p:nvSpPr>
          <p:cNvPr id="35" name="Rectangle 34">
            <a:extLst>
              <a:ext uri="{FF2B5EF4-FFF2-40B4-BE49-F238E27FC236}">
                <a16:creationId xmlns:a16="http://schemas.microsoft.com/office/drawing/2014/main" id="{928EA6F2-08FF-71BE-9823-AFAE6570F40D}"/>
              </a:ext>
            </a:extLst>
          </p:cNvPr>
          <p:cNvSpPr/>
          <p:nvPr/>
        </p:nvSpPr>
        <p:spPr>
          <a:xfrm>
            <a:off x="1323432" y="4240044"/>
            <a:ext cx="789573" cy="230945"/>
          </a:xfrm>
          <a:prstGeom prst="rect">
            <a:avLst/>
          </a:prstGeom>
          <a:solidFill>
            <a:srgbClr val="00CC99">
              <a:alpha val="29804"/>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BE" sz="1400"/>
          </a:p>
        </p:txBody>
      </p:sp>
      <p:sp>
        <p:nvSpPr>
          <p:cNvPr id="36" name="Rectangle 35">
            <a:extLst>
              <a:ext uri="{FF2B5EF4-FFF2-40B4-BE49-F238E27FC236}">
                <a16:creationId xmlns:a16="http://schemas.microsoft.com/office/drawing/2014/main" id="{FC294488-0EAE-5AF9-6D08-CCAD25CCC204}"/>
              </a:ext>
            </a:extLst>
          </p:cNvPr>
          <p:cNvSpPr/>
          <p:nvPr/>
        </p:nvSpPr>
        <p:spPr>
          <a:xfrm rot="745075">
            <a:off x="7272770" y="4599893"/>
            <a:ext cx="1349897" cy="224315"/>
          </a:xfrm>
          <a:prstGeom prst="rect">
            <a:avLst/>
          </a:prstGeom>
          <a:solidFill>
            <a:srgbClr val="F66C41">
              <a:alpha val="25098"/>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BE" sz="1400"/>
          </a:p>
        </p:txBody>
      </p:sp>
      <p:sp>
        <p:nvSpPr>
          <p:cNvPr id="40" name="TextBox 39">
            <a:extLst>
              <a:ext uri="{FF2B5EF4-FFF2-40B4-BE49-F238E27FC236}">
                <a16:creationId xmlns:a16="http://schemas.microsoft.com/office/drawing/2014/main" id="{D740C5D6-ECF8-895E-D2A3-D87B6CC76636}"/>
              </a:ext>
            </a:extLst>
          </p:cNvPr>
          <p:cNvSpPr txBox="1"/>
          <p:nvPr/>
        </p:nvSpPr>
        <p:spPr>
          <a:xfrm>
            <a:off x="2196901" y="2643504"/>
            <a:ext cx="4140789" cy="942117"/>
          </a:xfrm>
          <a:prstGeom prst="rect">
            <a:avLst/>
          </a:prstGeom>
          <a:solidFill>
            <a:srgbClr val="FFFFFF">
              <a:alpha val="80000"/>
            </a:srgbClr>
          </a:solidFill>
        </p:spPr>
        <p:txBody>
          <a:bodyPr wrap="square">
            <a:spAutoFit/>
          </a:bodyPr>
          <a:lstStyle/>
          <a:p>
            <a:pPr>
              <a:lnSpc>
                <a:spcPct val="85000"/>
              </a:lnSpc>
            </a:pPr>
            <a:r>
              <a:rPr lang="en-GB" sz="3200" b="1" dirty="0">
                <a:solidFill>
                  <a:schemeClr val="accent3"/>
                </a:solidFill>
                <a:latin typeface="Caveat" pitchFamily="2" charset="77"/>
              </a:rPr>
              <a:t>Lower overall cost, especially</a:t>
            </a:r>
            <a:br>
              <a:rPr lang="en-GB" sz="3200" b="1" dirty="0">
                <a:solidFill>
                  <a:schemeClr val="accent3"/>
                </a:solidFill>
                <a:latin typeface="Caveat" pitchFamily="2" charset="77"/>
              </a:rPr>
            </a:br>
            <a:r>
              <a:rPr lang="en-GB" sz="3200" b="1" dirty="0">
                <a:solidFill>
                  <a:schemeClr val="accent3"/>
                </a:solidFill>
                <a:latin typeface="Caveat" pitchFamily="2" charset="77"/>
              </a:rPr>
              <a:t>for low training data volume</a:t>
            </a:r>
            <a:endParaRPr lang="en-BE" sz="3200" b="1" dirty="0">
              <a:solidFill>
                <a:schemeClr val="accent3"/>
              </a:solidFill>
              <a:latin typeface="Caveat" pitchFamily="2" charset="77"/>
            </a:endParaRPr>
          </a:p>
        </p:txBody>
      </p:sp>
      <p:grpSp>
        <p:nvGrpSpPr>
          <p:cNvPr id="43" name="Group 42">
            <a:extLst>
              <a:ext uri="{FF2B5EF4-FFF2-40B4-BE49-F238E27FC236}">
                <a16:creationId xmlns:a16="http://schemas.microsoft.com/office/drawing/2014/main" id="{36E58297-AC17-7FBF-C8EA-75D1EFD66998}"/>
              </a:ext>
            </a:extLst>
          </p:cNvPr>
          <p:cNvGrpSpPr/>
          <p:nvPr/>
        </p:nvGrpSpPr>
        <p:grpSpPr>
          <a:xfrm>
            <a:off x="4231532" y="3263870"/>
            <a:ext cx="4853471" cy="2339245"/>
            <a:chOff x="4231532" y="3263870"/>
            <a:chExt cx="4853471" cy="2339245"/>
          </a:xfrm>
        </p:grpSpPr>
        <p:sp>
          <p:nvSpPr>
            <p:cNvPr id="41" name="Oval 40">
              <a:extLst>
                <a:ext uri="{FF2B5EF4-FFF2-40B4-BE49-F238E27FC236}">
                  <a16:creationId xmlns:a16="http://schemas.microsoft.com/office/drawing/2014/main" id="{D45AF6A4-8AAB-7909-0F99-E658FEE32B69}"/>
                </a:ext>
              </a:extLst>
            </p:cNvPr>
            <p:cNvSpPr/>
            <p:nvPr/>
          </p:nvSpPr>
          <p:spPr>
            <a:xfrm>
              <a:off x="6595219" y="3263870"/>
              <a:ext cx="2489784" cy="2339245"/>
            </a:xfrm>
            <a:prstGeom prst="ellipse">
              <a:avLst/>
            </a:prstGeom>
            <a:noFill/>
            <a:ln w="38100">
              <a:solidFill>
                <a:schemeClr val="accent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BE"/>
            </a:p>
          </p:txBody>
        </p:sp>
        <p:sp>
          <p:nvSpPr>
            <p:cNvPr id="42" name="Freeform 41">
              <a:extLst>
                <a:ext uri="{FF2B5EF4-FFF2-40B4-BE49-F238E27FC236}">
                  <a16:creationId xmlns:a16="http://schemas.microsoft.com/office/drawing/2014/main" id="{ABADEBF9-F5E7-A3E8-09C2-9050225C12C4}"/>
                </a:ext>
              </a:extLst>
            </p:cNvPr>
            <p:cNvSpPr/>
            <p:nvPr/>
          </p:nvSpPr>
          <p:spPr>
            <a:xfrm>
              <a:off x="4231532" y="3585622"/>
              <a:ext cx="2363821" cy="900378"/>
            </a:xfrm>
            <a:custGeom>
              <a:avLst/>
              <a:gdLst>
                <a:gd name="csX0" fmla="*/ 2363821 w 2363821"/>
                <a:gd name="csY0" fmla="*/ 787940 h 828399"/>
                <a:gd name="csX1" fmla="*/ 758757 w 2363821"/>
                <a:gd name="csY1" fmla="*/ 739302 h 828399"/>
                <a:gd name="csX2" fmla="*/ 0 w 2363821"/>
                <a:gd name="csY2" fmla="*/ 0 h 828399"/>
              </a:gdLst>
              <a:ahLst/>
              <a:cxnLst>
                <a:cxn ang="0">
                  <a:pos x="csX0" y="csY0"/>
                </a:cxn>
                <a:cxn ang="0">
                  <a:pos x="csX1" y="csY1"/>
                </a:cxn>
                <a:cxn ang="0">
                  <a:pos x="csX2" y="csY2"/>
                </a:cxn>
              </a:cxnLst>
              <a:rect l="l" t="t" r="r" b="b"/>
              <a:pathLst>
                <a:path w="2363821" h="828399">
                  <a:moveTo>
                    <a:pt x="2363821" y="787940"/>
                  </a:moveTo>
                  <a:cubicBezTo>
                    <a:pt x="1758274" y="829282"/>
                    <a:pt x="1152727" y="870625"/>
                    <a:pt x="758757" y="739302"/>
                  </a:cubicBezTo>
                  <a:cubicBezTo>
                    <a:pt x="364787" y="607979"/>
                    <a:pt x="182393" y="303989"/>
                    <a:pt x="0" y="0"/>
                  </a:cubicBezTo>
                </a:path>
              </a:pathLst>
            </a:custGeom>
            <a:noFill/>
            <a:ln w="38100">
              <a:solidFill>
                <a:schemeClr val="accent3"/>
              </a:solidFill>
              <a:headEnd type="none" w="med" len="med"/>
              <a:tailEnd type="triangle" w="med" len="me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BE"/>
            </a:p>
          </p:txBody>
        </p:sp>
      </p:grpSp>
      <p:sp>
        <p:nvSpPr>
          <p:cNvPr id="44" name="Slide Number Placeholder 43">
            <a:extLst>
              <a:ext uri="{FF2B5EF4-FFF2-40B4-BE49-F238E27FC236}">
                <a16:creationId xmlns:a16="http://schemas.microsoft.com/office/drawing/2014/main" id="{BEEF7F21-8D35-2974-877A-5E8750E6F59B}"/>
              </a:ext>
            </a:extLst>
          </p:cNvPr>
          <p:cNvSpPr>
            <a:spLocks noGrp="1"/>
          </p:cNvSpPr>
          <p:nvPr>
            <p:ph type="sldNum" sz="quarter" idx="11"/>
          </p:nvPr>
        </p:nvSpPr>
        <p:spPr/>
        <p:txBody>
          <a:bodyPr/>
          <a:lstStyle/>
          <a:p>
            <a:pPr>
              <a:defRPr/>
            </a:pPr>
            <a:fld id="{4908A2AA-746C-4DBB-9102-670E2680A299}" type="slidenum">
              <a:rPr lang="en-US" smtClean="0"/>
              <a:pPr>
                <a:defRPr/>
              </a:pPr>
              <a:t>13</a:t>
            </a:fld>
            <a:endParaRPr lang="en-US"/>
          </a:p>
        </p:txBody>
      </p:sp>
    </p:spTree>
    <p:extLst>
      <p:ext uri="{BB962C8B-B14F-4D97-AF65-F5344CB8AC3E}">
        <p14:creationId xmlns:p14="http://schemas.microsoft.com/office/powerpoint/2010/main" val="23088834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36"/>
                                        </p:tgtEl>
                                        <p:attrNameLst>
                                          <p:attrName>style.visibility</p:attrName>
                                        </p:attrNameLst>
                                      </p:cBhvr>
                                      <p:to>
                                        <p:strVal val="visible"/>
                                      </p:to>
                                    </p:set>
                                    <p:animEffect transition="in" filter="fade">
                                      <p:cBhvr>
                                        <p:cTn id="7" dur="500"/>
                                        <p:tgtEl>
                                          <p:spTgt spid="36"/>
                                        </p:tgtEl>
                                      </p:cBhvr>
                                    </p:animEffect>
                                  </p:childTnLst>
                                </p:cTn>
                              </p:par>
                            </p:childTnLst>
                          </p:cTn>
                        </p:par>
                        <p:par>
                          <p:cTn id="8" fill="hold">
                            <p:stCondLst>
                              <p:cond delay="500"/>
                            </p:stCondLst>
                            <p:childTnLst>
                              <p:par>
                                <p:cTn id="9" presetID="22" presetClass="entr" presetSubtype="2" fill="hold" nodeType="afterEffect">
                                  <p:stCondLst>
                                    <p:cond delay="0"/>
                                  </p:stCondLst>
                                  <p:childTnLst>
                                    <p:set>
                                      <p:cBhvr>
                                        <p:cTn id="10" dur="1" fill="hold">
                                          <p:stCondLst>
                                            <p:cond delay="0"/>
                                          </p:stCondLst>
                                        </p:cTn>
                                        <p:tgtEl>
                                          <p:spTgt spid="43"/>
                                        </p:tgtEl>
                                        <p:attrNameLst>
                                          <p:attrName>style.visibility</p:attrName>
                                        </p:attrNameLst>
                                      </p:cBhvr>
                                      <p:to>
                                        <p:strVal val="visible"/>
                                      </p:to>
                                    </p:set>
                                    <p:animEffect transition="in" filter="wipe(right)">
                                      <p:cBhvr>
                                        <p:cTn id="11" dur="500"/>
                                        <p:tgtEl>
                                          <p:spTgt spid="43"/>
                                        </p:tgtEl>
                                      </p:cBhvr>
                                    </p:animEffect>
                                  </p:childTnLst>
                                </p:cTn>
                              </p:par>
                            </p:childTnLst>
                          </p:cTn>
                        </p:par>
                        <p:par>
                          <p:cTn id="12" fill="hold">
                            <p:stCondLst>
                              <p:cond delay="1000"/>
                            </p:stCondLst>
                            <p:childTnLst>
                              <p:par>
                                <p:cTn id="13" presetID="1" presetClass="entr" presetSubtype="0" fill="hold" grpId="0" nodeType="afterEffect">
                                  <p:stCondLst>
                                    <p:cond delay="0"/>
                                  </p:stCondLst>
                                  <p:childTnLst>
                                    <p:set>
                                      <p:cBhvr>
                                        <p:cTn id="14" dur="1" fill="hold">
                                          <p:stCondLst>
                                            <p:cond delay="0"/>
                                          </p:stCondLst>
                                        </p:cTn>
                                        <p:tgtEl>
                                          <p:spTgt spid="4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6" grpId="0" animBg="1"/>
      <p:bldP spid="40" grpId="0" animBg="1"/>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1152C5C-89CB-90B4-E355-CE6125657525}"/>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E92679E9-2F07-A413-AA2F-53BC1CEFC8AA}"/>
              </a:ext>
            </a:extLst>
          </p:cNvPr>
          <p:cNvSpPr>
            <a:spLocks noGrp="1"/>
          </p:cNvSpPr>
          <p:nvPr>
            <p:ph type="title"/>
          </p:nvPr>
        </p:nvSpPr>
        <p:spPr>
          <a:xfrm>
            <a:off x="914400" y="2070578"/>
            <a:ext cx="10363200" cy="1238250"/>
          </a:xfrm>
        </p:spPr>
        <p:txBody>
          <a:bodyPr anchor="ctr"/>
          <a:lstStyle/>
          <a:p>
            <a:r>
              <a:rPr lang="en-GB" u="sng" dirty="0"/>
              <a:t>Interpretable</a:t>
            </a:r>
            <a:r>
              <a:rPr lang="en-GB" dirty="0"/>
              <a:t> decision trees</a:t>
            </a:r>
            <a:br>
              <a:rPr lang="en-GB" dirty="0"/>
            </a:br>
            <a:r>
              <a:rPr lang="en-GB" dirty="0"/>
              <a:t>distilled from black-box RL policies</a:t>
            </a:r>
            <a:endParaRPr lang="nl-BE" sz="3200" u="none" dirty="0"/>
          </a:p>
        </p:txBody>
      </p:sp>
      <p:sp>
        <p:nvSpPr>
          <p:cNvPr id="21" name="Footer Placeholder 20">
            <a:extLst>
              <a:ext uri="{FF2B5EF4-FFF2-40B4-BE49-F238E27FC236}">
                <a16:creationId xmlns:a16="http://schemas.microsoft.com/office/drawing/2014/main" id="{6AA19FEF-75E7-1DC6-4CCD-4F3C13E9BD97}"/>
              </a:ext>
            </a:extLst>
          </p:cNvPr>
          <p:cNvSpPr>
            <a:spLocks noGrp="1"/>
          </p:cNvSpPr>
          <p:nvPr>
            <p:ph type="ftr" sz="quarter" idx="10"/>
          </p:nvPr>
        </p:nvSpPr>
        <p:spPr/>
        <p:txBody>
          <a:bodyPr/>
          <a:lstStyle/>
          <a:p>
            <a:pPr>
              <a:defRPr/>
            </a:pPr>
            <a:r>
              <a:rPr lang="en-US"/>
              <a:t>C. Develder, "AI4E: Data-efficient and scalable algorithmss to exploit energy flexibility"</a:t>
            </a:r>
          </a:p>
        </p:txBody>
      </p:sp>
      <p:sp>
        <p:nvSpPr>
          <p:cNvPr id="5" name="TextBox 4">
            <a:extLst>
              <a:ext uri="{FF2B5EF4-FFF2-40B4-BE49-F238E27FC236}">
                <a16:creationId xmlns:a16="http://schemas.microsoft.com/office/drawing/2014/main" id="{8B7E5F4E-2088-7FEF-7DC6-C1791F3015EC}"/>
              </a:ext>
            </a:extLst>
          </p:cNvPr>
          <p:cNvSpPr txBox="1"/>
          <p:nvPr/>
        </p:nvSpPr>
        <p:spPr>
          <a:xfrm>
            <a:off x="5357186" y="764900"/>
            <a:ext cx="2090637" cy="1077218"/>
          </a:xfrm>
          <a:prstGeom prst="rect">
            <a:avLst/>
          </a:prstGeom>
          <a:noFill/>
        </p:spPr>
        <p:txBody>
          <a:bodyPr wrap="none" rtlCol="0">
            <a:spAutoFit/>
          </a:bodyPr>
          <a:lstStyle/>
          <a:p>
            <a:r>
              <a:rPr lang="en-BE" sz="3200" dirty="0">
                <a:solidFill>
                  <a:schemeClr val="bg1"/>
                </a:solidFill>
                <a:latin typeface="+mj-lt"/>
              </a:rPr>
              <a:t>Home Energy</a:t>
            </a:r>
            <a:br>
              <a:rPr lang="en-BE" sz="3200" dirty="0">
                <a:solidFill>
                  <a:schemeClr val="bg1"/>
                </a:solidFill>
                <a:latin typeface="+mj-lt"/>
              </a:rPr>
            </a:br>
            <a:r>
              <a:rPr lang="en-BE" sz="3200" dirty="0">
                <a:solidFill>
                  <a:schemeClr val="bg1"/>
                </a:solidFill>
                <a:latin typeface="+mj-lt"/>
              </a:rPr>
              <a:t>Management</a:t>
            </a:r>
          </a:p>
        </p:txBody>
      </p:sp>
      <p:pic>
        <p:nvPicPr>
          <p:cNvPr id="7" name="Picture 6">
            <a:extLst>
              <a:ext uri="{FF2B5EF4-FFF2-40B4-BE49-F238E27FC236}">
                <a16:creationId xmlns:a16="http://schemas.microsoft.com/office/drawing/2014/main" id="{E32F9E91-2F0B-6050-407A-4FA26ACEC118}"/>
              </a:ext>
            </a:extLst>
          </p:cNvPr>
          <p:cNvPicPr>
            <a:picLocks noChangeAspect="1"/>
          </p:cNvPicPr>
          <p:nvPr/>
        </p:nvPicPr>
        <p:blipFill>
          <a:blip r:embed="rId3"/>
          <a:stretch>
            <a:fillRect/>
          </a:stretch>
        </p:blipFill>
        <p:spPr>
          <a:xfrm>
            <a:off x="4238804" y="783375"/>
            <a:ext cx="1200000" cy="1053659"/>
          </a:xfrm>
          <a:prstGeom prst="rect">
            <a:avLst/>
          </a:prstGeom>
        </p:spPr>
      </p:pic>
      <p:sp>
        <p:nvSpPr>
          <p:cNvPr id="10" name="TextBox 9">
            <a:extLst>
              <a:ext uri="{FF2B5EF4-FFF2-40B4-BE49-F238E27FC236}">
                <a16:creationId xmlns:a16="http://schemas.microsoft.com/office/drawing/2014/main" id="{ADFCFC2D-FFCC-AE73-F8A4-FC17CF3A55F2}"/>
              </a:ext>
            </a:extLst>
          </p:cNvPr>
          <p:cNvSpPr txBox="1"/>
          <p:nvPr/>
        </p:nvSpPr>
        <p:spPr>
          <a:xfrm rot="19968531">
            <a:off x="8504008" y="5361032"/>
            <a:ext cx="1007007" cy="758093"/>
          </a:xfrm>
          <a:prstGeom prst="rect">
            <a:avLst/>
          </a:prstGeom>
          <a:noFill/>
        </p:spPr>
        <p:txBody>
          <a:bodyPr wrap="none" rtlCol="0">
            <a:spAutoFit/>
          </a:bodyPr>
          <a:lstStyle/>
          <a:p>
            <a:pPr>
              <a:lnSpc>
                <a:spcPct val="70000"/>
              </a:lnSpc>
            </a:pPr>
            <a:r>
              <a:rPr lang="en-US" sz="2000" dirty="0">
                <a:solidFill>
                  <a:schemeClr val="accent4"/>
                </a:solidFill>
                <a:latin typeface="Caveat" charset="0"/>
                <a:ea typeface="Caveat" charset="0"/>
                <a:cs typeface="Caveat" charset="0"/>
              </a:rPr>
              <a:t>Thanks</a:t>
            </a:r>
          </a:p>
          <a:p>
            <a:pPr>
              <a:lnSpc>
                <a:spcPct val="70000"/>
              </a:lnSpc>
            </a:pPr>
            <a:r>
              <a:rPr lang="en-US" sz="2000" dirty="0">
                <a:solidFill>
                  <a:schemeClr val="accent4"/>
                </a:solidFill>
                <a:latin typeface="Caveat" charset="0"/>
                <a:ea typeface="Caveat" charset="0"/>
                <a:cs typeface="Caveat" charset="0"/>
              </a:rPr>
              <a:t>Gargya &amp;</a:t>
            </a:r>
            <a:br>
              <a:rPr lang="en-US" sz="2000" dirty="0">
                <a:solidFill>
                  <a:schemeClr val="accent4"/>
                </a:solidFill>
                <a:latin typeface="Caveat" charset="0"/>
                <a:ea typeface="Caveat" charset="0"/>
                <a:cs typeface="Caveat" charset="0"/>
              </a:rPr>
            </a:br>
            <a:r>
              <a:rPr lang="en-US" sz="2000" dirty="0">
                <a:solidFill>
                  <a:schemeClr val="accent4"/>
                </a:solidFill>
                <a:latin typeface="Caveat" charset="0"/>
                <a:ea typeface="Caveat" charset="0"/>
                <a:cs typeface="Caveat" charset="0"/>
              </a:rPr>
              <a:t>Toon!</a:t>
            </a:r>
          </a:p>
        </p:txBody>
      </p:sp>
      <p:sp>
        <p:nvSpPr>
          <p:cNvPr id="11" name="Freeform 10">
            <a:extLst>
              <a:ext uri="{FF2B5EF4-FFF2-40B4-BE49-F238E27FC236}">
                <a16:creationId xmlns:a16="http://schemas.microsoft.com/office/drawing/2014/main" id="{C152BD50-C07F-9CC3-844A-4D6838E26575}"/>
              </a:ext>
            </a:extLst>
          </p:cNvPr>
          <p:cNvSpPr/>
          <p:nvPr/>
        </p:nvSpPr>
        <p:spPr>
          <a:xfrm rot="679189">
            <a:off x="9472081" y="5487066"/>
            <a:ext cx="607162" cy="152644"/>
          </a:xfrm>
          <a:custGeom>
            <a:avLst/>
            <a:gdLst>
              <a:gd name="connsiteX0" fmla="*/ 0 w 607162"/>
              <a:gd name="connsiteY0" fmla="*/ 234087 h 234087"/>
              <a:gd name="connsiteX1" fmla="*/ 256032 w 607162"/>
              <a:gd name="connsiteY1" fmla="*/ 14631 h 234087"/>
              <a:gd name="connsiteX2" fmla="*/ 607162 w 607162"/>
              <a:gd name="connsiteY2" fmla="*/ 0 h 234087"/>
              <a:gd name="connsiteX0" fmla="*/ 0 w 607162"/>
              <a:gd name="connsiteY0" fmla="*/ 240072 h 240072"/>
              <a:gd name="connsiteX1" fmla="*/ 256032 w 607162"/>
              <a:gd name="connsiteY1" fmla="*/ 20616 h 240072"/>
              <a:gd name="connsiteX2" fmla="*/ 607162 w 607162"/>
              <a:gd name="connsiteY2" fmla="*/ 5985 h 240072"/>
              <a:gd name="connsiteX0" fmla="*/ 0 w 607162"/>
              <a:gd name="connsiteY0" fmla="*/ 249592 h 249592"/>
              <a:gd name="connsiteX1" fmla="*/ 256032 w 607162"/>
              <a:gd name="connsiteY1" fmla="*/ 30136 h 249592"/>
              <a:gd name="connsiteX2" fmla="*/ 607162 w 607162"/>
              <a:gd name="connsiteY2" fmla="*/ 15505 h 249592"/>
              <a:gd name="connsiteX0" fmla="*/ 0 w 607162"/>
              <a:gd name="connsiteY0" fmla="*/ 249592 h 249592"/>
              <a:gd name="connsiteX1" fmla="*/ 256032 w 607162"/>
              <a:gd name="connsiteY1" fmla="*/ 30136 h 249592"/>
              <a:gd name="connsiteX2" fmla="*/ 607162 w 607162"/>
              <a:gd name="connsiteY2" fmla="*/ 15505 h 249592"/>
              <a:gd name="connsiteX0" fmla="*/ 0 w 607162"/>
              <a:gd name="connsiteY0" fmla="*/ 249592 h 249592"/>
              <a:gd name="connsiteX1" fmla="*/ 256032 w 607162"/>
              <a:gd name="connsiteY1" fmla="*/ 30136 h 249592"/>
              <a:gd name="connsiteX2" fmla="*/ 607162 w 607162"/>
              <a:gd name="connsiteY2" fmla="*/ 15505 h 249592"/>
              <a:gd name="connsiteX0" fmla="*/ 0 w 607162"/>
              <a:gd name="connsiteY0" fmla="*/ 258833 h 258833"/>
              <a:gd name="connsiteX1" fmla="*/ 256032 w 607162"/>
              <a:gd name="connsiteY1" fmla="*/ 39377 h 258833"/>
              <a:gd name="connsiteX2" fmla="*/ 607162 w 607162"/>
              <a:gd name="connsiteY2" fmla="*/ 24746 h 258833"/>
              <a:gd name="connsiteX0" fmla="*/ 0 w 607162"/>
              <a:gd name="connsiteY0" fmla="*/ 258833 h 258833"/>
              <a:gd name="connsiteX1" fmla="*/ 256032 w 607162"/>
              <a:gd name="connsiteY1" fmla="*/ 39377 h 258833"/>
              <a:gd name="connsiteX2" fmla="*/ 607162 w 607162"/>
              <a:gd name="connsiteY2" fmla="*/ 24746 h 258833"/>
              <a:gd name="connsiteX0" fmla="*/ 0 w 607162"/>
              <a:gd name="connsiteY0" fmla="*/ 257095 h 257095"/>
              <a:gd name="connsiteX1" fmla="*/ 235862 w 607162"/>
              <a:gd name="connsiteY1" fmla="*/ 41001 h 257095"/>
              <a:gd name="connsiteX2" fmla="*/ 607162 w 607162"/>
              <a:gd name="connsiteY2" fmla="*/ 23008 h 257095"/>
              <a:gd name="connsiteX0" fmla="*/ 0 w 607162"/>
              <a:gd name="connsiteY0" fmla="*/ 257095 h 257095"/>
              <a:gd name="connsiteX1" fmla="*/ 235862 w 607162"/>
              <a:gd name="connsiteY1" fmla="*/ 41001 h 257095"/>
              <a:gd name="connsiteX2" fmla="*/ 607162 w 607162"/>
              <a:gd name="connsiteY2" fmla="*/ 23008 h 257095"/>
              <a:gd name="connsiteX0" fmla="*/ 0 w 607162"/>
              <a:gd name="connsiteY0" fmla="*/ 253450 h 253450"/>
              <a:gd name="connsiteX1" fmla="*/ 235862 w 607162"/>
              <a:gd name="connsiteY1" fmla="*/ 37356 h 253450"/>
              <a:gd name="connsiteX2" fmla="*/ 607162 w 607162"/>
              <a:gd name="connsiteY2" fmla="*/ 19363 h 253450"/>
              <a:gd name="connsiteX0" fmla="*/ 0 w 607162"/>
              <a:gd name="connsiteY0" fmla="*/ 253450 h 253450"/>
              <a:gd name="connsiteX1" fmla="*/ 235862 w 607162"/>
              <a:gd name="connsiteY1" fmla="*/ 37356 h 253450"/>
              <a:gd name="connsiteX2" fmla="*/ 607162 w 607162"/>
              <a:gd name="connsiteY2" fmla="*/ 19363 h 253450"/>
            </a:gdLst>
            <a:ahLst/>
            <a:cxnLst>
              <a:cxn ang="0">
                <a:pos x="connsiteX0" y="connsiteY0"/>
              </a:cxn>
              <a:cxn ang="0">
                <a:pos x="connsiteX1" y="connsiteY1"/>
              </a:cxn>
              <a:cxn ang="0">
                <a:pos x="connsiteX2" y="connsiteY2"/>
              </a:cxn>
            </a:cxnLst>
            <a:rect l="l" t="t" r="r" b="b"/>
            <a:pathLst>
              <a:path w="607162" h="253450">
                <a:moveTo>
                  <a:pt x="0" y="253450"/>
                </a:moveTo>
                <a:cubicBezTo>
                  <a:pt x="20286" y="217088"/>
                  <a:pt x="96317" y="98316"/>
                  <a:pt x="235862" y="37356"/>
                </a:cubicBezTo>
                <a:cubicBezTo>
                  <a:pt x="375407" y="-23604"/>
                  <a:pt x="523145" y="5065"/>
                  <a:pt x="607162" y="19363"/>
                </a:cubicBezTo>
              </a:path>
            </a:pathLst>
          </a:custGeom>
          <a:noFill/>
          <a:ln w="12700">
            <a:solidFill>
              <a:schemeClr val="accent4"/>
            </a:solidFill>
            <a:headEnd type="none" w="med" len="med"/>
            <a:tailEnd type="triangl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2" name="Picture 11">
            <a:extLst>
              <a:ext uri="{FF2B5EF4-FFF2-40B4-BE49-F238E27FC236}">
                <a16:creationId xmlns:a16="http://schemas.microsoft.com/office/drawing/2014/main" id="{71D6E2C3-1101-43BE-0423-184C9D895148}"/>
              </a:ext>
            </a:extLst>
          </p:cNvPr>
          <p:cNvPicPr>
            <a:picLocks noChangeAspect="1"/>
          </p:cNvPicPr>
          <p:nvPr/>
        </p:nvPicPr>
        <p:blipFill rotWithShape="1">
          <a:blip r:embed="rId4"/>
          <a:srcRect l="6972" t="8891" r="2366" b="29083"/>
          <a:stretch/>
        </p:blipFill>
        <p:spPr>
          <a:xfrm rot="20700000">
            <a:off x="10097629" y="4787743"/>
            <a:ext cx="802912" cy="827190"/>
          </a:xfrm>
          <a:prstGeom prst="rect">
            <a:avLst/>
          </a:prstGeom>
          <a:ln>
            <a:noFill/>
          </a:ln>
          <a:effectLst>
            <a:outerShdw blurRad="292100" dist="139700" dir="2700000" algn="tl" rotWithShape="0">
              <a:srgbClr val="333333">
                <a:alpha val="65000"/>
              </a:srgbClr>
            </a:outerShdw>
          </a:effectLst>
        </p:spPr>
      </p:pic>
      <p:sp>
        <p:nvSpPr>
          <p:cNvPr id="13" name="Horizontal Scroll 12">
            <a:extLst>
              <a:ext uri="{FF2B5EF4-FFF2-40B4-BE49-F238E27FC236}">
                <a16:creationId xmlns:a16="http://schemas.microsoft.com/office/drawing/2014/main" id="{C8D17BBF-F0A1-CB76-836B-7FA165E6FB61}"/>
              </a:ext>
            </a:extLst>
          </p:cNvPr>
          <p:cNvSpPr/>
          <p:nvPr/>
        </p:nvSpPr>
        <p:spPr>
          <a:xfrm>
            <a:off x="2998816" y="4309903"/>
            <a:ext cx="6270495" cy="962972"/>
          </a:xfrm>
          <a:prstGeom prst="horizontalScroll">
            <a:avLst>
              <a:gd name="adj" fmla="val 14424"/>
            </a:avLst>
          </a:prstGeom>
          <a:solidFill>
            <a:srgbClr val="FFD34C"/>
          </a:solidFill>
          <a:ln>
            <a:noFill/>
          </a:ln>
        </p:spPr>
        <p:style>
          <a:lnRef idx="1">
            <a:schemeClr val="accent1"/>
          </a:lnRef>
          <a:fillRef idx="3">
            <a:schemeClr val="accent1"/>
          </a:fillRef>
          <a:effectRef idx="2">
            <a:schemeClr val="accent1"/>
          </a:effectRef>
          <a:fontRef idx="minor">
            <a:schemeClr val="lt1"/>
          </a:fontRef>
        </p:style>
        <p:txBody>
          <a:bodyPr tIns="46800" rIns="90000" rtlCol="0" anchor="ctr"/>
          <a:lstStyle/>
          <a:p>
            <a:r>
              <a:rPr lang="en-US" sz="1200" dirty="0">
                <a:solidFill>
                  <a:schemeClr val="accent4">
                    <a:lumMod val="50000"/>
                  </a:schemeClr>
                </a:solidFill>
                <a:latin typeface="UGent Panno Text" charset="0"/>
                <a:ea typeface="UGent Panno Text" charset="0"/>
                <a:cs typeface="UGent Panno Text" charset="0"/>
              </a:rPr>
              <a:t>T. Van Puyvelde, M. Zareh and C. Develder, </a:t>
            </a:r>
            <a:r>
              <a:rPr lang="en-US" sz="1200" b="1" dirty="0">
                <a:solidFill>
                  <a:schemeClr val="accent4">
                    <a:lumMod val="50000"/>
                  </a:schemeClr>
                </a:solidFill>
                <a:latin typeface="UGent Panno Text" charset="0"/>
                <a:ea typeface="UGent Panno Text" charset="0"/>
                <a:cs typeface="UGent Panno Text" charset="0"/>
              </a:rPr>
              <a:t>"Interpretable reinforcement learning for heat pump control through asymmetric differentiable decision trees",</a:t>
            </a:r>
            <a:r>
              <a:rPr lang="en-US" sz="1200" dirty="0">
                <a:solidFill>
                  <a:schemeClr val="accent4">
                    <a:lumMod val="50000"/>
                  </a:schemeClr>
                </a:solidFill>
                <a:latin typeface="UGent Panno Text" charset="0"/>
                <a:ea typeface="UGent Panno Text" charset="0"/>
                <a:cs typeface="UGent Panno Text" charset="0"/>
              </a:rPr>
              <a:t> in Proc. AI-Driven Energy </a:t>
            </a:r>
            <a:r>
              <a:rPr lang="en-US" sz="1200" dirty="0" err="1">
                <a:solidFill>
                  <a:schemeClr val="accent4">
                    <a:lumMod val="50000"/>
                  </a:schemeClr>
                </a:solidFill>
                <a:latin typeface="UGent Panno Text" charset="0"/>
                <a:ea typeface="UGent Panno Text" charset="0"/>
                <a:cs typeface="UGent Panno Text" charset="0"/>
              </a:rPr>
              <a:t>Effic</a:t>
            </a:r>
            <a:r>
              <a:rPr lang="en-US" sz="1200" dirty="0">
                <a:solidFill>
                  <a:schemeClr val="accent4">
                    <a:lumMod val="50000"/>
                  </a:schemeClr>
                </a:solidFill>
                <a:latin typeface="UGent Panno Text" charset="0"/>
                <a:ea typeface="UGent Panno Text" charset="0"/>
                <a:cs typeface="UGent Panno Text" charset="0"/>
              </a:rPr>
              <a:t>. Dyn. Syst. (AI-DEEDS 2025) at ACM e-Energy 2025, Rotterdam, The Netherlands, 17 Jun. 2025, pp. 968-972. </a:t>
            </a:r>
            <a:r>
              <a:rPr lang="en-US" sz="1200" dirty="0">
                <a:solidFill>
                  <a:schemeClr val="accent4">
                    <a:lumMod val="50000"/>
                  </a:schemeClr>
                </a:solidFill>
                <a:latin typeface="UGent Panno Text" charset="0"/>
                <a:ea typeface="UGent Panno Text" charset="0"/>
                <a:cs typeface="UGent Panno Text" charset="0"/>
                <a:hlinkClick r:id="rId5"/>
              </a:rPr>
              <a:t>doi:10.1145/3679240.3734671</a:t>
            </a:r>
            <a:endParaRPr lang="en-US" sz="1200" dirty="0">
              <a:solidFill>
                <a:schemeClr val="accent4">
                  <a:lumMod val="50000"/>
                </a:schemeClr>
              </a:solidFill>
              <a:latin typeface="UGent Panno Text" charset="0"/>
              <a:ea typeface="UGent Panno Text" charset="0"/>
              <a:cs typeface="UGent Panno Text" charset="0"/>
            </a:endParaRPr>
          </a:p>
        </p:txBody>
      </p:sp>
      <p:pic>
        <p:nvPicPr>
          <p:cNvPr id="14" name="Picture 13">
            <a:extLst>
              <a:ext uri="{FF2B5EF4-FFF2-40B4-BE49-F238E27FC236}">
                <a16:creationId xmlns:a16="http://schemas.microsoft.com/office/drawing/2014/main" id="{0181C1D7-38C9-3172-8AC7-F6521C993002}"/>
              </a:ext>
            </a:extLst>
          </p:cNvPr>
          <p:cNvPicPr>
            <a:picLocks noChangeAspect="1"/>
          </p:cNvPicPr>
          <p:nvPr/>
        </p:nvPicPr>
        <p:blipFill>
          <a:blip r:embed="rId6">
            <a:extLst>
              <a:ext uri="{28A0092B-C50C-407E-A947-70E740481C1C}">
                <a14:useLocalDpi xmlns:a14="http://schemas.microsoft.com/office/drawing/2010/main" val="0"/>
              </a:ext>
            </a:extLst>
          </a:blip>
          <a:srcRect l="1467" r="1467"/>
          <a:stretch/>
        </p:blipFill>
        <p:spPr>
          <a:xfrm rot="1001010">
            <a:off x="10806982" y="5069342"/>
            <a:ext cx="802912" cy="827190"/>
          </a:xfrm>
          <a:prstGeom prst="rect">
            <a:avLst/>
          </a:prstGeom>
          <a:ln>
            <a:noFill/>
          </a:ln>
          <a:effectLst>
            <a:outerShdw blurRad="292100" dist="139700" dir="2700000" algn="tl" rotWithShape="0">
              <a:srgbClr val="333333">
                <a:alpha val="65000"/>
              </a:srgbClr>
            </a:outerShdw>
          </a:effectLst>
        </p:spPr>
      </p:pic>
      <p:sp>
        <p:nvSpPr>
          <p:cNvPr id="15" name="Horizontal Scroll 14">
            <a:extLst>
              <a:ext uri="{FF2B5EF4-FFF2-40B4-BE49-F238E27FC236}">
                <a16:creationId xmlns:a16="http://schemas.microsoft.com/office/drawing/2014/main" id="{E8169AC3-D6FF-472C-3F58-0C9F08F04996}"/>
              </a:ext>
            </a:extLst>
          </p:cNvPr>
          <p:cNvSpPr/>
          <p:nvPr/>
        </p:nvSpPr>
        <p:spPr>
          <a:xfrm>
            <a:off x="2998816" y="3530636"/>
            <a:ext cx="6270495" cy="962972"/>
          </a:xfrm>
          <a:prstGeom prst="horizontalScroll">
            <a:avLst>
              <a:gd name="adj" fmla="val 14424"/>
            </a:avLst>
          </a:prstGeom>
          <a:solidFill>
            <a:srgbClr val="FFD34C"/>
          </a:solidFill>
          <a:ln>
            <a:noFill/>
          </a:ln>
        </p:spPr>
        <p:style>
          <a:lnRef idx="1">
            <a:schemeClr val="accent1"/>
          </a:lnRef>
          <a:fillRef idx="3">
            <a:schemeClr val="accent1"/>
          </a:fillRef>
          <a:effectRef idx="2">
            <a:schemeClr val="accent1"/>
          </a:effectRef>
          <a:fontRef idx="minor">
            <a:schemeClr val="lt1"/>
          </a:fontRef>
        </p:style>
        <p:txBody>
          <a:bodyPr tIns="46800" rIns="90000" rtlCol="0" anchor="ctr"/>
          <a:lstStyle/>
          <a:p>
            <a:r>
              <a:rPr lang="en-US" sz="1200" dirty="0">
                <a:solidFill>
                  <a:schemeClr val="accent4">
                    <a:lumMod val="50000"/>
                  </a:schemeClr>
                </a:solidFill>
                <a:latin typeface="UGent Panno Text" charset="0"/>
                <a:ea typeface="UGent Panno Text" charset="0"/>
                <a:cs typeface="UGent Panno Text" charset="0"/>
              </a:rPr>
              <a:t>G. Gokhale, S.S. Karimi </a:t>
            </a:r>
            <a:r>
              <a:rPr lang="en-US" sz="1200" dirty="0" err="1">
                <a:solidFill>
                  <a:schemeClr val="accent4">
                    <a:lumMod val="50000"/>
                  </a:schemeClr>
                </a:solidFill>
                <a:latin typeface="UGent Panno Text" charset="0"/>
                <a:ea typeface="UGent Panno Text" charset="0"/>
                <a:cs typeface="UGent Panno Text" charset="0"/>
              </a:rPr>
              <a:t>Madahi</a:t>
            </a:r>
            <a:r>
              <a:rPr lang="en-US" sz="1200" dirty="0">
                <a:solidFill>
                  <a:schemeClr val="accent4">
                    <a:lumMod val="50000"/>
                  </a:schemeClr>
                </a:solidFill>
                <a:latin typeface="UGent Panno Text" charset="0"/>
                <a:ea typeface="UGent Panno Text" charset="0"/>
                <a:cs typeface="UGent Panno Text" charset="0"/>
              </a:rPr>
              <a:t>, B. </a:t>
            </a:r>
            <a:r>
              <a:rPr lang="en-US" sz="1200" dirty="0" err="1">
                <a:solidFill>
                  <a:schemeClr val="accent4">
                    <a:lumMod val="50000"/>
                  </a:schemeClr>
                </a:solidFill>
                <a:latin typeface="UGent Panno Text" charset="0"/>
                <a:ea typeface="UGent Panno Text" charset="0"/>
                <a:cs typeface="UGent Panno Text" charset="0"/>
              </a:rPr>
              <a:t>Claessens</a:t>
            </a:r>
            <a:r>
              <a:rPr lang="en-US" sz="1200" dirty="0">
                <a:solidFill>
                  <a:schemeClr val="accent4">
                    <a:lumMod val="50000"/>
                  </a:schemeClr>
                </a:solidFill>
                <a:latin typeface="UGent Panno Text" charset="0"/>
                <a:ea typeface="UGent Panno Text" charset="0"/>
                <a:cs typeface="UGent Panno Text" charset="0"/>
              </a:rPr>
              <a:t> and C. Develder, </a:t>
            </a:r>
            <a:r>
              <a:rPr lang="en-US" sz="1200" b="1" dirty="0">
                <a:solidFill>
                  <a:schemeClr val="accent4">
                    <a:lumMod val="50000"/>
                  </a:schemeClr>
                </a:solidFill>
                <a:latin typeface="UGent Panno Text" charset="0"/>
                <a:ea typeface="UGent Panno Text" charset="0"/>
                <a:cs typeface="UGent Panno Text" charset="0"/>
              </a:rPr>
              <a:t>"Distill2Explain: Differentiable decision trees for explainable reinforcement learning in energy application controllers"</a:t>
            </a:r>
            <a:r>
              <a:rPr lang="en-US" sz="1200" dirty="0">
                <a:solidFill>
                  <a:schemeClr val="accent4">
                    <a:lumMod val="50000"/>
                  </a:schemeClr>
                </a:solidFill>
                <a:latin typeface="UGent Panno Text" charset="0"/>
                <a:ea typeface="UGent Panno Text" charset="0"/>
                <a:cs typeface="UGent Panno Text" charset="0"/>
              </a:rPr>
              <a:t>, in Proc. 15th ACM Int. Conf. Future Energy Sys. (e-Energy 2024), Singapore, 4-7 Jun. 2024, pp. 1-8. </a:t>
            </a:r>
            <a:r>
              <a:rPr lang="en-US" sz="1200" dirty="0">
                <a:solidFill>
                  <a:schemeClr val="accent4">
                    <a:lumMod val="50000"/>
                  </a:schemeClr>
                </a:solidFill>
                <a:latin typeface="UGent Panno Text" charset="0"/>
                <a:ea typeface="UGent Panno Text" charset="0"/>
                <a:cs typeface="UGent Panno Text" charset="0"/>
                <a:hlinkClick r:id="rId7"/>
              </a:rPr>
              <a:t>doi:10.1145/3632775.3661937</a:t>
            </a:r>
            <a:endParaRPr lang="en-US" sz="1200" dirty="0">
              <a:solidFill>
                <a:schemeClr val="accent4">
                  <a:lumMod val="50000"/>
                </a:schemeClr>
              </a:solidFill>
              <a:latin typeface="UGent Panno Text" charset="0"/>
              <a:ea typeface="UGent Panno Text" charset="0"/>
              <a:cs typeface="UGent Panno Text" charset="0"/>
            </a:endParaRPr>
          </a:p>
        </p:txBody>
      </p:sp>
      <p:sp>
        <p:nvSpPr>
          <p:cNvPr id="16" name="Slide Number Placeholder 15">
            <a:extLst>
              <a:ext uri="{FF2B5EF4-FFF2-40B4-BE49-F238E27FC236}">
                <a16:creationId xmlns:a16="http://schemas.microsoft.com/office/drawing/2014/main" id="{2415DC6B-5DF9-0801-0BA9-985C6F9FAC39}"/>
              </a:ext>
            </a:extLst>
          </p:cNvPr>
          <p:cNvSpPr>
            <a:spLocks noGrp="1"/>
          </p:cNvSpPr>
          <p:nvPr>
            <p:ph type="sldNum" sz="quarter" idx="11"/>
          </p:nvPr>
        </p:nvSpPr>
        <p:spPr/>
        <p:txBody>
          <a:bodyPr/>
          <a:lstStyle/>
          <a:p>
            <a:pPr>
              <a:defRPr/>
            </a:pPr>
            <a:fld id="{837B71E7-1BA8-4BCA-B4F0-4746BEDF418B}" type="slidenum">
              <a:rPr lang="en-US" smtClean="0"/>
              <a:pPr>
                <a:defRPr/>
              </a:pPr>
              <a:t>14</a:t>
            </a:fld>
            <a:endParaRPr lang="en-US"/>
          </a:p>
        </p:txBody>
      </p:sp>
    </p:spTree>
    <p:extLst>
      <p:ext uri="{BB962C8B-B14F-4D97-AF65-F5344CB8AC3E}">
        <p14:creationId xmlns:p14="http://schemas.microsoft.com/office/powerpoint/2010/main" val="328327871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15"/>
                                        </p:tgtEl>
                                        <p:attrNameLst>
                                          <p:attrName>style.visibility</p:attrName>
                                        </p:attrNameLst>
                                      </p:cBhvr>
                                      <p:to>
                                        <p:strVal val="visible"/>
                                      </p:to>
                                    </p:set>
                                    <p:animEffect transition="in" filter="wipe(left)">
                                      <p:cBhvr>
                                        <p:cTn id="7" dur="500"/>
                                        <p:tgtEl>
                                          <p:spTgt spid="15"/>
                                        </p:tgtEl>
                                      </p:cBhvr>
                                    </p:animEffect>
                                  </p:childTnLst>
                                </p:cTn>
                              </p:par>
                              <p:par>
                                <p:cTn id="8" presetID="22" presetClass="entr" presetSubtype="8" fill="hold" grpId="0" nodeType="withEffect">
                                  <p:stCondLst>
                                    <p:cond delay="0"/>
                                  </p:stCondLst>
                                  <p:childTnLst>
                                    <p:set>
                                      <p:cBhvr>
                                        <p:cTn id="9" dur="1" fill="hold">
                                          <p:stCondLst>
                                            <p:cond delay="0"/>
                                          </p:stCondLst>
                                        </p:cTn>
                                        <p:tgtEl>
                                          <p:spTgt spid="13"/>
                                        </p:tgtEl>
                                        <p:attrNameLst>
                                          <p:attrName>style.visibility</p:attrName>
                                        </p:attrNameLst>
                                      </p:cBhvr>
                                      <p:to>
                                        <p:strVal val="visible"/>
                                      </p:to>
                                    </p:set>
                                    <p:animEffect transition="in" filter="wipe(left)">
                                      <p:cBhvr>
                                        <p:cTn id="10" dur="500"/>
                                        <p:tgtEl>
                                          <p:spTgt spid="13"/>
                                        </p:tgtEl>
                                      </p:cBhvr>
                                    </p:animEffect>
                                  </p:childTnLst>
                                </p:cTn>
                              </p:par>
                            </p:childTnLst>
                          </p:cTn>
                        </p:par>
                        <p:par>
                          <p:cTn id="11" fill="hold">
                            <p:stCondLst>
                              <p:cond delay="500"/>
                            </p:stCondLst>
                            <p:childTnLst>
                              <p:par>
                                <p:cTn id="12" presetID="1" presetClass="entr" presetSubtype="0" fill="hold" grpId="0" nodeType="afterEffect">
                                  <p:stCondLst>
                                    <p:cond delay="0"/>
                                  </p:stCondLst>
                                  <p:childTnLst>
                                    <p:set>
                                      <p:cBhvr>
                                        <p:cTn id="13" dur="1" fill="hold">
                                          <p:stCondLst>
                                            <p:cond delay="0"/>
                                          </p:stCondLst>
                                        </p:cTn>
                                        <p:tgtEl>
                                          <p:spTgt spid="11"/>
                                        </p:tgtEl>
                                        <p:attrNameLst>
                                          <p:attrName>style.visibility</p:attrName>
                                        </p:attrNameLst>
                                      </p:cBhvr>
                                      <p:to>
                                        <p:strVal val="visible"/>
                                      </p:to>
                                    </p:set>
                                  </p:childTnLst>
                                </p:cTn>
                              </p:par>
                              <p:par>
                                <p:cTn id="14" presetID="1" presetClass="entr" presetSubtype="0" fill="hold" grpId="0" nodeType="withEffect">
                                  <p:stCondLst>
                                    <p:cond delay="0"/>
                                  </p:stCondLst>
                                  <p:childTnLst>
                                    <p:set>
                                      <p:cBhvr>
                                        <p:cTn id="15" dur="1" fill="hold">
                                          <p:stCondLst>
                                            <p:cond delay="0"/>
                                          </p:stCondLst>
                                        </p:cTn>
                                        <p:tgtEl>
                                          <p:spTgt spid="10"/>
                                        </p:tgtEl>
                                        <p:attrNameLst>
                                          <p:attrName>style.visibility</p:attrName>
                                        </p:attrNameLst>
                                      </p:cBhvr>
                                      <p:to>
                                        <p:strVal val="visible"/>
                                      </p:to>
                                    </p:set>
                                  </p:childTnLst>
                                </p:cTn>
                              </p:par>
                              <p:par>
                                <p:cTn id="16" presetID="1" presetClass="entr" presetSubtype="0" fill="hold" nodeType="withEffect">
                                  <p:stCondLst>
                                    <p:cond delay="0"/>
                                  </p:stCondLst>
                                  <p:childTnLst>
                                    <p:set>
                                      <p:cBhvr>
                                        <p:cTn id="17" dur="1" fill="hold">
                                          <p:stCondLst>
                                            <p:cond delay="0"/>
                                          </p:stCondLst>
                                        </p:cTn>
                                        <p:tgtEl>
                                          <p:spTgt spid="12"/>
                                        </p:tgtEl>
                                        <p:attrNameLst>
                                          <p:attrName>style.visibility</p:attrName>
                                        </p:attrNameLst>
                                      </p:cBhvr>
                                      <p:to>
                                        <p:strVal val="visible"/>
                                      </p:to>
                                    </p:set>
                                  </p:childTnLst>
                                </p:cTn>
                              </p:par>
                              <p:par>
                                <p:cTn id="18" presetID="1" presetClass="entr" presetSubtype="0" fill="hold" nodeType="withEffect">
                                  <p:stCondLst>
                                    <p:cond delay="0"/>
                                  </p:stCondLst>
                                  <p:childTnLst>
                                    <p:set>
                                      <p:cBhvr>
                                        <p:cTn id="19" dur="1" fill="hold">
                                          <p:stCondLst>
                                            <p:cond delay="0"/>
                                          </p:stCondLst>
                                        </p:cTn>
                                        <p:tgtEl>
                                          <p:spTgt spid="1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p:bldP spid="11" grpId="0" animBg="1"/>
      <p:bldP spid="13" grpId="0" animBg="1"/>
      <p:bldP spid="15" grpId="0" animBg="1"/>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 name="Oval 44">
            <a:extLst>
              <a:ext uri="{FF2B5EF4-FFF2-40B4-BE49-F238E27FC236}">
                <a16:creationId xmlns:a16="http://schemas.microsoft.com/office/drawing/2014/main" id="{40E374CF-FF95-D6F2-DF35-8E04B119395D}"/>
              </a:ext>
            </a:extLst>
          </p:cNvPr>
          <p:cNvSpPr/>
          <p:nvPr/>
        </p:nvSpPr>
        <p:spPr>
          <a:xfrm>
            <a:off x="5341350" y="2566656"/>
            <a:ext cx="219042" cy="219042"/>
          </a:xfrm>
          <a:prstGeom prst="ellipse">
            <a:avLst/>
          </a:prstGeom>
          <a:solidFill>
            <a:schemeClr val="bg1"/>
          </a:solidFill>
          <a:ln>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BE"/>
          </a:p>
        </p:txBody>
      </p:sp>
      <p:sp>
        <p:nvSpPr>
          <p:cNvPr id="46" name="Oval 45">
            <a:extLst>
              <a:ext uri="{FF2B5EF4-FFF2-40B4-BE49-F238E27FC236}">
                <a16:creationId xmlns:a16="http://schemas.microsoft.com/office/drawing/2014/main" id="{2A09A7D3-2288-C804-5E69-80DD95A00B7C}"/>
              </a:ext>
            </a:extLst>
          </p:cNvPr>
          <p:cNvSpPr/>
          <p:nvPr/>
        </p:nvSpPr>
        <p:spPr>
          <a:xfrm>
            <a:off x="5691608" y="2133437"/>
            <a:ext cx="552994" cy="474857"/>
          </a:xfrm>
          <a:prstGeom prst="ellipse">
            <a:avLst/>
          </a:prstGeom>
          <a:solidFill>
            <a:schemeClr val="bg1"/>
          </a:solidFill>
          <a:ln>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BE"/>
          </a:p>
        </p:txBody>
      </p:sp>
      <p:sp>
        <p:nvSpPr>
          <p:cNvPr id="47" name="Oval 46">
            <a:extLst>
              <a:ext uri="{FF2B5EF4-FFF2-40B4-BE49-F238E27FC236}">
                <a16:creationId xmlns:a16="http://schemas.microsoft.com/office/drawing/2014/main" id="{1A226343-E230-E6C6-2F19-50A327ECB1D6}"/>
              </a:ext>
            </a:extLst>
          </p:cNvPr>
          <p:cNvSpPr/>
          <p:nvPr/>
        </p:nvSpPr>
        <p:spPr>
          <a:xfrm>
            <a:off x="6380451" y="2016888"/>
            <a:ext cx="719396" cy="617747"/>
          </a:xfrm>
          <a:prstGeom prst="ellipse">
            <a:avLst/>
          </a:prstGeom>
          <a:solidFill>
            <a:schemeClr val="bg1"/>
          </a:solidFill>
          <a:ln>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BE"/>
          </a:p>
        </p:txBody>
      </p:sp>
      <p:sp>
        <p:nvSpPr>
          <p:cNvPr id="43" name="Cloud 42">
            <a:extLst>
              <a:ext uri="{FF2B5EF4-FFF2-40B4-BE49-F238E27FC236}">
                <a16:creationId xmlns:a16="http://schemas.microsoft.com/office/drawing/2014/main" id="{6798D9C4-0AF2-C9BB-78E5-C1C5A02B75FC}"/>
              </a:ext>
            </a:extLst>
          </p:cNvPr>
          <p:cNvSpPr/>
          <p:nvPr/>
        </p:nvSpPr>
        <p:spPr>
          <a:xfrm rot="217477">
            <a:off x="6033720" y="1992429"/>
            <a:ext cx="5880991" cy="3577935"/>
          </a:xfrm>
          <a:prstGeom prst="cloud">
            <a:avLst/>
          </a:prstGeom>
          <a:solidFill>
            <a:schemeClr val="bg1"/>
          </a:solidFill>
          <a:ln>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BE"/>
          </a:p>
        </p:txBody>
      </p:sp>
      <p:sp>
        <p:nvSpPr>
          <p:cNvPr id="5" name="Title 4">
            <a:extLst>
              <a:ext uri="{FF2B5EF4-FFF2-40B4-BE49-F238E27FC236}">
                <a16:creationId xmlns:a16="http://schemas.microsoft.com/office/drawing/2014/main" id="{815B79F3-D4C5-382E-23D2-8D895567C874}"/>
              </a:ext>
            </a:extLst>
          </p:cNvPr>
          <p:cNvSpPr>
            <a:spLocks noGrp="1"/>
          </p:cNvSpPr>
          <p:nvPr>
            <p:ph type="title"/>
          </p:nvPr>
        </p:nvSpPr>
        <p:spPr/>
        <p:txBody>
          <a:bodyPr/>
          <a:lstStyle/>
          <a:p>
            <a:r>
              <a:rPr lang="en-BE" dirty="0"/>
              <a:t>Black-box Reinforcement Learning</a:t>
            </a:r>
          </a:p>
        </p:txBody>
      </p:sp>
      <p:pic>
        <p:nvPicPr>
          <p:cNvPr id="2" name="Content Placeholder 1">
            <a:extLst>
              <a:ext uri="{FF2B5EF4-FFF2-40B4-BE49-F238E27FC236}">
                <a16:creationId xmlns:a16="http://schemas.microsoft.com/office/drawing/2014/main" id="{C29867E0-9116-B13B-8762-DD099DED829D}"/>
              </a:ext>
            </a:extLst>
          </p:cNvPr>
          <p:cNvPicPr>
            <a:picLocks noGrp="1" noChangeAspect="1"/>
          </p:cNvPicPr>
          <p:nvPr>
            <p:ph idx="1"/>
          </p:nvPr>
        </p:nvPicPr>
        <p:blipFill>
          <a:blip r:embed="rId3"/>
          <a:stretch>
            <a:fillRect/>
          </a:stretch>
        </p:blipFill>
        <p:spPr>
          <a:xfrm>
            <a:off x="756168" y="2510352"/>
            <a:ext cx="2471338" cy="2051211"/>
          </a:xfrm>
          <a:prstGeom prst="rect">
            <a:avLst/>
          </a:prstGeom>
        </p:spPr>
      </p:pic>
      <p:sp>
        <p:nvSpPr>
          <p:cNvPr id="4" name="Footer Placeholder 3">
            <a:extLst>
              <a:ext uri="{FF2B5EF4-FFF2-40B4-BE49-F238E27FC236}">
                <a16:creationId xmlns:a16="http://schemas.microsoft.com/office/drawing/2014/main" id="{A62718FE-1562-721B-0788-75AED9942C31}"/>
              </a:ext>
            </a:extLst>
          </p:cNvPr>
          <p:cNvSpPr>
            <a:spLocks noGrp="1"/>
          </p:cNvSpPr>
          <p:nvPr>
            <p:ph type="ftr" sz="quarter" idx="10"/>
          </p:nvPr>
        </p:nvSpPr>
        <p:spPr/>
        <p:txBody>
          <a:bodyPr/>
          <a:lstStyle/>
          <a:p>
            <a:pPr>
              <a:defRPr/>
            </a:pPr>
            <a:r>
              <a:rPr lang="en-US"/>
              <a:t>C. Develder, "AI4E: Data-efficient and scalable algorithmss to exploit energy flexibility"</a:t>
            </a:r>
          </a:p>
        </p:txBody>
      </p:sp>
      <p:pic>
        <p:nvPicPr>
          <p:cNvPr id="3" name="Picture 2">
            <a:extLst>
              <a:ext uri="{FF2B5EF4-FFF2-40B4-BE49-F238E27FC236}">
                <a16:creationId xmlns:a16="http://schemas.microsoft.com/office/drawing/2014/main" id="{B79773BD-143A-DD8F-12D0-8F8B77F43EF4}"/>
              </a:ext>
            </a:extLst>
          </p:cNvPr>
          <p:cNvPicPr>
            <a:picLocks noChangeAspect="1"/>
          </p:cNvPicPr>
          <p:nvPr/>
        </p:nvPicPr>
        <p:blipFill>
          <a:blip r:embed="rId4"/>
          <a:stretch>
            <a:fillRect/>
          </a:stretch>
        </p:blipFill>
        <p:spPr>
          <a:xfrm>
            <a:off x="4906296" y="2903708"/>
            <a:ext cx="688109" cy="741040"/>
          </a:xfrm>
          <a:prstGeom prst="rect">
            <a:avLst/>
          </a:prstGeom>
        </p:spPr>
      </p:pic>
      <p:sp>
        <p:nvSpPr>
          <p:cNvPr id="7" name="TextBox 6">
            <a:extLst>
              <a:ext uri="{FF2B5EF4-FFF2-40B4-BE49-F238E27FC236}">
                <a16:creationId xmlns:a16="http://schemas.microsoft.com/office/drawing/2014/main" id="{45A9FAB3-3E10-FEB9-19BD-F4E7268B586D}"/>
              </a:ext>
            </a:extLst>
          </p:cNvPr>
          <p:cNvSpPr txBox="1"/>
          <p:nvPr/>
        </p:nvSpPr>
        <p:spPr>
          <a:xfrm>
            <a:off x="4600975" y="3730566"/>
            <a:ext cx="1298753" cy="830997"/>
          </a:xfrm>
          <a:prstGeom prst="rect">
            <a:avLst/>
          </a:prstGeom>
          <a:noFill/>
        </p:spPr>
        <p:txBody>
          <a:bodyPr wrap="none" rtlCol="0">
            <a:spAutoFit/>
          </a:bodyPr>
          <a:lstStyle/>
          <a:p>
            <a:pPr algn="ctr"/>
            <a:r>
              <a:rPr lang="en-BE" sz="2400" b="1" dirty="0">
                <a:latin typeface="+mn-lt"/>
              </a:rPr>
              <a:t>HEM</a:t>
            </a:r>
          </a:p>
          <a:p>
            <a:pPr algn="ctr"/>
            <a:r>
              <a:rPr lang="en-BE" sz="2400" b="1" dirty="0">
                <a:latin typeface="+mn-lt"/>
              </a:rPr>
              <a:t>controller</a:t>
            </a:r>
          </a:p>
        </p:txBody>
      </p:sp>
      <p:grpSp>
        <p:nvGrpSpPr>
          <p:cNvPr id="54" name="Group 53">
            <a:extLst>
              <a:ext uri="{FF2B5EF4-FFF2-40B4-BE49-F238E27FC236}">
                <a16:creationId xmlns:a16="http://schemas.microsoft.com/office/drawing/2014/main" id="{45E97E14-BEDC-B080-3F91-AA07F86F1A3C}"/>
              </a:ext>
            </a:extLst>
          </p:cNvPr>
          <p:cNvGrpSpPr/>
          <p:nvPr/>
        </p:nvGrpSpPr>
        <p:grpSpPr>
          <a:xfrm>
            <a:off x="7814636" y="3173369"/>
            <a:ext cx="2181308" cy="1259770"/>
            <a:chOff x="7602604" y="3305889"/>
            <a:chExt cx="2181308" cy="1259770"/>
          </a:xfrm>
        </p:grpSpPr>
        <p:grpSp>
          <p:nvGrpSpPr>
            <p:cNvPr id="50" name="Group 49">
              <a:extLst>
                <a:ext uri="{FF2B5EF4-FFF2-40B4-BE49-F238E27FC236}">
                  <a16:creationId xmlns:a16="http://schemas.microsoft.com/office/drawing/2014/main" id="{91F497A1-3A5C-8C6F-33E8-163664659CE1}"/>
                </a:ext>
              </a:extLst>
            </p:cNvPr>
            <p:cNvGrpSpPr/>
            <p:nvPr/>
          </p:nvGrpSpPr>
          <p:grpSpPr>
            <a:xfrm>
              <a:off x="8002355" y="3305889"/>
              <a:ext cx="1366363" cy="1259770"/>
              <a:chOff x="8119062" y="2903708"/>
              <a:chExt cx="2085112" cy="1922448"/>
            </a:xfrm>
          </p:grpSpPr>
          <p:sp>
            <p:nvSpPr>
              <p:cNvPr id="48" name="Rounded Rectangle 47">
                <a:extLst>
                  <a:ext uri="{FF2B5EF4-FFF2-40B4-BE49-F238E27FC236}">
                    <a16:creationId xmlns:a16="http://schemas.microsoft.com/office/drawing/2014/main" id="{B73E027D-7D05-3895-CEC2-FD0F3287B323}"/>
                  </a:ext>
                </a:extLst>
              </p:cNvPr>
              <p:cNvSpPr/>
              <p:nvPr/>
            </p:nvSpPr>
            <p:spPr>
              <a:xfrm>
                <a:off x="8119062" y="2903708"/>
                <a:ext cx="2085112" cy="1922448"/>
              </a:xfrm>
              <a:prstGeom prst="roundRect">
                <a:avLst/>
              </a:prstGeom>
              <a:solidFill>
                <a:schemeClr val="bg1">
                  <a:lumMod val="95000"/>
                </a:schemeClr>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BE"/>
              </a:p>
            </p:txBody>
          </p:sp>
          <p:grpSp>
            <p:nvGrpSpPr>
              <p:cNvPr id="13" name="Group 12">
                <a:extLst>
                  <a:ext uri="{FF2B5EF4-FFF2-40B4-BE49-F238E27FC236}">
                    <a16:creationId xmlns:a16="http://schemas.microsoft.com/office/drawing/2014/main" id="{84024CD5-0BFE-FA2C-0D50-BD1426129D12}"/>
                  </a:ext>
                </a:extLst>
              </p:cNvPr>
              <p:cNvGrpSpPr/>
              <p:nvPr/>
            </p:nvGrpSpPr>
            <p:grpSpPr>
              <a:xfrm>
                <a:off x="8339159" y="3138112"/>
                <a:ext cx="1772251" cy="1473558"/>
                <a:chOff x="6383257" y="1250651"/>
                <a:chExt cx="1974694" cy="1641880"/>
              </a:xfrm>
            </p:grpSpPr>
            <p:sp>
              <p:nvSpPr>
                <p:cNvPr id="14" name="Freeform: Shape 77">
                  <a:extLst>
                    <a:ext uri="{FF2B5EF4-FFF2-40B4-BE49-F238E27FC236}">
                      <a16:creationId xmlns:a16="http://schemas.microsoft.com/office/drawing/2014/main" id="{448B1ABA-7BDF-C7BA-5F9A-EBDAD64FA199}"/>
                    </a:ext>
                  </a:extLst>
                </p:cNvPr>
                <p:cNvSpPr/>
                <p:nvPr/>
              </p:nvSpPr>
              <p:spPr>
                <a:xfrm>
                  <a:off x="6505288" y="1372684"/>
                  <a:ext cx="576876" cy="232968"/>
                </a:xfrm>
                <a:custGeom>
                  <a:avLst/>
                  <a:gdLst>
                    <a:gd name="connsiteX0" fmla="*/ -1 w 309562"/>
                    <a:gd name="connsiteY0" fmla="*/ 125016 h 125015"/>
                    <a:gd name="connsiteX1" fmla="*/ 309562 w 309562"/>
                    <a:gd name="connsiteY1" fmla="*/ 0 h 125015"/>
                  </a:gdLst>
                  <a:ahLst/>
                  <a:cxnLst>
                    <a:cxn ang="0">
                      <a:pos x="connsiteX0" y="connsiteY0"/>
                    </a:cxn>
                    <a:cxn ang="0">
                      <a:pos x="connsiteX1" y="connsiteY1"/>
                    </a:cxn>
                  </a:cxnLst>
                  <a:rect l="l" t="t" r="r" b="b"/>
                  <a:pathLst>
                    <a:path w="309562" h="125015">
                      <a:moveTo>
                        <a:pt x="-1" y="125016"/>
                      </a:moveTo>
                      <a:lnTo>
                        <a:pt x="309562" y="0"/>
                      </a:lnTo>
                    </a:path>
                  </a:pathLst>
                </a:custGeom>
                <a:noFill/>
                <a:ln w="28575" cap="flat">
                  <a:solidFill>
                    <a:srgbClr val="C6C6FF"/>
                  </a:solidFill>
                  <a:prstDash val="solid"/>
                  <a:miter/>
                </a:ln>
              </p:spPr>
              <p:txBody>
                <a:bodyPr rtlCol="0" anchor="ctr"/>
                <a:lstStyle/>
                <a:p>
                  <a:endParaRPr lang="en-US"/>
                </a:p>
              </p:txBody>
            </p:sp>
            <p:sp>
              <p:nvSpPr>
                <p:cNvPr id="15" name="Freeform: Shape 78">
                  <a:extLst>
                    <a:ext uri="{FF2B5EF4-FFF2-40B4-BE49-F238E27FC236}">
                      <a16:creationId xmlns:a16="http://schemas.microsoft.com/office/drawing/2014/main" id="{5706F853-4FDB-9F4C-7F2D-7BD78127B30C}"/>
                    </a:ext>
                  </a:extLst>
                </p:cNvPr>
                <p:cNvSpPr/>
                <p:nvPr/>
              </p:nvSpPr>
              <p:spPr>
                <a:xfrm>
                  <a:off x="6505288" y="1605652"/>
                  <a:ext cx="576876" cy="698907"/>
                </a:xfrm>
                <a:custGeom>
                  <a:avLst/>
                  <a:gdLst>
                    <a:gd name="connsiteX0" fmla="*/ -1 w 309562"/>
                    <a:gd name="connsiteY0" fmla="*/ 0 h 375046"/>
                    <a:gd name="connsiteX1" fmla="*/ 309562 w 309562"/>
                    <a:gd name="connsiteY1" fmla="*/ 375047 h 375046"/>
                  </a:gdLst>
                  <a:ahLst/>
                  <a:cxnLst>
                    <a:cxn ang="0">
                      <a:pos x="connsiteX0" y="connsiteY0"/>
                    </a:cxn>
                    <a:cxn ang="0">
                      <a:pos x="connsiteX1" y="connsiteY1"/>
                    </a:cxn>
                  </a:cxnLst>
                  <a:rect l="l" t="t" r="r" b="b"/>
                  <a:pathLst>
                    <a:path w="309562" h="375046">
                      <a:moveTo>
                        <a:pt x="-1" y="0"/>
                      </a:moveTo>
                      <a:lnTo>
                        <a:pt x="309562" y="375047"/>
                      </a:lnTo>
                    </a:path>
                  </a:pathLst>
                </a:custGeom>
                <a:noFill/>
                <a:ln w="28575" cap="flat">
                  <a:solidFill>
                    <a:srgbClr val="7F7FFF"/>
                  </a:solidFill>
                  <a:prstDash val="solid"/>
                  <a:miter/>
                </a:ln>
              </p:spPr>
              <p:txBody>
                <a:bodyPr rtlCol="0" anchor="ctr"/>
                <a:lstStyle/>
                <a:p>
                  <a:endParaRPr lang="en-US"/>
                </a:p>
              </p:txBody>
            </p:sp>
            <p:sp>
              <p:nvSpPr>
                <p:cNvPr id="16" name="Freeform: Shape 81">
                  <a:extLst>
                    <a:ext uri="{FF2B5EF4-FFF2-40B4-BE49-F238E27FC236}">
                      <a16:creationId xmlns:a16="http://schemas.microsoft.com/office/drawing/2014/main" id="{3DD30720-69F0-B1EB-7FAD-CCE318671F62}"/>
                    </a:ext>
                  </a:extLst>
                </p:cNvPr>
                <p:cNvSpPr/>
                <p:nvPr/>
              </p:nvSpPr>
              <p:spPr>
                <a:xfrm>
                  <a:off x="6505288" y="1838623"/>
                  <a:ext cx="576876" cy="232968"/>
                </a:xfrm>
                <a:custGeom>
                  <a:avLst/>
                  <a:gdLst>
                    <a:gd name="connsiteX0" fmla="*/ -1 w 309562"/>
                    <a:gd name="connsiteY0" fmla="*/ 125016 h 125015"/>
                    <a:gd name="connsiteX1" fmla="*/ 309562 w 309562"/>
                    <a:gd name="connsiteY1" fmla="*/ 0 h 125015"/>
                  </a:gdLst>
                  <a:ahLst/>
                  <a:cxnLst>
                    <a:cxn ang="0">
                      <a:pos x="connsiteX0" y="connsiteY0"/>
                    </a:cxn>
                    <a:cxn ang="0">
                      <a:pos x="connsiteX1" y="connsiteY1"/>
                    </a:cxn>
                  </a:cxnLst>
                  <a:rect l="l" t="t" r="r" b="b"/>
                  <a:pathLst>
                    <a:path w="309562" h="125015">
                      <a:moveTo>
                        <a:pt x="-1" y="125016"/>
                      </a:moveTo>
                      <a:lnTo>
                        <a:pt x="309562" y="0"/>
                      </a:lnTo>
                    </a:path>
                  </a:pathLst>
                </a:custGeom>
                <a:noFill/>
                <a:ln w="28575" cap="flat">
                  <a:solidFill>
                    <a:srgbClr val="8A8AFF"/>
                  </a:solidFill>
                  <a:prstDash val="solid"/>
                  <a:miter/>
                </a:ln>
              </p:spPr>
              <p:txBody>
                <a:bodyPr rtlCol="0" anchor="ctr"/>
                <a:lstStyle/>
                <a:p>
                  <a:endParaRPr lang="en-US"/>
                </a:p>
              </p:txBody>
            </p:sp>
            <p:sp>
              <p:nvSpPr>
                <p:cNvPr id="17" name="Freeform: Shape 82">
                  <a:extLst>
                    <a:ext uri="{FF2B5EF4-FFF2-40B4-BE49-F238E27FC236}">
                      <a16:creationId xmlns:a16="http://schemas.microsoft.com/office/drawing/2014/main" id="{DCD1400C-11E2-09AF-630D-5FDB88FD5EEF}"/>
                    </a:ext>
                  </a:extLst>
                </p:cNvPr>
                <p:cNvSpPr/>
                <p:nvPr/>
              </p:nvSpPr>
              <p:spPr>
                <a:xfrm>
                  <a:off x="6505288" y="2071593"/>
                  <a:ext cx="576876" cy="232968"/>
                </a:xfrm>
                <a:custGeom>
                  <a:avLst/>
                  <a:gdLst>
                    <a:gd name="connsiteX0" fmla="*/ -1 w 309562"/>
                    <a:gd name="connsiteY0" fmla="*/ 0 h 125015"/>
                    <a:gd name="connsiteX1" fmla="*/ 309562 w 309562"/>
                    <a:gd name="connsiteY1" fmla="*/ 125016 h 125015"/>
                  </a:gdLst>
                  <a:ahLst/>
                  <a:cxnLst>
                    <a:cxn ang="0">
                      <a:pos x="connsiteX0" y="connsiteY0"/>
                    </a:cxn>
                    <a:cxn ang="0">
                      <a:pos x="connsiteX1" y="connsiteY1"/>
                    </a:cxn>
                  </a:cxnLst>
                  <a:rect l="l" t="t" r="r" b="b"/>
                  <a:pathLst>
                    <a:path w="309562" h="125015">
                      <a:moveTo>
                        <a:pt x="-1" y="0"/>
                      </a:moveTo>
                      <a:lnTo>
                        <a:pt x="309562" y="125016"/>
                      </a:lnTo>
                    </a:path>
                  </a:pathLst>
                </a:custGeom>
                <a:noFill/>
                <a:ln w="28575" cap="flat">
                  <a:solidFill>
                    <a:srgbClr val="2828FF"/>
                  </a:solidFill>
                  <a:prstDash val="solid"/>
                  <a:miter/>
                </a:ln>
              </p:spPr>
              <p:txBody>
                <a:bodyPr rtlCol="0" anchor="ctr"/>
                <a:lstStyle/>
                <a:p>
                  <a:endParaRPr lang="en-US"/>
                </a:p>
              </p:txBody>
            </p:sp>
            <p:sp>
              <p:nvSpPr>
                <p:cNvPr id="18" name="Freeform: Shape 83">
                  <a:extLst>
                    <a:ext uri="{FF2B5EF4-FFF2-40B4-BE49-F238E27FC236}">
                      <a16:creationId xmlns:a16="http://schemas.microsoft.com/office/drawing/2014/main" id="{2A1FE32A-AA74-3CBD-5684-F6E9FAE72A7D}"/>
                    </a:ext>
                  </a:extLst>
                </p:cNvPr>
                <p:cNvSpPr/>
                <p:nvPr/>
              </p:nvSpPr>
              <p:spPr>
                <a:xfrm>
                  <a:off x="6505288" y="2071593"/>
                  <a:ext cx="576876" cy="698907"/>
                </a:xfrm>
                <a:custGeom>
                  <a:avLst/>
                  <a:gdLst>
                    <a:gd name="connsiteX0" fmla="*/ -1 w 309562"/>
                    <a:gd name="connsiteY0" fmla="*/ 0 h 375046"/>
                    <a:gd name="connsiteX1" fmla="*/ 309562 w 309562"/>
                    <a:gd name="connsiteY1" fmla="*/ 375047 h 375046"/>
                  </a:gdLst>
                  <a:ahLst/>
                  <a:cxnLst>
                    <a:cxn ang="0">
                      <a:pos x="connsiteX0" y="connsiteY0"/>
                    </a:cxn>
                    <a:cxn ang="0">
                      <a:pos x="connsiteX1" y="connsiteY1"/>
                    </a:cxn>
                  </a:cxnLst>
                  <a:rect l="l" t="t" r="r" b="b"/>
                  <a:pathLst>
                    <a:path w="309562" h="375046">
                      <a:moveTo>
                        <a:pt x="-1" y="0"/>
                      </a:moveTo>
                      <a:lnTo>
                        <a:pt x="309562" y="375047"/>
                      </a:lnTo>
                    </a:path>
                  </a:pathLst>
                </a:custGeom>
                <a:noFill/>
                <a:ln w="28575" cap="flat">
                  <a:solidFill>
                    <a:srgbClr val="FFA2A2"/>
                  </a:solidFill>
                  <a:prstDash val="solid"/>
                  <a:miter/>
                </a:ln>
              </p:spPr>
              <p:txBody>
                <a:bodyPr rtlCol="0" anchor="ctr"/>
                <a:lstStyle/>
                <a:p>
                  <a:endParaRPr lang="en-US"/>
                </a:p>
              </p:txBody>
            </p:sp>
            <p:sp>
              <p:nvSpPr>
                <p:cNvPr id="19" name="Freeform: Shape 84">
                  <a:extLst>
                    <a:ext uri="{FF2B5EF4-FFF2-40B4-BE49-F238E27FC236}">
                      <a16:creationId xmlns:a16="http://schemas.microsoft.com/office/drawing/2014/main" id="{1326F330-1991-58C8-1A72-F5B257AB2332}"/>
                    </a:ext>
                  </a:extLst>
                </p:cNvPr>
                <p:cNvSpPr/>
                <p:nvPr/>
              </p:nvSpPr>
              <p:spPr>
                <a:xfrm>
                  <a:off x="6505288" y="2304561"/>
                  <a:ext cx="576876" cy="232968"/>
                </a:xfrm>
                <a:custGeom>
                  <a:avLst/>
                  <a:gdLst>
                    <a:gd name="connsiteX0" fmla="*/ -1 w 309562"/>
                    <a:gd name="connsiteY0" fmla="*/ 125016 h 125015"/>
                    <a:gd name="connsiteX1" fmla="*/ 309562 w 309562"/>
                    <a:gd name="connsiteY1" fmla="*/ 0 h 125015"/>
                  </a:gdLst>
                  <a:ahLst/>
                  <a:cxnLst>
                    <a:cxn ang="0">
                      <a:pos x="connsiteX0" y="connsiteY0"/>
                    </a:cxn>
                    <a:cxn ang="0">
                      <a:pos x="connsiteX1" y="connsiteY1"/>
                    </a:cxn>
                  </a:cxnLst>
                  <a:rect l="l" t="t" r="r" b="b"/>
                  <a:pathLst>
                    <a:path w="309562" h="125015">
                      <a:moveTo>
                        <a:pt x="-1" y="125016"/>
                      </a:moveTo>
                      <a:lnTo>
                        <a:pt x="309562" y="0"/>
                      </a:lnTo>
                    </a:path>
                  </a:pathLst>
                </a:custGeom>
                <a:noFill/>
                <a:ln w="28575" cap="flat">
                  <a:solidFill>
                    <a:srgbClr val="ACACFF"/>
                  </a:solidFill>
                  <a:prstDash val="solid"/>
                  <a:miter/>
                </a:ln>
              </p:spPr>
              <p:txBody>
                <a:bodyPr rtlCol="0" anchor="ctr"/>
                <a:lstStyle/>
                <a:p>
                  <a:endParaRPr lang="en-US"/>
                </a:p>
              </p:txBody>
            </p:sp>
            <p:sp>
              <p:nvSpPr>
                <p:cNvPr id="20" name="Freeform: Shape 85">
                  <a:extLst>
                    <a:ext uri="{FF2B5EF4-FFF2-40B4-BE49-F238E27FC236}">
                      <a16:creationId xmlns:a16="http://schemas.microsoft.com/office/drawing/2014/main" id="{2752C713-A536-7586-B8AD-A5ABF9AEC38A}"/>
                    </a:ext>
                  </a:extLst>
                </p:cNvPr>
                <p:cNvSpPr/>
                <p:nvPr/>
              </p:nvSpPr>
              <p:spPr>
                <a:xfrm>
                  <a:off x="6505288" y="2537532"/>
                  <a:ext cx="576876" cy="232968"/>
                </a:xfrm>
                <a:custGeom>
                  <a:avLst/>
                  <a:gdLst>
                    <a:gd name="connsiteX0" fmla="*/ -1 w 309562"/>
                    <a:gd name="connsiteY0" fmla="*/ 0 h 125015"/>
                    <a:gd name="connsiteX1" fmla="*/ 309562 w 309562"/>
                    <a:gd name="connsiteY1" fmla="*/ 125016 h 125015"/>
                  </a:gdLst>
                  <a:ahLst/>
                  <a:cxnLst>
                    <a:cxn ang="0">
                      <a:pos x="connsiteX0" y="connsiteY0"/>
                    </a:cxn>
                    <a:cxn ang="0">
                      <a:pos x="connsiteX1" y="connsiteY1"/>
                    </a:cxn>
                  </a:cxnLst>
                  <a:rect l="l" t="t" r="r" b="b"/>
                  <a:pathLst>
                    <a:path w="309562" h="125015">
                      <a:moveTo>
                        <a:pt x="-1" y="0"/>
                      </a:moveTo>
                      <a:lnTo>
                        <a:pt x="309562" y="125016"/>
                      </a:lnTo>
                    </a:path>
                  </a:pathLst>
                </a:custGeom>
                <a:noFill/>
                <a:ln w="28575" cap="flat">
                  <a:solidFill>
                    <a:srgbClr val="FF8D8D"/>
                  </a:solidFill>
                  <a:prstDash val="solid"/>
                  <a:miter/>
                </a:ln>
              </p:spPr>
              <p:txBody>
                <a:bodyPr rtlCol="0" anchor="ctr"/>
                <a:lstStyle/>
                <a:p>
                  <a:endParaRPr lang="en-US"/>
                </a:p>
              </p:txBody>
            </p:sp>
            <p:sp>
              <p:nvSpPr>
                <p:cNvPr id="21" name="Freeform: Shape 86">
                  <a:extLst>
                    <a:ext uri="{FF2B5EF4-FFF2-40B4-BE49-F238E27FC236}">
                      <a16:creationId xmlns:a16="http://schemas.microsoft.com/office/drawing/2014/main" id="{8B44D0E2-741F-6EF6-C89D-6BE56D00F637}"/>
                    </a:ext>
                  </a:extLst>
                </p:cNvPr>
                <p:cNvSpPr/>
                <p:nvPr/>
              </p:nvSpPr>
              <p:spPr>
                <a:xfrm>
                  <a:off x="7082166" y="1372684"/>
                  <a:ext cx="576876" cy="232968"/>
                </a:xfrm>
                <a:custGeom>
                  <a:avLst/>
                  <a:gdLst>
                    <a:gd name="connsiteX0" fmla="*/ -1 w 309562"/>
                    <a:gd name="connsiteY0" fmla="*/ 0 h 125015"/>
                    <a:gd name="connsiteX1" fmla="*/ 309562 w 309562"/>
                    <a:gd name="connsiteY1" fmla="*/ 125016 h 125015"/>
                  </a:gdLst>
                  <a:ahLst/>
                  <a:cxnLst>
                    <a:cxn ang="0">
                      <a:pos x="connsiteX0" y="connsiteY0"/>
                    </a:cxn>
                    <a:cxn ang="0">
                      <a:pos x="connsiteX1" y="connsiteY1"/>
                    </a:cxn>
                  </a:cxnLst>
                  <a:rect l="l" t="t" r="r" b="b"/>
                  <a:pathLst>
                    <a:path w="309562" h="125015">
                      <a:moveTo>
                        <a:pt x="-1" y="0"/>
                      </a:moveTo>
                      <a:lnTo>
                        <a:pt x="309562" y="125016"/>
                      </a:lnTo>
                    </a:path>
                  </a:pathLst>
                </a:custGeom>
                <a:noFill/>
                <a:ln w="28575" cap="flat">
                  <a:solidFill>
                    <a:srgbClr val="FF4747"/>
                  </a:solidFill>
                  <a:prstDash val="solid"/>
                  <a:miter/>
                </a:ln>
              </p:spPr>
              <p:txBody>
                <a:bodyPr rtlCol="0" anchor="ctr"/>
                <a:lstStyle/>
                <a:p>
                  <a:endParaRPr lang="en-US"/>
                </a:p>
              </p:txBody>
            </p:sp>
            <p:sp>
              <p:nvSpPr>
                <p:cNvPr id="22" name="Freeform: Shape 87">
                  <a:extLst>
                    <a:ext uri="{FF2B5EF4-FFF2-40B4-BE49-F238E27FC236}">
                      <a16:creationId xmlns:a16="http://schemas.microsoft.com/office/drawing/2014/main" id="{3E1EC15C-D9AA-B635-0B6F-617D05259ED3}"/>
                    </a:ext>
                  </a:extLst>
                </p:cNvPr>
                <p:cNvSpPr/>
                <p:nvPr/>
              </p:nvSpPr>
              <p:spPr>
                <a:xfrm>
                  <a:off x="7082166" y="1372684"/>
                  <a:ext cx="576876" cy="698907"/>
                </a:xfrm>
                <a:custGeom>
                  <a:avLst/>
                  <a:gdLst>
                    <a:gd name="connsiteX0" fmla="*/ -1 w 309562"/>
                    <a:gd name="connsiteY0" fmla="*/ 0 h 375046"/>
                    <a:gd name="connsiteX1" fmla="*/ 309562 w 309562"/>
                    <a:gd name="connsiteY1" fmla="*/ 375047 h 375046"/>
                  </a:gdLst>
                  <a:ahLst/>
                  <a:cxnLst>
                    <a:cxn ang="0">
                      <a:pos x="connsiteX0" y="connsiteY0"/>
                    </a:cxn>
                    <a:cxn ang="0">
                      <a:pos x="connsiteX1" y="connsiteY1"/>
                    </a:cxn>
                  </a:cxnLst>
                  <a:rect l="l" t="t" r="r" b="b"/>
                  <a:pathLst>
                    <a:path w="309562" h="375046">
                      <a:moveTo>
                        <a:pt x="-1" y="0"/>
                      </a:moveTo>
                      <a:lnTo>
                        <a:pt x="309562" y="375047"/>
                      </a:lnTo>
                    </a:path>
                  </a:pathLst>
                </a:custGeom>
                <a:noFill/>
                <a:ln w="28575" cap="flat">
                  <a:solidFill>
                    <a:srgbClr val="FF0C0C"/>
                  </a:solidFill>
                  <a:prstDash val="solid"/>
                  <a:miter/>
                </a:ln>
              </p:spPr>
              <p:txBody>
                <a:bodyPr rtlCol="0" anchor="ctr"/>
                <a:lstStyle/>
                <a:p>
                  <a:endParaRPr lang="en-US"/>
                </a:p>
              </p:txBody>
            </p:sp>
            <p:sp>
              <p:nvSpPr>
                <p:cNvPr id="23" name="Freeform: Shape 88">
                  <a:extLst>
                    <a:ext uri="{FF2B5EF4-FFF2-40B4-BE49-F238E27FC236}">
                      <a16:creationId xmlns:a16="http://schemas.microsoft.com/office/drawing/2014/main" id="{9E684B1F-2911-F907-35E6-F6057D156CB4}"/>
                    </a:ext>
                  </a:extLst>
                </p:cNvPr>
                <p:cNvSpPr/>
                <p:nvPr/>
              </p:nvSpPr>
              <p:spPr>
                <a:xfrm>
                  <a:off x="7082166" y="1605652"/>
                  <a:ext cx="576876" cy="232968"/>
                </a:xfrm>
                <a:custGeom>
                  <a:avLst/>
                  <a:gdLst>
                    <a:gd name="connsiteX0" fmla="*/ -1 w 309562"/>
                    <a:gd name="connsiteY0" fmla="*/ 125016 h 125015"/>
                    <a:gd name="connsiteX1" fmla="*/ 309562 w 309562"/>
                    <a:gd name="connsiteY1" fmla="*/ 0 h 125015"/>
                  </a:gdLst>
                  <a:ahLst/>
                  <a:cxnLst>
                    <a:cxn ang="0">
                      <a:pos x="connsiteX0" y="connsiteY0"/>
                    </a:cxn>
                    <a:cxn ang="0">
                      <a:pos x="connsiteX1" y="connsiteY1"/>
                    </a:cxn>
                  </a:cxnLst>
                  <a:rect l="l" t="t" r="r" b="b"/>
                  <a:pathLst>
                    <a:path w="309562" h="125015">
                      <a:moveTo>
                        <a:pt x="-1" y="125016"/>
                      </a:moveTo>
                      <a:lnTo>
                        <a:pt x="309562" y="0"/>
                      </a:lnTo>
                    </a:path>
                  </a:pathLst>
                </a:custGeom>
                <a:noFill/>
                <a:ln w="28575" cap="flat">
                  <a:solidFill>
                    <a:srgbClr val="9393FF"/>
                  </a:solidFill>
                  <a:prstDash val="solid"/>
                  <a:miter/>
                </a:ln>
              </p:spPr>
              <p:txBody>
                <a:bodyPr rtlCol="0" anchor="ctr"/>
                <a:lstStyle/>
                <a:p>
                  <a:endParaRPr lang="en-US"/>
                </a:p>
              </p:txBody>
            </p:sp>
            <p:sp>
              <p:nvSpPr>
                <p:cNvPr id="24" name="Freeform: Shape 89">
                  <a:extLst>
                    <a:ext uri="{FF2B5EF4-FFF2-40B4-BE49-F238E27FC236}">
                      <a16:creationId xmlns:a16="http://schemas.microsoft.com/office/drawing/2014/main" id="{B8A63F9C-EC0A-92F9-2A3B-AEACD6E4D09F}"/>
                    </a:ext>
                  </a:extLst>
                </p:cNvPr>
                <p:cNvSpPr/>
                <p:nvPr/>
              </p:nvSpPr>
              <p:spPr>
                <a:xfrm>
                  <a:off x="7082166" y="1838623"/>
                  <a:ext cx="576876" cy="232968"/>
                </a:xfrm>
                <a:custGeom>
                  <a:avLst/>
                  <a:gdLst>
                    <a:gd name="connsiteX0" fmla="*/ -1 w 309562"/>
                    <a:gd name="connsiteY0" fmla="*/ 0 h 125015"/>
                    <a:gd name="connsiteX1" fmla="*/ 309562 w 309562"/>
                    <a:gd name="connsiteY1" fmla="*/ 125016 h 125015"/>
                  </a:gdLst>
                  <a:ahLst/>
                  <a:cxnLst>
                    <a:cxn ang="0">
                      <a:pos x="connsiteX0" y="connsiteY0"/>
                    </a:cxn>
                    <a:cxn ang="0">
                      <a:pos x="connsiteX1" y="connsiteY1"/>
                    </a:cxn>
                  </a:cxnLst>
                  <a:rect l="l" t="t" r="r" b="b"/>
                  <a:pathLst>
                    <a:path w="309562" h="125015">
                      <a:moveTo>
                        <a:pt x="-1" y="0"/>
                      </a:moveTo>
                      <a:lnTo>
                        <a:pt x="309562" y="125016"/>
                      </a:lnTo>
                    </a:path>
                  </a:pathLst>
                </a:custGeom>
                <a:noFill/>
                <a:ln w="28575" cap="flat">
                  <a:solidFill>
                    <a:srgbClr val="FFBDBD"/>
                  </a:solidFill>
                  <a:prstDash val="solid"/>
                  <a:miter/>
                </a:ln>
              </p:spPr>
              <p:txBody>
                <a:bodyPr rtlCol="0" anchor="ctr"/>
                <a:lstStyle/>
                <a:p>
                  <a:endParaRPr lang="en-US"/>
                </a:p>
              </p:txBody>
            </p:sp>
            <p:sp>
              <p:nvSpPr>
                <p:cNvPr id="25" name="Freeform: Shape 90">
                  <a:extLst>
                    <a:ext uri="{FF2B5EF4-FFF2-40B4-BE49-F238E27FC236}">
                      <a16:creationId xmlns:a16="http://schemas.microsoft.com/office/drawing/2014/main" id="{851AA890-2593-C00D-E7EE-7C7D02E7E5D9}"/>
                    </a:ext>
                  </a:extLst>
                </p:cNvPr>
                <p:cNvSpPr/>
                <p:nvPr/>
              </p:nvSpPr>
              <p:spPr>
                <a:xfrm>
                  <a:off x="7082166" y="1605652"/>
                  <a:ext cx="576876" cy="698907"/>
                </a:xfrm>
                <a:custGeom>
                  <a:avLst/>
                  <a:gdLst>
                    <a:gd name="connsiteX0" fmla="*/ -1 w 309562"/>
                    <a:gd name="connsiteY0" fmla="*/ 375047 h 375046"/>
                    <a:gd name="connsiteX1" fmla="*/ 309562 w 309562"/>
                    <a:gd name="connsiteY1" fmla="*/ 0 h 375046"/>
                  </a:gdLst>
                  <a:ahLst/>
                  <a:cxnLst>
                    <a:cxn ang="0">
                      <a:pos x="connsiteX0" y="connsiteY0"/>
                    </a:cxn>
                    <a:cxn ang="0">
                      <a:pos x="connsiteX1" y="connsiteY1"/>
                    </a:cxn>
                  </a:cxnLst>
                  <a:rect l="l" t="t" r="r" b="b"/>
                  <a:pathLst>
                    <a:path w="309562" h="375046">
                      <a:moveTo>
                        <a:pt x="-1" y="375047"/>
                      </a:moveTo>
                      <a:lnTo>
                        <a:pt x="309562" y="0"/>
                      </a:lnTo>
                    </a:path>
                  </a:pathLst>
                </a:custGeom>
                <a:noFill/>
                <a:ln w="28575" cap="flat">
                  <a:solidFill>
                    <a:srgbClr val="3131FF"/>
                  </a:solidFill>
                  <a:prstDash val="solid"/>
                  <a:miter/>
                </a:ln>
              </p:spPr>
              <p:txBody>
                <a:bodyPr rtlCol="0" anchor="ctr"/>
                <a:lstStyle/>
                <a:p>
                  <a:endParaRPr lang="en-US"/>
                </a:p>
              </p:txBody>
            </p:sp>
            <p:sp>
              <p:nvSpPr>
                <p:cNvPr id="26" name="Freeform: Shape 91">
                  <a:extLst>
                    <a:ext uri="{FF2B5EF4-FFF2-40B4-BE49-F238E27FC236}">
                      <a16:creationId xmlns:a16="http://schemas.microsoft.com/office/drawing/2014/main" id="{7FF2FC31-205B-3FF6-ABE4-64879C416A0E}"/>
                    </a:ext>
                  </a:extLst>
                </p:cNvPr>
                <p:cNvSpPr/>
                <p:nvPr/>
              </p:nvSpPr>
              <p:spPr>
                <a:xfrm>
                  <a:off x="7082166" y="2071593"/>
                  <a:ext cx="576876" cy="232968"/>
                </a:xfrm>
                <a:custGeom>
                  <a:avLst/>
                  <a:gdLst>
                    <a:gd name="connsiteX0" fmla="*/ -1 w 309562"/>
                    <a:gd name="connsiteY0" fmla="*/ 125016 h 125015"/>
                    <a:gd name="connsiteX1" fmla="*/ 309562 w 309562"/>
                    <a:gd name="connsiteY1" fmla="*/ 0 h 125015"/>
                  </a:gdLst>
                  <a:ahLst/>
                  <a:cxnLst>
                    <a:cxn ang="0">
                      <a:pos x="connsiteX0" y="connsiteY0"/>
                    </a:cxn>
                    <a:cxn ang="0">
                      <a:pos x="connsiteX1" y="connsiteY1"/>
                    </a:cxn>
                  </a:cxnLst>
                  <a:rect l="l" t="t" r="r" b="b"/>
                  <a:pathLst>
                    <a:path w="309562" h="125015">
                      <a:moveTo>
                        <a:pt x="-1" y="125016"/>
                      </a:moveTo>
                      <a:lnTo>
                        <a:pt x="309562" y="0"/>
                      </a:lnTo>
                    </a:path>
                  </a:pathLst>
                </a:custGeom>
                <a:noFill/>
                <a:ln w="28575" cap="flat">
                  <a:solidFill>
                    <a:srgbClr val="9C9CFF"/>
                  </a:solidFill>
                  <a:prstDash val="solid"/>
                  <a:miter/>
                </a:ln>
              </p:spPr>
              <p:txBody>
                <a:bodyPr rtlCol="0" anchor="ctr"/>
                <a:lstStyle/>
                <a:p>
                  <a:endParaRPr lang="en-US"/>
                </a:p>
              </p:txBody>
            </p:sp>
            <p:sp>
              <p:nvSpPr>
                <p:cNvPr id="27" name="Freeform: Shape 92">
                  <a:extLst>
                    <a:ext uri="{FF2B5EF4-FFF2-40B4-BE49-F238E27FC236}">
                      <a16:creationId xmlns:a16="http://schemas.microsoft.com/office/drawing/2014/main" id="{E31E82B4-A6F5-1FB6-75D0-E7CEE8F7F47D}"/>
                    </a:ext>
                  </a:extLst>
                </p:cNvPr>
                <p:cNvSpPr/>
                <p:nvPr/>
              </p:nvSpPr>
              <p:spPr>
                <a:xfrm>
                  <a:off x="7659042" y="1605652"/>
                  <a:ext cx="576876" cy="465939"/>
                </a:xfrm>
                <a:custGeom>
                  <a:avLst/>
                  <a:gdLst>
                    <a:gd name="connsiteX0" fmla="*/ -1 w 309562"/>
                    <a:gd name="connsiteY0" fmla="*/ 0 h 250031"/>
                    <a:gd name="connsiteX1" fmla="*/ 309562 w 309562"/>
                    <a:gd name="connsiteY1" fmla="*/ 250031 h 250031"/>
                  </a:gdLst>
                  <a:ahLst/>
                  <a:cxnLst>
                    <a:cxn ang="0">
                      <a:pos x="connsiteX0" y="connsiteY0"/>
                    </a:cxn>
                    <a:cxn ang="0">
                      <a:pos x="connsiteX1" y="connsiteY1"/>
                    </a:cxn>
                  </a:cxnLst>
                  <a:rect l="l" t="t" r="r" b="b"/>
                  <a:pathLst>
                    <a:path w="309562" h="250031">
                      <a:moveTo>
                        <a:pt x="-1" y="0"/>
                      </a:moveTo>
                      <a:lnTo>
                        <a:pt x="309562" y="250031"/>
                      </a:lnTo>
                    </a:path>
                  </a:pathLst>
                </a:custGeom>
                <a:noFill/>
                <a:ln w="28575" cap="flat">
                  <a:solidFill>
                    <a:srgbClr val="FF7474"/>
                  </a:solidFill>
                  <a:prstDash val="solid"/>
                  <a:miter/>
                </a:ln>
              </p:spPr>
              <p:txBody>
                <a:bodyPr rtlCol="0" anchor="ctr"/>
                <a:lstStyle/>
                <a:p>
                  <a:endParaRPr lang="en-US"/>
                </a:p>
              </p:txBody>
            </p:sp>
            <p:sp>
              <p:nvSpPr>
                <p:cNvPr id="28" name="Freeform: Shape 93">
                  <a:extLst>
                    <a:ext uri="{FF2B5EF4-FFF2-40B4-BE49-F238E27FC236}">
                      <a16:creationId xmlns:a16="http://schemas.microsoft.com/office/drawing/2014/main" id="{7B858AEA-E6A5-FE2B-0170-C40C842F68A2}"/>
                    </a:ext>
                  </a:extLst>
                </p:cNvPr>
                <p:cNvSpPr/>
                <p:nvPr/>
              </p:nvSpPr>
              <p:spPr>
                <a:xfrm>
                  <a:off x="7659042" y="2071593"/>
                  <a:ext cx="576876" cy="11094"/>
                </a:xfrm>
                <a:custGeom>
                  <a:avLst/>
                  <a:gdLst>
                    <a:gd name="connsiteX0" fmla="*/ -1 w 309562"/>
                    <a:gd name="connsiteY0" fmla="*/ 0 h 5953"/>
                    <a:gd name="connsiteX1" fmla="*/ 309562 w 309562"/>
                    <a:gd name="connsiteY1" fmla="*/ 0 h 5953"/>
                  </a:gdLst>
                  <a:ahLst/>
                  <a:cxnLst>
                    <a:cxn ang="0">
                      <a:pos x="connsiteX0" y="connsiteY0"/>
                    </a:cxn>
                    <a:cxn ang="0">
                      <a:pos x="connsiteX1" y="connsiteY1"/>
                    </a:cxn>
                  </a:cxnLst>
                  <a:rect l="l" t="t" r="r" b="b"/>
                  <a:pathLst>
                    <a:path w="309562" h="5953">
                      <a:moveTo>
                        <a:pt x="-1" y="0"/>
                      </a:moveTo>
                      <a:lnTo>
                        <a:pt x="309562" y="0"/>
                      </a:lnTo>
                    </a:path>
                  </a:pathLst>
                </a:custGeom>
                <a:noFill/>
                <a:ln w="28575" cap="flat">
                  <a:solidFill>
                    <a:srgbClr val="FFCECE"/>
                  </a:solidFill>
                  <a:prstDash val="solid"/>
                  <a:miter/>
                </a:ln>
              </p:spPr>
              <p:txBody>
                <a:bodyPr rtlCol="0" anchor="ctr"/>
                <a:lstStyle/>
                <a:p>
                  <a:endParaRPr lang="en-US"/>
                </a:p>
              </p:txBody>
            </p:sp>
            <p:sp>
              <p:nvSpPr>
                <p:cNvPr id="29" name="Freeform: Shape 94">
                  <a:extLst>
                    <a:ext uri="{FF2B5EF4-FFF2-40B4-BE49-F238E27FC236}">
                      <a16:creationId xmlns:a16="http://schemas.microsoft.com/office/drawing/2014/main" id="{E457F8BB-9362-2427-0477-7455DE799311}"/>
                    </a:ext>
                  </a:extLst>
                </p:cNvPr>
                <p:cNvSpPr/>
                <p:nvPr/>
              </p:nvSpPr>
              <p:spPr>
                <a:xfrm>
                  <a:off x="7082166" y="2304561"/>
                  <a:ext cx="576876" cy="232968"/>
                </a:xfrm>
                <a:custGeom>
                  <a:avLst/>
                  <a:gdLst>
                    <a:gd name="connsiteX0" fmla="*/ -1 w 309562"/>
                    <a:gd name="connsiteY0" fmla="*/ 0 h 125015"/>
                    <a:gd name="connsiteX1" fmla="*/ 309562 w 309562"/>
                    <a:gd name="connsiteY1" fmla="*/ 125016 h 125015"/>
                  </a:gdLst>
                  <a:ahLst/>
                  <a:cxnLst>
                    <a:cxn ang="0">
                      <a:pos x="connsiteX0" y="connsiteY0"/>
                    </a:cxn>
                    <a:cxn ang="0">
                      <a:pos x="connsiteX1" y="connsiteY1"/>
                    </a:cxn>
                  </a:cxnLst>
                  <a:rect l="l" t="t" r="r" b="b"/>
                  <a:pathLst>
                    <a:path w="309562" h="125015">
                      <a:moveTo>
                        <a:pt x="-1" y="0"/>
                      </a:moveTo>
                      <a:lnTo>
                        <a:pt x="309562" y="125016"/>
                      </a:lnTo>
                    </a:path>
                  </a:pathLst>
                </a:custGeom>
                <a:noFill/>
                <a:ln w="28575" cap="flat">
                  <a:solidFill>
                    <a:srgbClr val="1F1FFF"/>
                  </a:solidFill>
                  <a:prstDash val="solid"/>
                  <a:miter/>
                </a:ln>
              </p:spPr>
              <p:txBody>
                <a:bodyPr rtlCol="0" anchor="ctr"/>
                <a:lstStyle/>
                <a:p>
                  <a:endParaRPr lang="en-US"/>
                </a:p>
              </p:txBody>
            </p:sp>
            <p:sp>
              <p:nvSpPr>
                <p:cNvPr id="30" name="Freeform: Shape 95">
                  <a:extLst>
                    <a:ext uri="{FF2B5EF4-FFF2-40B4-BE49-F238E27FC236}">
                      <a16:creationId xmlns:a16="http://schemas.microsoft.com/office/drawing/2014/main" id="{03651CE1-D18E-C038-29B8-3542BA60E979}"/>
                    </a:ext>
                  </a:extLst>
                </p:cNvPr>
                <p:cNvSpPr/>
                <p:nvPr/>
              </p:nvSpPr>
              <p:spPr>
                <a:xfrm>
                  <a:off x="7082166" y="2537532"/>
                  <a:ext cx="576876" cy="232968"/>
                </a:xfrm>
                <a:custGeom>
                  <a:avLst/>
                  <a:gdLst>
                    <a:gd name="connsiteX0" fmla="*/ -1 w 309562"/>
                    <a:gd name="connsiteY0" fmla="*/ 125016 h 125015"/>
                    <a:gd name="connsiteX1" fmla="*/ 309562 w 309562"/>
                    <a:gd name="connsiteY1" fmla="*/ 0 h 125015"/>
                  </a:gdLst>
                  <a:ahLst/>
                  <a:cxnLst>
                    <a:cxn ang="0">
                      <a:pos x="connsiteX0" y="connsiteY0"/>
                    </a:cxn>
                    <a:cxn ang="0">
                      <a:pos x="connsiteX1" y="connsiteY1"/>
                    </a:cxn>
                  </a:cxnLst>
                  <a:rect l="l" t="t" r="r" b="b"/>
                  <a:pathLst>
                    <a:path w="309562" h="125015">
                      <a:moveTo>
                        <a:pt x="-1" y="125016"/>
                      </a:moveTo>
                      <a:lnTo>
                        <a:pt x="309562" y="0"/>
                      </a:lnTo>
                    </a:path>
                  </a:pathLst>
                </a:custGeom>
                <a:noFill/>
                <a:ln w="28575" cap="flat">
                  <a:solidFill>
                    <a:srgbClr val="B5B5FF"/>
                  </a:solidFill>
                  <a:prstDash val="solid"/>
                  <a:miter/>
                </a:ln>
              </p:spPr>
              <p:txBody>
                <a:bodyPr rtlCol="0" anchor="ctr"/>
                <a:lstStyle/>
                <a:p>
                  <a:endParaRPr lang="en-US"/>
                </a:p>
              </p:txBody>
            </p:sp>
            <p:sp>
              <p:nvSpPr>
                <p:cNvPr id="31" name="Freeform: Shape 96">
                  <a:extLst>
                    <a:ext uri="{FF2B5EF4-FFF2-40B4-BE49-F238E27FC236}">
                      <a16:creationId xmlns:a16="http://schemas.microsoft.com/office/drawing/2014/main" id="{7F058A22-C4F6-20FB-57DA-640870E023E9}"/>
                    </a:ext>
                  </a:extLst>
                </p:cNvPr>
                <p:cNvSpPr/>
                <p:nvPr/>
              </p:nvSpPr>
              <p:spPr>
                <a:xfrm>
                  <a:off x="7659042" y="2071593"/>
                  <a:ext cx="576876" cy="465939"/>
                </a:xfrm>
                <a:custGeom>
                  <a:avLst/>
                  <a:gdLst>
                    <a:gd name="connsiteX0" fmla="*/ -1 w 309562"/>
                    <a:gd name="connsiteY0" fmla="*/ 250031 h 250031"/>
                    <a:gd name="connsiteX1" fmla="*/ 309562 w 309562"/>
                    <a:gd name="connsiteY1" fmla="*/ 0 h 250031"/>
                  </a:gdLst>
                  <a:ahLst/>
                  <a:cxnLst>
                    <a:cxn ang="0">
                      <a:pos x="connsiteX0" y="connsiteY0"/>
                    </a:cxn>
                    <a:cxn ang="0">
                      <a:pos x="connsiteX1" y="connsiteY1"/>
                    </a:cxn>
                  </a:cxnLst>
                  <a:rect l="l" t="t" r="r" b="b"/>
                  <a:pathLst>
                    <a:path w="309562" h="250031">
                      <a:moveTo>
                        <a:pt x="-1" y="250031"/>
                      </a:moveTo>
                      <a:lnTo>
                        <a:pt x="309562" y="0"/>
                      </a:lnTo>
                    </a:path>
                  </a:pathLst>
                </a:custGeom>
                <a:noFill/>
                <a:ln w="28575" cap="flat">
                  <a:solidFill>
                    <a:srgbClr val="FF6C6C"/>
                  </a:solidFill>
                  <a:prstDash val="solid"/>
                  <a:miter/>
                </a:ln>
              </p:spPr>
              <p:txBody>
                <a:bodyPr rtlCol="0" anchor="ctr"/>
                <a:lstStyle/>
                <a:p>
                  <a:endParaRPr lang="en-US"/>
                </a:p>
              </p:txBody>
            </p:sp>
            <p:sp>
              <p:nvSpPr>
                <p:cNvPr id="32" name="Freeform: Shape 97">
                  <a:extLst>
                    <a:ext uri="{FF2B5EF4-FFF2-40B4-BE49-F238E27FC236}">
                      <a16:creationId xmlns:a16="http://schemas.microsoft.com/office/drawing/2014/main" id="{A3217AFD-C699-7FF3-6A08-D05B999D1612}"/>
                    </a:ext>
                  </a:extLst>
                </p:cNvPr>
                <p:cNvSpPr/>
                <p:nvPr/>
              </p:nvSpPr>
              <p:spPr>
                <a:xfrm>
                  <a:off x="6383257" y="1483621"/>
                  <a:ext cx="244062" cy="244062"/>
                </a:xfrm>
                <a:custGeom>
                  <a:avLst/>
                  <a:gdLst>
                    <a:gd name="connsiteX0" fmla="*/ 130968 w 130968"/>
                    <a:gd name="connsiteY0" fmla="*/ 65484 h 130968"/>
                    <a:gd name="connsiteX1" fmla="*/ 65483 w 130968"/>
                    <a:gd name="connsiteY1" fmla="*/ 130969 h 130968"/>
                    <a:gd name="connsiteX2" fmla="*/ -1 w 130968"/>
                    <a:gd name="connsiteY2" fmla="*/ 65484 h 130968"/>
                    <a:gd name="connsiteX3" fmla="*/ 65483 w 130968"/>
                    <a:gd name="connsiteY3" fmla="*/ 0 h 130968"/>
                    <a:gd name="connsiteX4" fmla="*/ 130968 w 130968"/>
                    <a:gd name="connsiteY4" fmla="*/ 65484 h 13096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0968" h="130968">
                      <a:moveTo>
                        <a:pt x="130968" y="65484"/>
                      </a:moveTo>
                      <a:cubicBezTo>
                        <a:pt x="130968" y="101650"/>
                        <a:pt x="101649" y="130969"/>
                        <a:pt x="65483" y="130969"/>
                      </a:cubicBezTo>
                      <a:cubicBezTo>
                        <a:pt x="29317" y="130969"/>
                        <a:pt x="-1" y="101650"/>
                        <a:pt x="-1" y="65484"/>
                      </a:cubicBezTo>
                      <a:cubicBezTo>
                        <a:pt x="-1" y="29318"/>
                        <a:pt x="29317" y="0"/>
                        <a:pt x="65483" y="0"/>
                      </a:cubicBezTo>
                      <a:cubicBezTo>
                        <a:pt x="101649" y="0"/>
                        <a:pt x="130968" y="29318"/>
                        <a:pt x="130968" y="65484"/>
                      </a:cubicBezTo>
                      <a:close/>
                    </a:path>
                  </a:pathLst>
                </a:custGeom>
                <a:solidFill>
                  <a:srgbClr val="FFFFFF"/>
                </a:solidFill>
                <a:ln w="28575" cap="flat">
                  <a:solidFill>
                    <a:srgbClr val="333333"/>
                  </a:solidFill>
                  <a:prstDash val="solid"/>
                  <a:miter/>
                </a:ln>
              </p:spPr>
              <p:txBody>
                <a:bodyPr rtlCol="0" anchor="ctr"/>
                <a:lstStyle/>
                <a:p>
                  <a:endParaRPr lang="en-US"/>
                </a:p>
              </p:txBody>
            </p:sp>
            <p:sp>
              <p:nvSpPr>
                <p:cNvPr id="33" name="Freeform: Shape 98">
                  <a:extLst>
                    <a:ext uri="{FF2B5EF4-FFF2-40B4-BE49-F238E27FC236}">
                      <a16:creationId xmlns:a16="http://schemas.microsoft.com/office/drawing/2014/main" id="{C45334BB-D37B-1A49-B5AE-1D5BEDF9C45A}"/>
                    </a:ext>
                  </a:extLst>
                </p:cNvPr>
                <p:cNvSpPr/>
                <p:nvPr/>
              </p:nvSpPr>
              <p:spPr>
                <a:xfrm>
                  <a:off x="6383257" y="1949560"/>
                  <a:ext cx="244062" cy="244062"/>
                </a:xfrm>
                <a:custGeom>
                  <a:avLst/>
                  <a:gdLst>
                    <a:gd name="connsiteX0" fmla="*/ 130968 w 130968"/>
                    <a:gd name="connsiteY0" fmla="*/ 65484 h 130968"/>
                    <a:gd name="connsiteX1" fmla="*/ 65483 w 130968"/>
                    <a:gd name="connsiteY1" fmla="*/ 130969 h 130968"/>
                    <a:gd name="connsiteX2" fmla="*/ -1 w 130968"/>
                    <a:gd name="connsiteY2" fmla="*/ 65484 h 130968"/>
                    <a:gd name="connsiteX3" fmla="*/ 65483 w 130968"/>
                    <a:gd name="connsiteY3" fmla="*/ 0 h 130968"/>
                    <a:gd name="connsiteX4" fmla="*/ 130968 w 130968"/>
                    <a:gd name="connsiteY4" fmla="*/ 65484 h 13096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0968" h="130968">
                      <a:moveTo>
                        <a:pt x="130968" y="65484"/>
                      </a:moveTo>
                      <a:cubicBezTo>
                        <a:pt x="130968" y="101650"/>
                        <a:pt x="101649" y="130969"/>
                        <a:pt x="65483" y="130969"/>
                      </a:cubicBezTo>
                      <a:cubicBezTo>
                        <a:pt x="29317" y="130969"/>
                        <a:pt x="-1" y="101650"/>
                        <a:pt x="-1" y="65484"/>
                      </a:cubicBezTo>
                      <a:cubicBezTo>
                        <a:pt x="-1" y="29318"/>
                        <a:pt x="29317" y="0"/>
                        <a:pt x="65483" y="0"/>
                      </a:cubicBezTo>
                      <a:cubicBezTo>
                        <a:pt x="101649" y="0"/>
                        <a:pt x="130968" y="29318"/>
                        <a:pt x="130968" y="65484"/>
                      </a:cubicBezTo>
                      <a:close/>
                    </a:path>
                  </a:pathLst>
                </a:custGeom>
                <a:solidFill>
                  <a:srgbClr val="FFFFFF"/>
                </a:solidFill>
                <a:ln w="28575" cap="flat">
                  <a:solidFill>
                    <a:srgbClr val="333333"/>
                  </a:solidFill>
                  <a:prstDash val="solid"/>
                  <a:miter/>
                </a:ln>
              </p:spPr>
              <p:txBody>
                <a:bodyPr rtlCol="0" anchor="ctr"/>
                <a:lstStyle/>
                <a:p>
                  <a:endParaRPr lang="en-US"/>
                </a:p>
              </p:txBody>
            </p:sp>
            <p:sp>
              <p:nvSpPr>
                <p:cNvPr id="34" name="Freeform: Shape 99">
                  <a:extLst>
                    <a:ext uri="{FF2B5EF4-FFF2-40B4-BE49-F238E27FC236}">
                      <a16:creationId xmlns:a16="http://schemas.microsoft.com/office/drawing/2014/main" id="{221A8572-309B-07C0-AA5B-0B046015C1B8}"/>
                    </a:ext>
                  </a:extLst>
                </p:cNvPr>
                <p:cNvSpPr/>
                <p:nvPr/>
              </p:nvSpPr>
              <p:spPr>
                <a:xfrm>
                  <a:off x="6383257" y="2415501"/>
                  <a:ext cx="244062" cy="244062"/>
                </a:xfrm>
                <a:custGeom>
                  <a:avLst/>
                  <a:gdLst>
                    <a:gd name="connsiteX0" fmla="*/ 130968 w 130968"/>
                    <a:gd name="connsiteY0" fmla="*/ 65484 h 130968"/>
                    <a:gd name="connsiteX1" fmla="*/ 65483 w 130968"/>
                    <a:gd name="connsiteY1" fmla="*/ 130969 h 130968"/>
                    <a:gd name="connsiteX2" fmla="*/ -1 w 130968"/>
                    <a:gd name="connsiteY2" fmla="*/ 65484 h 130968"/>
                    <a:gd name="connsiteX3" fmla="*/ 65483 w 130968"/>
                    <a:gd name="connsiteY3" fmla="*/ 0 h 130968"/>
                    <a:gd name="connsiteX4" fmla="*/ 130968 w 130968"/>
                    <a:gd name="connsiteY4" fmla="*/ 65484 h 13096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0968" h="130968">
                      <a:moveTo>
                        <a:pt x="130968" y="65484"/>
                      </a:moveTo>
                      <a:cubicBezTo>
                        <a:pt x="130968" y="101650"/>
                        <a:pt x="101649" y="130969"/>
                        <a:pt x="65483" y="130969"/>
                      </a:cubicBezTo>
                      <a:cubicBezTo>
                        <a:pt x="29317" y="130969"/>
                        <a:pt x="-1" y="101650"/>
                        <a:pt x="-1" y="65484"/>
                      </a:cubicBezTo>
                      <a:cubicBezTo>
                        <a:pt x="-1" y="29318"/>
                        <a:pt x="29317" y="0"/>
                        <a:pt x="65483" y="0"/>
                      </a:cubicBezTo>
                      <a:cubicBezTo>
                        <a:pt x="101649" y="0"/>
                        <a:pt x="130968" y="29318"/>
                        <a:pt x="130968" y="65484"/>
                      </a:cubicBezTo>
                      <a:close/>
                    </a:path>
                  </a:pathLst>
                </a:custGeom>
                <a:solidFill>
                  <a:srgbClr val="FFFFFF"/>
                </a:solidFill>
                <a:ln w="28575" cap="flat">
                  <a:solidFill>
                    <a:srgbClr val="333333"/>
                  </a:solidFill>
                  <a:prstDash val="solid"/>
                  <a:miter/>
                </a:ln>
              </p:spPr>
              <p:txBody>
                <a:bodyPr rtlCol="0" anchor="ctr"/>
                <a:lstStyle/>
                <a:p>
                  <a:endParaRPr lang="en-US"/>
                </a:p>
              </p:txBody>
            </p:sp>
            <p:sp>
              <p:nvSpPr>
                <p:cNvPr id="35" name="Freeform: Shape 100">
                  <a:extLst>
                    <a:ext uri="{FF2B5EF4-FFF2-40B4-BE49-F238E27FC236}">
                      <a16:creationId xmlns:a16="http://schemas.microsoft.com/office/drawing/2014/main" id="{14A02D69-991F-D287-5F23-F3699EDAD536}"/>
                    </a:ext>
                  </a:extLst>
                </p:cNvPr>
                <p:cNvSpPr/>
                <p:nvPr/>
              </p:nvSpPr>
              <p:spPr>
                <a:xfrm>
                  <a:off x="6960135" y="1250651"/>
                  <a:ext cx="244062" cy="244062"/>
                </a:xfrm>
                <a:custGeom>
                  <a:avLst/>
                  <a:gdLst>
                    <a:gd name="connsiteX0" fmla="*/ 130968 w 130968"/>
                    <a:gd name="connsiteY0" fmla="*/ 65484 h 130968"/>
                    <a:gd name="connsiteX1" fmla="*/ 65483 w 130968"/>
                    <a:gd name="connsiteY1" fmla="*/ 130969 h 130968"/>
                    <a:gd name="connsiteX2" fmla="*/ -1 w 130968"/>
                    <a:gd name="connsiteY2" fmla="*/ 65484 h 130968"/>
                    <a:gd name="connsiteX3" fmla="*/ 65483 w 130968"/>
                    <a:gd name="connsiteY3" fmla="*/ 0 h 130968"/>
                    <a:gd name="connsiteX4" fmla="*/ 130968 w 130968"/>
                    <a:gd name="connsiteY4" fmla="*/ 65484 h 13096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0968" h="130968">
                      <a:moveTo>
                        <a:pt x="130968" y="65484"/>
                      </a:moveTo>
                      <a:cubicBezTo>
                        <a:pt x="130968" y="101650"/>
                        <a:pt x="101649" y="130969"/>
                        <a:pt x="65483" y="130969"/>
                      </a:cubicBezTo>
                      <a:cubicBezTo>
                        <a:pt x="29317" y="130969"/>
                        <a:pt x="-1" y="101650"/>
                        <a:pt x="-1" y="65484"/>
                      </a:cubicBezTo>
                      <a:cubicBezTo>
                        <a:pt x="-1" y="29318"/>
                        <a:pt x="29317" y="0"/>
                        <a:pt x="65483" y="0"/>
                      </a:cubicBezTo>
                      <a:cubicBezTo>
                        <a:pt x="101649" y="0"/>
                        <a:pt x="130968" y="29318"/>
                        <a:pt x="130968" y="65484"/>
                      </a:cubicBezTo>
                      <a:close/>
                    </a:path>
                  </a:pathLst>
                </a:custGeom>
                <a:solidFill>
                  <a:srgbClr val="FFFFFF"/>
                </a:solidFill>
                <a:ln w="28575" cap="flat">
                  <a:solidFill>
                    <a:srgbClr val="333333"/>
                  </a:solidFill>
                  <a:prstDash val="solid"/>
                  <a:miter/>
                </a:ln>
              </p:spPr>
              <p:txBody>
                <a:bodyPr rtlCol="0" anchor="ctr"/>
                <a:lstStyle/>
                <a:p>
                  <a:endParaRPr lang="en-US"/>
                </a:p>
              </p:txBody>
            </p:sp>
            <p:sp>
              <p:nvSpPr>
                <p:cNvPr id="36" name="Freeform: Shape 101">
                  <a:extLst>
                    <a:ext uri="{FF2B5EF4-FFF2-40B4-BE49-F238E27FC236}">
                      <a16:creationId xmlns:a16="http://schemas.microsoft.com/office/drawing/2014/main" id="{97A3D7CD-D853-07FF-53AF-FF90A25A531C}"/>
                    </a:ext>
                  </a:extLst>
                </p:cNvPr>
                <p:cNvSpPr/>
                <p:nvPr/>
              </p:nvSpPr>
              <p:spPr>
                <a:xfrm>
                  <a:off x="6960135" y="1716592"/>
                  <a:ext cx="244062" cy="244062"/>
                </a:xfrm>
                <a:custGeom>
                  <a:avLst/>
                  <a:gdLst>
                    <a:gd name="connsiteX0" fmla="*/ 130968 w 130968"/>
                    <a:gd name="connsiteY0" fmla="*/ 65484 h 130968"/>
                    <a:gd name="connsiteX1" fmla="*/ 65483 w 130968"/>
                    <a:gd name="connsiteY1" fmla="*/ 130969 h 130968"/>
                    <a:gd name="connsiteX2" fmla="*/ -1 w 130968"/>
                    <a:gd name="connsiteY2" fmla="*/ 65484 h 130968"/>
                    <a:gd name="connsiteX3" fmla="*/ 65483 w 130968"/>
                    <a:gd name="connsiteY3" fmla="*/ 0 h 130968"/>
                    <a:gd name="connsiteX4" fmla="*/ 130968 w 130968"/>
                    <a:gd name="connsiteY4" fmla="*/ 65484 h 13096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0968" h="130968">
                      <a:moveTo>
                        <a:pt x="130968" y="65484"/>
                      </a:moveTo>
                      <a:cubicBezTo>
                        <a:pt x="130968" y="101650"/>
                        <a:pt x="101649" y="130969"/>
                        <a:pt x="65483" y="130969"/>
                      </a:cubicBezTo>
                      <a:cubicBezTo>
                        <a:pt x="29317" y="130969"/>
                        <a:pt x="-1" y="101650"/>
                        <a:pt x="-1" y="65484"/>
                      </a:cubicBezTo>
                      <a:cubicBezTo>
                        <a:pt x="-1" y="29318"/>
                        <a:pt x="29317" y="0"/>
                        <a:pt x="65483" y="0"/>
                      </a:cubicBezTo>
                      <a:cubicBezTo>
                        <a:pt x="101649" y="0"/>
                        <a:pt x="130968" y="29318"/>
                        <a:pt x="130968" y="65484"/>
                      </a:cubicBezTo>
                      <a:close/>
                    </a:path>
                  </a:pathLst>
                </a:custGeom>
                <a:solidFill>
                  <a:srgbClr val="FFFFFF"/>
                </a:solidFill>
                <a:ln w="28575" cap="flat">
                  <a:solidFill>
                    <a:srgbClr val="333333"/>
                  </a:solidFill>
                  <a:prstDash val="solid"/>
                  <a:miter/>
                </a:ln>
              </p:spPr>
              <p:txBody>
                <a:bodyPr rtlCol="0" anchor="ctr"/>
                <a:lstStyle/>
                <a:p>
                  <a:endParaRPr lang="en-US"/>
                </a:p>
              </p:txBody>
            </p:sp>
            <p:sp>
              <p:nvSpPr>
                <p:cNvPr id="37" name="Freeform: Shape 102">
                  <a:extLst>
                    <a:ext uri="{FF2B5EF4-FFF2-40B4-BE49-F238E27FC236}">
                      <a16:creationId xmlns:a16="http://schemas.microsoft.com/office/drawing/2014/main" id="{1E487BDB-6F27-B2DC-FC51-7AD0AC3BF01A}"/>
                    </a:ext>
                  </a:extLst>
                </p:cNvPr>
                <p:cNvSpPr/>
                <p:nvPr/>
              </p:nvSpPr>
              <p:spPr>
                <a:xfrm>
                  <a:off x="6960135" y="2182530"/>
                  <a:ext cx="244062" cy="244062"/>
                </a:xfrm>
                <a:custGeom>
                  <a:avLst/>
                  <a:gdLst>
                    <a:gd name="connsiteX0" fmla="*/ 130968 w 130968"/>
                    <a:gd name="connsiteY0" fmla="*/ 65484 h 130968"/>
                    <a:gd name="connsiteX1" fmla="*/ 65483 w 130968"/>
                    <a:gd name="connsiteY1" fmla="*/ 130969 h 130968"/>
                    <a:gd name="connsiteX2" fmla="*/ -1 w 130968"/>
                    <a:gd name="connsiteY2" fmla="*/ 65484 h 130968"/>
                    <a:gd name="connsiteX3" fmla="*/ 65483 w 130968"/>
                    <a:gd name="connsiteY3" fmla="*/ 0 h 130968"/>
                    <a:gd name="connsiteX4" fmla="*/ 130968 w 130968"/>
                    <a:gd name="connsiteY4" fmla="*/ 65484 h 13096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0968" h="130968">
                      <a:moveTo>
                        <a:pt x="130968" y="65484"/>
                      </a:moveTo>
                      <a:cubicBezTo>
                        <a:pt x="130968" y="101650"/>
                        <a:pt x="101649" y="130969"/>
                        <a:pt x="65483" y="130969"/>
                      </a:cubicBezTo>
                      <a:cubicBezTo>
                        <a:pt x="29317" y="130969"/>
                        <a:pt x="-1" y="101650"/>
                        <a:pt x="-1" y="65484"/>
                      </a:cubicBezTo>
                      <a:cubicBezTo>
                        <a:pt x="-1" y="29318"/>
                        <a:pt x="29317" y="0"/>
                        <a:pt x="65483" y="0"/>
                      </a:cubicBezTo>
                      <a:cubicBezTo>
                        <a:pt x="101649" y="0"/>
                        <a:pt x="130968" y="29318"/>
                        <a:pt x="130968" y="65484"/>
                      </a:cubicBezTo>
                      <a:close/>
                    </a:path>
                  </a:pathLst>
                </a:custGeom>
                <a:solidFill>
                  <a:srgbClr val="FFFFFF"/>
                </a:solidFill>
                <a:ln w="28575" cap="flat">
                  <a:solidFill>
                    <a:srgbClr val="333333"/>
                  </a:solidFill>
                  <a:prstDash val="solid"/>
                  <a:miter/>
                </a:ln>
              </p:spPr>
              <p:txBody>
                <a:bodyPr rtlCol="0" anchor="ctr"/>
                <a:lstStyle/>
                <a:p>
                  <a:endParaRPr lang="en-US"/>
                </a:p>
              </p:txBody>
            </p:sp>
            <p:sp>
              <p:nvSpPr>
                <p:cNvPr id="38" name="Freeform: Shape 103">
                  <a:extLst>
                    <a:ext uri="{FF2B5EF4-FFF2-40B4-BE49-F238E27FC236}">
                      <a16:creationId xmlns:a16="http://schemas.microsoft.com/office/drawing/2014/main" id="{CFBF7995-53A0-FEA9-6D88-7FFC244FC023}"/>
                    </a:ext>
                  </a:extLst>
                </p:cNvPr>
                <p:cNvSpPr/>
                <p:nvPr/>
              </p:nvSpPr>
              <p:spPr>
                <a:xfrm>
                  <a:off x="6960135" y="2648469"/>
                  <a:ext cx="244062" cy="244062"/>
                </a:xfrm>
                <a:custGeom>
                  <a:avLst/>
                  <a:gdLst>
                    <a:gd name="connsiteX0" fmla="*/ 130968 w 130968"/>
                    <a:gd name="connsiteY0" fmla="*/ 65484 h 130968"/>
                    <a:gd name="connsiteX1" fmla="*/ 65483 w 130968"/>
                    <a:gd name="connsiteY1" fmla="*/ 130969 h 130968"/>
                    <a:gd name="connsiteX2" fmla="*/ -1 w 130968"/>
                    <a:gd name="connsiteY2" fmla="*/ 65484 h 130968"/>
                    <a:gd name="connsiteX3" fmla="*/ 65483 w 130968"/>
                    <a:gd name="connsiteY3" fmla="*/ 0 h 130968"/>
                    <a:gd name="connsiteX4" fmla="*/ 130968 w 130968"/>
                    <a:gd name="connsiteY4" fmla="*/ 65484 h 13096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0968" h="130968">
                      <a:moveTo>
                        <a:pt x="130968" y="65484"/>
                      </a:moveTo>
                      <a:cubicBezTo>
                        <a:pt x="130968" y="101650"/>
                        <a:pt x="101649" y="130969"/>
                        <a:pt x="65483" y="130969"/>
                      </a:cubicBezTo>
                      <a:cubicBezTo>
                        <a:pt x="29317" y="130969"/>
                        <a:pt x="-1" y="101650"/>
                        <a:pt x="-1" y="65484"/>
                      </a:cubicBezTo>
                      <a:cubicBezTo>
                        <a:pt x="-1" y="29318"/>
                        <a:pt x="29317" y="0"/>
                        <a:pt x="65483" y="0"/>
                      </a:cubicBezTo>
                      <a:cubicBezTo>
                        <a:pt x="101649" y="0"/>
                        <a:pt x="130968" y="29318"/>
                        <a:pt x="130968" y="65484"/>
                      </a:cubicBezTo>
                      <a:close/>
                    </a:path>
                  </a:pathLst>
                </a:custGeom>
                <a:solidFill>
                  <a:srgbClr val="FFFFFF"/>
                </a:solidFill>
                <a:ln w="28575" cap="flat">
                  <a:solidFill>
                    <a:srgbClr val="333333"/>
                  </a:solidFill>
                  <a:prstDash val="solid"/>
                  <a:miter/>
                </a:ln>
              </p:spPr>
              <p:txBody>
                <a:bodyPr rtlCol="0" anchor="ctr"/>
                <a:lstStyle/>
                <a:p>
                  <a:endParaRPr lang="en-US"/>
                </a:p>
              </p:txBody>
            </p:sp>
            <p:sp>
              <p:nvSpPr>
                <p:cNvPr id="39" name="Freeform: Shape 104">
                  <a:extLst>
                    <a:ext uri="{FF2B5EF4-FFF2-40B4-BE49-F238E27FC236}">
                      <a16:creationId xmlns:a16="http://schemas.microsoft.com/office/drawing/2014/main" id="{0B3D13C6-A25B-ACBC-6BF7-CE4105AFDC4C}"/>
                    </a:ext>
                  </a:extLst>
                </p:cNvPr>
                <p:cNvSpPr/>
                <p:nvPr/>
              </p:nvSpPr>
              <p:spPr>
                <a:xfrm>
                  <a:off x="7537011" y="1483621"/>
                  <a:ext cx="244062" cy="244062"/>
                </a:xfrm>
                <a:custGeom>
                  <a:avLst/>
                  <a:gdLst>
                    <a:gd name="connsiteX0" fmla="*/ 130968 w 130968"/>
                    <a:gd name="connsiteY0" fmla="*/ 65484 h 130968"/>
                    <a:gd name="connsiteX1" fmla="*/ 65483 w 130968"/>
                    <a:gd name="connsiteY1" fmla="*/ 130969 h 130968"/>
                    <a:gd name="connsiteX2" fmla="*/ -1 w 130968"/>
                    <a:gd name="connsiteY2" fmla="*/ 65484 h 130968"/>
                    <a:gd name="connsiteX3" fmla="*/ 65483 w 130968"/>
                    <a:gd name="connsiteY3" fmla="*/ 0 h 130968"/>
                    <a:gd name="connsiteX4" fmla="*/ 130968 w 130968"/>
                    <a:gd name="connsiteY4" fmla="*/ 65484 h 13096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0968" h="130968">
                      <a:moveTo>
                        <a:pt x="130968" y="65484"/>
                      </a:moveTo>
                      <a:cubicBezTo>
                        <a:pt x="130968" y="101650"/>
                        <a:pt x="101649" y="130969"/>
                        <a:pt x="65483" y="130969"/>
                      </a:cubicBezTo>
                      <a:cubicBezTo>
                        <a:pt x="29317" y="130969"/>
                        <a:pt x="-1" y="101650"/>
                        <a:pt x="-1" y="65484"/>
                      </a:cubicBezTo>
                      <a:cubicBezTo>
                        <a:pt x="-1" y="29318"/>
                        <a:pt x="29317" y="0"/>
                        <a:pt x="65483" y="0"/>
                      </a:cubicBezTo>
                      <a:cubicBezTo>
                        <a:pt x="101649" y="0"/>
                        <a:pt x="130968" y="29318"/>
                        <a:pt x="130968" y="65484"/>
                      </a:cubicBezTo>
                      <a:close/>
                    </a:path>
                  </a:pathLst>
                </a:custGeom>
                <a:solidFill>
                  <a:srgbClr val="FFFFFF"/>
                </a:solidFill>
                <a:ln w="28575" cap="flat">
                  <a:solidFill>
                    <a:srgbClr val="333333"/>
                  </a:solidFill>
                  <a:prstDash val="solid"/>
                  <a:miter/>
                </a:ln>
              </p:spPr>
              <p:txBody>
                <a:bodyPr rtlCol="0" anchor="ctr"/>
                <a:lstStyle/>
                <a:p>
                  <a:endParaRPr lang="en-US"/>
                </a:p>
              </p:txBody>
            </p:sp>
            <p:sp>
              <p:nvSpPr>
                <p:cNvPr id="40" name="Freeform: Shape 105">
                  <a:extLst>
                    <a:ext uri="{FF2B5EF4-FFF2-40B4-BE49-F238E27FC236}">
                      <a16:creationId xmlns:a16="http://schemas.microsoft.com/office/drawing/2014/main" id="{A3AC57CD-9B47-9DDE-3A81-EFA368B9D7CB}"/>
                    </a:ext>
                  </a:extLst>
                </p:cNvPr>
                <p:cNvSpPr/>
                <p:nvPr/>
              </p:nvSpPr>
              <p:spPr>
                <a:xfrm>
                  <a:off x="7537011" y="1949560"/>
                  <a:ext cx="244062" cy="244062"/>
                </a:xfrm>
                <a:custGeom>
                  <a:avLst/>
                  <a:gdLst>
                    <a:gd name="connsiteX0" fmla="*/ 130968 w 130968"/>
                    <a:gd name="connsiteY0" fmla="*/ 65484 h 130968"/>
                    <a:gd name="connsiteX1" fmla="*/ 65483 w 130968"/>
                    <a:gd name="connsiteY1" fmla="*/ 130969 h 130968"/>
                    <a:gd name="connsiteX2" fmla="*/ -1 w 130968"/>
                    <a:gd name="connsiteY2" fmla="*/ 65484 h 130968"/>
                    <a:gd name="connsiteX3" fmla="*/ 65483 w 130968"/>
                    <a:gd name="connsiteY3" fmla="*/ 0 h 130968"/>
                    <a:gd name="connsiteX4" fmla="*/ 130968 w 130968"/>
                    <a:gd name="connsiteY4" fmla="*/ 65484 h 13096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0968" h="130968">
                      <a:moveTo>
                        <a:pt x="130968" y="65484"/>
                      </a:moveTo>
                      <a:cubicBezTo>
                        <a:pt x="130968" y="101650"/>
                        <a:pt x="101649" y="130969"/>
                        <a:pt x="65483" y="130969"/>
                      </a:cubicBezTo>
                      <a:cubicBezTo>
                        <a:pt x="29317" y="130969"/>
                        <a:pt x="-1" y="101650"/>
                        <a:pt x="-1" y="65484"/>
                      </a:cubicBezTo>
                      <a:cubicBezTo>
                        <a:pt x="-1" y="29318"/>
                        <a:pt x="29317" y="0"/>
                        <a:pt x="65483" y="0"/>
                      </a:cubicBezTo>
                      <a:cubicBezTo>
                        <a:pt x="101649" y="0"/>
                        <a:pt x="130968" y="29318"/>
                        <a:pt x="130968" y="65484"/>
                      </a:cubicBezTo>
                      <a:close/>
                    </a:path>
                  </a:pathLst>
                </a:custGeom>
                <a:solidFill>
                  <a:srgbClr val="FFFFFF"/>
                </a:solidFill>
                <a:ln w="28575" cap="flat">
                  <a:solidFill>
                    <a:srgbClr val="333333"/>
                  </a:solidFill>
                  <a:prstDash val="solid"/>
                  <a:miter/>
                </a:ln>
              </p:spPr>
              <p:txBody>
                <a:bodyPr rtlCol="0" anchor="ctr"/>
                <a:lstStyle/>
                <a:p>
                  <a:endParaRPr lang="en-US"/>
                </a:p>
              </p:txBody>
            </p:sp>
            <p:sp>
              <p:nvSpPr>
                <p:cNvPr id="41" name="Freeform: Shape 106">
                  <a:extLst>
                    <a:ext uri="{FF2B5EF4-FFF2-40B4-BE49-F238E27FC236}">
                      <a16:creationId xmlns:a16="http://schemas.microsoft.com/office/drawing/2014/main" id="{CCEA0478-E571-D099-1846-832E4645D333}"/>
                    </a:ext>
                  </a:extLst>
                </p:cNvPr>
                <p:cNvSpPr/>
                <p:nvPr/>
              </p:nvSpPr>
              <p:spPr>
                <a:xfrm>
                  <a:off x="7537011" y="2415501"/>
                  <a:ext cx="244062" cy="244062"/>
                </a:xfrm>
                <a:custGeom>
                  <a:avLst/>
                  <a:gdLst>
                    <a:gd name="connsiteX0" fmla="*/ 130968 w 130968"/>
                    <a:gd name="connsiteY0" fmla="*/ 65484 h 130968"/>
                    <a:gd name="connsiteX1" fmla="*/ 65483 w 130968"/>
                    <a:gd name="connsiteY1" fmla="*/ 130969 h 130968"/>
                    <a:gd name="connsiteX2" fmla="*/ -1 w 130968"/>
                    <a:gd name="connsiteY2" fmla="*/ 65484 h 130968"/>
                    <a:gd name="connsiteX3" fmla="*/ 65483 w 130968"/>
                    <a:gd name="connsiteY3" fmla="*/ 0 h 130968"/>
                    <a:gd name="connsiteX4" fmla="*/ 130968 w 130968"/>
                    <a:gd name="connsiteY4" fmla="*/ 65484 h 13096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0968" h="130968">
                      <a:moveTo>
                        <a:pt x="130968" y="65484"/>
                      </a:moveTo>
                      <a:cubicBezTo>
                        <a:pt x="130968" y="101650"/>
                        <a:pt x="101649" y="130969"/>
                        <a:pt x="65483" y="130969"/>
                      </a:cubicBezTo>
                      <a:cubicBezTo>
                        <a:pt x="29317" y="130969"/>
                        <a:pt x="-1" y="101650"/>
                        <a:pt x="-1" y="65484"/>
                      </a:cubicBezTo>
                      <a:cubicBezTo>
                        <a:pt x="-1" y="29318"/>
                        <a:pt x="29317" y="0"/>
                        <a:pt x="65483" y="0"/>
                      </a:cubicBezTo>
                      <a:cubicBezTo>
                        <a:pt x="101649" y="0"/>
                        <a:pt x="130968" y="29318"/>
                        <a:pt x="130968" y="65484"/>
                      </a:cubicBezTo>
                      <a:close/>
                    </a:path>
                  </a:pathLst>
                </a:custGeom>
                <a:solidFill>
                  <a:srgbClr val="FFFFFF"/>
                </a:solidFill>
                <a:ln w="28575" cap="flat">
                  <a:solidFill>
                    <a:srgbClr val="333333"/>
                  </a:solidFill>
                  <a:prstDash val="solid"/>
                  <a:miter/>
                </a:ln>
              </p:spPr>
              <p:txBody>
                <a:bodyPr rtlCol="0" anchor="ctr"/>
                <a:lstStyle/>
                <a:p>
                  <a:endParaRPr lang="en-US"/>
                </a:p>
              </p:txBody>
            </p:sp>
            <p:sp>
              <p:nvSpPr>
                <p:cNvPr id="42" name="Freeform: Shape 107">
                  <a:extLst>
                    <a:ext uri="{FF2B5EF4-FFF2-40B4-BE49-F238E27FC236}">
                      <a16:creationId xmlns:a16="http://schemas.microsoft.com/office/drawing/2014/main" id="{6F24D1ED-4FC5-9688-20A9-C17FE550F2F1}"/>
                    </a:ext>
                  </a:extLst>
                </p:cNvPr>
                <p:cNvSpPr/>
                <p:nvPr/>
              </p:nvSpPr>
              <p:spPr>
                <a:xfrm>
                  <a:off x="8113889" y="1949560"/>
                  <a:ext cx="244062" cy="244062"/>
                </a:xfrm>
                <a:custGeom>
                  <a:avLst/>
                  <a:gdLst>
                    <a:gd name="connsiteX0" fmla="*/ 130968 w 130968"/>
                    <a:gd name="connsiteY0" fmla="*/ 65484 h 130968"/>
                    <a:gd name="connsiteX1" fmla="*/ 65483 w 130968"/>
                    <a:gd name="connsiteY1" fmla="*/ 130969 h 130968"/>
                    <a:gd name="connsiteX2" fmla="*/ -1 w 130968"/>
                    <a:gd name="connsiteY2" fmla="*/ 65484 h 130968"/>
                    <a:gd name="connsiteX3" fmla="*/ 65483 w 130968"/>
                    <a:gd name="connsiteY3" fmla="*/ 0 h 130968"/>
                    <a:gd name="connsiteX4" fmla="*/ 130968 w 130968"/>
                    <a:gd name="connsiteY4" fmla="*/ 65484 h 13096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0968" h="130968">
                      <a:moveTo>
                        <a:pt x="130968" y="65484"/>
                      </a:moveTo>
                      <a:cubicBezTo>
                        <a:pt x="130968" y="101650"/>
                        <a:pt x="101649" y="130969"/>
                        <a:pt x="65483" y="130969"/>
                      </a:cubicBezTo>
                      <a:cubicBezTo>
                        <a:pt x="29317" y="130969"/>
                        <a:pt x="-1" y="101650"/>
                        <a:pt x="-1" y="65484"/>
                      </a:cubicBezTo>
                      <a:cubicBezTo>
                        <a:pt x="-1" y="29318"/>
                        <a:pt x="29317" y="0"/>
                        <a:pt x="65483" y="0"/>
                      </a:cubicBezTo>
                      <a:cubicBezTo>
                        <a:pt x="101649" y="0"/>
                        <a:pt x="130968" y="29318"/>
                        <a:pt x="130968" y="65484"/>
                      </a:cubicBezTo>
                      <a:close/>
                    </a:path>
                  </a:pathLst>
                </a:custGeom>
                <a:solidFill>
                  <a:srgbClr val="FFFFFF"/>
                </a:solidFill>
                <a:ln w="28575" cap="flat">
                  <a:solidFill>
                    <a:srgbClr val="333333"/>
                  </a:solidFill>
                  <a:prstDash val="solid"/>
                  <a:miter/>
                </a:ln>
              </p:spPr>
              <p:txBody>
                <a:bodyPr rtlCol="0" anchor="ctr"/>
                <a:lstStyle/>
                <a:p>
                  <a:endParaRPr lang="en-US"/>
                </a:p>
              </p:txBody>
            </p:sp>
          </p:grpSp>
        </p:grpSp>
        <p:sp>
          <p:nvSpPr>
            <p:cNvPr id="49" name="Right Arrow 48">
              <a:extLst>
                <a:ext uri="{FF2B5EF4-FFF2-40B4-BE49-F238E27FC236}">
                  <a16:creationId xmlns:a16="http://schemas.microsoft.com/office/drawing/2014/main" id="{38338C55-6D40-0025-82D6-997760DAC2EB}"/>
                </a:ext>
              </a:extLst>
            </p:cNvPr>
            <p:cNvSpPr/>
            <p:nvPr/>
          </p:nvSpPr>
          <p:spPr>
            <a:xfrm>
              <a:off x="7602604" y="3731668"/>
              <a:ext cx="360000" cy="408212"/>
            </a:xfrm>
            <a:prstGeom prst="rightArrow">
              <a:avLst/>
            </a:prstGeom>
            <a:solidFill>
              <a:schemeClr val="accent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BE"/>
            </a:p>
          </p:txBody>
        </p:sp>
        <p:sp>
          <p:nvSpPr>
            <p:cNvPr id="51" name="Right Arrow 50">
              <a:extLst>
                <a:ext uri="{FF2B5EF4-FFF2-40B4-BE49-F238E27FC236}">
                  <a16:creationId xmlns:a16="http://schemas.microsoft.com/office/drawing/2014/main" id="{63126C26-BF99-A6F2-0E27-D39928146640}"/>
                </a:ext>
              </a:extLst>
            </p:cNvPr>
            <p:cNvSpPr/>
            <p:nvPr/>
          </p:nvSpPr>
          <p:spPr>
            <a:xfrm>
              <a:off x="9423912" y="3731668"/>
              <a:ext cx="360000" cy="408212"/>
            </a:xfrm>
            <a:prstGeom prst="rightArrow">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BE"/>
            </a:p>
          </p:txBody>
        </p:sp>
      </p:grpSp>
      <p:sp>
        <p:nvSpPr>
          <p:cNvPr id="52" name="TextBox 51">
            <a:extLst>
              <a:ext uri="{FF2B5EF4-FFF2-40B4-BE49-F238E27FC236}">
                <a16:creationId xmlns:a16="http://schemas.microsoft.com/office/drawing/2014/main" id="{F444DFAC-3858-7403-0BAC-45FB8573E477}"/>
              </a:ext>
            </a:extLst>
          </p:cNvPr>
          <p:cNvSpPr txBox="1"/>
          <p:nvPr/>
        </p:nvSpPr>
        <p:spPr>
          <a:xfrm>
            <a:off x="6789075" y="3228737"/>
            <a:ext cx="974947" cy="1569660"/>
          </a:xfrm>
          <a:prstGeom prst="rect">
            <a:avLst/>
          </a:prstGeom>
          <a:solidFill>
            <a:schemeClr val="bg1"/>
          </a:solidFill>
        </p:spPr>
        <p:txBody>
          <a:bodyPr wrap="none" rtlCol="0">
            <a:spAutoFit/>
          </a:bodyPr>
          <a:lstStyle/>
          <a:p>
            <a:r>
              <a:rPr lang="en-BE" dirty="0">
                <a:latin typeface="+mn-lt"/>
              </a:rPr>
              <a:t>- outdoor T</a:t>
            </a:r>
          </a:p>
          <a:p>
            <a:r>
              <a:rPr lang="en-BE" dirty="0">
                <a:latin typeface="+mn-lt"/>
              </a:rPr>
              <a:t>- indoor T</a:t>
            </a:r>
          </a:p>
          <a:p>
            <a:r>
              <a:rPr lang="en-BE" dirty="0">
                <a:latin typeface="+mn-lt"/>
              </a:rPr>
              <a:t>- time</a:t>
            </a:r>
          </a:p>
          <a:p>
            <a:r>
              <a:rPr lang="en-BE" dirty="0">
                <a:latin typeface="+mn-lt"/>
              </a:rPr>
              <a:t>- load</a:t>
            </a:r>
          </a:p>
          <a:p>
            <a:r>
              <a:rPr lang="en-BE" dirty="0">
                <a:latin typeface="+mn-lt"/>
              </a:rPr>
              <a:t>- PV power</a:t>
            </a:r>
          </a:p>
          <a:p>
            <a:r>
              <a:rPr lang="en-BE" dirty="0">
                <a:latin typeface="+mn-lt"/>
              </a:rPr>
              <a:t>- . . .</a:t>
            </a:r>
          </a:p>
        </p:txBody>
      </p:sp>
      <p:sp>
        <p:nvSpPr>
          <p:cNvPr id="55" name="TextBox 54">
            <a:extLst>
              <a:ext uri="{FF2B5EF4-FFF2-40B4-BE49-F238E27FC236}">
                <a16:creationId xmlns:a16="http://schemas.microsoft.com/office/drawing/2014/main" id="{39F27AA1-58F5-0465-A1DE-0B7DA2EB75D0}"/>
              </a:ext>
            </a:extLst>
          </p:cNvPr>
          <p:cNvSpPr txBox="1"/>
          <p:nvPr/>
        </p:nvSpPr>
        <p:spPr>
          <a:xfrm>
            <a:off x="6789075" y="2892527"/>
            <a:ext cx="663964" cy="400110"/>
          </a:xfrm>
          <a:prstGeom prst="rect">
            <a:avLst/>
          </a:prstGeom>
          <a:noFill/>
        </p:spPr>
        <p:txBody>
          <a:bodyPr wrap="none" rtlCol="0">
            <a:spAutoFit/>
          </a:bodyPr>
          <a:lstStyle/>
          <a:p>
            <a:r>
              <a:rPr lang="en-BE" sz="2000" b="1" dirty="0">
                <a:solidFill>
                  <a:schemeClr val="accent3"/>
                </a:solidFill>
                <a:latin typeface="+mn-lt"/>
              </a:rPr>
              <a:t>state</a:t>
            </a:r>
          </a:p>
        </p:txBody>
      </p:sp>
      <p:sp>
        <p:nvSpPr>
          <p:cNvPr id="56" name="TextBox 55">
            <a:extLst>
              <a:ext uri="{FF2B5EF4-FFF2-40B4-BE49-F238E27FC236}">
                <a16:creationId xmlns:a16="http://schemas.microsoft.com/office/drawing/2014/main" id="{404EDAC9-B69F-A6F4-7BBA-02456EDEEFB7}"/>
              </a:ext>
            </a:extLst>
          </p:cNvPr>
          <p:cNvSpPr txBox="1"/>
          <p:nvPr/>
        </p:nvSpPr>
        <p:spPr>
          <a:xfrm>
            <a:off x="9999227" y="2892527"/>
            <a:ext cx="764953" cy="400110"/>
          </a:xfrm>
          <a:prstGeom prst="rect">
            <a:avLst/>
          </a:prstGeom>
          <a:solidFill>
            <a:schemeClr val="bg1"/>
          </a:solidFill>
        </p:spPr>
        <p:txBody>
          <a:bodyPr wrap="none" rtlCol="0">
            <a:spAutoFit/>
          </a:bodyPr>
          <a:lstStyle/>
          <a:p>
            <a:r>
              <a:rPr lang="en-BE" sz="2000" b="1" dirty="0">
                <a:solidFill>
                  <a:schemeClr val="accent2"/>
                </a:solidFill>
                <a:latin typeface="+mn-lt"/>
              </a:rPr>
              <a:t>action</a:t>
            </a:r>
          </a:p>
        </p:txBody>
      </p:sp>
      <p:sp>
        <p:nvSpPr>
          <p:cNvPr id="57" name="TextBox 56">
            <a:extLst>
              <a:ext uri="{FF2B5EF4-FFF2-40B4-BE49-F238E27FC236}">
                <a16:creationId xmlns:a16="http://schemas.microsoft.com/office/drawing/2014/main" id="{33DFDB0B-92AD-7D1F-AEB3-A7678142C755}"/>
              </a:ext>
            </a:extLst>
          </p:cNvPr>
          <p:cNvSpPr txBox="1"/>
          <p:nvPr/>
        </p:nvSpPr>
        <p:spPr>
          <a:xfrm>
            <a:off x="9999227" y="3228737"/>
            <a:ext cx="1553630" cy="830997"/>
          </a:xfrm>
          <a:prstGeom prst="rect">
            <a:avLst/>
          </a:prstGeom>
          <a:solidFill>
            <a:schemeClr val="bg1"/>
          </a:solidFill>
        </p:spPr>
        <p:txBody>
          <a:bodyPr wrap="none" rtlCol="0">
            <a:spAutoFit/>
          </a:bodyPr>
          <a:lstStyle/>
          <a:p>
            <a:r>
              <a:rPr lang="en-BE" dirty="0">
                <a:latin typeface="+mn-lt"/>
              </a:rPr>
              <a:t>- heat pump power</a:t>
            </a:r>
          </a:p>
          <a:p>
            <a:r>
              <a:rPr lang="en-BE" dirty="0">
                <a:latin typeface="+mn-lt"/>
              </a:rPr>
              <a:t>- battery power</a:t>
            </a:r>
          </a:p>
          <a:p>
            <a:r>
              <a:rPr lang="en-BE" dirty="0">
                <a:latin typeface="+mn-lt"/>
              </a:rPr>
              <a:t>- . . .</a:t>
            </a:r>
          </a:p>
        </p:txBody>
      </p:sp>
      <p:sp>
        <p:nvSpPr>
          <p:cNvPr id="58" name="Arc 57">
            <a:extLst>
              <a:ext uri="{FF2B5EF4-FFF2-40B4-BE49-F238E27FC236}">
                <a16:creationId xmlns:a16="http://schemas.microsoft.com/office/drawing/2014/main" id="{800A36B9-2BA2-4C84-F5C1-103ECFDD8E34}"/>
              </a:ext>
            </a:extLst>
          </p:cNvPr>
          <p:cNvSpPr/>
          <p:nvPr/>
        </p:nvSpPr>
        <p:spPr>
          <a:xfrm rot="8100000">
            <a:off x="3312649" y="2545204"/>
            <a:ext cx="1223764" cy="1256327"/>
          </a:xfrm>
          <a:prstGeom prst="arc">
            <a:avLst/>
          </a:prstGeom>
          <a:ln w="57150">
            <a:solidFill>
              <a:schemeClr val="accent2"/>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BE" dirty="0"/>
          </a:p>
        </p:txBody>
      </p:sp>
      <p:sp>
        <p:nvSpPr>
          <p:cNvPr id="59" name="Arc 58">
            <a:extLst>
              <a:ext uri="{FF2B5EF4-FFF2-40B4-BE49-F238E27FC236}">
                <a16:creationId xmlns:a16="http://schemas.microsoft.com/office/drawing/2014/main" id="{35B7CB6F-8BD8-9762-71AC-AF5A5FC2A61F}"/>
              </a:ext>
            </a:extLst>
          </p:cNvPr>
          <p:cNvSpPr/>
          <p:nvPr/>
        </p:nvSpPr>
        <p:spPr>
          <a:xfrm rot="18900000">
            <a:off x="3363229" y="3016584"/>
            <a:ext cx="1223764" cy="1256327"/>
          </a:xfrm>
          <a:prstGeom prst="arc">
            <a:avLst/>
          </a:prstGeom>
          <a:ln w="57150">
            <a:solidFill>
              <a:schemeClr val="accent3"/>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BE"/>
          </a:p>
        </p:txBody>
      </p:sp>
      <p:sp>
        <p:nvSpPr>
          <p:cNvPr id="60" name="Sun 59">
            <a:extLst>
              <a:ext uri="{FF2B5EF4-FFF2-40B4-BE49-F238E27FC236}">
                <a16:creationId xmlns:a16="http://schemas.microsoft.com/office/drawing/2014/main" id="{4105E9AA-B75C-1032-C3A6-B6FA01188E86}"/>
              </a:ext>
            </a:extLst>
          </p:cNvPr>
          <p:cNvSpPr/>
          <p:nvPr/>
        </p:nvSpPr>
        <p:spPr>
          <a:xfrm>
            <a:off x="2659268" y="2131348"/>
            <a:ext cx="633846" cy="633846"/>
          </a:xfrm>
          <a:prstGeom prst="sun">
            <a:avLst/>
          </a:pr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BE"/>
          </a:p>
        </p:txBody>
      </p:sp>
      <p:grpSp>
        <p:nvGrpSpPr>
          <p:cNvPr id="8" name="Group 7">
            <a:extLst>
              <a:ext uri="{FF2B5EF4-FFF2-40B4-BE49-F238E27FC236}">
                <a16:creationId xmlns:a16="http://schemas.microsoft.com/office/drawing/2014/main" id="{81D694BF-6239-2237-A9B1-E410AF396524}"/>
              </a:ext>
            </a:extLst>
          </p:cNvPr>
          <p:cNvGrpSpPr/>
          <p:nvPr/>
        </p:nvGrpSpPr>
        <p:grpSpPr>
          <a:xfrm>
            <a:off x="3499802" y="1192183"/>
            <a:ext cx="5223139" cy="1874021"/>
            <a:chOff x="3499802" y="1192183"/>
            <a:chExt cx="5223139" cy="1874021"/>
          </a:xfrm>
        </p:grpSpPr>
        <p:sp>
          <p:nvSpPr>
            <p:cNvPr id="10" name="Freeform 9">
              <a:extLst>
                <a:ext uri="{FF2B5EF4-FFF2-40B4-BE49-F238E27FC236}">
                  <a16:creationId xmlns:a16="http://schemas.microsoft.com/office/drawing/2014/main" id="{ADB83720-9B3D-88B1-9369-7D37F424E08B}"/>
                </a:ext>
              </a:extLst>
            </p:cNvPr>
            <p:cNvSpPr/>
            <p:nvPr/>
          </p:nvSpPr>
          <p:spPr>
            <a:xfrm>
              <a:off x="6966731" y="1694604"/>
              <a:ext cx="1756210" cy="1371600"/>
            </a:xfrm>
            <a:custGeom>
              <a:avLst/>
              <a:gdLst>
                <a:gd name="csX0" fmla="*/ 0 w 1756210"/>
                <a:gd name="csY0" fmla="*/ 0 h 1371600"/>
                <a:gd name="csX1" fmla="*/ 1527243 w 1756210"/>
                <a:gd name="csY1" fmla="*/ 544749 h 1371600"/>
                <a:gd name="csX2" fmla="*/ 1721796 w 1756210"/>
                <a:gd name="csY2" fmla="*/ 1371600 h 1371600"/>
              </a:gdLst>
              <a:ahLst/>
              <a:cxnLst>
                <a:cxn ang="0">
                  <a:pos x="csX0" y="csY0"/>
                </a:cxn>
                <a:cxn ang="0">
                  <a:pos x="csX1" y="csY1"/>
                </a:cxn>
                <a:cxn ang="0">
                  <a:pos x="csX2" y="csY2"/>
                </a:cxn>
              </a:cxnLst>
              <a:rect l="l" t="t" r="r" b="b"/>
              <a:pathLst>
                <a:path w="1756210" h="1371600">
                  <a:moveTo>
                    <a:pt x="0" y="0"/>
                  </a:moveTo>
                  <a:cubicBezTo>
                    <a:pt x="620138" y="158074"/>
                    <a:pt x="1240277" y="316149"/>
                    <a:pt x="1527243" y="544749"/>
                  </a:cubicBezTo>
                  <a:cubicBezTo>
                    <a:pt x="1814209" y="773349"/>
                    <a:pt x="1768002" y="1072474"/>
                    <a:pt x="1721796" y="1371600"/>
                  </a:cubicBezTo>
                </a:path>
              </a:pathLst>
            </a:custGeom>
            <a:noFill/>
            <a:ln w="76200">
              <a:solidFill>
                <a:schemeClr val="accent4">
                  <a:lumMod val="40000"/>
                  <a:lumOff val="60000"/>
                </a:schemeClr>
              </a:solidFill>
              <a:headEnd type="none" w="med" len="med"/>
              <a:tailEnd type="triangle" w="med" len="me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BE"/>
            </a:p>
          </p:txBody>
        </p:sp>
        <p:sp>
          <p:nvSpPr>
            <p:cNvPr id="9" name="TextBox 8">
              <a:extLst>
                <a:ext uri="{FF2B5EF4-FFF2-40B4-BE49-F238E27FC236}">
                  <a16:creationId xmlns:a16="http://schemas.microsoft.com/office/drawing/2014/main" id="{21884D1E-32EE-2E80-69F8-21360B5A6991}"/>
                </a:ext>
              </a:extLst>
            </p:cNvPr>
            <p:cNvSpPr txBox="1"/>
            <p:nvPr/>
          </p:nvSpPr>
          <p:spPr>
            <a:xfrm rot="21109871">
              <a:off x="3499802" y="1192183"/>
              <a:ext cx="4456135" cy="1143494"/>
            </a:xfrm>
            <a:prstGeom prst="rect">
              <a:avLst/>
            </a:prstGeom>
            <a:solidFill>
              <a:schemeClr val="accent4">
                <a:lumMod val="40000"/>
                <a:lumOff val="60000"/>
              </a:schemeClr>
            </a:solidFill>
          </p:spPr>
          <p:txBody>
            <a:bodyPr wrap="square" rtlCol="0" anchor="ctr">
              <a:noAutofit/>
            </a:bodyPr>
            <a:lstStyle/>
            <a:p>
              <a:pPr algn="ctr">
                <a:lnSpc>
                  <a:spcPct val="85000"/>
                </a:lnSpc>
              </a:pPr>
              <a:r>
                <a:rPr lang="en-US" sz="3200" b="1" dirty="0">
                  <a:solidFill>
                    <a:schemeClr val="accent4">
                      <a:lumMod val="50000"/>
                    </a:schemeClr>
                  </a:solidFill>
                  <a:latin typeface="Caveat" pitchFamily="2" charset="77"/>
                </a:rPr>
                <a:t>Challenge: Find a good policy that is </a:t>
              </a:r>
              <a:r>
                <a:rPr lang="en-US" sz="3200" b="1" u="sng" dirty="0">
                  <a:solidFill>
                    <a:schemeClr val="accent4">
                      <a:lumMod val="50000"/>
                    </a:schemeClr>
                  </a:solidFill>
                  <a:latin typeface="Caveat" pitchFamily="2" charset="77"/>
                </a:rPr>
                <a:t>explainable</a:t>
              </a:r>
            </a:p>
          </p:txBody>
        </p:sp>
      </p:grpSp>
      <p:sp>
        <p:nvSpPr>
          <p:cNvPr id="53" name="Slide Number Placeholder 52">
            <a:extLst>
              <a:ext uri="{FF2B5EF4-FFF2-40B4-BE49-F238E27FC236}">
                <a16:creationId xmlns:a16="http://schemas.microsoft.com/office/drawing/2014/main" id="{0FEC984A-40BC-955F-9855-6E0F15AD7AEF}"/>
              </a:ext>
            </a:extLst>
          </p:cNvPr>
          <p:cNvSpPr>
            <a:spLocks noGrp="1"/>
          </p:cNvSpPr>
          <p:nvPr>
            <p:ph type="sldNum" sz="quarter" idx="11"/>
          </p:nvPr>
        </p:nvSpPr>
        <p:spPr/>
        <p:txBody>
          <a:bodyPr/>
          <a:lstStyle/>
          <a:p>
            <a:pPr>
              <a:defRPr/>
            </a:pPr>
            <a:fld id="{968663A2-1950-48E6-8399-8A0176E7D7D3}" type="slidenum">
              <a:rPr lang="en-US" smtClean="0"/>
              <a:pPr>
                <a:defRPr/>
              </a:pPr>
              <a:t>15</a:t>
            </a:fld>
            <a:endParaRPr lang="en-US"/>
          </a:p>
        </p:txBody>
      </p:sp>
    </p:spTree>
    <p:extLst>
      <p:ext uri="{BB962C8B-B14F-4D97-AF65-F5344CB8AC3E}">
        <p14:creationId xmlns:p14="http://schemas.microsoft.com/office/powerpoint/2010/main" val="72637420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 name="Oval 44">
            <a:extLst>
              <a:ext uri="{FF2B5EF4-FFF2-40B4-BE49-F238E27FC236}">
                <a16:creationId xmlns:a16="http://schemas.microsoft.com/office/drawing/2014/main" id="{40E374CF-FF95-D6F2-DF35-8E04B119395D}"/>
              </a:ext>
            </a:extLst>
          </p:cNvPr>
          <p:cNvSpPr/>
          <p:nvPr/>
        </p:nvSpPr>
        <p:spPr>
          <a:xfrm>
            <a:off x="5341350" y="2566656"/>
            <a:ext cx="219042" cy="219042"/>
          </a:xfrm>
          <a:prstGeom prst="ellipse">
            <a:avLst/>
          </a:prstGeom>
          <a:solidFill>
            <a:schemeClr val="bg1"/>
          </a:solidFill>
          <a:ln>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BE"/>
          </a:p>
        </p:txBody>
      </p:sp>
      <p:sp>
        <p:nvSpPr>
          <p:cNvPr id="46" name="Oval 45">
            <a:extLst>
              <a:ext uri="{FF2B5EF4-FFF2-40B4-BE49-F238E27FC236}">
                <a16:creationId xmlns:a16="http://schemas.microsoft.com/office/drawing/2014/main" id="{2A09A7D3-2288-C804-5E69-80DD95A00B7C}"/>
              </a:ext>
            </a:extLst>
          </p:cNvPr>
          <p:cNvSpPr/>
          <p:nvPr/>
        </p:nvSpPr>
        <p:spPr>
          <a:xfrm>
            <a:off x="5691608" y="2133437"/>
            <a:ext cx="552994" cy="474857"/>
          </a:xfrm>
          <a:prstGeom prst="ellipse">
            <a:avLst/>
          </a:prstGeom>
          <a:solidFill>
            <a:schemeClr val="bg1"/>
          </a:solidFill>
          <a:ln>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BE"/>
          </a:p>
        </p:txBody>
      </p:sp>
      <p:sp>
        <p:nvSpPr>
          <p:cNvPr id="47" name="Oval 46">
            <a:extLst>
              <a:ext uri="{FF2B5EF4-FFF2-40B4-BE49-F238E27FC236}">
                <a16:creationId xmlns:a16="http://schemas.microsoft.com/office/drawing/2014/main" id="{1A226343-E230-E6C6-2F19-50A327ECB1D6}"/>
              </a:ext>
            </a:extLst>
          </p:cNvPr>
          <p:cNvSpPr/>
          <p:nvPr/>
        </p:nvSpPr>
        <p:spPr>
          <a:xfrm>
            <a:off x="6380451" y="2016888"/>
            <a:ext cx="719396" cy="617747"/>
          </a:xfrm>
          <a:prstGeom prst="ellipse">
            <a:avLst/>
          </a:prstGeom>
          <a:solidFill>
            <a:schemeClr val="bg1"/>
          </a:solidFill>
          <a:ln>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BE"/>
          </a:p>
        </p:txBody>
      </p:sp>
      <p:sp>
        <p:nvSpPr>
          <p:cNvPr id="43" name="Cloud 42">
            <a:extLst>
              <a:ext uri="{FF2B5EF4-FFF2-40B4-BE49-F238E27FC236}">
                <a16:creationId xmlns:a16="http://schemas.microsoft.com/office/drawing/2014/main" id="{6798D9C4-0AF2-C9BB-78E5-C1C5A02B75FC}"/>
              </a:ext>
            </a:extLst>
          </p:cNvPr>
          <p:cNvSpPr/>
          <p:nvPr/>
        </p:nvSpPr>
        <p:spPr>
          <a:xfrm rot="217477">
            <a:off x="6033720" y="1992429"/>
            <a:ext cx="5880991" cy="3577935"/>
          </a:xfrm>
          <a:prstGeom prst="cloud">
            <a:avLst/>
          </a:prstGeom>
          <a:solidFill>
            <a:schemeClr val="bg1"/>
          </a:solidFill>
          <a:ln>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BE"/>
          </a:p>
        </p:txBody>
      </p:sp>
      <p:sp>
        <p:nvSpPr>
          <p:cNvPr id="5" name="Title 4">
            <a:extLst>
              <a:ext uri="{FF2B5EF4-FFF2-40B4-BE49-F238E27FC236}">
                <a16:creationId xmlns:a16="http://schemas.microsoft.com/office/drawing/2014/main" id="{815B79F3-D4C5-382E-23D2-8D895567C874}"/>
              </a:ext>
            </a:extLst>
          </p:cNvPr>
          <p:cNvSpPr>
            <a:spLocks noGrp="1"/>
          </p:cNvSpPr>
          <p:nvPr>
            <p:ph type="title"/>
          </p:nvPr>
        </p:nvSpPr>
        <p:spPr/>
        <p:txBody>
          <a:bodyPr/>
          <a:lstStyle/>
          <a:p>
            <a:r>
              <a:rPr lang="en-BE" dirty="0"/>
              <a:t>Black-box Reinforcement Learning</a:t>
            </a:r>
          </a:p>
        </p:txBody>
      </p:sp>
      <p:pic>
        <p:nvPicPr>
          <p:cNvPr id="2" name="Content Placeholder 1">
            <a:extLst>
              <a:ext uri="{FF2B5EF4-FFF2-40B4-BE49-F238E27FC236}">
                <a16:creationId xmlns:a16="http://schemas.microsoft.com/office/drawing/2014/main" id="{C29867E0-9116-B13B-8762-DD099DED829D}"/>
              </a:ext>
            </a:extLst>
          </p:cNvPr>
          <p:cNvPicPr>
            <a:picLocks noGrp="1" noChangeAspect="1"/>
          </p:cNvPicPr>
          <p:nvPr>
            <p:ph idx="1"/>
          </p:nvPr>
        </p:nvPicPr>
        <p:blipFill>
          <a:blip r:embed="rId3"/>
          <a:stretch>
            <a:fillRect/>
          </a:stretch>
        </p:blipFill>
        <p:spPr>
          <a:xfrm>
            <a:off x="756168" y="2510352"/>
            <a:ext cx="2471338" cy="2051211"/>
          </a:xfrm>
          <a:prstGeom prst="rect">
            <a:avLst/>
          </a:prstGeom>
        </p:spPr>
      </p:pic>
      <p:sp>
        <p:nvSpPr>
          <p:cNvPr id="4" name="Footer Placeholder 3">
            <a:extLst>
              <a:ext uri="{FF2B5EF4-FFF2-40B4-BE49-F238E27FC236}">
                <a16:creationId xmlns:a16="http://schemas.microsoft.com/office/drawing/2014/main" id="{A62718FE-1562-721B-0788-75AED9942C31}"/>
              </a:ext>
            </a:extLst>
          </p:cNvPr>
          <p:cNvSpPr>
            <a:spLocks noGrp="1"/>
          </p:cNvSpPr>
          <p:nvPr>
            <p:ph type="ftr" sz="quarter" idx="10"/>
          </p:nvPr>
        </p:nvSpPr>
        <p:spPr/>
        <p:txBody>
          <a:bodyPr/>
          <a:lstStyle/>
          <a:p>
            <a:pPr>
              <a:defRPr/>
            </a:pPr>
            <a:r>
              <a:rPr lang="en-US"/>
              <a:t>C. Develder, "AI4E: Data-efficient and scalable algorithmss to exploit energy flexibility"</a:t>
            </a:r>
            <a:endParaRPr lang="en-US" dirty="0"/>
          </a:p>
        </p:txBody>
      </p:sp>
      <p:pic>
        <p:nvPicPr>
          <p:cNvPr id="3" name="Picture 2">
            <a:extLst>
              <a:ext uri="{FF2B5EF4-FFF2-40B4-BE49-F238E27FC236}">
                <a16:creationId xmlns:a16="http://schemas.microsoft.com/office/drawing/2014/main" id="{B79773BD-143A-DD8F-12D0-8F8B77F43EF4}"/>
              </a:ext>
            </a:extLst>
          </p:cNvPr>
          <p:cNvPicPr>
            <a:picLocks noChangeAspect="1"/>
          </p:cNvPicPr>
          <p:nvPr/>
        </p:nvPicPr>
        <p:blipFill>
          <a:blip r:embed="rId4"/>
          <a:stretch>
            <a:fillRect/>
          </a:stretch>
        </p:blipFill>
        <p:spPr>
          <a:xfrm>
            <a:off x="4906296" y="2903708"/>
            <a:ext cx="688109" cy="741040"/>
          </a:xfrm>
          <a:prstGeom prst="rect">
            <a:avLst/>
          </a:prstGeom>
        </p:spPr>
      </p:pic>
      <p:sp>
        <p:nvSpPr>
          <p:cNvPr id="7" name="TextBox 6">
            <a:extLst>
              <a:ext uri="{FF2B5EF4-FFF2-40B4-BE49-F238E27FC236}">
                <a16:creationId xmlns:a16="http://schemas.microsoft.com/office/drawing/2014/main" id="{45A9FAB3-3E10-FEB9-19BD-F4E7268B586D}"/>
              </a:ext>
            </a:extLst>
          </p:cNvPr>
          <p:cNvSpPr txBox="1"/>
          <p:nvPr/>
        </p:nvSpPr>
        <p:spPr>
          <a:xfrm>
            <a:off x="4600975" y="3730566"/>
            <a:ext cx="1298753" cy="830997"/>
          </a:xfrm>
          <a:prstGeom prst="rect">
            <a:avLst/>
          </a:prstGeom>
          <a:noFill/>
        </p:spPr>
        <p:txBody>
          <a:bodyPr wrap="none" rtlCol="0">
            <a:spAutoFit/>
          </a:bodyPr>
          <a:lstStyle/>
          <a:p>
            <a:pPr algn="ctr"/>
            <a:r>
              <a:rPr lang="en-BE" sz="2400" b="1" dirty="0">
                <a:latin typeface="+mn-lt"/>
              </a:rPr>
              <a:t>HEM</a:t>
            </a:r>
          </a:p>
          <a:p>
            <a:pPr algn="ctr"/>
            <a:r>
              <a:rPr lang="en-BE" sz="2400" b="1" dirty="0">
                <a:latin typeface="+mn-lt"/>
              </a:rPr>
              <a:t>controller</a:t>
            </a:r>
          </a:p>
        </p:txBody>
      </p:sp>
      <p:grpSp>
        <p:nvGrpSpPr>
          <p:cNvPr id="50" name="Group 49">
            <a:extLst>
              <a:ext uri="{FF2B5EF4-FFF2-40B4-BE49-F238E27FC236}">
                <a16:creationId xmlns:a16="http://schemas.microsoft.com/office/drawing/2014/main" id="{91F497A1-3A5C-8C6F-33E8-163664659CE1}"/>
              </a:ext>
            </a:extLst>
          </p:cNvPr>
          <p:cNvGrpSpPr/>
          <p:nvPr/>
        </p:nvGrpSpPr>
        <p:grpSpPr>
          <a:xfrm>
            <a:off x="8214387" y="3173369"/>
            <a:ext cx="1366363" cy="1259770"/>
            <a:chOff x="8119062" y="2903708"/>
            <a:chExt cx="2085112" cy="1922448"/>
          </a:xfrm>
        </p:grpSpPr>
        <p:sp>
          <p:nvSpPr>
            <p:cNvPr id="48" name="Rounded Rectangle 47">
              <a:extLst>
                <a:ext uri="{FF2B5EF4-FFF2-40B4-BE49-F238E27FC236}">
                  <a16:creationId xmlns:a16="http://schemas.microsoft.com/office/drawing/2014/main" id="{B73E027D-7D05-3895-CEC2-FD0F3287B323}"/>
                </a:ext>
              </a:extLst>
            </p:cNvPr>
            <p:cNvSpPr/>
            <p:nvPr/>
          </p:nvSpPr>
          <p:spPr>
            <a:xfrm>
              <a:off x="8119062" y="2903708"/>
              <a:ext cx="2085112" cy="1922448"/>
            </a:xfrm>
            <a:prstGeom prst="roundRect">
              <a:avLst/>
            </a:prstGeom>
            <a:solidFill>
              <a:schemeClr val="bg1">
                <a:lumMod val="95000"/>
              </a:schemeClr>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BE"/>
            </a:p>
          </p:txBody>
        </p:sp>
        <p:grpSp>
          <p:nvGrpSpPr>
            <p:cNvPr id="13" name="Group 12">
              <a:extLst>
                <a:ext uri="{FF2B5EF4-FFF2-40B4-BE49-F238E27FC236}">
                  <a16:creationId xmlns:a16="http://schemas.microsoft.com/office/drawing/2014/main" id="{84024CD5-0BFE-FA2C-0D50-BD1426129D12}"/>
                </a:ext>
              </a:extLst>
            </p:cNvPr>
            <p:cNvGrpSpPr/>
            <p:nvPr/>
          </p:nvGrpSpPr>
          <p:grpSpPr>
            <a:xfrm>
              <a:off x="8339159" y="3138112"/>
              <a:ext cx="1772251" cy="1473558"/>
              <a:chOff x="6383257" y="1250651"/>
              <a:chExt cx="1974694" cy="1641880"/>
            </a:xfrm>
          </p:grpSpPr>
          <p:sp>
            <p:nvSpPr>
              <p:cNvPr id="14" name="Freeform: Shape 77">
                <a:extLst>
                  <a:ext uri="{FF2B5EF4-FFF2-40B4-BE49-F238E27FC236}">
                    <a16:creationId xmlns:a16="http://schemas.microsoft.com/office/drawing/2014/main" id="{448B1ABA-7BDF-C7BA-5F9A-EBDAD64FA199}"/>
                  </a:ext>
                </a:extLst>
              </p:cNvPr>
              <p:cNvSpPr/>
              <p:nvPr/>
            </p:nvSpPr>
            <p:spPr>
              <a:xfrm>
                <a:off x="6505288" y="1372684"/>
                <a:ext cx="576876" cy="232968"/>
              </a:xfrm>
              <a:custGeom>
                <a:avLst/>
                <a:gdLst>
                  <a:gd name="connsiteX0" fmla="*/ -1 w 309562"/>
                  <a:gd name="connsiteY0" fmla="*/ 125016 h 125015"/>
                  <a:gd name="connsiteX1" fmla="*/ 309562 w 309562"/>
                  <a:gd name="connsiteY1" fmla="*/ 0 h 125015"/>
                </a:gdLst>
                <a:ahLst/>
                <a:cxnLst>
                  <a:cxn ang="0">
                    <a:pos x="connsiteX0" y="connsiteY0"/>
                  </a:cxn>
                  <a:cxn ang="0">
                    <a:pos x="connsiteX1" y="connsiteY1"/>
                  </a:cxn>
                </a:cxnLst>
                <a:rect l="l" t="t" r="r" b="b"/>
                <a:pathLst>
                  <a:path w="309562" h="125015">
                    <a:moveTo>
                      <a:pt x="-1" y="125016"/>
                    </a:moveTo>
                    <a:lnTo>
                      <a:pt x="309562" y="0"/>
                    </a:lnTo>
                  </a:path>
                </a:pathLst>
              </a:custGeom>
              <a:noFill/>
              <a:ln w="28575" cap="flat">
                <a:solidFill>
                  <a:srgbClr val="C6C6FF"/>
                </a:solidFill>
                <a:prstDash val="solid"/>
                <a:miter/>
              </a:ln>
            </p:spPr>
            <p:txBody>
              <a:bodyPr rtlCol="0" anchor="ctr"/>
              <a:lstStyle/>
              <a:p>
                <a:endParaRPr lang="en-US"/>
              </a:p>
            </p:txBody>
          </p:sp>
          <p:sp>
            <p:nvSpPr>
              <p:cNvPr id="15" name="Freeform: Shape 78">
                <a:extLst>
                  <a:ext uri="{FF2B5EF4-FFF2-40B4-BE49-F238E27FC236}">
                    <a16:creationId xmlns:a16="http://schemas.microsoft.com/office/drawing/2014/main" id="{5706F853-4FDB-9F4C-7F2D-7BD78127B30C}"/>
                  </a:ext>
                </a:extLst>
              </p:cNvPr>
              <p:cNvSpPr/>
              <p:nvPr/>
            </p:nvSpPr>
            <p:spPr>
              <a:xfrm>
                <a:off x="6505288" y="1605652"/>
                <a:ext cx="576876" cy="698907"/>
              </a:xfrm>
              <a:custGeom>
                <a:avLst/>
                <a:gdLst>
                  <a:gd name="connsiteX0" fmla="*/ -1 w 309562"/>
                  <a:gd name="connsiteY0" fmla="*/ 0 h 375046"/>
                  <a:gd name="connsiteX1" fmla="*/ 309562 w 309562"/>
                  <a:gd name="connsiteY1" fmla="*/ 375047 h 375046"/>
                </a:gdLst>
                <a:ahLst/>
                <a:cxnLst>
                  <a:cxn ang="0">
                    <a:pos x="connsiteX0" y="connsiteY0"/>
                  </a:cxn>
                  <a:cxn ang="0">
                    <a:pos x="connsiteX1" y="connsiteY1"/>
                  </a:cxn>
                </a:cxnLst>
                <a:rect l="l" t="t" r="r" b="b"/>
                <a:pathLst>
                  <a:path w="309562" h="375046">
                    <a:moveTo>
                      <a:pt x="-1" y="0"/>
                    </a:moveTo>
                    <a:lnTo>
                      <a:pt x="309562" y="375047"/>
                    </a:lnTo>
                  </a:path>
                </a:pathLst>
              </a:custGeom>
              <a:noFill/>
              <a:ln w="28575" cap="flat">
                <a:solidFill>
                  <a:srgbClr val="7F7FFF"/>
                </a:solidFill>
                <a:prstDash val="solid"/>
                <a:miter/>
              </a:ln>
            </p:spPr>
            <p:txBody>
              <a:bodyPr rtlCol="0" anchor="ctr"/>
              <a:lstStyle/>
              <a:p>
                <a:endParaRPr lang="en-US"/>
              </a:p>
            </p:txBody>
          </p:sp>
          <p:sp>
            <p:nvSpPr>
              <p:cNvPr id="16" name="Freeform: Shape 81">
                <a:extLst>
                  <a:ext uri="{FF2B5EF4-FFF2-40B4-BE49-F238E27FC236}">
                    <a16:creationId xmlns:a16="http://schemas.microsoft.com/office/drawing/2014/main" id="{3DD30720-69F0-B1EB-7FAD-CCE318671F62}"/>
                  </a:ext>
                </a:extLst>
              </p:cNvPr>
              <p:cNvSpPr/>
              <p:nvPr/>
            </p:nvSpPr>
            <p:spPr>
              <a:xfrm>
                <a:off x="6505288" y="1838623"/>
                <a:ext cx="576876" cy="232968"/>
              </a:xfrm>
              <a:custGeom>
                <a:avLst/>
                <a:gdLst>
                  <a:gd name="connsiteX0" fmla="*/ -1 w 309562"/>
                  <a:gd name="connsiteY0" fmla="*/ 125016 h 125015"/>
                  <a:gd name="connsiteX1" fmla="*/ 309562 w 309562"/>
                  <a:gd name="connsiteY1" fmla="*/ 0 h 125015"/>
                </a:gdLst>
                <a:ahLst/>
                <a:cxnLst>
                  <a:cxn ang="0">
                    <a:pos x="connsiteX0" y="connsiteY0"/>
                  </a:cxn>
                  <a:cxn ang="0">
                    <a:pos x="connsiteX1" y="connsiteY1"/>
                  </a:cxn>
                </a:cxnLst>
                <a:rect l="l" t="t" r="r" b="b"/>
                <a:pathLst>
                  <a:path w="309562" h="125015">
                    <a:moveTo>
                      <a:pt x="-1" y="125016"/>
                    </a:moveTo>
                    <a:lnTo>
                      <a:pt x="309562" y="0"/>
                    </a:lnTo>
                  </a:path>
                </a:pathLst>
              </a:custGeom>
              <a:noFill/>
              <a:ln w="28575" cap="flat">
                <a:solidFill>
                  <a:srgbClr val="8A8AFF"/>
                </a:solidFill>
                <a:prstDash val="solid"/>
                <a:miter/>
              </a:ln>
            </p:spPr>
            <p:txBody>
              <a:bodyPr rtlCol="0" anchor="ctr"/>
              <a:lstStyle/>
              <a:p>
                <a:endParaRPr lang="en-US"/>
              </a:p>
            </p:txBody>
          </p:sp>
          <p:sp>
            <p:nvSpPr>
              <p:cNvPr id="17" name="Freeform: Shape 82">
                <a:extLst>
                  <a:ext uri="{FF2B5EF4-FFF2-40B4-BE49-F238E27FC236}">
                    <a16:creationId xmlns:a16="http://schemas.microsoft.com/office/drawing/2014/main" id="{DCD1400C-11E2-09AF-630D-5FDB88FD5EEF}"/>
                  </a:ext>
                </a:extLst>
              </p:cNvPr>
              <p:cNvSpPr/>
              <p:nvPr/>
            </p:nvSpPr>
            <p:spPr>
              <a:xfrm>
                <a:off x="6505288" y="2071593"/>
                <a:ext cx="576876" cy="232968"/>
              </a:xfrm>
              <a:custGeom>
                <a:avLst/>
                <a:gdLst>
                  <a:gd name="connsiteX0" fmla="*/ -1 w 309562"/>
                  <a:gd name="connsiteY0" fmla="*/ 0 h 125015"/>
                  <a:gd name="connsiteX1" fmla="*/ 309562 w 309562"/>
                  <a:gd name="connsiteY1" fmla="*/ 125016 h 125015"/>
                </a:gdLst>
                <a:ahLst/>
                <a:cxnLst>
                  <a:cxn ang="0">
                    <a:pos x="connsiteX0" y="connsiteY0"/>
                  </a:cxn>
                  <a:cxn ang="0">
                    <a:pos x="connsiteX1" y="connsiteY1"/>
                  </a:cxn>
                </a:cxnLst>
                <a:rect l="l" t="t" r="r" b="b"/>
                <a:pathLst>
                  <a:path w="309562" h="125015">
                    <a:moveTo>
                      <a:pt x="-1" y="0"/>
                    </a:moveTo>
                    <a:lnTo>
                      <a:pt x="309562" y="125016"/>
                    </a:lnTo>
                  </a:path>
                </a:pathLst>
              </a:custGeom>
              <a:noFill/>
              <a:ln w="28575" cap="flat">
                <a:solidFill>
                  <a:srgbClr val="2828FF"/>
                </a:solidFill>
                <a:prstDash val="solid"/>
                <a:miter/>
              </a:ln>
            </p:spPr>
            <p:txBody>
              <a:bodyPr rtlCol="0" anchor="ctr"/>
              <a:lstStyle/>
              <a:p>
                <a:endParaRPr lang="en-US"/>
              </a:p>
            </p:txBody>
          </p:sp>
          <p:sp>
            <p:nvSpPr>
              <p:cNvPr id="18" name="Freeform: Shape 83">
                <a:extLst>
                  <a:ext uri="{FF2B5EF4-FFF2-40B4-BE49-F238E27FC236}">
                    <a16:creationId xmlns:a16="http://schemas.microsoft.com/office/drawing/2014/main" id="{2A1FE32A-AA74-3CBD-5684-F6E9FAE72A7D}"/>
                  </a:ext>
                </a:extLst>
              </p:cNvPr>
              <p:cNvSpPr/>
              <p:nvPr/>
            </p:nvSpPr>
            <p:spPr>
              <a:xfrm>
                <a:off x="6505288" y="2071593"/>
                <a:ext cx="576876" cy="698907"/>
              </a:xfrm>
              <a:custGeom>
                <a:avLst/>
                <a:gdLst>
                  <a:gd name="connsiteX0" fmla="*/ -1 w 309562"/>
                  <a:gd name="connsiteY0" fmla="*/ 0 h 375046"/>
                  <a:gd name="connsiteX1" fmla="*/ 309562 w 309562"/>
                  <a:gd name="connsiteY1" fmla="*/ 375047 h 375046"/>
                </a:gdLst>
                <a:ahLst/>
                <a:cxnLst>
                  <a:cxn ang="0">
                    <a:pos x="connsiteX0" y="connsiteY0"/>
                  </a:cxn>
                  <a:cxn ang="0">
                    <a:pos x="connsiteX1" y="connsiteY1"/>
                  </a:cxn>
                </a:cxnLst>
                <a:rect l="l" t="t" r="r" b="b"/>
                <a:pathLst>
                  <a:path w="309562" h="375046">
                    <a:moveTo>
                      <a:pt x="-1" y="0"/>
                    </a:moveTo>
                    <a:lnTo>
                      <a:pt x="309562" y="375047"/>
                    </a:lnTo>
                  </a:path>
                </a:pathLst>
              </a:custGeom>
              <a:noFill/>
              <a:ln w="28575" cap="flat">
                <a:solidFill>
                  <a:srgbClr val="FFA2A2"/>
                </a:solidFill>
                <a:prstDash val="solid"/>
                <a:miter/>
              </a:ln>
            </p:spPr>
            <p:txBody>
              <a:bodyPr rtlCol="0" anchor="ctr"/>
              <a:lstStyle/>
              <a:p>
                <a:endParaRPr lang="en-US"/>
              </a:p>
            </p:txBody>
          </p:sp>
          <p:sp>
            <p:nvSpPr>
              <p:cNvPr id="19" name="Freeform: Shape 84">
                <a:extLst>
                  <a:ext uri="{FF2B5EF4-FFF2-40B4-BE49-F238E27FC236}">
                    <a16:creationId xmlns:a16="http://schemas.microsoft.com/office/drawing/2014/main" id="{1326F330-1991-58C8-1A72-F5B257AB2332}"/>
                  </a:ext>
                </a:extLst>
              </p:cNvPr>
              <p:cNvSpPr/>
              <p:nvPr/>
            </p:nvSpPr>
            <p:spPr>
              <a:xfrm>
                <a:off x="6505288" y="2304561"/>
                <a:ext cx="576876" cy="232968"/>
              </a:xfrm>
              <a:custGeom>
                <a:avLst/>
                <a:gdLst>
                  <a:gd name="connsiteX0" fmla="*/ -1 w 309562"/>
                  <a:gd name="connsiteY0" fmla="*/ 125016 h 125015"/>
                  <a:gd name="connsiteX1" fmla="*/ 309562 w 309562"/>
                  <a:gd name="connsiteY1" fmla="*/ 0 h 125015"/>
                </a:gdLst>
                <a:ahLst/>
                <a:cxnLst>
                  <a:cxn ang="0">
                    <a:pos x="connsiteX0" y="connsiteY0"/>
                  </a:cxn>
                  <a:cxn ang="0">
                    <a:pos x="connsiteX1" y="connsiteY1"/>
                  </a:cxn>
                </a:cxnLst>
                <a:rect l="l" t="t" r="r" b="b"/>
                <a:pathLst>
                  <a:path w="309562" h="125015">
                    <a:moveTo>
                      <a:pt x="-1" y="125016"/>
                    </a:moveTo>
                    <a:lnTo>
                      <a:pt x="309562" y="0"/>
                    </a:lnTo>
                  </a:path>
                </a:pathLst>
              </a:custGeom>
              <a:noFill/>
              <a:ln w="28575" cap="flat">
                <a:solidFill>
                  <a:srgbClr val="ACACFF"/>
                </a:solidFill>
                <a:prstDash val="solid"/>
                <a:miter/>
              </a:ln>
            </p:spPr>
            <p:txBody>
              <a:bodyPr rtlCol="0" anchor="ctr"/>
              <a:lstStyle/>
              <a:p>
                <a:endParaRPr lang="en-US"/>
              </a:p>
            </p:txBody>
          </p:sp>
          <p:sp>
            <p:nvSpPr>
              <p:cNvPr id="20" name="Freeform: Shape 85">
                <a:extLst>
                  <a:ext uri="{FF2B5EF4-FFF2-40B4-BE49-F238E27FC236}">
                    <a16:creationId xmlns:a16="http://schemas.microsoft.com/office/drawing/2014/main" id="{2752C713-A536-7586-B8AD-A5ABF9AEC38A}"/>
                  </a:ext>
                </a:extLst>
              </p:cNvPr>
              <p:cNvSpPr/>
              <p:nvPr/>
            </p:nvSpPr>
            <p:spPr>
              <a:xfrm>
                <a:off x="6505288" y="2537532"/>
                <a:ext cx="576876" cy="232968"/>
              </a:xfrm>
              <a:custGeom>
                <a:avLst/>
                <a:gdLst>
                  <a:gd name="connsiteX0" fmla="*/ -1 w 309562"/>
                  <a:gd name="connsiteY0" fmla="*/ 0 h 125015"/>
                  <a:gd name="connsiteX1" fmla="*/ 309562 w 309562"/>
                  <a:gd name="connsiteY1" fmla="*/ 125016 h 125015"/>
                </a:gdLst>
                <a:ahLst/>
                <a:cxnLst>
                  <a:cxn ang="0">
                    <a:pos x="connsiteX0" y="connsiteY0"/>
                  </a:cxn>
                  <a:cxn ang="0">
                    <a:pos x="connsiteX1" y="connsiteY1"/>
                  </a:cxn>
                </a:cxnLst>
                <a:rect l="l" t="t" r="r" b="b"/>
                <a:pathLst>
                  <a:path w="309562" h="125015">
                    <a:moveTo>
                      <a:pt x="-1" y="0"/>
                    </a:moveTo>
                    <a:lnTo>
                      <a:pt x="309562" y="125016"/>
                    </a:lnTo>
                  </a:path>
                </a:pathLst>
              </a:custGeom>
              <a:noFill/>
              <a:ln w="28575" cap="flat">
                <a:solidFill>
                  <a:srgbClr val="FF8D8D"/>
                </a:solidFill>
                <a:prstDash val="solid"/>
                <a:miter/>
              </a:ln>
            </p:spPr>
            <p:txBody>
              <a:bodyPr rtlCol="0" anchor="ctr"/>
              <a:lstStyle/>
              <a:p>
                <a:endParaRPr lang="en-US"/>
              </a:p>
            </p:txBody>
          </p:sp>
          <p:sp>
            <p:nvSpPr>
              <p:cNvPr id="21" name="Freeform: Shape 86">
                <a:extLst>
                  <a:ext uri="{FF2B5EF4-FFF2-40B4-BE49-F238E27FC236}">
                    <a16:creationId xmlns:a16="http://schemas.microsoft.com/office/drawing/2014/main" id="{8B44D0E2-741F-6EF6-C89D-6BE56D00F637}"/>
                  </a:ext>
                </a:extLst>
              </p:cNvPr>
              <p:cNvSpPr/>
              <p:nvPr/>
            </p:nvSpPr>
            <p:spPr>
              <a:xfrm>
                <a:off x="7082166" y="1372684"/>
                <a:ext cx="576876" cy="232968"/>
              </a:xfrm>
              <a:custGeom>
                <a:avLst/>
                <a:gdLst>
                  <a:gd name="connsiteX0" fmla="*/ -1 w 309562"/>
                  <a:gd name="connsiteY0" fmla="*/ 0 h 125015"/>
                  <a:gd name="connsiteX1" fmla="*/ 309562 w 309562"/>
                  <a:gd name="connsiteY1" fmla="*/ 125016 h 125015"/>
                </a:gdLst>
                <a:ahLst/>
                <a:cxnLst>
                  <a:cxn ang="0">
                    <a:pos x="connsiteX0" y="connsiteY0"/>
                  </a:cxn>
                  <a:cxn ang="0">
                    <a:pos x="connsiteX1" y="connsiteY1"/>
                  </a:cxn>
                </a:cxnLst>
                <a:rect l="l" t="t" r="r" b="b"/>
                <a:pathLst>
                  <a:path w="309562" h="125015">
                    <a:moveTo>
                      <a:pt x="-1" y="0"/>
                    </a:moveTo>
                    <a:lnTo>
                      <a:pt x="309562" y="125016"/>
                    </a:lnTo>
                  </a:path>
                </a:pathLst>
              </a:custGeom>
              <a:noFill/>
              <a:ln w="28575" cap="flat">
                <a:solidFill>
                  <a:srgbClr val="FF4747"/>
                </a:solidFill>
                <a:prstDash val="solid"/>
                <a:miter/>
              </a:ln>
            </p:spPr>
            <p:txBody>
              <a:bodyPr rtlCol="0" anchor="ctr"/>
              <a:lstStyle/>
              <a:p>
                <a:endParaRPr lang="en-US"/>
              </a:p>
            </p:txBody>
          </p:sp>
          <p:sp>
            <p:nvSpPr>
              <p:cNvPr id="22" name="Freeform: Shape 87">
                <a:extLst>
                  <a:ext uri="{FF2B5EF4-FFF2-40B4-BE49-F238E27FC236}">
                    <a16:creationId xmlns:a16="http://schemas.microsoft.com/office/drawing/2014/main" id="{3E1EC15C-D9AA-B635-0B6F-617D05259ED3}"/>
                  </a:ext>
                </a:extLst>
              </p:cNvPr>
              <p:cNvSpPr/>
              <p:nvPr/>
            </p:nvSpPr>
            <p:spPr>
              <a:xfrm>
                <a:off x="7082166" y="1372684"/>
                <a:ext cx="576876" cy="698907"/>
              </a:xfrm>
              <a:custGeom>
                <a:avLst/>
                <a:gdLst>
                  <a:gd name="connsiteX0" fmla="*/ -1 w 309562"/>
                  <a:gd name="connsiteY0" fmla="*/ 0 h 375046"/>
                  <a:gd name="connsiteX1" fmla="*/ 309562 w 309562"/>
                  <a:gd name="connsiteY1" fmla="*/ 375047 h 375046"/>
                </a:gdLst>
                <a:ahLst/>
                <a:cxnLst>
                  <a:cxn ang="0">
                    <a:pos x="connsiteX0" y="connsiteY0"/>
                  </a:cxn>
                  <a:cxn ang="0">
                    <a:pos x="connsiteX1" y="connsiteY1"/>
                  </a:cxn>
                </a:cxnLst>
                <a:rect l="l" t="t" r="r" b="b"/>
                <a:pathLst>
                  <a:path w="309562" h="375046">
                    <a:moveTo>
                      <a:pt x="-1" y="0"/>
                    </a:moveTo>
                    <a:lnTo>
                      <a:pt x="309562" y="375047"/>
                    </a:lnTo>
                  </a:path>
                </a:pathLst>
              </a:custGeom>
              <a:noFill/>
              <a:ln w="28575" cap="flat">
                <a:solidFill>
                  <a:srgbClr val="FF0C0C"/>
                </a:solidFill>
                <a:prstDash val="solid"/>
                <a:miter/>
              </a:ln>
            </p:spPr>
            <p:txBody>
              <a:bodyPr rtlCol="0" anchor="ctr"/>
              <a:lstStyle/>
              <a:p>
                <a:endParaRPr lang="en-US"/>
              </a:p>
            </p:txBody>
          </p:sp>
          <p:sp>
            <p:nvSpPr>
              <p:cNvPr id="23" name="Freeform: Shape 88">
                <a:extLst>
                  <a:ext uri="{FF2B5EF4-FFF2-40B4-BE49-F238E27FC236}">
                    <a16:creationId xmlns:a16="http://schemas.microsoft.com/office/drawing/2014/main" id="{9E684B1F-2911-F907-35E6-F6057D156CB4}"/>
                  </a:ext>
                </a:extLst>
              </p:cNvPr>
              <p:cNvSpPr/>
              <p:nvPr/>
            </p:nvSpPr>
            <p:spPr>
              <a:xfrm>
                <a:off x="7082166" y="1605652"/>
                <a:ext cx="576876" cy="232968"/>
              </a:xfrm>
              <a:custGeom>
                <a:avLst/>
                <a:gdLst>
                  <a:gd name="connsiteX0" fmla="*/ -1 w 309562"/>
                  <a:gd name="connsiteY0" fmla="*/ 125016 h 125015"/>
                  <a:gd name="connsiteX1" fmla="*/ 309562 w 309562"/>
                  <a:gd name="connsiteY1" fmla="*/ 0 h 125015"/>
                </a:gdLst>
                <a:ahLst/>
                <a:cxnLst>
                  <a:cxn ang="0">
                    <a:pos x="connsiteX0" y="connsiteY0"/>
                  </a:cxn>
                  <a:cxn ang="0">
                    <a:pos x="connsiteX1" y="connsiteY1"/>
                  </a:cxn>
                </a:cxnLst>
                <a:rect l="l" t="t" r="r" b="b"/>
                <a:pathLst>
                  <a:path w="309562" h="125015">
                    <a:moveTo>
                      <a:pt x="-1" y="125016"/>
                    </a:moveTo>
                    <a:lnTo>
                      <a:pt x="309562" y="0"/>
                    </a:lnTo>
                  </a:path>
                </a:pathLst>
              </a:custGeom>
              <a:noFill/>
              <a:ln w="28575" cap="flat">
                <a:solidFill>
                  <a:srgbClr val="9393FF"/>
                </a:solidFill>
                <a:prstDash val="solid"/>
                <a:miter/>
              </a:ln>
            </p:spPr>
            <p:txBody>
              <a:bodyPr rtlCol="0" anchor="ctr"/>
              <a:lstStyle/>
              <a:p>
                <a:endParaRPr lang="en-US"/>
              </a:p>
            </p:txBody>
          </p:sp>
          <p:sp>
            <p:nvSpPr>
              <p:cNvPr id="24" name="Freeform: Shape 89">
                <a:extLst>
                  <a:ext uri="{FF2B5EF4-FFF2-40B4-BE49-F238E27FC236}">
                    <a16:creationId xmlns:a16="http://schemas.microsoft.com/office/drawing/2014/main" id="{B8A63F9C-EC0A-92F9-2A3B-AEACD6E4D09F}"/>
                  </a:ext>
                </a:extLst>
              </p:cNvPr>
              <p:cNvSpPr/>
              <p:nvPr/>
            </p:nvSpPr>
            <p:spPr>
              <a:xfrm>
                <a:off x="7082166" y="1838623"/>
                <a:ext cx="576876" cy="232968"/>
              </a:xfrm>
              <a:custGeom>
                <a:avLst/>
                <a:gdLst>
                  <a:gd name="connsiteX0" fmla="*/ -1 w 309562"/>
                  <a:gd name="connsiteY0" fmla="*/ 0 h 125015"/>
                  <a:gd name="connsiteX1" fmla="*/ 309562 w 309562"/>
                  <a:gd name="connsiteY1" fmla="*/ 125016 h 125015"/>
                </a:gdLst>
                <a:ahLst/>
                <a:cxnLst>
                  <a:cxn ang="0">
                    <a:pos x="connsiteX0" y="connsiteY0"/>
                  </a:cxn>
                  <a:cxn ang="0">
                    <a:pos x="connsiteX1" y="connsiteY1"/>
                  </a:cxn>
                </a:cxnLst>
                <a:rect l="l" t="t" r="r" b="b"/>
                <a:pathLst>
                  <a:path w="309562" h="125015">
                    <a:moveTo>
                      <a:pt x="-1" y="0"/>
                    </a:moveTo>
                    <a:lnTo>
                      <a:pt x="309562" y="125016"/>
                    </a:lnTo>
                  </a:path>
                </a:pathLst>
              </a:custGeom>
              <a:noFill/>
              <a:ln w="28575" cap="flat">
                <a:solidFill>
                  <a:srgbClr val="FFBDBD"/>
                </a:solidFill>
                <a:prstDash val="solid"/>
                <a:miter/>
              </a:ln>
            </p:spPr>
            <p:txBody>
              <a:bodyPr rtlCol="0" anchor="ctr"/>
              <a:lstStyle/>
              <a:p>
                <a:endParaRPr lang="en-US"/>
              </a:p>
            </p:txBody>
          </p:sp>
          <p:sp>
            <p:nvSpPr>
              <p:cNvPr id="25" name="Freeform: Shape 90">
                <a:extLst>
                  <a:ext uri="{FF2B5EF4-FFF2-40B4-BE49-F238E27FC236}">
                    <a16:creationId xmlns:a16="http://schemas.microsoft.com/office/drawing/2014/main" id="{851AA890-2593-C00D-E7EE-7C7D02E7E5D9}"/>
                  </a:ext>
                </a:extLst>
              </p:cNvPr>
              <p:cNvSpPr/>
              <p:nvPr/>
            </p:nvSpPr>
            <p:spPr>
              <a:xfrm>
                <a:off x="7082166" y="1605652"/>
                <a:ext cx="576876" cy="698907"/>
              </a:xfrm>
              <a:custGeom>
                <a:avLst/>
                <a:gdLst>
                  <a:gd name="connsiteX0" fmla="*/ -1 w 309562"/>
                  <a:gd name="connsiteY0" fmla="*/ 375047 h 375046"/>
                  <a:gd name="connsiteX1" fmla="*/ 309562 w 309562"/>
                  <a:gd name="connsiteY1" fmla="*/ 0 h 375046"/>
                </a:gdLst>
                <a:ahLst/>
                <a:cxnLst>
                  <a:cxn ang="0">
                    <a:pos x="connsiteX0" y="connsiteY0"/>
                  </a:cxn>
                  <a:cxn ang="0">
                    <a:pos x="connsiteX1" y="connsiteY1"/>
                  </a:cxn>
                </a:cxnLst>
                <a:rect l="l" t="t" r="r" b="b"/>
                <a:pathLst>
                  <a:path w="309562" h="375046">
                    <a:moveTo>
                      <a:pt x="-1" y="375047"/>
                    </a:moveTo>
                    <a:lnTo>
                      <a:pt x="309562" y="0"/>
                    </a:lnTo>
                  </a:path>
                </a:pathLst>
              </a:custGeom>
              <a:noFill/>
              <a:ln w="28575" cap="flat">
                <a:solidFill>
                  <a:srgbClr val="3131FF"/>
                </a:solidFill>
                <a:prstDash val="solid"/>
                <a:miter/>
              </a:ln>
            </p:spPr>
            <p:txBody>
              <a:bodyPr rtlCol="0" anchor="ctr"/>
              <a:lstStyle/>
              <a:p>
                <a:endParaRPr lang="en-US"/>
              </a:p>
            </p:txBody>
          </p:sp>
          <p:sp>
            <p:nvSpPr>
              <p:cNvPr id="26" name="Freeform: Shape 91">
                <a:extLst>
                  <a:ext uri="{FF2B5EF4-FFF2-40B4-BE49-F238E27FC236}">
                    <a16:creationId xmlns:a16="http://schemas.microsoft.com/office/drawing/2014/main" id="{7FF2FC31-205B-3FF6-ABE4-64879C416A0E}"/>
                  </a:ext>
                </a:extLst>
              </p:cNvPr>
              <p:cNvSpPr/>
              <p:nvPr/>
            </p:nvSpPr>
            <p:spPr>
              <a:xfrm>
                <a:off x="7082166" y="2071593"/>
                <a:ext cx="576876" cy="232968"/>
              </a:xfrm>
              <a:custGeom>
                <a:avLst/>
                <a:gdLst>
                  <a:gd name="connsiteX0" fmla="*/ -1 w 309562"/>
                  <a:gd name="connsiteY0" fmla="*/ 125016 h 125015"/>
                  <a:gd name="connsiteX1" fmla="*/ 309562 w 309562"/>
                  <a:gd name="connsiteY1" fmla="*/ 0 h 125015"/>
                </a:gdLst>
                <a:ahLst/>
                <a:cxnLst>
                  <a:cxn ang="0">
                    <a:pos x="connsiteX0" y="connsiteY0"/>
                  </a:cxn>
                  <a:cxn ang="0">
                    <a:pos x="connsiteX1" y="connsiteY1"/>
                  </a:cxn>
                </a:cxnLst>
                <a:rect l="l" t="t" r="r" b="b"/>
                <a:pathLst>
                  <a:path w="309562" h="125015">
                    <a:moveTo>
                      <a:pt x="-1" y="125016"/>
                    </a:moveTo>
                    <a:lnTo>
                      <a:pt x="309562" y="0"/>
                    </a:lnTo>
                  </a:path>
                </a:pathLst>
              </a:custGeom>
              <a:noFill/>
              <a:ln w="28575" cap="flat">
                <a:solidFill>
                  <a:srgbClr val="9C9CFF"/>
                </a:solidFill>
                <a:prstDash val="solid"/>
                <a:miter/>
              </a:ln>
            </p:spPr>
            <p:txBody>
              <a:bodyPr rtlCol="0" anchor="ctr"/>
              <a:lstStyle/>
              <a:p>
                <a:endParaRPr lang="en-US"/>
              </a:p>
            </p:txBody>
          </p:sp>
          <p:sp>
            <p:nvSpPr>
              <p:cNvPr id="27" name="Freeform: Shape 92">
                <a:extLst>
                  <a:ext uri="{FF2B5EF4-FFF2-40B4-BE49-F238E27FC236}">
                    <a16:creationId xmlns:a16="http://schemas.microsoft.com/office/drawing/2014/main" id="{E31E82B4-A6F5-1FB6-75D0-E7CEE8F7F47D}"/>
                  </a:ext>
                </a:extLst>
              </p:cNvPr>
              <p:cNvSpPr/>
              <p:nvPr/>
            </p:nvSpPr>
            <p:spPr>
              <a:xfrm>
                <a:off x="7659042" y="1605652"/>
                <a:ext cx="576876" cy="465939"/>
              </a:xfrm>
              <a:custGeom>
                <a:avLst/>
                <a:gdLst>
                  <a:gd name="connsiteX0" fmla="*/ -1 w 309562"/>
                  <a:gd name="connsiteY0" fmla="*/ 0 h 250031"/>
                  <a:gd name="connsiteX1" fmla="*/ 309562 w 309562"/>
                  <a:gd name="connsiteY1" fmla="*/ 250031 h 250031"/>
                </a:gdLst>
                <a:ahLst/>
                <a:cxnLst>
                  <a:cxn ang="0">
                    <a:pos x="connsiteX0" y="connsiteY0"/>
                  </a:cxn>
                  <a:cxn ang="0">
                    <a:pos x="connsiteX1" y="connsiteY1"/>
                  </a:cxn>
                </a:cxnLst>
                <a:rect l="l" t="t" r="r" b="b"/>
                <a:pathLst>
                  <a:path w="309562" h="250031">
                    <a:moveTo>
                      <a:pt x="-1" y="0"/>
                    </a:moveTo>
                    <a:lnTo>
                      <a:pt x="309562" y="250031"/>
                    </a:lnTo>
                  </a:path>
                </a:pathLst>
              </a:custGeom>
              <a:noFill/>
              <a:ln w="28575" cap="flat">
                <a:solidFill>
                  <a:srgbClr val="FF7474"/>
                </a:solidFill>
                <a:prstDash val="solid"/>
                <a:miter/>
              </a:ln>
            </p:spPr>
            <p:txBody>
              <a:bodyPr rtlCol="0" anchor="ctr"/>
              <a:lstStyle/>
              <a:p>
                <a:endParaRPr lang="en-US"/>
              </a:p>
            </p:txBody>
          </p:sp>
          <p:sp>
            <p:nvSpPr>
              <p:cNvPr id="28" name="Freeform: Shape 93">
                <a:extLst>
                  <a:ext uri="{FF2B5EF4-FFF2-40B4-BE49-F238E27FC236}">
                    <a16:creationId xmlns:a16="http://schemas.microsoft.com/office/drawing/2014/main" id="{7B858AEA-E6A5-FE2B-0170-C40C842F68A2}"/>
                  </a:ext>
                </a:extLst>
              </p:cNvPr>
              <p:cNvSpPr/>
              <p:nvPr/>
            </p:nvSpPr>
            <p:spPr>
              <a:xfrm>
                <a:off x="7659042" y="2071593"/>
                <a:ext cx="576876" cy="11094"/>
              </a:xfrm>
              <a:custGeom>
                <a:avLst/>
                <a:gdLst>
                  <a:gd name="connsiteX0" fmla="*/ -1 w 309562"/>
                  <a:gd name="connsiteY0" fmla="*/ 0 h 5953"/>
                  <a:gd name="connsiteX1" fmla="*/ 309562 w 309562"/>
                  <a:gd name="connsiteY1" fmla="*/ 0 h 5953"/>
                </a:gdLst>
                <a:ahLst/>
                <a:cxnLst>
                  <a:cxn ang="0">
                    <a:pos x="connsiteX0" y="connsiteY0"/>
                  </a:cxn>
                  <a:cxn ang="0">
                    <a:pos x="connsiteX1" y="connsiteY1"/>
                  </a:cxn>
                </a:cxnLst>
                <a:rect l="l" t="t" r="r" b="b"/>
                <a:pathLst>
                  <a:path w="309562" h="5953">
                    <a:moveTo>
                      <a:pt x="-1" y="0"/>
                    </a:moveTo>
                    <a:lnTo>
                      <a:pt x="309562" y="0"/>
                    </a:lnTo>
                  </a:path>
                </a:pathLst>
              </a:custGeom>
              <a:noFill/>
              <a:ln w="28575" cap="flat">
                <a:solidFill>
                  <a:srgbClr val="FFCECE"/>
                </a:solidFill>
                <a:prstDash val="solid"/>
                <a:miter/>
              </a:ln>
            </p:spPr>
            <p:txBody>
              <a:bodyPr rtlCol="0" anchor="ctr"/>
              <a:lstStyle/>
              <a:p>
                <a:endParaRPr lang="en-US"/>
              </a:p>
            </p:txBody>
          </p:sp>
          <p:sp>
            <p:nvSpPr>
              <p:cNvPr id="29" name="Freeform: Shape 94">
                <a:extLst>
                  <a:ext uri="{FF2B5EF4-FFF2-40B4-BE49-F238E27FC236}">
                    <a16:creationId xmlns:a16="http://schemas.microsoft.com/office/drawing/2014/main" id="{E457F8BB-9362-2427-0477-7455DE799311}"/>
                  </a:ext>
                </a:extLst>
              </p:cNvPr>
              <p:cNvSpPr/>
              <p:nvPr/>
            </p:nvSpPr>
            <p:spPr>
              <a:xfrm>
                <a:off x="7082166" y="2304561"/>
                <a:ext cx="576876" cy="232968"/>
              </a:xfrm>
              <a:custGeom>
                <a:avLst/>
                <a:gdLst>
                  <a:gd name="connsiteX0" fmla="*/ -1 w 309562"/>
                  <a:gd name="connsiteY0" fmla="*/ 0 h 125015"/>
                  <a:gd name="connsiteX1" fmla="*/ 309562 w 309562"/>
                  <a:gd name="connsiteY1" fmla="*/ 125016 h 125015"/>
                </a:gdLst>
                <a:ahLst/>
                <a:cxnLst>
                  <a:cxn ang="0">
                    <a:pos x="connsiteX0" y="connsiteY0"/>
                  </a:cxn>
                  <a:cxn ang="0">
                    <a:pos x="connsiteX1" y="connsiteY1"/>
                  </a:cxn>
                </a:cxnLst>
                <a:rect l="l" t="t" r="r" b="b"/>
                <a:pathLst>
                  <a:path w="309562" h="125015">
                    <a:moveTo>
                      <a:pt x="-1" y="0"/>
                    </a:moveTo>
                    <a:lnTo>
                      <a:pt x="309562" y="125016"/>
                    </a:lnTo>
                  </a:path>
                </a:pathLst>
              </a:custGeom>
              <a:noFill/>
              <a:ln w="28575" cap="flat">
                <a:solidFill>
                  <a:srgbClr val="1F1FFF"/>
                </a:solidFill>
                <a:prstDash val="solid"/>
                <a:miter/>
              </a:ln>
            </p:spPr>
            <p:txBody>
              <a:bodyPr rtlCol="0" anchor="ctr"/>
              <a:lstStyle/>
              <a:p>
                <a:endParaRPr lang="en-US"/>
              </a:p>
            </p:txBody>
          </p:sp>
          <p:sp>
            <p:nvSpPr>
              <p:cNvPr id="30" name="Freeform: Shape 95">
                <a:extLst>
                  <a:ext uri="{FF2B5EF4-FFF2-40B4-BE49-F238E27FC236}">
                    <a16:creationId xmlns:a16="http://schemas.microsoft.com/office/drawing/2014/main" id="{03651CE1-D18E-C038-29B8-3542BA60E979}"/>
                  </a:ext>
                </a:extLst>
              </p:cNvPr>
              <p:cNvSpPr/>
              <p:nvPr/>
            </p:nvSpPr>
            <p:spPr>
              <a:xfrm>
                <a:off x="7082166" y="2537532"/>
                <a:ext cx="576876" cy="232968"/>
              </a:xfrm>
              <a:custGeom>
                <a:avLst/>
                <a:gdLst>
                  <a:gd name="connsiteX0" fmla="*/ -1 w 309562"/>
                  <a:gd name="connsiteY0" fmla="*/ 125016 h 125015"/>
                  <a:gd name="connsiteX1" fmla="*/ 309562 w 309562"/>
                  <a:gd name="connsiteY1" fmla="*/ 0 h 125015"/>
                </a:gdLst>
                <a:ahLst/>
                <a:cxnLst>
                  <a:cxn ang="0">
                    <a:pos x="connsiteX0" y="connsiteY0"/>
                  </a:cxn>
                  <a:cxn ang="0">
                    <a:pos x="connsiteX1" y="connsiteY1"/>
                  </a:cxn>
                </a:cxnLst>
                <a:rect l="l" t="t" r="r" b="b"/>
                <a:pathLst>
                  <a:path w="309562" h="125015">
                    <a:moveTo>
                      <a:pt x="-1" y="125016"/>
                    </a:moveTo>
                    <a:lnTo>
                      <a:pt x="309562" y="0"/>
                    </a:lnTo>
                  </a:path>
                </a:pathLst>
              </a:custGeom>
              <a:noFill/>
              <a:ln w="28575" cap="flat">
                <a:solidFill>
                  <a:srgbClr val="B5B5FF"/>
                </a:solidFill>
                <a:prstDash val="solid"/>
                <a:miter/>
              </a:ln>
            </p:spPr>
            <p:txBody>
              <a:bodyPr rtlCol="0" anchor="ctr"/>
              <a:lstStyle/>
              <a:p>
                <a:endParaRPr lang="en-US"/>
              </a:p>
            </p:txBody>
          </p:sp>
          <p:sp>
            <p:nvSpPr>
              <p:cNvPr id="31" name="Freeform: Shape 96">
                <a:extLst>
                  <a:ext uri="{FF2B5EF4-FFF2-40B4-BE49-F238E27FC236}">
                    <a16:creationId xmlns:a16="http://schemas.microsoft.com/office/drawing/2014/main" id="{7F058A22-C4F6-20FB-57DA-640870E023E9}"/>
                  </a:ext>
                </a:extLst>
              </p:cNvPr>
              <p:cNvSpPr/>
              <p:nvPr/>
            </p:nvSpPr>
            <p:spPr>
              <a:xfrm>
                <a:off x="7659042" y="2071593"/>
                <a:ext cx="576876" cy="465939"/>
              </a:xfrm>
              <a:custGeom>
                <a:avLst/>
                <a:gdLst>
                  <a:gd name="connsiteX0" fmla="*/ -1 w 309562"/>
                  <a:gd name="connsiteY0" fmla="*/ 250031 h 250031"/>
                  <a:gd name="connsiteX1" fmla="*/ 309562 w 309562"/>
                  <a:gd name="connsiteY1" fmla="*/ 0 h 250031"/>
                </a:gdLst>
                <a:ahLst/>
                <a:cxnLst>
                  <a:cxn ang="0">
                    <a:pos x="connsiteX0" y="connsiteY0"/>
                  </a:cxn>
                  <a:cxn ang="0">
                    <a:pos x="connsiteX1" y="connsiteY1"/>
                  </a:cxn>
                </a:cxnLst>
                <a:rect l="l" t="t" r="r" b="b"/>
                <a:pathLst>
                  <a:path w="309562" h="250031">
                    <a:moveTo>
                      <a:pt x="-1" y="250031"/>
                    </a:moveTo>
                    <a:lnTo>
                      <a:pt x="309562" y="0"/>
                    </a:lnTo>
                  </a:path>
                </a:pathLst>
              </a:custGeom>
              <a:noFill/>
              <a:ln w="28575" cap="flat">
                <a:solidFill>
                  <a:srgbClr val="FF6C6C"/>
                </a:solidFill>
                <a:prstDash val="solid"/>
                <a:miter/>
              </a:ln>
            </p:spPr>
            <p:txBody>
              <a:bodyPr rtlCol="0" anchor="ctr"/>
              <a:lstStyle/>
              <a:p>
                <a:endParaRPr lang="en-US"/>
              </a:p>
            </p:txBody>
          </p:sp>
          <p:sp>
            <p:nvSpPr>
              <p:cNvPr id="32" name="Freeform: Shape 97">
                <a:extLst>
                  <a:ext uri="{FF2B5EF4-FFF2-40B4-BE49-F238E27FC236}">
                    <a16:creationId xmlns:a16="http://schemas.microsoft.com/office/drawing/2014/main" id="{A3217AFD-C699-7FF3-6A08-D05B999D1612}"/>
                  </a:ext>
                </a:extLst>
              </p:cNvPr>
              <p:cNvSpPr/>
              <p:nvPr/>
            </p:nvSpPr>
            <p:spPr>
              <a:xfrm>
                <a:off x="6383257" y="1483621"/>
                <a:ext cx="244062" cy="244062"/>
              </a:xfrm>
              <a:custGeom>
                <a:avLst/>
                <a:gdLst>
                  <a:gd name="connsiteX0" fmla="*/ 130968 w 130968"/>
                  <a:gd name="connsiteY0" fmla="*/ 65484 h 130968"/>
                  <a:gd name="connsiteX1" fmla="*/ 65483 w 130968"/>
                  <a:gd name="connsiteY1" fmla="*/ 130969 h 130968"/>
                  <a:gd name="connsiteX2" fmla="*/ -1 w 130968"/>
                  <a:gd name="connsiteY2" fmla="*/ 65484 h 130968"/>
                  <a:gd name="connsiteX3" fmla="*/ 65483 w 130968"/>
                  <a:gd name="connsiteY3" fmla="*/ 0 h 130968"/>
                  <a:gd name="connsiteX4" fmla="*/ 130968 w 130968"/>
                  <a:gd name="connsiteY4" fmla="*/ 65484 h 13096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0968" h="130968">
                    <a:moveTo>
                      <a:pt x="130968" y="65484"/>
                    </a:moveTo>
                    <a:cubicBezTo>
                      <a:pt x="130968" y="101650"/>
                      <a:pt x="101649" y="130969"/>
                      <a:pt x="65483" y="130969"/>
                    </a:cubicBezTo>
                    <a:cubicBezTo>
                      <a:pt x="29317" y="130969"/>
                      <a:pt x="-1" y="101650"/>
                      <a:pt x="-1" y="65484"/>
                    </a:cubicBezTo>
                    <a:cubicBezTo>
                      <a:pt x="-1" y="29318"/>
                      <a:pt x="29317" y="0"/>
                      <a:pt x="65483" y="0"/>
                    </a:cubicBezTo>
                    <a:cubicBezTo>
                      <a:pt x="101649" y="0"/>
                      <a:pt x="130968" y="29318"/>
                      <a:pt x="130968" y="65484"/>
                    </a:cubicBezTo>
                    <a:close/>
                  </a:path>
                </a:pathLst>
              </a:custGeom>
              <a:solidFill>
                <a:srgbClr val="FFFFFF"/>
              </a:solidFill>
              <a:ln w="28575" cap="flat">
                <a:solidFill>
                  <a:srgbClr val="333333"/>
                </a:solidFill>
                <a:prstDash val="solid"/>
                <a:miter/>
              </a:ln>
            </p:spPr>
            <p:txBody>
              <a:bodyPr rtlCol="0" anchor="ctr"/>
              <a:lstStyle/>
              <a:p>
                <a:endParaRPr lang="en-US"/>
              </a:p>
            </p:txBody>
          </p:sp>
          <p:sp>
            <p:nvSpPr>
              <p:cNvPr id="33" name="Freeform: Shape 98">
                <a:extLst>
                  <a:ext uri="{FF2B5EF4-FFF2-40B4-BE49-F238E27FC236}">
                    <a16:creationId xmlns:a16="http://schemas.microsoft.com/office/drawing/2014/main" id="{C45334BB-D37B-1A49-B5AE-1D5BEDF9C45A}"/>
                  </a:ext>
                </a:extLst>
              </p:cNvPr>
              <p:cNvSpPr/>
              <p:nvPr/>
            </p:nvSpPr>
            <p:spPr>
              <a:xfrm>
                <a:off x="6383257" y="1949560"/>
                <a:ext cx="244062" cy="244062"/>
              </a:xfrm>
              <a:custGeom>
                <a:avLst/>
                <a:gdLst>
                  <a:gd name="connsiteX0" fmla="*/ 130968 w 130968"/>
                  <a:gd name="connsiteY0" fmla="*/ 65484 h 130968"/>
                  <a:gd name="connsiteX1" fmla="*/ 65483 w 130968"/>
                  <a:gd name="connsiteY1" fmla="*/ 130969 h 130968"/>
                  <a:gd name="connsiteX2" fmla="*/ -1 w 130968"/>
                  <a:gd name="connsiteY2" fmla="*/ 65484 h 130968"/>
                  <a:gd name="connsiteX3" fmla="*/ 65483 w 130968"/>
                  <a:gd name="connsiteY3" fmla="*/ 0 h 130968"/>
                  <a:gd name="connsiteX4" fmla="*/ 130968 w 130968"/>
                  <a:gd name="connsiteY4" fmla="*/ 65484 h 13096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0968" h="130968">
                    <a:moveTo>
                      <a:pt x="130968" y="65484"/>
                    </a:moveTo>
                    <a:cubicBezTo>
                      <a:pt x="130968" y="101650"/>
                      <a:pt x="101649" y="130969"/>
                      <a:pt x="65483" y="130969"/>
                    </a:cubicBezTo>
                    <a:cubicBezTo>
                      <a:pt x="29317" y="130969"/>
                      <a:pt x="-1" y="101650"/>
                      <a:pt x="-1" y="65484"/>
                    </a:cubicBezTo>
                    <a:cubicBezTo>
                      <a:pt x="-1" y="29318"/>
                      <a:pt x="29317" y="0"/>
                      <a:pt x="65483" y="0"/>
                    </a:cubicBezTo>
                    <a:cubicBezTo>
                      <a:pt x="101649" y="0"/>
                      <a:pt x="130968" y="29318"/>
                      <a:pt x="130968" y="65484"/>
                    </a:cubicBezTo>
                    <a:close/>
                  </a:path>
                </a:pathLst>
              </a:custGeom>
              <a:solidFill>
                <a:srgbClr val="FFFFFF"/>
              </a:solidFill>
              <a:ln w="28575" cap="flat">
                <a:solidFill>
                  <a:srgbClr val="333333"/>
                </a:solidFill>
                <a:prstDash val="solid"/>
                <a:miter/>
              </a:ln>
            </p:spPr>
            <p:txBody>
              <a:bodyPr rtlCol="0" anchor="ctr"/>
              <a:lstStyle/>
              <a:p>
                <a:endParaRPr lang="en-US"/>
              </a:p>
            </p:txBody>
          </p:sp>
          <p:sp>
            <p:nvSpPr>
              <p:cNvPr id="34" name="Freeform: Shape 99">
                <a:extLst>
                  <a:ext uri="{FF2B5EF4-FFF2-40B4-BE49-F238E27FC236}">
                    <a16:creationId xmlns:a16="http://schemas.microsoft.com/office/drawing/2014/main" id="{221A8572-309B-07C0-AA5B-0B046015C1B8}"/>
                  </a:ext>
                </a:extLst>
              </p:cNvPr>
              <p:cNvSpPr/>
              <p:nvPr/>
            </p:nvSpPr>
            <p:spPr>
              <a:xfrm>
                <a:off x="6383257" y="2415501"/>
                <a:ext cx="244062" cy="244062"/>
              </a:xfrm>
              <a:custGeom>
                <a:avLst/>
                <a:gdLst>
                  <a:gd name="connsiteX0" fmla="*/ 130968 w 130968"/>
                  <a:gd name="connsiteY0" fmla="*/ 65484 h 130968"/>
                  <a:gd name="connsiteX1" fmla="*/ 65483 w 130968"/>
                  <a:gd name="connsiteY1" fmla="*/ 130969 h 130968"/>
                  <a:gd name="connsiteX2" fmla="*/ -1 w 130968"/>
                  <a:gd name="connsiteY2" fmla="*/ 65484 h 130968"/>
                  <a:gd name="connsiteX3" fmla="*/ 65483 w 130968"/>
                  <a:gd name="connsiteY3" fmla="*/ 0 h 130968"/>
                  <a:gd name="connsiteX4" fmla="*/ 130968 w 130968"/>
                  <a:gd name="connsiteY4" fmla="*/ 65484 h 13096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0968" h="130968">
                    <a:moveTo>
                      <a:pt x="130968" y="65484"/>
                    </a:moveTo>
                    <a:cubicBezTo>
                      <a:pt x="130968" y="101650"/>
                      <a:pt x="101649" y="130969"/>
                      <a:pt x="65483" y="130969"/>
                    </a:cubicBezTo>
                    <a:cubicBezTo>
                      <a:pt x="29317" y="130969"/>
                      <a:pt x="-1" y="101650"/>
                      <a:pt x="-1" y="65484"/>
                    </a:cubicBezTo>
                    <a:cubicBezTo>
                      <a:pt x="-1" y="29318"/>
                      <a:pt x="29317" y="0"/>
                      <a:pt x="65483" y="0"/>
                    </a:cubicBezTo>
                    <a:cubicBezTo>
                      <a:pt x="101649" y="0"/>
                      <a:pt x="130968" y="29318"/>
                      <a:pt x="130968" y="65484"/>
                    </a:cubicBezTo>
                    <a:close/>
                  </a:path>
                </a:pathLst>
              </a:custGeom>
              <a:solidFill>
                <a:srgbClr val="FFFFFF"/>
              </a:solidFill>
              <a:ln w="28575" cap="flat">
                <a:solidFill>
                  <a:srgbClr val="333333"/>
                </a:solidFill>
                <a:prstDash val="solid"/>
                <a:miter/>
              </a:ln>
            </p:spPr>
            <p:txBody>
              <a:bodyPr rtlCol="0" anchor="ctr"/>
              <a:lstStyle/>
              <a:p>
                <a:endParaRPr lang="en-US"/>
              </a:p>
            </p:txBody>
          </p:sp>
          <p:sp>
            <p:nvSpPr>
              <p:cNvPr id="35" name="Freeform: Shape 100">
                <a:extLst>
                  <a:ext uri="{FF2B5EF4-FFF2-40B4-BE49-F238E27FC236}">
                    <a16:creationId xmlns:a16="http://schemas.microsoft.com/office/drawing/2014/main" id="{14A02D69-991F-D287-5F23-F3699EDAD536}"/>
                  </a:ext>
                </a:extLst>
              </p:cNvPr>
              <p:cNvSpPr/>
              <p:nvPr/>
            </p:nvSpPr>
            <p:spPr>
              <a:xfrm>
                <a:off x="6960135" y="1250651"/>
                <a:ext cx="244062" cy="244062"/>
              </a:xfrm>
              <a:custGeom>
                <a:avLst/>
                <a:gdLst>
                  <a:gd name="connsiteX0" fmla="*/ 130968 w 130968"/>
                  <a:gd name="connsiteY0" fmla="*/ 65484 h 130968"/>
                  <a:gd name="connsiteX1" fmla="*/ 65483 w 130968"/>
                  <a:gd name="connsiteY1" fmla="*/ 130969 h 130968"/>
                  <a:gd name="connsiteX2" fmla="*/ -1 w 130968"/>
                  <a:gd name="connsiteY2" fmla="*/ 65484 h 130968"/>
                  <a:gd name="connsiteX3" fmla="*/ 65483 w 130968"/>
                  <a:gd name="connsiteY3" fmla="*/ 0 h 130968"/>
                  <a:gd name="connsiteX4" fmla="*/ 130968 w 130968"/>
                  <a:gd name="connsiteY4" fmla="*/ 65484 h 13096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0968" h="130968">
                    <a:moveTo>
                      <a:pt x="130968" y="65484"/>
                    </a:moveTo>
                    <a:cubicBezTo>
                      <a:pt x="130968" y="101650"/>
                      <a:pt x="101649" y="130969"/>
                      <a:pt x="65483" y="130969"/>
                    </a:cubicBezTo>
                    <a:cubicBezTo>
                      <a:pt x="29317" y="130969"/>
                      <a:pt x="-1" y="101650"/>
                      <a:pt x="-1" y="65484"/>
                    </a:cubicBezTo>
                    <a:cubicBezTo>
                      <a:pt x="-1" y="29318"/>
                      <a:pt x="29317" y="0"/>
                      <a:pt x="65483" y="0"/>
                    </a:cubicBezTo>
                    <a:cubicBezTo>
                      <a:pt x="101649" y="0"/>
                      <a:pt x="130968" y="29318"/>
                      <a:pt x="130968" y="65484"/>
                    </a:cubicBezTo>
                    <a:close/>
                  </a:path>
                </a:pathLst>
              </a:custGeom>
              <a:solidFill>
                <a:srgbClr val="FFFFFF"/>
              </a:solidFill>
              <a:ln w="28575" cap="flat">
                <a:solidFill>
                  <a:srgbClr val="333333"/>
                </a:solidFill>
                <a:prstDash val="solid"/>
                <a:miter/>
              </a:ln>
            </p:spPr>
            <p:txBody>
              <a:bodyPr rtlCol="0" anchor="ctr"/>
              <a:lstStyle/>
              <a:p>
                <a:endParaRPr lang="en-US"/>
              </a:p>
            </p:txBody>
          </p:sp>
          <p:sp>
            <p:nvSpPr>
              <p:cNvPr id="36" name="Freeform: Shape 101">
                <a:extLst>
                  <a:ext uri="{FF2B5EF4-FFF2-40B4-BE49-F238E27FC236}">
                    <a16:creationId xmlns:a16="http://schemas.microsoft.com/office/drawing/2014/main" id="{97A3D7CD-D853-07FF-53AF-FF90A25A531C}"/>
                  </a:ext>
                </a:extLst>
              </p:cNvPr>
              <p:cNvSpPr/>
              <p:nvPr/>
            </p:nvSpPr>
            <p:spPr>
              <a:xfrm>
                <a:off x="6960135" y="1716592"/>
                <a:ext cx="244062" cy="244062"/>
              </a:xfrm>
              <a:custGeom>
                <a:avLst/>
                <a:gdLst>
                  <a:gd name="connsiteX0" fmla="*/ 130968 w 130968"/>
                  <a:gd name="connsiteY0" fmla="*/ 65484 h 130968"/>
                  <a:gd name="connsiteX1" fmla="*/ 65483 w 130968"/>
                  <a:gd name="connsiteY1" fmla="*/ 130969 h 130968"/>
                  <a:gd name="connsiteX2" fmla="*/ -1 w 130968"/>
                  <a:gd name="connsiteY2" fmla="*/ 65484 h 130968"/>
                  <a:gd name="connsiteX3" fmla="*/ 65483 w 130968"/>
                  <a:gd name="connsiteY3" fmla="*/ 0 h 130968"/>
                  <a:gd name="connsiteX4" fmla="*/ 130968 w 130968"/>
                  <a:gd name="connsiteY4" fmla="*/ 65484 h 13096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0968" h="130968">
                    <a:moveTo>
                      <a:pt x="130968" y="65484"/>
                    </a:moveTo>
                    <a:cubicBezTo>
                      <a:pt x="130968" y="101650"/>
                      <a:pt x="101649" y="130969"/>
                      <a:pt x="65483" y="130969"/>
                    </a:cubicBezTo>
                    <a:cubicBezTo>
                      <a:pt x="29317" y="130969"/>
                      <a:pt x="-1" y="101650"/>
                      <a:pt x="-1" y="65484"/>
                    </a:cubicBezTo>
                    <a:cubicBezTo>
                      <a:pt x="-1" y="29318"/>
                      <a:pt x="29317" y="0"/>
                      <a:pt x="65483" y="0"/>
                    </a:cubicBezTo>
                    <a:cubicBezTo>
                      <a:pt x="101649" y="0"/>
                      <a:pt x="130968" y="29318"/>
                      <a:pt x="130968" y="65484"/>
                    </a:cubicBezTo>
                    <a:close/>
                  </a:path>
                </a:pathLst>
              </a:custGeom>
              <a:solidFill>
                <a:srgbClr val="FFFFFF"/>
              </a:solidFill>
              <a:ln w="28575" cap="flat">
                <a:solidFill>
                  <a:srgbClr val="333333"/>
                </a:solidFill>
                <a:prstDash val="solid"/>
                <a:miter/>
              </a:ln>
            </p:spPr>
            <p:txBody>
              <a:bodyPr rtlCol="0" anchor="ctr"/>
              <a:lstStyle/>
              <a:p>
                <a:endParaRPr lang="en-US"/>
              </a:p>
            </p:txBody>
          </p:sp>
          <p:sp>
            <p:nvSpPr>
              <p:cNvPr id="37" name="Freeform: Shape 102">
                <a:extLst>
                  <a:ext uri="{FF2B5EF4-FFF2-40B4-BE49-F238E27FC236}">
                    <a16:creationId xmlns:a16="http://schemas.microsoft.com/office/drawing/2014/main" id="{1E487BDB-6F27-B2DC-FC51-7AD0AC3BF01A}"/>
                  </a:ext>
                </a:extLst>
              </p:cNvPr>
              <p:cNvSpPr/>
              <p:nvPr/>
            </p:nvSpPr>
            <p:spPr>
              <a:xfrm>
                <a:off x="6960135" y="2182530"/>
                <a:ext cx="244062" cy="244062"/>
              </a:xfrm>
              <a:custGeom>
                <a:avLst/>
                <a:gdLst>
                  <a:gd name="connsiteX0" fmla="*/ 130968 w 130968"/>
                  <a:gd name="connsiteY0" fmla="*/ 65484 h 130968"/>
                  <a:gd name="connsiteX1" fmla="*/ 65483 w 130968"/>
                  <a:gd name="connsiteY1" fmla="*/ 130969 h 130968"/>
                  <a:gd name="connsiteX2" fmla="*/ -1 w 130968"/>
                  <a:gd name="connsiteY2" fmla="*/ 65484 h 130968"/>
                  <a:gd name="connsiteX3" fmla="*/ 65483 w 130968"/>
                  <a:gd name="connsiteY3" fmla="*/ 0 h 130968"/>
                  <a:gd name="connsiteX4" fmla="*/ 130968 w 130968"/>
                  <a:gd name="connsiteY4" fmla="*/ 65484 h 13096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0968" h="130968">
                    <a:moveTo>
                      <a:pt x="130968" y="65484"/>
                    </a:moveTo>
                    <a:cubicBezTo>
                      <a:pt x="130968" y="101650"/>
                      <a:pt x="101649" y="130969"/>
                      <a:pt x="65483" y="130969"/>
                    </a:cubicBezTo>
                    <a:cubicBezTo>
                      <a:pt x="29317" y="130969"/>
                      <a:pt x="-1" y="101650"/>
                      <a:pt x="-1" y="65484"/>
                    </a:cubicBezTo>
                    <a:cubicBezTo>
                      <a:pt x="-1" y="29318"/>
                      <a:pt x="29317" y="0"/>
                      <a:pt x="65483" y="0"/>
                    </a:cubicBezTo>
                    <a:cubicBezTo>
                      <a:pt x="101649" y="0"/>
                      <a:pt x="130968" y="29318"/>
                      <a:pt x="130968" y="65484"/>
                    </a:cubicBezTo>
                    <a:close/>
                  </a:path>
                </a:pathLst>
              </a:custGeom>
              <a:solidFill>
                <a:srgbClr val="FFFFFF"/>
              </a:solidFill>
              <a:ln w="28575" cap="flat">
                <a:solidFill>
                  <a:srgbClr val="333333"/>
                </a:solidFill>
                <a:prstDash val="solid"/>
                <a:miter/>
              </a:ln>
            </p:spPr>
            <p:txBody>
              <a:bodyPr rtlCol="0" anchor="ctr"/>
              <a:lstStyle/>
              <a:p>
                <a:endParaRPr lang="en-US"/>
              </a:p>
            </p:txBody>
          </p:sp>
          <p:sp>
            <p:nvSpPr>
              <p:cNvPr id="38" name="Freeform: Shape 103">
                <a:extLst>
                  <a:ext uri="{FF2B5EF4-FFF2-40B4-BE49-F238E27FC236}">
                    <a16:creationId xmlns:a16="http://schemas.microsoft.com/office/drawing/2014/main" id="{CFBF7995-53A0-FEA9-6D88-7FFC244FC023}"/>
                  </a:ext>
                </a:extLst>
              </p:cNvPr>
              <p:cNvSpPr/>
              <p:nvPr/>
            </p:nvSpPr>
            <p:spPr>
              <a:xfrm>
                <a:off x="6960135" y="2648469"/>
                <a:ext cx="244062" cy="244062"/>
              </a:xfrm>
              <a:custGeom>
                <a:avLst/>
                <a:gdLst>
                  <a:gd name="connsiteX0" fmla="*/ 130968 w 130968"/>
                  <a:gd name="connsiteY0" fmla="*/ 65484 h 130968"/>
                  <a:gd name="connsiteX1" fmla="*/ 65483 w 130968"/>
                  <a:gd name="connsiteY1" fmla="*/ 130969 h 130968"/>
                  <a:gd name="connsiteX2" fmla="*/ -1 w 130968"/>
                  <a:gd name="connsiteY2" fmla="*/ 65484 h 130968"/>
                  <a:gd name="connsiteX3" fmla="*/ 65483 w 130968"/>
                  <a:gd name="connsiteY3" fmla="*/ 0 h 130968"/>
                  <a:gd name="connsiteX4" fmla="*/ 130968 w 130968"/>
                  <a:gd name="connsiteY4" fmla="*/ 65484 h 13096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0968" h="130968">
                    <a:moveTo>
                      <a:pt x="130968" y="65484"/>
                    </a:moveTo>
                    <a:cubicBezTo>
                      <a:pt x="130968" y="101650"/>
                      <a:pt x="101649" y="130969"/>
                      <a:pt x="65483" y="130969"/>
                    </a:cubicBezTo>
                    <a:cubicBezTo>
                      <a:pt x="29317" y="130969"/>
                      <a:pt x="-1" y="101650"/>
                      <a:pt x="-1" y="65484"/>
                    </a:cubicBezTo>
                    <a:cubicBezTo>
                      <a:pt x="-1" y="29318"/>
                      <a:pt x="29317" y="0"/>
                      <a:pt x="65483" y="0"/>
                    </a:cubicBezTo>
                    <a:cubicBezTo>
                      <a:pt x="101649" y="0"/>
                      <a:pt x="130968" y="29318"/>
                      <a:pt x="130968" y="65484"/>
                    </a:cubicBezTo>
                    <a:close/>
                  </a:path>
                </a:pathLst>
              </a:custGeom>
              <a:solidFill>
                <a:srgbClr val="FFFFFF"/>
              </a:solidFill>
              <a:ln w="28575" cap="flat">
                <a:solidFill>
                  <a:srgbClr val="333333"/>
                </a:solidFill>
                <a:prstDash val="solid"/>
                <a:miter/>
              </a:ln>
            </p:spPr>
            <p:txBody>
              <a:bodyPr rtlCol="0" anchor="ctr"/>
              <a:lstStyle/>
              <a:p>
                <a:endParaRPr lang="en-US"/>
              </a:p>
            </p:txBody>
          </p:sp>
          <p:sp>
            <p:nvSpPr>
              <p:cNvPr id="39" name="Freeform: Shape 104">
                <a:extLst>
                  <a:ext uri="{FF2B5EF4-FFF2-40B4-BE49-F238E27FC236}">
                    <a16:creationId xmlns:a16="http://schemas.microsoft.com/office/drawing/2014/main" id="{0B3D13C6-A25B-ACBC-6BF7-CE4105AFDC4C}"/>
                  </a:ext>
                </a:extLst>
              </p:cNvPr>
              <p:cNvSpPr/>
              <p:nvPr/>
            </p:nvSpPr>
            <p:spPr>
              <a:xfrm>
                <a:off x="7537011" y="1483621"/>
                <a:ext cx="244062" cy="244062"/>
              </a:xfrm>
              <a:custGeom>
                <a:avLst/>
                <a:gdLst>
                  <a:gd name="connsiteX0" fmla="*/ 130968 w 130968"/>
                  <a:gd name="connsiteY0" fmla="*/ 65484 h 130968"/>
                  <a:gd name="connsiteX1" fmla="*/ 65483 w 130968"/>
                  <a:gd name="connsiteY1" fmla="*/ 130969 h 130968"/>
                  <a:gd name="connsiteX2" fmla="*/ -1 w 130968"/>
                  <a:gd name="connsiteY2" fmla="*/ 65484 h 130968"/>
                  <a:gd name="connsiteX3" fmla="*/ 65483 w 130968"/>
                  <a:gd name="connsiteY3" fmla="*/ 0 h 130968"/>
                  <a:gd name="connsiteX4" fmla="*/ 130968 w 130968"/>
                  <a:gd name="connsiteY4" fmla="*/ 65484 h 13096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0968" h="130968">
                    <a:moveTo>
                      <a:pt x="130968" y="65484"/>
                    </a:moveTo>
                    <a:cubicBezTo>
                      <a:pt x="130968" y="101650"/>
                      <a:pt x="101649" y="130969"/>
                      <a:pt x="65483" y="130969"/>
                    </a:cubicBezTo>
                    <a:cubicBezTo>
                      <a:pt x="29317" y="130969"/>
                      <a:pt x="-1" y="101650"/>
                      <a:pt x="-1" y="65484"/>
                    </a:cubicBezTo>
                    <a:cubicBezTo>
                      <a:pt x="-1" y="29318"/>
                      <a:pt x="29317" y="0"/>
                      <a:pt x="65483" y="0"/>
                    </a:cubicBezTo>
                    <a:cubicBezTo>
                      <a:pt x="101649" y="0"/>
                      <a:pt x="130968" y="29318"/>
                      <a:pt x="130968" y="65484"/>
                    </a:cubicBezTo>
                    <a:close/>
                  </a:path>
                </a:pathLst>
              </a:custGeom>
              <a:solidFill>
                <a:srgbClr val="FFFFFF"/>
              </a:solidFill>
              <a:ln w="28575" cap="flat">
                <a:solidFill>
                  <a:srgbClr val="333333"/>
                </a:solidFill>
                <a:prstDash val="solid"/>
                <a:miter/>
              </a:ln>
            </p:spPr>
            <p:txBody>
              <a:bodyPr rtlCol="0" anchor="ctr"/>
              <a:lstStyle/>
              <a:p>
                <a:endParaRPr lang="en-US"/>
              </a:p>
            </p:txBody>
          </p:sp>
          <p:sp>
            <p:nvSpPr>
              <p:cNvPr id="40" name="Freeform: Shape 105">
                <a:extLst>
                  <a:ext uri="{FF2B5EF4-FFF2-40B4-BE49-F238E27FC236}">
                    <a16:creationId xmlns:a16="http://schemas.microsoft.com/office/drawing/2014/main" id="{A3AC57CD-9B47-9DDE-3A81-EFA368B9D7CB}"/>
                  </a:ext>
                </a:extLst>
              </p:cNvPr>
              <p:cNvSpPr/>
              <p:nvPr/>
            </p:nvSpPr>
            <p:spPr>
              <a:xfrm>
                <a:off x="7537011" y="1949560"/>
                <a:ext cx="244062" cy="244062"/>
              </a:xfrm>
              <a:custGeom>
                <a:avLst/>
                <a:gdLst>
                  <a:gd name="connsiteX0" fmla="*/ 130968 w 130968"/>
                  <a:gd name="connsiteY0" fmla="*/ 65484 h 130968"/>
                  <a:gd name="connsiteX1" fmla="*/ 65483 w 130968"/>
                  <a:gd name="connsiteY1" fmla="*/ 130969 h 130968"/>
                  <a:gd name="connsiteX2" fmla="*/ -1 w 130968"/>
                  <a:gd name="connsiteY2" fmla="*/ 65484 h 130968"/>
                  <a:gd name="connsiteX3" fmla="*/ 65483 w 130968"/>
                  <a:gd name="connsiteY3" fmla="*/ 0 h 130968"/>
                  <a:gd name="connsiteX4" fmla="*/ 130968 w 130968"/>
                  <a:gd name="connsiteY4" fmla="*/ 65484 h 13096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0968" h="130968">
                    <a:moveTo>
                      <a:pt x="130968" y="65484"/>
                    </a:moveTo>
                    <a:cubicBezTo>
                      <a:pt x="130968" y="101650"/>
                      <a:pt x="101649" y="130969"/>
                      <a:pt x="65483" y="130969"/>
                    </a:cubicBezTo>
                    <a:cubicBezTo>
                      <a:pt x="29317" y="130969"/>
                      <a:pt x="-1" y="101650"/>
                      <a:pt x="-1" y="65484"/>
                    </a:cubicBezTo>
                    <a:cubicBezTo>
                      <a:pt x="-1" y="29318"/>
                      <a:pt x="29317" y="0"/>
                      <a:pt x="65483" y="0"/>
                    </a:cubicBezTo>
                    <a:cubicBezTo>
                      <a:pt x="101649" y="0"/>
                      <a:pt x="130968" y="29318"/>
                      <a:pt x="130968" y="65484"/>
                    </a:cubicBezTo>
                    <a:close/>
                  </a:path>
                </a:pathLst>
              </a:custGeom>
              <a:solidFill>
                <a:srgbClr val="FFFFFF"/>
              </a:solidFill>
              <a:ln w="28575" cap="flat">
                <a:solidFill>
                  <a:srgbClr val="333333"/>
                </a:solidFill>
                <a:prstDash val="solid"/>
                <a:miter/>
              </a:ln>
            </p:spPr>
            <p:txBody>
              <a:bodyPr rtlCol="0" anchor="ctr"/>
              <a:lstStyle/>
              <a:p>
                <a:endParaRPr lang="en-US"/>
              </a:p>
            </p:txBody>
          </p:sp>
          <p:sp>
            <p:nvSpPr>
              <p:cNvPr id="41" name="Freeform: Shape 106">
                <a:extLst>
                  <a:ext uri="{FF2B5EF4-FFF2-40B4-BE49-F238E27FC236}">
                    <a16:creationId xmlns:a16="http://schemas.microsoft.com/office/drawing/2014/main" id="{CCEA0478-E571-D099-1846-832E4645D333}"/>
                  </a:ext>
                </a:extLst>
              </p:cNvPr>
              <p:cNvSpPr/>
              <p:nvPr/>
            </p:nvSpPr>
            <p:spPr>
              <a:xfrm>
                <a:off x="7537011" y="2415501"/>
                <a:ext cx="244062" cy="244062"/>
              </a:xfrm>
              <a:custGeom>
                <a:avLst/>
                <a:gdLst>
                  <a:gd name="connsiteX0" fmla="*/ 130968 w 130968"/>
                  <a:gd name="connsiteY0" fmla="*/ 65484 h 130968"/>
                  <a:gd name="connsiteX1" fmla="*/ 65483 w 130968"/>
                  <a:gd name="connsiteY1" fmla="*/ 130969 h 130968"/>
                  <a:gd name="connsiteX2" fmla="*/ -1 w 130968"/>
                  <a:gd name="connsiteY2" fmla="*/ 65484 h 130968"/>
                  <a:gd name="connsiteX3" fmla="*/ 65483 w 130968"/>
                  <a:gd name="connsiteY3" fmla="*/ 0 h 130968"/>
                  <a:gd name="connsiteX4" fmla="*/ 130968 w 130968"/>
                  <a:gd name="connsiteY4" fmla="*/ 65484 h 13096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0968" h="130968">
                    <a:moveTo>
                      <a:pt x="130968" y="65484"/>
                    </a:moveTo>
                    <a:cubicBezTo>
                      <a:pt x="130968" y="101650"/>
                      <a:pt x="101649" y="130969"/>
                      <a:pt x="65483" y="130969"/>
                    </a:cubicBezTo>
                    <a:cubicBezTo>
                      <a:pt x="29317" y="130969"/>
                      <a:pt x="-1" y="101650"/>
                      <a:pt x="-1" y="65484"/>
                    </a:cubicBezTo>
                    <a:cubicBezTo>
                      <a:pt x="-1" y="29318"/>
                      <a:pt x="29317" y="0"/>
                      <a:pt x="65483" y="0"/>
                    </a:cubicBezTo>
                    <a:cubicBezTo>
                      <a:pt x="101649" y="0"/>
                      <a:pt x="130968" y="29318"/>
                      <a:pt x="130968" y="65484"/>
                    </a:cubicBezTo>
                    <a:close/>
                  </a:path>
                </a:pathLst>
              </a:custGeom>
              <a:solidFill>
                <a:srgbClr val="FFFFFF"/>
              </a:solidFill>
              <a:ln w="28575" cap="flat">
                <a:solidFill>
                  <a:srgbClr val="333333"/>
                </a:solidFill>
                <a:prstDash val="solid"/>
                <a:miter/>
              </a:ln>
            </p:spPr>
            <p:txBody>
              <a:bodyPr rtlCol="0" anchor="ctr"/>
              <a:lstStyle/>
              <a:p>
                <a:endParaRPr lang="en-US"/>
              </a:p>
            </p:txBody>
          </p:sp>
          <p:sp>
            <p:nvSpPr>
              <p:cNvPr id="42" name="Freeform: Shape 107">
                <a:extLst>
                  <a:ext uri="{FF2B5EF4-FFF2-40B4-BE49-F238E27FC236}">
                    <a16:creationId xmlns:a16="http://schemas.microsoft.com/office/drawing/2014/main" id="{6F24D1ED-4FC5-9688-20A9-C17FE550F2F1}"/>
                  </a:ext>
                </a:extLst>
              </p:cNvPr>
              <p:cNvSpPr/>
              <p:nvPr/>
            </p:nvSpPr>
            <p:spPr>
              <a:xfrm>
                <a:off x="8113889" y="1949560"/>
                <a:ext cx="244062" cy="244062"/>
              </a:xfrm>
              <a:custGeom>
                <a:avLst/>
                <a:gdLst>
                  <a:gd name="connsiteX0" fmla="*/ 130968 w 130968"/>
                  <a:gd name="connsiteY0" fmla="*/ 65484 h 130968"/>
                  <a:gd name="connsiteX1" fmla="*/ 65483 w 130968"/>
                  <a:gd name="connsiteY1" fmla="*/ 130969 h 130968"/>
                  <a:gd name="connsiteX2" fmla="*/ -1 w 130968"/>
                  <a:gd name="connsiteY2" fmla="*/ 65484 h 130968"/>
                  <a:gd name="connsiteX3" fmla="*/ 65483 w 130968"/>
                  <a:gd name="connsiteY3" fmla="*/ 0 h 130968"/>
                  <a:gd name="connsiteX4" fmla="*/ 130968 w 130968"/>
                  <a:gd name="connsiteY4" fmla="*/ 65484 h 13096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0968" h="130968">
                    <a:moveTo>
                      <a:pt x="130968" y="65484"/>
                    </a:moveTo>
                    <a:cubicBezTo>
                      <a:pt x="130968" y="101650"/>
                      <a:pt x="101649" y="130969"/>
                      <a:pt x="65483" y="130969"/>
                    </a:cubicBezTo>
                    <a:cubicBezTo>
                      <a:pt x="29317" y="130969"/>
                      <a:pt x="-1" y="101650"/>
                      <a:pt x="-1" y="65484"/>
                    </a:cubicBezTo>
                    <a:cubicBezTo>
                      <a:pt x="-1" y="29318"/>
                      <a:pt x="29317" y="0"/>
                      <a:pt x="65483" y="0"/>
                    </a:cubicBezTo>
                    <a:cubicBezTo>
                      <a:pt x="101649" y="0"/>
                      <a:pt x="130968" y="29318"/>
                      <a:pt x="130968" y="65484"/>
                    </a:cubicBezTo>
                    <a:close/>
                  </a:path>
                </a:pathLst>
              </a:custGeom>
              <a:solidFill>
                <a:srgbClr val="FFFFFF"/>
              </a:solidFill>
              <a:ln w="28575" cap="flat">
                <a:solidFill>
                  <a:srgbClr val="333333"/>
                </a:solidFill>
                <a:prstDash val="solid"/>
                <a:miter/>
              </a:ln>
            </p:spPr>
            <p:txBody>
              <a:bodyPr rtlCol="0" anchor="ctr"/>
              <a:lstStyle/>
              <a:p>
                <a:endParaRPr lang="en-US"/>
              </a:p>
            </p:txBody>
          </p:sp>
        </p:grpSp>
      </p:grpSp>
      <p:sp>
        <p:nvSpPr>
          <p:cNvPr id="49" name="Right Arrow 48">
            <a:extLst>
              <a:ext uri="{FF2B5EF4-FFF2-40B4-BE49-F238E27FC236}">
                <a16:creationId xmlns:a16="http://schemas.microsoft.com/office/drawing/2014/main" id="{38338C55-6D40-0025-82D6-997760DAC2EB}"/>
              </a:ext>
            </a:extLst>
          </p:cNvPr>
          <p:cNvSpPr/>
          <p:nvPr/>
        </p:nvSpPr>
        <p:spPr>
          <a:xfrm>
            <a:off x="7814636" y="3599148"/>
            <a:ext cx="360000" cy="408212"/>
          </a:xfrm>
          <a:prstGeom prst="rightArrow">
            <a:avLst/>
          </a:prstGeom>
          <a:solidFill>
            <a:schemeClr val="accent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BE"/>
          </a:p>
        </p:txBody>
      </p:sp>
      <p:sp>
        <p:nvSpPr>
          <p:cNvPr id="51" name="Right Arrow 50">
            <a:extLst>
              <a:ext uri="{FF2B5EF4-FFF2-40B4-BE49-F238E27FC236}">
                <a16:creationId xmlns:a16="http://schemas.microsoft.com/office/drawing/2014/main" id="{63126C26-BF99-A6F2-0E27-D39928146640}"/>
              </a:ext>
            </a:extLst>
          </p:cNvPr>
          <p:cNvSpPr/>
          <p:nvPr/>
        </p:nvSpPr>
        <p:spPr>
          <a:xfrm>
            <a:off x="9635944" y="3599148"/>
            <a:ext cx="360000" cy="408212"/>
          </a:xfrm>
          <a:prstGeom prst="rightArrow">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BE"/>
          </a:p>
        </p:txBody>
      </p:sp>
      <p:sp>
        <p:nvSpPr>
          <p:cNvPr id="52" name="TextBox 51">
            <a:extLst>
              <a:ext uri="{FF2B5EF4-FFF2-40B4-BE49-F238E27FC236}">
                <a16:creationId xmlns:a16="http://schemas.microsoft.com/office/drawing/2014/main" id="{F444DFAC-3858-7403-0BAC-45FB8573E477}"/>
              </a:ext>
            </a:extLst>
          </p:cNvPr>
          <p:cNvSpPr txBox="1"/>
          <p:nvPr/>
        </p:nvSpPr>
        <p:spPr>
          <a:xfrm>
            <a:off x="6789075" y="3228737"/>
            <a:ext cx="974947" cy="1569660"/>
          </a:xfrm>
          <a:prstGeom prst="rect">
            <a:avLst/>
          </a:prstGeom>
          <a:solidFill>
            <a:schemeClr val="bg1"/>
          </a:solidFill>
        </p:spPr>
        <p:txBody>
          <a:bodyPr wrap="none" rtlCol="0">
            <a:spAutoFit/>
          </a:bodyPr>
          <a:lstStyle/>
          <a:p>
            <a:r>
              <a:rPr lang="en-BE" dirty="0">
                <a:latin typeface="+mn-lt"/>
              </a:rPr>
              <a:t>- outdoor T</a:t>
            </a:r>
          </a:p>
          <a:p>
            <a:r>
              <a:rPr lang="en-BE" dirty="0">
                <a:latin typeface="+mn-lt"/>
              </a:rPr>
              <a:t>- indoor T</a:t>
            </a:r>
          </a:p>
          <a:p>
            <a:r>
              <a:rPr lang="en-BE" dirty="0">
                <a:latin typeface="+mn-lt"/>
              </a:rPr>
              <a:t>- time</a:t>
            </a:r>
          </a:p>
          <a:p>
            <a:r>
              <a:rPr lang="en-BE" dirty="0">
                <a:latin typeface="+mn-lt"/>
              </a:rPr>
              <a:t>- load</a:t>
            </a:r>
          </a:p>
          <a:p>
            <a:r>
              <a:rPr lang="en-BE" dirty="0">
                <a:latin typeface="+mn-lt"/>
              </a:rPr>
              <a:t>- PV power</a:t>
            </a:r>
          </a:p>
          <a:p>
            <a:r>
              <a:rPr lang="en-BE" dirty="0">
                <a:latin typeface="+mn-lt"/>
              </a:rPr>
              <a:t>- . . .</a:t>
            </a:r>
          </a:p>
        </p:txBody>
      </p:sp>
      <p:sp>
        <p:nvSpPr>
          <p:cNvPr id="55" name="TextBox 54">
            <a:extLst>
              <a:ext uri="{FF2B5EF4-FFF2-40B4-BE49-F238E27FC236}">
                <a16:creationId xmlns:a16="http://schemas.microsoft.com/office/drawing/2014/main" id="{39F27AA1-58F5-0465-A1DE-0B7DA2EB75D0}"/>
              </a:ext>
            </a:extLst>
          </p:cNvPr>
          <p:cNvSpPr txBox="1"/>
          <p:nvPr/>
        </p:nvSpPr>
        <p:spPr>
          <a:xfrm>
            <a:off x="6789075" y="2892527"/>
            <a:ext cx="663964" cy="400110"/>
          </a:xfrm>
          <a:prstGeom prst="rect">
            <a:avLst/>
          </a:prstGeom>
          <a:noFill/>
        </p:spPr>
        <p:txBody>
          <a:bodyPr wrap="none" rtlCol="0">
            <a:spAutoFit/>
          </a:bodyPr>
          <a:lstStyle/>
          <a:p>
            <a:r>
              <a:rPr lang="en-BE" sz="2000" b="1" dirty="0">
                <a:solidFill>
                  <a:schemeClr val="accent3"/>
                </a:solidFill>
                <a:latin typeface="+mn-lt"/>
              </a:rPr>
              <a:t>state</a:t>
            </a:r>
          </a:p>
        </p:txBody>
      </p:sp>
      <p:sp>
        <p:nvSpPr>
          <p:cNvPr id="56" name="TextBox 55">
            <a:extLst>
              <a:ext uri="{FF2B5EF4-FFF2-40B4-BE49-F238E27FC236}">
                <a16:creationId xmlns:a16="http://schemas.microsoft.com/office/drawing/2014/main" id="{404EDAC9-B69F-A6F4-7BBA-02456EDEEFB7}"/>
              </a:ext>
            </a:extLst>
          </p:cNvPr>
          <p:cNvSpPr txBox="1"/>
          <p:nvPr/>
        </p:nvSpPr>
        <p:spPr>
          <a:xfrm>
            <a:off x="9999227" y="2892527"/>
            <a:ext cx="764953" cy="400110"/>
          </a:xfrm>
          <a:prstGeom prst="rect">
            <a:avLst/>
          </a:prstGeom>
          <a:solidFill>
            <a:schemeClr val="bg1"/>
          </a:solidFill>
        </p:spPr>
        <p:txBody>
          <a:bodyPr wrap="none" rtlCol="0">
            <a:spAutoFit/>
          </a:bodyPr>
          <a:lstStyle/>
          <a:p>
            <a:r>
              <a:rPr lang="en-BE" sz="2000" b="1" dirty="0">
                <a:solidFill>
                  <a:schemeClr val="accent2"/>
                </a:solidFill>
                <a:latin typeface="+mn-lt"/>
              </a:rPr>
              <a:t>action</a:t>
            </a:r>
          </a:p>
        </p:txBody>
      </p:sp>
      <p:sp>
        <p:nvSpPr>
          <p:cNvPr id="57" name="TextBox 56">
            <a:extLst>
              <a:ext uri="{FF2B5EF4-FFF2-40B4-BE49-F238E27FC236}">
                <a16:creationId xmlns:a16="http://schemas.microsoft.com/office/drawing/2014/main" id="{33DFDB0B-92AD-7D1F-AEB3-A7678142C755}"/>
              </a:ext>
            </a:extLst>
          </p:cNvPr>
          <p:cNvSpPr txBox="1"/>
          <p:nvPr/>
        </p:nvSpPr>
        <p:spPr>
          <a:xfrm>
            <a:off x="9999227" y="3228737"/>
            <a:ext cx="1553630" cy="830997"/>
          </a:xfrm>
          <a:prstGeom prst="rect">
            <a:avLst/>
          </a:prstGeom>
          <a:solidFill>
            <a:schemeClr val="bg1"/>
          </a:solidFill>
        </p:spPr>
        <p:txBody>
          <a:bodyPr wrap="none" rtlCol="0">
            <a:spAutoFit/>
          </a:bodyPr>
          <a:lstStyle/>
          <a:p>
            <a:r>
              <a:rPr lang="en-BE" dirty="0">
                <a:latin typeface="+mn-lt"/>
              </a:rPr>
              <a:t>- heat pump power</a:t>
            </a:r>
          </a:p>
          <a:p>
            <a:r>
              <a:rPr lang="en-BE" dirty="0">
                <a:latin typeface="+mn-lt"/>
              </a:rPr>
              <a:t>- battery power</a:t>
            </a:r>
          </a:p>
          <a:p>
            <a:r>
              <a:rPr lang="en-BE" dirty="0">
                <a:latin typeface="+mn-lt"/>
              </a:rPr>
              <a:t>- . . .</a:t>
            </a:r>
          </a:p>
        </p:txBody>
      </p:sp>
      <p:sp>
        <p:nvSpPr>
          <p:cNvPr id="58" name="Arc 57">
            <a:extLst>
              <a:ext uri="{FF2B5EF4-FFF2-40B4-BE49-F238E27FC236}">
                <a16:creationId xmlns:a16="http://schemas.microsoft.com/office/drawing/2014/main" id="{800A36B9-2BA2-4C84-F5C1-103ECFDD8E34}"/>
              </a:ext>
            </a:extLst>
          </p:cNvPr>
          <p:cNvSpPr/>
          <p:nvPr/>
        </p:nvSpPr>
        <p:spPr>
          <a:xfrm rot="8100000">
            <a:off x="3312649" y="2545204"/>
            <a:ext cx="1223764" cy="1256327"/>
          </a:xfrm>
          <a:prstGeom prst="arc">
            <a:avLst/>
          </a:prstGeom>
          <a:ln w="57150">
            <a:solidFill>
              <a:schemeClr val="accent2"/>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BE" dirty="0"/>
          </a:p>
        </p:txBody>
      </p:sp>
      <p:sp>
        <p:nvSpPr>
          <p:cNvPr id="59" name="Arc 58">
            <a:extLst>
              <a:ext uri="{FF2B5EF4-FFF2-40B4-BE49-F238E27FC236}">
                <a16:creationId xmlns:a16="http://schemas.microsoft.com/office/drawing/2014/main" id="{35B7CB6F-8BD8-9762-71AC-AF5A5FC2A61F}"/>
              </a:ext>
            </a:extLst>
          </p:cNvPr>
          <p:cNvSpPr/>
          <p:nvPr/>
        </p:nvSpPr>
        <p:spPr>
          <a:xfrm rot="18900000">
            <a:off x="3363229" y="3016584"/>
            <a:ext cx="1223764" cy="1256327"/>
          </a:xfrm>
          <a:prstGeom prst="arc">
            <a:avLst/>
          </a:prstGeom>
          <a:ln w="57150">
            <a:solidFill>
              <a:schemeClr val="accent3"/>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BE"/>
          </a:p>
        </p:txBody>
      </p:sp>
      <p:sp>
        <p:nvSpPr>
          <p:cNvPr id="60" name="Sun 59">
            <a:extLst>
              <a:ext uri="{FF2B5EF4-FFF2-40B4-BE49-F238E27FC236}">
                <a16:creationId xmlns:a16="http://schemas.microsoft.com/office/drawing/2014/main" id="{4105E9AA-B75C-1032-C3A6-B6FA01188E86}"/>
              </a:ext>
            </a:extLst>
          </p:cNvPr>
          <p:cNvSpPr/>
          <p:nvPr/>
        </p:nvSpPr>
        <p:spPr>
          <a:xfrm>
            <a:off x="2659268" y="2131348"/>
            <a:ext cx="633846" cy="633846"/>
          </a:xfrm>
          <a:prstGeom prst="sun">
            <a:avLst/>
          </a:pr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BE"/>
          </a:p>
        </p:txBody>
      </p:sp>
      <p:grpSp>
        <p:nvGrpSpPr>
          <p:cNvPr id="9" name="Group 8">
            <a:extLst>
              <a:ext uri="{FF2B5EF4-FFF2-40B4-BE49-F238E27FC236}">
                <a16:creationId xmlns:a16="http://schemas.microsoft.com/office/drawing/2014/main" id="{23755149-5BED-42B4-456A-3BD1A406D2CE}"/>
              </a:ext>
            </a:extLst>
          </p:cNvPr>
          <p:cNvGrpSpPr/>
          <p:nvPr/>
        </p:nvGrpSpPr>
        <p:grpSpPr>
          <a:xfrm>
            <a:off x="8214387" y="3173369"/>
            <a:ext cx="1366363" cy="1259770"/>
            <a:chOff x="2519406" y="4829195"/>
            <a:chExt cx="1366363" cy="1259770"/>
          </a:xfrm>
        </p:grpSpPr>
        <p:sp>
          <p:nvSpPr>
            <p:cNvPr id="8" name="Rounded Rectangle 7">
              <a:extLst>
                <a:ext uri="{FF2B5EF4-FFF2-40B4-BE49-F238E27FC236}">
                  <a16:creationId xmlns:a16="http://schemas.microsoft.com/office/drawing/2014/main" id="{24B223D4-6DB0-011D-0C52-9C8E370D1A6F}"/>
                </a:ext>
              </a:extLst>
            </p:cNvPr>
            <p:cNvSpPr/>
            <p:nvPr/>
          </p:nvSpPr>
          <p:spPr>
            <a:xfrm>
              <a:off x="2519406" y="4829195"/>
              <a:ext cx="1366363" cy="1259770"/>
            </a:xfrm>
            <a:prstGeom prst="roundRect">
              <a:avLst/>
            </a:prstGeom>
            <a:solidFill>
              <a:schemeClr val="bg1">
                <a:lumMod val="95000"/>
              </a:schemeClr>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BE"/>
            </a:p>
          </p:txBody>
        </p:sp>
        <p:pic>
          <p:nvPicPr>
            <p:cNvPr id="6" name="Graphic 5" descr="Decision chart outline">
              <a:extLst>
                <a:ext uri="{FF2B5EF4-FFF2-40B4-BE49-F238E27FC236}">
                  <a16:creationId xmlns:a16="http://schemas.microsoft.com/office/drawing/2014/main" id="{BBB8F8FF-A8F2-864B-F9A1-8CB2C8EAE970}"/>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2615672" y="4872165"/>
              <a:ext cx="1173831" cy="1173831"/>
            </a:xfrm>
            <a:prstGeom prst="rect">
              <a:avLst/>
            </a:prstGeom>
          </p:spPr>
        </p:pic>
      </p:grpSp>
      <p:grpSp>
        <p:nvGrpSpPr>
          <p:cNvPr id="10" name="Group 9">
            <a:extLst>
              <a:ext uri="{FF2B5EF4-FFF2-40B4-BE49-F238E27FC236}">
                <a16:creationId xmlns:a16="http://schemas.microsoft.com/office/drawing/2014/main" id="{925930AB-7E1D-838A-F497-DFED02D7F1B3}"/>
              </a:ext>
            </a:extLst>
          </p:cNvPr>
          <p:cNvGrpSpPr/>
          <p:nvPr/>
        </p:nvGrpSpPr>
        <p:grpSpPr>
          <a:xfrm>
            <a:off x="3499802" y="1192183"/>
            <a:ext cx="5223139" cy="1874021"/>
            <a:chOff x="3499802" y="1192183"/>
            <a:chExt cx="5223139" cy="1874021"/>
          </a:xfrm>
        </p:grpSpPr>
        <p:sp>
          <p:nvSpPr>
            <p:cNvPr id="11" name="Freeform 10">
              <a:extLst>
                <a:ext uri="{FF2B5EF4-FFF2-40B4-BE49-F238E27FC236}">
                  <a16:creationId xmlns:a16="http://schemas.microsoft.com/office/drawing/2014/main" id="{24864334-BD5C-F26B-C600-317677008336}"/>
                </a:ext>
              </a:extLst>
            </p:cNvPr>
            <p:cNvSpPr/>
            <p:nvPr/>
          </p:nvSpPr>
          <p:spPr>
            <a:xfrm>
              <a:off x="6966731" y="1694604"/>
              <a:ext cx="1756210" cy="1371600"/>
            </a:xfrm>
            <a:custGeom>
              <a:avLst/>
              <a:gdLst>
                <a:gd name="csX0" fmla="*/ 0 w 1756210"/>
                <a:gd name="csY0" fmla="*/ 0 h 1371600"/>
                <a:gd name="csX1" fmla="*/ 1527243 w 1756210"/>
                <a:gd name="csY1" fmla="*/ 544749 h 1371600"/>
                <a:gd name="csX2" fmla="*/ 1721796 w 1756210"/>
                <a:gd name="csY2" fmla="*/ 1371600 h 1371600"/>
              </a:gdLst>
              <a:ahLst/>
              <a:cxnLst>
                <a:cxn ang="0">
                  <a:pos x="csX0" y="csY0"/>
                </a:cxn>
                <a:cxn ang="0">
                  <a:pos x="csX1" y="csY1"/>
                </a:cxn>
                <a:cxn ang="0">
                  <a:pos x="csX2" y="csY2"/>
                </a:cxn>
              </a:cxnLst>
              <a:rect l="l" t="t" r="r" b="b"/>
              <a:pathLst>
                <a:path w="1756210" h="1371600">
                  <a:moveTo>
                    <a:pt x="0" y="0"/>
                  </a:moveTo>
                  <a:cubicBezTo>
                    <a:pt x="620138" y="158074"/>
                    <a:pt x="1240277" y="316149"/>
                    <a:pt x="1527243" y="544749"/>
                  </a:cubicBezTo>
                  <a:cubicBezTo>
                    <a:pt x="1814209" y="773349"/>
                    <a:pt x="1768002" y="1072474"/>
                    <a:pt x="1721796" y="1371600"/>
                  </a:cubicBezTo>
                </a:path>
              </a:pathLst>
            </a:custGeom>
            <a:noFill/>
            <a:ln w="76200">
              <a:solidFill>
                <a:schemeClr val="accent4">
                  <a:lumMod val="40000"/>
                  <a:lumOff val="60000"/>
                </a:schemeClr>
              </a:solidFill>
              <a:headEnd type="none" w="med" len="med"/>
              <a:tailEnd type="triangle" w="med" len="me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BE"/>
            </a:p>
          </p:txBody>
        </p:sp>
        <p:sp>
          <p:nvSpPr>
            <p:cNvPr id="12" name="TextBox 11">
              <a:extLst>
                <a:ext uri="{FF2B5EF4-FFF2-40B4-BE49-F238E27FC236}">
                  <a16:creationId xmlns:a16="http://schemas.microsoft.com/office/drawing/2014/main" id="{1EDE9D48-75BC-4E29-E87C-10AA9E9263E2}"/>
                </a:ext>
              </a:extLst>
            </p:cNvPr>
            <p:cNvSpPr txBox="1"/>
            <p:nvPr/>
          </p:nvSpPr>
          <p:spPr>
            <a:xfrm rot="21109871">
              <a:off x="3499802" y="1192183"/>
              <a:ext cx="4456135" cy="1143494"/>
            </a:xfrm>
            <a:prstGeom prst="rect">
              <a:avLst/>
            </a:prstGeom>
            <a:solidFill>
              <a:schemeClr val="accent4">
                <a:lumMod val="40000"/>
                <a:lumOff val="60000"/>
              </a:schemeClr>
            </a:solidFill>
          </p:spPr>
          <p:txBody>
            <a:bodyPr wrap="square" rtlCol="0" anchor="ctr">
              <a:noAutofit/>
            </a:bodyPr>
            <a:lstStyle/>
            <a:p>
              <a:pPr algn="ctr">
                <a:lnSpc>
                  <a:spcPct val="85000"/>
                </a:lnSpc>
              </a:pPr>
              <a:r>
                <a:rPr lang="en-US" sz="3200" b="1" dirty="0">
                  <a:solidFill>
                    <a:schemeClr val="accent4">
                      <a:lumMod val="50000"/>
                    </a:schemeClr>
                  </a:solidFill>
                  <a:latin typeface="Caveat" pitchFamily="2" charset="77"/>
                </a:rPr>
                <a:t>Challenge: Find a good policy that is </a:t>
              </a:r>
              <a:r>
                <a:rPr lang="en-US" sz="3200" b="1" u="sng" dirty="0">
                  <a:solidFill>
                    <a:schemeClr val="accent4">
                      <a:lumMod val="50000"/>
                    </a:schemeClr>
                  </a:solidFill>
                  <a:latin typeface="Caveat" pitchFamily="2" charset="77"/>
                </a:rPr>
                <a:t>explainable</a:t>
              </a:r>
            </a:p>
          </p:txBody>
        </p:sp>
      </p:grpSp>
      <p:grpSp>
        <p:nvGrpSpPr>
          <p:cNvPr id="54" name="Group 53">
            <a:extLst>
              <a:ext uri="{FF2B5EF4-FFF2-40B4-BE49-F238E27FC236}">
                <a16:creationId xmlns:a16="http://schemas.microsoft.com/office/drawing/2014/main" id="{68395EE6-2372-1E5E-2EA2-646E60D0E694}"/>
              </a:ext>
            </a:extLst>
          </p:cNvPr>
          <p:cNvGrpSpPr/>
          <p:nvPr/>
        </p:nvGrpSpPr>
        <p:grpSpPr>
          <a:xfrm>
            <a:off x="1560106" y="4521593"/>
            <a:ext cx="6798509" cy="1332826"/>
            <a:chOff x="1899377" y="4581728"/>
            <a:chExt cx="6798509" cy="1332826"/>
          </a:xfrm>
        </p:grpSpPr>
        <p:sp>
          <p:nvSpPr>
            <p:cNvPr id="44" name="TextBox 43">
              <a:extLst>
                <a:ext uri="{FF2B5EF4-FFF2-40B4-BE49-F238E27FC236}">
                  <a16:creationId xmlns:a16="http://schemas.microsoft.com/office/drawing/2014/main" id="{8C18CC13-C13E-0EC5-21CF-BC95A567C8FA}"/>
                </a:ext>
              </a:extLst>
            </p:cNvPr>
            <p:cNvSpPr txBox="1"/>
            <p:nvPr/>
          </p:nvSpPr>
          <p:spPr>
            <a:xfrm>
              <a:off x="1899377" y="4972437"/>
              <a:ext cx="4812708" cy="942117"/>
            </a:xfrm>
            <a:prstGeom prst="rect">
              <a:avLst/>
            </a:prstGeom>
            <a:noFill/>
          </p:spPr>
          <p:txBody>
            <a:bodyPr wrap="square" rtlCol="0">
              <a:spAutoFit/>
            </a:bodyPr>
            <a:lstStyle/>
            <a:p>
              <a:pPr algn="ctr">
                <a:lnSpc>
                  <a:spcPct val="85000"/>
                </a:lnSpc>
              </a:pPr>
              <a:r>
                <a:rPr lang="en-BE" sz="3200" b="1" dirty="0">
                  <a:solidFill>
                    <a:schemeClr val="accent3"/>
                  </a:solidFill>
                  <a:latin typeface="Caveat" pitchFamily="2" charset="77"/>
                </a:rPr>
                <a:t>Idea: replace neural networks by decision trees derived from it!</a:t>
              </a:r>
            </a:p>
          </p:txBody>
        </p:sp>
        <p:sp>
          <p:nvSpPr>
            <p:cNvPr id="53" name="Freeform 52">
              <a:extLst>
                <a:ext uri="{FF2B5EF4-FFF2-40B4-BE49-F238E27FC236}">
                  <a16:creationId xmlns:a16="http://schemas.microsoft.com/office/drawing/2014/main" id="{F28D2A61-6413-011B-73B4-79A538D58CD0}"/>
                </a:ext>
              </a:extLst>
            </p:cNvPr>
            <p:cNvSpPr/>
            <p:nvPr/>
          </p:nvSpPr>
          <p:spPr>
            <a:xfrm>
              <a:off x="6712085" y="4581728"/>
              <a:ext cx="1985801" cy="894944"/>
            </a:xfrm>
            <a:custGeom>
              <a:avLst/>
              <a:gdLst>
                <a:gd name="csX0" fmla="*/ 0 w 2130358"/>
                <a:gd name="csY0" fmla="*/ 894944 h 894944"/>
                <a:gd name="csX1" fmla="*/ 1294637 w 2130358"/>
                <a:gd name="csY1" fmla="*/ 700391 h 894944"/>
                <a:gd name="csX2" fmla="*/ 2130358 w 2130358"/>
                <a:gd name="csY2" fmla="*/ 0 h 894944"/>
              </a:gdLst>
              <a:ahLst/>
              <a:cxnLst>
                <a:cxn ang="0">
                  <a:pos x="csX0" y="csY0"/>
                </a:cxn>
                <a:cxn ang="0">
                  <a:pos x="csX1" y="csY1"/>
                </a:cxn>
                <a:cxn ang="0">
                  <a:pos x="csX2" y="csY2"/>
                </a:cxn>
              </a:cxnLst>
              <a:rect l="l" t="t" r="r" b="b"/>
              <a:pathLst>
                <a:path w="2130358" h="894944">
                  <a:moveTo>
                    <a:pt x="0" y="894944"/>
                  </a:moveTo>
                  <a:cubicBezTo>
                    <a:pt x="678504" y="857654"/>
                    <a:pt x="939577" y="849548"/>
                    <a:pt x="1294637" y="700391"/>
                  </a:cubicBezTo>
                  <a:cubicBezTo>
                    <a:pt x="1649697" y="551234"/>
                    <a:pt x="2059022" y="100519"/>
                    <a:pt x="2130358" y="0"/>
                  </a:cubicBezTo>
                </a:path>
              </a:pathLst>
            </a:custGeom>
            <a:noFill/>
            <a:ln w="38100">
              <a:solidFill>
                <a:schemeClr val="accent3"/>
              </a:solidFill>
              <a:headEnd type="none" w="med" len="med"/>
              <a:tailEnd type="triangle" w="med" len="me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BE"/>
            </a:p>
          </p:txBody>
        </p:sp>
      </p:grpSp>
      <p:sp>
        <p:nvSpPr>
          <p:cNvPr id="61" name="Slide Number Placeholder 60">
            <a:extLst>
              <a:ext uri="{FF2B5EF4-FFF2-40B4-BE49-F238E27FC236}">
                <a16:creationId xmlns:a16="http://schemas.microsoft.com/office/drawing/2014/main" id="{10EF951E-925A-559B-BAE6-FB5C864F7703}"/>
              </a:ext>
            </a:extLst>
          </p:cNvPr>
          <p:cNvSpPr>
            <a:spLocks noGrp="1"/>
          </p:cNvSpPr>
          <p:nvPr>
            <p:ph type="sldNum" sz="quarter" idx="11"/>
          </p:nvPr>
        </p:nvSpPr>
        <p:spPr/>
        <p:txBody>
          <a:bodyPr/>
          <a:lstStyle/>
          <a:p>
            <a:pPr>
              <a:defRPr/>
            </a:pPr>
            <a:fld id="{968663A2-1950-48E6-8399-8A0176E7D7D3}" type="slidenum">
              <a:rPr lang="en-US" smtClean="0"/>
              <a:pPr>
                <a:defRPr/>
              </a:pPr>
              <a:t>16</a:t>
            </a:fld>
            <a:endParaRPr lang="en-US"/>
          </a:p>
        </p:txBody>
      </p:sp>
    </p:spTree>
    <p:extLst>
      <p:ext uri="{BB962C8B-B14F-4D97-AF65-F5344CB8AC3E}">
        <p14:creationId xmlns:p14="http://schemas.microsoft.com/office/powerpoint/2010/main" val="194386495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nodeType="afterEffect">
                                  <p:stCondLst>
                                    <p:cond delay="0"/>
                                  </p:stCondLst>
                                  <p:childTnLst>
                                    <p:set>
                                      <p:cBhvr>
                                        <p:cTn id="6" dur="1" fill="hold">
                                          <p:stCondLst>
                                            <p:cond delay="0"/>
                                          </p:stCondLst>
                                        </p:cTn>
                                        <p:tgtEl>
                                          <p:spTgt spid="5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0" presetClass="entr" presetSubtype="0" fill="hold" nodeType="clickEffect">
                                  <p:stCondLst>
                                    <p:cond delay="0"/>
                                  </p:stCondLst>
                                  <p:childTnLst>
                                    <p:set>
                                      <p:cBhvr>
                                        <p:cTn id="10" dur="1" fill="hold">
                                          <p:stCondLst>
                                            <p:cond delay="0"/>
                                          </p:stCondLst>
                                        </p:cTn>
                                        <p:tgtEl>
                                          <p:spTgt spid="9"/>
                                        </p:tgtEl>
                                        <p:attrNameLst>
                                          <p:attrName>style.visibility</p:attrName>
                                        </p:attrNameLst>
                                      </p:cBhvr>
                                      <p:to>
                                        <p:strVal val="visible"/>
                                      </p:to>
                                    </p:set>
                                    <p:animEffect transition="in" filter="fade">
                                      <p:cBhvr>
                                        <p:cTn id="11" dur="5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0237A73-C05A-9D4A-8633-D4EA7EE0E996}"/>
              </a:ext>
            </a:extLst>
          </p:cNvPr>
          <p:cNvSpPr>
            <a:spLocks noGrp="1"/>
          </p:cNvSpPr>
          <p:nvPr>
            <p:ph type="title"/>
          </p:nvPr>
        </p:nvSpPr>
        <p:spPr/>
        <p:txBody>
          <a:bodyPr/>
          <a:lstStyle/>
          <a:p>
            <a:r>
              <a:rPr lang="en-BE" dirty="0"/>
              <a:t>Enhancing explainability: Differentiable Decision Trees</a:t>
            </a:r>
          </a:p>
        </p:txBody>
      </p:sp>
      <p:sp>
        <p:nvSpPr>
          <p:cNvPr id="4" name="Footer Placeholder 3">
            <a:extLst>
              <a:ext uri="{FF2B5EF4-FFF2-40B4-BE49-F238E27FC236}">
                <a16:creationId xmlns:a16="http://schemas.microsoft.com/office/drawing/2014/main" id="{F82E92CF-ADBE-2DF8-9F64-C9609DA35415}"/>
              </a:ext>
            </a:extLst>
          </p:cNvPr>
          <p:cNvSpPr>
            <a:spLocks noGrp="1"/>
          </p:cNvSpPr>
          <p:nvPr>
            <p:ph type="ftr" sz="quarter" idx="10"/>
          </p:nvPr>
        </p:nvSpPr>
        <p:spPr/>
        <p:txBody>
          <a:bodyPr/>
          <a:lstStyle/>
          <a:p>
            <a:pPr>
              <a:defRPr/>
            </a:pPr>
            <a:r>
              <a:rPr lang="en-US"/>
              <a:t>C. Develder, "AI4E: Data-efficient and scalable algorithmss to exploit energy flexibility"</a:t>
            </a:r>
            <a:endParaRPr lang="en-US" dirty="0"/>
          </a:p>
        </p:txBody>
      </p:sp>
      <p:sp>
        <p:nvSpPr>
          <p:cNvPr id="6" name="Freeform: Shape 8">
            <a:extLst>
              <a:ext uri="{FF2B5EF4-FFF2-40B4-BE49-F238E27FC236}">
                <a16:creationId xmlns:a16="http://schemas.microsoft.com/office/drawing/2014/main" id="{449826E8-B9D6-0217-2E10-E5BE4943EBB8}"/>
              </a:ext>
            </a:extLst>
          </p:cNvPr>
          <p:cNvSpPr/>
          <p:nvPr/>
        </p:nvSpPr>
        <p:spPr>
          <a:xfrm>
            <a:off x="4880951" y="2585085"/>
            <a:ext cx="876300" cy="731520"/>
          </a:xfrm>
          <a:custGeom>
            <a:avLst/>
            <a:gdLst>
              <a:gd name="connsiteX0" fmla="*/ 876300 w 876300"/>
              <a:gd name="connsiteY0" fmla="*/ 0 h 731520"/>
              <a:gd name="connsiteX1" fmla="*/ 0 w 876300"/>
              <a:gd name="connsiteY1" fmla="*/ 731520 h 731520"/>
            </a:gdLst>
            <a:ahLst/>
            <a:cxnLst>
              <a:cxn ang="0">
                <a:pos x="connsiteX0" y="connsiteY0"/>
              </a:cxn>
              <a:cxn ang="0">
                <a:pos x="connsiteX1" y="connsiteY1"/>
              </a:cxn>
            </a:cxnLst>
            <a:rect l="l" t="t" r="r" b="b"/>
            <a:pathLst>
              <a:path w="876300" h="731520">
                <a:moveTo>
                  <a:pt x="876300" y="0"/>
                </a:moveTo>
                <a:lnTo>
                  <a:pt x="0" y="731520"/>
                </a:lnTo>
              </a:path>
            </a:pathLst>
          </a:cu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7" name="Rectangle 6">
            <a:extLst>
              <a:ext uri="{FF2B5EF4-FFF2-40B4-BE49-F238E27FC236}">
                <a16:creationId xmlns:a16="http://schemas.microsoft.com/office/drawing/2014/main" id="{C74A4A9C-2265-FCB4-32D8-0A280BFB247B}"/>
              </a:ext>
            </a:extLst>
          </p:cNvPr>
          <p:cNvSpPr/>
          <p:nvPr/>
        </p:nvSpPr>
        <p:spPr>
          <a:xfrm>
            <a:off x="5394911" y="1817921"/>
            <a:ext cx="1558637" cy="484179"/>
          </a:xfrm>
          <a:prstGeom prst="rect">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BE" dirty="0">
                <a:solidFill>
                  <a:schemeClr val="tx1"/>
                </a:solidFill>
              </a:rPr>
              <a:t>PV power &gt; 0.47</a:t>
            </a:r>
          </a:p>
        </p:txBody>
      </p:sp>
      <p:grpSp>
        <p:nvGrpSpPr>
          <p:cNvPr id="18" name="Group 17">
            <a:extLst>
              <a:ext uri="{FF2B5EF4-FFF2-40B4-BE49-F238E27FC236}">
                <a16:creationId xmlns:a16="http://schemas.microsoft.com/office/drawing/2014/main" id="{91D5287E-32BF-E225-41E5-C83A4D9301A1}"/>
              </a:ext>
            </a:extLst>
          </p:cNvPr>
          <p:cNvGrpSpPr/>
          <p:nvPr/>
        </p:nvGrpSpPr>
        <p:grpSpPr>
          <a:xfrm>
            <a:off x="2384330" y="2907849"/>
            <a:ext cx="7579797" cy="484179"/>
            <a:chOff x="2384330" y="2907849"/>
            <a:chExt cx="7579797" cy="484179"/>
          </a:xfrm>
        </p:grpSpPr>
        <p:sp>
          <p:nvSpPr>
            <p:cNvPr id="9" name="Rectangle 8">
              <a:extLst>
                <a:ext uri="{FF2B5EF4-FFF2-40B4-BE49-F238E27FC236}">
                  <a16:creationId xmlns:a16="http://schemas.microsoft.com/office/drawing/2014/main" id="{49A27D2C-83D2-B52B-A3D5-A7985C2B8639}"/>
                </a:ext>
              </a:extLst>
            </p:cNvPr>
            <p:cNvSpPr/>
            <p:nvPr/>
          </p:nvSpPr>
          <p:spPr>
            <a:xfrm>
              <a:off x="2384330" y="2907849"/>
              <a:ext cx="1558637" cy="484179"/>
            </a:xfrm>
            <a:prstGeom prst="rect">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BE" dirty="0">
                  <a:solidFill>
                    <a:schemeClr val="tx1"/>
                  </a:solidFill>
                </a:rPr>
                <a:t>Load &gt; 0.68</a:t>
              </a:r>
            </a:p>
          </p:txBody>
        </p:sp>
        <p:sp>
          <p:nvSpPr>
            <p:cNvPr id="10" name="Rectangle 9">
              <a:extLst>
                <a:ext uri="{FF2B5EF4-FFF2-40B4-BE49-F238E27FC236}">
                  <a16:creationId xmlns:a16="http://schemas.microsoft.com/office/drawing/2014/main" id="{19651DBE-DF89-7920-AB48-1D4F363718B7}"/>
                </a:ext>
              </a:extLst>
            </p:cNvPr>
            <p:cNvSpPr/>
            <p:nvPr/>
          </p:nvSpPr>
          <p:spPr>
            <a:xfrm>
              <a:off x="8405490" y="2907849"/>
              <a:ext cx="1558637" cy="484179"/>
            </a:xfrm>
            <a:prstGeom prst="rect">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BE" dirty="0">
                  <a:solidFill>
                    <a:schemeClr val="tx1"/>
                  </a:solidFill>
                </a:rPr>
                <a:t>PV power &gt; 0.41</a:t>
              </a:r>
            </a:p>
          </p:txBody>
        </p:sp>
      </p:grpSp>
      <p:grpSp>
        <p:nvGrpSpPr>
          <p:cNvPr id="16" name="Group 15">
            <a:extLst>
              <a:ext uri="{FF2B5EF4-FFF2-40B4-BE49-F238E27FC236}">
                <a16:creationId xmlns:a16="http://schemas.microsoft.com/office/drawing/2014/main" id="{F1651DE7-B69F-BAEE-51E7-BDC4CB28326F}"/>
              </a:ext>
            </a:extLst>
          </p:cNvPr>
          <p:cNvGrpSpPr/>
          <p:nvPr/>
        </p:nvGrpSpPr>
        <p:grpSpPr>
          <a:xfrm>
            <a:off x="358895" y="3997778"/>
            <a:ext cx="5609506" cy="484179"/>
            <a:chOff x="358895" y="3997778"/>
            <a:chExt cx="5609506" cy="484179"/>
          </a:xfrm>
        </p:grpSpPr>
        <p:sp>
          <p:nvSpPr>
            <p:cNvPr id="11" name="Rectangle 10">
              <a:extLst>
                <a:ext uri="{FF2B5EF4-FFF2-40B4-BE49-F238E27FC236}">
                  <a16:creationId xmlns:a16="http://schemas.microsoft.com/office/drawing/2014/main" id="{918990E3-C14F-9756-70D1-66B7F21D905E}"/>
                </a:ext>
              </a:extLst>
            </p:cNvPr>
            <p:cNvSpPr/>
            <p:nvPr/>
          </p:nvSpPr>
          <p:spPr>
            <a:xfrm>
              <a:off x="358895" y="3997778"/>
              <a:ext cx="2719502" cy="484179"/>
            </a:xfrm>
            <a:prstGeom prst="rect">
              <a:avLst/>
            </a:prstGeom>
            <a:solidFill>
              <a:schemeClr val="bg2">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BE" dirty="0">
                  <a:solidFill>
                    <a:schemeClr val="tx1"/>
                  </a:solidFill>
                </a:rPr>
                <a:t>[0.385, 0.413, 0.076, 0.069, 0.057]</a:t>
              </a:r>
            </a:p>
          </p:txBody>
        </p:sp>
        <p:sp>
          <p:nvSpPr>
            <p:cNvPr id="12" name="Rectangle 11">
              <a:extLst>
                <a:ext uri="{FF2B5EF4-FFF2-40B4-BE49-F238E27FC236}">
                  <a16:creationId xmlns:a16="http://schemas.microsoft.com/office/drawing/2014/main" id="{1550A472-5CA0-A01F-C298-71A26E38E683}"/>
                </a:ext>
              </a:extLst>
            </p:cNvPr>
            <p:cNvSpPr/>
            <p:nvPr/>
          </p:nvSpPr>
          <p:spPr>
            <a:xfrm>
              <a:off x="3248899" y="3997778"/>
              <a:ext cx="2719502" cy="484179"/>
            </a:xfrm>
            <a:prstGeom prst="rect">
              <a:avLst/>
            </a:prstGeom>
            <a:solidFill>
              <a:schemeClr val="bg2">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BE" dirty="0">
                  <a:solidFill>
                    <a:schemeClr val="tx1"/>
                  </a:solidFill>
                </a:rPr>
                <a:t>[0.060, 0.082, 0.304, 0.344, 0.210]</a:t>
              </a:r>
            </a:p>
          </p:txBody>
        </p:sp>
      </p:grpSp>
      <p:grpSp>
        <p:nvGrpSpPr>
          <p:cNvPr id="17" name="Group 16">
            <a:extLst>
              <a:ext uri="{FF2B5EF4-FFF2-40B4-BE49-F238E27FC236}">
                <a16:creationId xmlns:a16="http://schemas.microsoft.com/office/drawing/2014/main" id="{BA513862-8154-7E36-7D2D-24F846DC1015}"/>
              </a:ext>
            </a:extLst>
          </p:cNvPr>
          <p:cNvGrpSpPr/>
          <p:nvPr/>
        </p:nvGrpSpPr>
        <p:grpSpPr>
          <a:xfrm>
            <a:off x="6380055" y="3997778"/>
            <a:ext cx="5609507" cy="484179"/>
            <a:chOff x="6380055" y="3997778"/>
            <a:chExt cx="5609507" cy="484179"/>
          </a:xfrm>
        </p:grpSpPr>
        <p:sp>
          <p:nvSpPr>
            <p:cNvPr id="13" name="Rectangle 12">
              <a:extLst>
                <a:ext uri="{FF2B5EF4-FFF2-40B4-BE49-F238E27FC236}">
                  <a16:creationId xmlns:a16="http://schemas.microsoft.com/office/drawing/2014/main" id="{7C2092B6-5B95-02C4-A30B-09643F0C7654}"/>
                </a:ext>
              </a:extLst>
            </p:cNvPr>
            <p:cNvSpPr/>
            <p:nvPr/>
          </p:nvSpPr>
          <p:spPr>
            <a:xfrm>
              <a:off x="6380055" y="3997778"/>
              <a:ext cx="2719502" cy="484179"/>
            </a:xfrm>
            <a:prstGeom prst="rect">
              <a:avLst/>
            </a:prstGeom>
            <a:solidFill>
              <a:schemeClr val="bg2">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BE" dirty="0">
                  <a:solidFill>
                    <a:schemeClr val="tx1"/>
                  </a:solidFill>
                </a:rPr>
                <a:t>[0.077, 0.081, 0.418, 0.071, 0.353]</a:t>
              </a:r>
            </a:p>
          </p:txBody>
        </p:sp>
        <p:sp>
          <p:nvSpPr>
            <p:cNvPr id="14" name="Rectangle 13">
              <a:extLst>
                <a:ext uri="{FF2B5EF4-FFF2-40B4-BE49-F238E27FC236}">
                  <a16:creationId xmlns:a16="http://schemas.microsoft.com/office/drawing/2014/main" id="{40D11546-24BD-E394-B899-D9142E2536DD}"/>
                </a:ext>
              </a:extLst>
            </p:cNvPr>
            <p:cNvSpPr/>
            <p:nvPr/>
          </p:nvSpPr>
          <p:spPr>
            <a:xfrm>
              <a:off x="9270060" y="3997778"/>
              <a:ext cx="2719502" cy="484179"/>
            </a:xfrm>
            <a:prstGeom prst="rect">
              <a:avLst/>
            </a:prstGeom>
            <a:solidFill>
              <a:schemeClr val="bg2">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BE" dirty="0">
                  <a:solidFill>
                    <a:schemeClr val="tx1"/>
                  </a:solidFill>
                </a:rPr>
                <a:t>[0.378, 0.384, 0.087, 0.097, 0.053]</a:t>
              </a:r>
            </a:p>
          </p:txBody>
        </p:sp>
      </p:grpSp>
      <p:grpSp>
        <p:nvGrpSpPr>
          <p:cNvPr id="50" name="Group 49">
            <a:extLst>
              <a:ext uri="{FF2B5EF4-FFF2-40B4-BE49-F238E27FC236}">
                <a16:creationId xmlns:a16="http://schemas.microsoft.com/office/drawing/2014/main" id="{6C1BA0D9-3E25-9F63-099D-F7A4AFCB6A1C}"/>
              </a:ext>
            </a:extLst>
          </p:cNvPr>
          <p:cNvGrpSpPr/>
          <p:nvPr/>
        </p:nvGrpSpPr>
        <p:grpSpPr>
          <a:xfrm>
            <a:off x="3163649" y="2302100"/>
            <a:ext cx="6021160" cy="605749"/>
            <a:chOff x="3163649" y="2302100"/>
            <a:chExt cx="6021160" cy="605749"/>
          </a:xfrm>
        </p:grpSpPr>
        <p:cxnSp>
          <p:nvCxnSpPr>
            <p:cNvPr id="20" name="Straight Arrow Connector 19">
              <a:extLst>
                <a:ext uri="{FF2B5EF4-FFF2-40B4-BE49-F238E27FC236}">
                  <a16:creationId xmlns:a16="http://schemas.microsoft.com/office/drawing/2014/main" id="{B0BDC6E6-7492-A02B-7F90-136A695C8E97}"/>
                </a:ext>
              </a:extLst>
            </p:cNvPr>
            <p:cNvCxnSpPr>
              <a:cxnSpLocks/>
              <a:endCxn id="9" idx="0"/>
            </p:cNvCxnSpPr>
            <p:nvPr/>
          </p:nvCxnSpPr>
          <p:spPr>
            <a:xfrm flipH="1">
              <a:off x="3163649" y="2302100"/>
              <a:ext cx="2694540" cy="605749"/>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2" name="Straight Arrow Connector 21">
              <a:extLst>
                <a:ext uri="{FF2B5EF4-FFF2-40B4-BE49-F238E27FC236}">
                  <a16:creationId xmlns:a16="http://schemas.microsoft.com/office/drawing/2014/main" id="{5052E6DD-9C7B-472D-7E5D-8567A56B72FD}"/>
                </a:ext>
              </a:extLst>
            </p:cNvPr>
            <p:cNvCxnSpPr>
              <a:cxnSpLocks/>
              <a:endCxn id="10" idx="0"/>
            </p:cNvCxnSpPr>
            <p:nvPr/>
          </p:nvCxnSpPr>
          <p:spPr>
            <a:xfrm>
              <a:off x="6490268" y="2307809"/>
              <a:ext cx="2694541" cy="60004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grpSp>
      <p:grpSp>
        <p:nvGrpSpPr>
          <p:cNvPr id="29" name="Group 28">
            <a:extLst>
              <a:ext uri="{FF2B5EF4-FFF2-40B4-BE49-F238E27FC236}">
                <a16:creationId xmlns:a16="http://schemas.microsoft.com/office/drawing/2014/main" id="{663818D4-0C0C-2BFF-E649-781198698637}"/>
              </a:ext>
            </a:extLst>
          </p:cNvPr>
          <p:cNvGrpSpPr/>
          <p:nvPr/>
        </p:nvGrpSpPr>
        <p:grpSpPr>
          <a:xfrm>
            <a:off x="8326815" y="3403446"/>
            <a:ext cx="1715987" cy="588622"/>
            <a:chOff x="8365457" y="3403446"/>
            <a:chExt cx="1715987" cy="588622"/>
          </a:xfrm>
        </p:grpSpPr>
        <p:cxnSp>
          <p:nvCxnSpPr>
            <p:cNvPr id="25" name="Straight Arrow Connector 24">
              <a:extLst>
                <a:ext uri="{FF2B5EF4-FFF2-40B4-BE49-F238E27FC236}">
                  <a16:creationId xmlns:a16="http://schemas.microsoft.com/office/drawing/2014/main" id="{E137C46A-8CB5-EFC4-B23C-7F9AD87C155B}"/>
                </a:ext>
              </a:extLst>
            </p:cNvPr>
            <p:cNvCxnSpPr>
              <a:cxnSpLocks/>
            </p:cNvCxnSpPr>
            <p:nvPr/>
          </p:nvCxnSpPr>
          <p:spPr>
            <a:xfrm>
              <a:off x="9576079" y="3403446"/>
              <a:ext cx="505365" cy="588622"/>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8" name="Straight Arrow Connector 27">
              <a:extLst>
                <a:ext uri="{FF2B5EF4-FFF2-40B4-BE49-F238E27FC236}">
                  <a16:creationId xmlns:a16="http://schemas.microsoft.com/office/drawing/2014/main" id="{F81DB44D-C476-2F0C-3D4C-3793FB56DE65}"/>
                </a:ext>
              </a:extLst>
            </p:cNvPr>
            <p:cNvCxnSpPr>
              <a:cxnSpLocks/>
            </p:cNvCxnSpPr>
            <p:nvPr/>
          </p:nvCxnSpPr>
          <p:spPr>
            <a:xfrm flipH="1">
              <a:off x="8365457" y="3403446"/>
              <a:ext cx="505365" cy="588622"/>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grpSp>
      <p:grpSp>
        <p:nvGrpSpPr>
          <p:cNvPr id="30" name="Group 29">
            <a:extLst>
              <a:ext uri="{FF2B5EF4-FFF2-40B4-BE49-F238E27FC236}">
                <a16:creationId xmlns:a16="http://schemas.microsoft.com/office/drawing/2014/main" id="{D1702588-9821-25B1-3829-4C9233934F79}"/>
              </a:ext>
            </a:extLst>
          </p:cNvPr>
          <p:cNvGrpSpPr/>
          <p:nvPr/>
        </p:nvGrpSpPr>
        <p:grpSpPr>
          <a:xfrm>
            <a:off x="2305655" y="3403446"/>
            <a:ext cx="1715987" cy="588622"/>
            <a:chOff x="8365457" y="3403446"/>
            <a:chExt cx="1715987" cy="588622"/>
          </a:xfrm>
        </p:grpSpPr>
        <p:cxnSp>
          <p:nvCxnSpPr>
            <p:cNvPr id="31" name="Straight Arrow Connector 30">
              <a:extLst>
                <a:ext uri="{FF2B5EF4-FFF2-40B4-BE49-F238E27FC236}">
                  <a16:creationId xmlns:a16="http://schemas.microsoft.com/office/drawing/2014/main" id="{968311D2-1541-AC03-1055-20A16F38A7AD}"/>
                </a:ext>
              </a:extLst>
            </p:cNvPr>
            <p:cNvCxnSpPr>
              <a:cxnSpLocks/>
            </p:cNvCxnSpPr>
            <p:nvPr/>
          </p:nvCxnSpPr>
          <p:spPr>
            <a:xfrm>
              <a:off x="9576079" y="3403446"/>
              <a:ext cx="505365" cy="588622"/>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32" name="Straight Arrow Connector 31">
              <a:extLst>
                <a:ext uri="{FF2B5EF4-FFF2-40B4-BE49-F238E27FC236}">
                  <a16:creationId xmlns:a16="http://schemas.microsoft.com/office/drawing/2014/main" id="{6A54C1B2-9F72-5285-3966-5AAE8F111840}"/>
                </a:ext>
              </a:extLst>
            </p:cNvPr>
            <p:cNvCxnSpPr>
              <a:cxnSpLocks/>
            </p:cNvCxnSpPr>
            <p:nvPr/>
          </p:nvCxnSpPr>
          <p:spPr>
            <a:xfrm flipH="1">
              <a:off x="8365457" y="3403446"/>
              <a:ext cx="505365" cy="588622"/>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grpSp>
      <p:sp>
        <p:nvSpPr>
          <p:cNvPr id="33" name="Rounded Rectangle 32">
            <a:extLst>
              <a:ext uri="{FF2B5EF4-FFF2-40B4-BE49-F238E27FC236}">
                <a16:creationId xmlns:a16="http://schemas.microsoft.com/office/drawing/2014/main" id="{8832629D-2DB5-43F0-8A68-D3E445B136CE}"/>
              </a:ext>
            </a:extLst>
          </p:cNvPr>
          <p:cNvSpPr/>
          <p:nvPr/>
        </p:nvSpPr>
        <p:spPr>
          <a:xfrm>
            <a:off x="1014885" y="4089679"/>
            <a:ext cx="422030" cy="281354"/>
          </a:xfrm>
          <a:prstGeom prst="roundRect">
            <a:avLst/>
          </a:prstGeom>
          <a:noFill/>
          <a:ln>
            <a:solidFill>
              <a:schemeClr val="accent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BE"/>
          </a:p>
        </p:txBody>
      </p:sp>
      <p:sp>
        <p:nvSpPr>
          <p:cNvPr id="34" name="TextBox 33">
            <a:extLst>
              <a:ext uri="{FF2B5EF4-FFF2-40B4-BE49-F238E27FC236}">
                <a16:creationId xmlns:a16="http://schemas.microsoft.com/office/drawing/2014/main" id="{99A1A9C2-2626-6C1C-F32C-94E874FA79D6}"/>
              </a:ext>
            </a:extLst>
          </p:cNvPr>
          <p:cNvSpPr txBox="1"/>
          <p:nvPr/>
        </p:nvSpPr>
        <p:spPr>
          <a:xfrm>
            <a:off x="648714" y="4441765"/>
            <a:ext cx="2116285" cy="369332"/>
          </a:xfrm>
          <a:prstGeom prst="rect">
            <a:avLst/>
          </a:prstGeom>
          <a:noFill/>
        </p:spPr>
        <p:txBody>
          <a:bodyPr wrap="none" rtlCol="0">
            <a:spAutoFit/>
          </a:bodyPr>
          <a:lstStyle/>
          <a:p>
            <a:pPr algn="ctr"/>
            <a:r>
              <a:rPr lang="en-BE" sz="1800" dirty="0">
                <a:solidFill>
                  <a:schemeClr val="accent3"/>
                </a:solidFill>
                <a:latin typeface="+mn-lt"/>
              </a:rPr>
              <a:t>Discharge at 50% power</a:t>
            </a:r>
          </a:p>
        </p:txBody>
      </p:sp>
      <p:sp>
        <p:nvSpPr>
          <p:cNvPr id="35" name="Rounded Rectangle 34">
            <a:extLst>
              <a:ext uri="{FF2B5EF4-FFF2-40B4-BE49-F238E27FC236}">
                <a16:creationId xmlns:a16="http://schemas.microsoft.com/office/drawing/2014/main" id="{29F6CE94-F99A-0264-4C78-F99D4A57B25D}"/>
              </a:ext>
            </a:extLst>
          </p:cNvPr>
          <p:cNvSpPr/>
          <p:nvPr/>
        </p:nvSpPr>
        <p:spPr>
          <a:xfrm>
            <a:off x="4897071" y="4089679"/>
            <a:ext cx="422030" cy="281354"/>
          </a:xfrm>
          <a:prstGeom prst="roundRect">
            <a:avLst/>
          </a:prstGeom>
          <a:noFill/>
          <a:ln>
            <a:solidFill>
              <a:schemeClr val="accent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BE"/>
          </a:p>
        </p:txBody>
      </p:sp>
      <p:sp>
        <p:nvSpPr>
          <p:cNvPr id="36" name="TextBox 35">
            <a:extLst>
              <a:ext uri="{FF2B5EF4-FFF2-40B4-BE49-F238E27FC236}">
                <a16:creationId xmlns:a16="http://schemas.microsoft.com/office/drawing/2014/main" id="{22CDE9A0-E7BB-94E6-AC36-B637F133BB42}"/>
              </a:ext>
            </a:extLst>
          </p:cNvPr>
          <p:cNvSpPr txBox="1"/>
          <p:nvPr/>
        </p:nvSpPr>
        <p:spPr>
          <a:xfrm>
            <a:off x="3609562" y="4441765"/>
            <a:ext cx="1890262" cy="369332"/>
          </a:xfrm>
          <a:prstGeom prst="rect">
            <a:avLst/>
          </a:prstGeom>
          <a:noFill/>
        </p:spPr>
        <p:txBody>
          <a:bodyPr wrap="none" rtlCol="0">
            <a:spAutoFit/>
          </a:bodyPr>
          <a:lstStyle/>
          <a:p>
            <a:pPr algn="ctr"/>
            <a:r>
              <a:rPr lang="en-BE" sz="1800" dirty="0">
                <a:solidFill>
                  <a:schemeClr val="accent3"/>
                </a:solidFill>
                <a:latin typeface="+mn-lt"/>
              </a:rPr>
              <a:t>Charge at 50% power</a:t>
            </a:r>
          </a:p>
        </p:txBody>
      </p:sp>
      <p:sp>
        <p:nvSpPr>
          <p:cNvPr id="37" name="Rounded Rectangle 36">
            <a:extLst>
              <a:ext uri="{FF2B5EF4-FFF2-40B4-BE49-F238E27FC236}">
                <a16:creationId xmlns:a16="http://schemas.microsoft.com/office/drawing/2014/main" id="{699B5230-620C-F805-8B4E-B876645841C0}"/>
              </a:ext>
            </a:extLst>
          </p:cNvPr>
          <p:cNvSpPr/>
          <p:nvPr/>
        </p:nvSpPr>
        <p:spPr>
          <a:xfrm>
            <a:off x="7528791" y="4089679"/>
            <a:ext cx="422030" cy="281354"/>
          </a:xfrm>
          <a:prstGeom prst="roundRect">
            <a:avLst/>
          </a:prstGeom>
          <a:noFill/>
          <a:ln>
            <a:solidFill>
              <a:schemeClr val="accent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BE"/>
          </a:p>
        </p:txBody>
      </p:sp>
      <p:sp>
        <p:nvSpPr>
          <p:cNvPr id="38" name="Rounded Rectangle 37">
            <a:extLst>
              <a:ext uri="{FF2B5EF4-FFF2-40B4-BE49-F238E27FC236}">
                <a16:creationId xmlns:a16="http://schemas.microsoft.com/office/drawing/2014/main" id="{0F850CF8-5A1F-8219-E577-CCE341B281B9}"/>
              </a:ext>
            </a:extLst>
          </p:cNvPr>
          <p:cNvSpPr/>
          <p:nvPr/>
        </p:nvSpPr>
        <p:spPr>
          <a:xfrm>
            <a:off x="9923935" y="4089679"/>
            <a:ext cx="422030" cy="281354"/>
          </a:xfrm>
          <a:prstGeom prst="roundRect">
            <a:avLst/>
          </a:prstGeom>
          <a:noFill/>
          <a:ln>
            <a:solidFill>
              <a:schemeClr val="accent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BE"/>
          </a:p>
        </p:txBody>
      </p:sp>
      <p:sp>
        <p:nvSpPr>
          <p:cNvPr id="39" name="TextBox 38">
            <a:extLst>
              <a:ext uri="{FF2B5EF4-FFF2-40B4-BE49-F238E27FC236}">
                <a16:creationId xmlns:a16="http://schemas.microsoft.com/office/drawing/2014/main" id="{7F3F0678-7CB3-CF87-AFDD-3DB534A62412}"/>
              </a:ext>
            </a:extLst>
          </p:cNvPr>
          <p:cNvSpPr txBox="1"/>
          <p:nvPr/>
        </p:nvSpPr>
        <p:spPr>
          <a:xfrm>
            <a:off x="9559765" y="4441765"/>
            <a:ext cx="2122697" cy="369332"/>
          </a:xfrm>
          <a:prstGeom prst="rect">
            <a:avLst/>
          </a:prstGeom>
          <a:noFill/>
        </p:spPr>
        <p:txBody>
          <a:bodyPr wrap="none" rtlCol="0">
            <a:spAutoFit/>
          </a:bodyPr>
          <a:lstStyle/>
          <a:p>
            <a:pPr algn="ctr"/>
            <a:r>
              <a:rPr lang="en-BE" sz="1800" dirty="0">
                <a:solidFill>
                  <a:schemeClr val="accent3"/>
                </a:solidFill>
                <a:latin typeface="+mn-lt"/>
              </a:rPr>
              <a:t>Discharge at 50% power</a:t>
            </a:r>
          </a:p>
        </p:txBody>
      </p:sp>
      <p:sp>
        <p:nvSpPr>
          <p:cNvPr id="40" name="TextBox 39">
            <a:extLst>
              <a:ext uri="{FF2B5EF4-FFF2-40B4-BE49-F238E27FC236}">
                <a16:creationId xmlns:a16="http://schemas.microsoft.com/office/drawing/2014/main" id="{68DDFE2E-DB63-C256-2C61-8372BB458F61}"/>
              </a:ext>
            </a:extLst>
          </p:cNvPr>
          <p:cNvSpPr txBox="1"/>
          <p:nvPr/>
        </p:nvSpPr>
        <p:spPr>
          <a:xfrm>
            <a:off x="7168976" y="4441765"/>
            <a:ext cx="1141659" cy="369332"/>
          </a:xfrm>
          <a:prstGeom prst="rect">
            <a:avLst/>
          </a:prstGeom>
          <a:noFill/>
        </p:spPr>
        <p:txBody>
          <a:bodyPr wrap="none" rtlCol="0">
            <a:spAutoFit/>
          </a:bodyPr>
          <a:lstStyle/>
          <a:p>
            <a:pPr algn="ctr"/>
            <a:r>
              <a:rPr lang="en-BE" sz="1800" dirty="0">
                <a:solidFill>
                  <a:schemeClr val="accent3"/>
                </a:solidFill>
                <a:latin typeface="+mn-lt"/>
              </a:rPr>
              <a:t>Remain idle</a:t>
            </a:r>
          </a:p>
        </p:txBody>
      </p:sp>
      <p:grpSp>
        <p:nvGrpSpPr>
          <p:cNvPr id="49" name="Group 48">
            <a:extLst>
              <a:ext uri="{FF2B5EF4-FFF2-40B4-BE49-F238E27FC236}">
                <a16:creationId xmlns:a16="http://schemas.microsoft.com/office/drawing/2014/main" id="{72688DC5-51B2-24BD-B87B-2B00BBDF2CFE}"/>
              </a:ext>
            </a:extLst>
          </p:cNvPr>
          <p:cNvGrpSpPr/>
          <p:nvPr/>
        </p:nvGrpSpPr>
        <p:grpSpPr>
          <a:xfrm>
            <a:off x="4474401" y="2255889"/>
            <a:ext cx="3411679" cy="369332"/>
            <a:chOff x="4475161" y="2255889"/>
            <a:chExt cx="3411679" cy="369332"/>
          </a:xfrm>
        </p:grpSpPr>
        <p:sp>
          <p:nvSpPr>
            <p:cNvPr id="41" name="TextBox 40">
              <a:extLst>
                <a:ext uri="{FF2B5EF4-FFF2-40B4-BE49-F238E27FC236}">
                  <a16:creationId xmlns:a16="http://schemas.microsoft.com/office/drawing/2014/main" id="{190B8821-302B-17D6-5586-B6F0F7981099}"/>
                </a:ext>
              </a:extLst>
            </p:cNvPr>
            <p:cNvSpPr txBox="1"/>
            <p:nvPr/>
          </p:nvSpPr>
          <p:spPr>
            <a:xfrm>
              <a:off x="4475161" y="2255889"/>
              <a:ext cx="450764" cy="369332"/>
            </a:xfrm>
            <a:prstGeom prst="rect">
              <a:avLst/>
            </a:prstGeom>
            <a:noFill/>
          </p:spPr>
          <p:txBody>
            <a:bodyPr wrap="none" rtlCol="0">
              <a:spAutoFit/>
            </a:bodyPr>
            <a:lstStyle/>
            <a:p>
              <a:r>
                <a:rPr lang="en-BE" sz="1800" dirty="0">
                  <a:solidFill>
                    <a:schemeClr val="bg2"/>
                  </a:solidFill>
                  <a:latin typeface="+mn-lt"/>
                </a:rPr>
                <a:t>yes</a:t>
              </a:r>
            </a:p>
          </p:txBody>
        </p:sp>
        <p:sp>
          <p:nvSpPr>
            <p:cNvPr id="42" name="TextBox 41">
              <a:extLst>
                <a:ext uri="{FF2B5EF4-FFF2-40B4-BE49-F238E27FC236}">
                  <a16:creationId xmlns:a16="http://schemas.microsoft.com/office/drawing/2014/main" id="{C4B583E1-8082-F914-41C6-D47DD5631D2D}"/>
                </a:ext>
              </a:extLst>
            </p:cNvPr>
            <p:cNvSpPr txBox="1"/>
            <p:nvPr/>
          </p:nvSpPr>
          <p:spPr>
            <a:xfrm>
              <a:off x="7500196" y="2255889"/>
              <a:ext cx="386644" cy="369332"/>
            </a:xfrm>
            <a:prstGeom prst="rect">
              <a:avLst/>
            </a:prstGeom>
            <a:noFill/>
          </p:spPr>
          <p:txBody>
            <a:bodyPr wrap="none" rtlCol="0">
              <a:spAutoFit/>
            </a:bodyPr>
            <a:lstStyle/>
            <a:p>
              <a:pPr algn="ctr"/>
              <a:r>
                <a:rPr lang="en-BE" sz="1800" dirty="0">
                  <a:solidFill>
                    <a:schemeClr val="bg2"/>
                  </a:solidFill>
                  <a:latin typeface="+mn-lt"/>
                </a:rPr>
                <a:t>no</a:t>
              </a:r>
            </a:p>
          </p:txBody>
        </p:sp>
      </p:grpSp>
      <p:grpSp>
        <p:nvGrpSpPr>
          <p:cNvPr id="45" name="Group 44">
            <a:extLst>
              <a:ext uri="{FF2B5EF4-FFF2-40B4-BE49-F238E27FC236}">
                <a16:creationId xmlns:a16="http://schemas.microsoft.com/office/drawing/2014/main" id="{11DFC26F-4E7F-ED41-D15F-C55837A8C738}"/>
              </a:ext>
            </a:extLst>
          </p:cNvPr>
          <p:cNvGrpSpPr/>
          <p:nvPr/>
        </p:nvGrpSpPr>
        <p:grpSpPr>
          <a:xfrm>
            <a:off x="2100127" y="3513598"/>
            <a:ext cx="2139064" cy="369332"/>
            <a:chOff x="2100744" y="3513598"/>
            <a:chExt cx="2139064" cy="369332"/>
          </a:xfrm>
        </p:grpSpPr>
        <p:sp>
          <p:nvSpPr>
            <p:cNvPr id="43" name="TextBox 42">
              <a:extLst>
                <a:ext uri="{FF2B5EF4-FFF2-40B4-BE49-F238E27FC236}">
                  <a16:creationId xmlns:a16="http://schemas.microsoft.com/office/drawing/2014/main" id="{B3A699B2-2992-327C-B38C-3BB97BFCF5A3}"/>
                </a:ext>
              </a:extLst>
            </p:cNvPr>
            <p:cNvSpPr txBox="1"/>
            <p:nvPr/>
          </p:nvSpPr>
          <p:spPr>
            <a:xfrm>
              <a:off x="2100744" y="3513598"/>
              <a:ext cx="450764" cy="369332"/>
            </a:xfrm>
            <a:prstGeom prst="rect">
              <a:avLst/>
            </a:prstGeom>
            <a:noFill/>
          </p:spPr>
          <p:txBody>
            <a:bodyPr wrap="none" rtlCol="0">
              <a:spAutoFit/>
            </a:bodyPr>
            <a:lstStyle/>
            <a:p>
              <a:r>
                <a:rPr lang="en-BE" sz="1800" dirty="0">
                  <a:solidFill>
                    <a:schemeClr val="bg2"/>
                  </a:solidFill>
                  <a:latin typeface="+mn-lt"/>
                </a:rPr>
                <a:t>yes</a:t>
              </a:r>
            </a:p>
          </p:txBody>
        </p:sp>
        <p:sp>
          <p:nvSpPr>
            <p:cNvPr id="44" name="TextBox 43">
              <a:extLst>
                <a:ext uri="{FF2B5EF4-FFF2-40B4-BE49-F238E27FC236}">
                  <a16:creationId xmlns:a16="http://schemas.microsoft.com/office/drawing/2014/main" id="{39FD68CB-9F56-20B9-C5A1-2983B4918A7B}"/>
                </a:ext>
              </a:extLst>
            </p:cNvPr>
            <p:cNvSpPr txBox="1"/>
            <p:nvPr/>
          </p:nvSpPr>
          <p:spPr>
            <a:xfrm>
              <a:off x="3853164" y="3513598"/>
              <a:ext cx="386644" cy="369332"/>
            </a:xfrm>
            <a:prstGeom prst="rect">
              <a:avLst/>
            </a:prstGeom>
            <a:noFill/>
          </p:spPr>
          <p:txBody>
            <a:bodyPr wrap="none" rtlCol="0">
              <a:spAutoFit/>
            </a:bodyPr>
            <a:lstStyle/>
            <a:p>
              <a:pPr algn="ctr"/>
              <a:r>
                <a:rPr lang="en-BE" sz="1800" dirty="0">
                  <a:solidFill>
                    <a:schemeClr val="bg2"/>
                  </a:solidFill>
                  <a:latin typeface="+mn-lt"/>
                </a:rPr>
                <a:t>no</a:t>
              </a:r>
            </a:p>
          </p:txBody>
        </p:sp>
      </p:grpSp>
      <p:grpSp>
        <p:nvGrpSpPr>
          <p:cNvPr id="46" name="Group 45">
            <a:extLst>
              <a:ext uri="{FF2B5EF4-FFF2-40B4-BE49-F238E27FC236}">
                <a16:creationId xmlns:a16="http://schemas.microsoft.com/office/drawing/2014/main" id="{E2C1BC79-A23B-FE9E-C2CA-E61DF5BD54C4}"/>
              </a:ext>
            </a:extLst>
          </p:cNvPr>
          <p:cNvGrpSpPr/>
          <p:nvPr/>
        </p:nvGrpSpPr>
        <p:grpSpPr>
          <a:xfrm>
            <a:off x="8121287" y="3507889"/>
            <a:ext cx="2139064" cy="369332"/>
            <a:chOff x="2100744" y="3513598"/>
            <a:chExt cx="2139064" cy="369332"/>
          </a:xfrm>
        </p:grpSpPr>
        <p:sp>
          <p:nvSpPr>
            <p:cNvPr id="47" name="TextBox 46">
              <a:extLst>
                <a:ext uri="{FF2B5EF4-FFF2-40B4-BE49-F238E27FC236}">
                  <a16:creationId xmlns:a16="http://schemas.microsoft.com/office/drawing/2014/main" id="{469BC318-5061-CD73-C5BA-D0C6215E548B}"/>
                </a:ext>
              </a:extLst>
            </p:cNvPr>
            <p:cNvSpPr txBox="1"/>
            <p:nvPr/>
          </p:nvSpPr>
          <p:spPr>
            <a:xfrm>
              <a:off x="2100744" y="3513598"/>
              <a:ext cx="449162" cy="369332"/>
            </a:xfrm>
            <a:prstGeom prst="rect">
              <a:avLst/>
            </a:prstGeom>
            <a:noFill/>
          </p:spPr>
          <p:txBody>
            <a:bodyPr wrap="none" rtlCol="0">
              <a:spAutoFit/>
            </a:bodyPr>
            <a:lstStyle/>
            <a:p>
              <a:r>
                <a:rPr lang="en-BE" sz="1800" dirty="0">
                  <a:solidFill>
                    <a:schemeClr val="bg2"/>
                  </a:solidFill>
                  <a:latin typeface="+mn-lt"/>
                </a:rPr>
                <a:t>yes</a:t>
              </a:r>
            </a:p>
          </p:txBody>
        </p:sp>
        <p:sp>
          <p:nvSpPr>
            <p:cNvPr id="48" name="TextBox 47">
              <a:extLst>
                <a:ext uri="{FF2B5EF4-FFF2-40B4-BE49-F238E27FC236}">
                  <a16:creationId xmlns:a16="http://schemas.microsoft.com/office/drawing/2014/main" id="{3DA319B2-FD43-4B6E-1E30-7CF5F8F290BA}"/>
                </a:ext>
              </a:extLst>
            </p:cNvPr>
            <p:cNvSpPr txBox="1"/>
            <p:nvPr/>
          </p:nvSpPr>
          <p:spPr>
            <a:xfrm>
              <a:off x="3853164" y="3513598"/>
              <a:ext cx="386644" cy="369332"/>
            </a:xfrm>
            <a:prstGeom prst="rect">
              <a:avLst/>
            </a:prstGeom>
            <a:noFill/>
          </p:spPr>
          <p:txBody>
            <a:bodyPr wrap="none" rtlCol="0">
              <a:spAutoFit/>
            </a:bodyPr>
            <a:lstStyle/>
            <a:p>
              <a:pPr algn="ctr"/>
              <a:r>
                <a:rPr lang="en-BE" sz="1800" dirty="0">
                  <a:solidFill>
                    <a:schemeClr val="bg2"/>
                  </a:solidFill>
                  <a:latin typeface="+mn-lt"/>
                </a:rPr>
                <a:t>no</a:t>
              </a:r>
            </a:p>
          </p:txBody>
        </p:sp>
      </p:grpSp>
      <p:grpSp>
        <p:nvGrpSpPr>
          <p:cNvPr id="57" name="Group 56">
            <a:extLst>
              <a:ext uri="{FF2B5EF4-FFF2-40B4-BE49-F238E27FC236}">
                <a16:creationId xmlns:a16="http://schemas.microsoft.com/office/drawing/2014/main" id="{77A30829-C72F-CAD4-B287-453B8BE83D97}"/>
              </a:ext>
            </a:extLst>
          </p:cNvPr>
          <p:cNvGrpSpPr/>
          <p:nvPr/>
        </p:nvGrpSpPr>
        <p:grpSpPr>
          <a:xfrm>
            <a:off x="2384330" y="1817921"/>
            <a:ext cx="4569218" cy="2664036"/>
            <a:chOff x="2384330" y="1817921"/>
            <a:chExt cx="4569218" cy="2664036"/>
          </a:xfrm>
        </p:grpSpPr>
        <p:cxnSp>
          <p:nvCxnSpPr>
            <p:cNvPr id="51" name="Straight Arrow Connector 50">
              <a:extLst>
                <a:ext uri="{FF2B5EF4-FFF2-40B4-BE49-F238E27FC236}">
                  <a16:creationId xmlns:a16="http://schemas.microsoft.com/office/drawing/2014/main" id="{96117713-A931-C0D8-2B92-71BF3713E3B2}"/>
                </a:ext>
              </a:extLst>
            </p:cNvPr>
            <p:cNvCxnSpPr>
              <a:cxnSpLocks/>
            </p:cNvCxnSpPr>
            <p:nvPr/>
          </p:nvCxnSpPr>
          <p:spPr>
            <a:xfrm>
              <a:off x="3510320" y="3395661"/>
              <a:ext cx="505365" cy="588622"/>
            </a:xfrm>
            <a:prstGeom prst="straightConnector1">
              <a:avLst/>
            </a:prstGeom>
            <a:ln w="38100">
              <a:solidFill>
                <a:schemeClr val="accent1">
                  <a:lumMod val="75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52" name="Straight Arrow Connector 51">
              <a:extLst>
                <a:ext uri="{FF2B5EF4-FFF2-40B4-BE49-F238E27FC236}">
                  <a16:creationId xmlns:a16="http://schemas.microsoft.com/office/drawing/2014/main" id="{F31C7CEA-7AE3-32C4-D1B1-318B730E2AF2}"/>
                </a:ext>
              </a:extLst>
            </p:cNvPr>
            <p:cNvCxnSpPr>
              <a:cxnSpLocks/>
            </p:cNvCxnSpPr>
            <p:nvPr/>
          </p:nvCxnSpPr>
          <p:spPr>
            <a:xfrm flipH="1">
              <a:off x="3153697" y="2304170"/>
              <a:ext cx="2694540" cy="605749"/>
            </a:xfrm>
            <a:prstGeom prst="straightConnector1">
              <a:avLst/>
            </a:prstGeom>
            <a:ln w="38100">
              <a:solidFill>
                <a:schemeClr val="accent1">
                  <a:lumMod val="75000"/>
                </a:schemeClr>
              </a:solidFill>
              <a:tailEnd type="triangle"/>
            </a:ln>
          </p:spPr>
          <p:style>
            <a:lnRef idx="1">
              <a:schemeClr val="accent1"/>
            </a:lnRef>
            <a:fillRef idx="0">
              <a:schemeClr val="accent1"/>
            </a:fillRef>
            <a:effectRef idx="0">
              <a:schemeClr val="accent1"/>
            </a:effectRef>
            <a:fontRef idx="minor">
              <a:schemeClr val="tx1"/>
            </a:fontRef>
          </p:style>
        </p:cxnSp>
        <p:sp>
          <p:nvSpPr>
            <p:cNvPr id="54" name="Rectangle 53">
              <a:extLst>
                <a:ext uri="{FF2B5EF4-FFF2-40B4-BE49-F238E27FC236}">
                  <a16:creationId xmlns:a16="http://schemas.microsoft.com/office/drawing/2014/main" id="{EC4FE39E-92BE-C44B-6E18-2F2EF19D5288}"/>
                </a:ext>
              </a:extLst>
            </p:cNvPr>
            <p:cNvSpPr/>
            <p:nvPr/>
          </p:nvSpPr>
          <p:spPr>
            <a:xfrm>
              <a:off x="2384330" y="2907849"/>
              <a:ext cx="1558637" cy="484179"/>
            </a:xfrm>
            <a:prstGeom prst="rect">
              <a:avLst/>
            </a:prstGeom>
            <a:solidFill>
              <a:schemeClr val="accent1"/>
            </a:solidFill>
            <a:ln>
              <a:solidFill>
                <a:schemeClr val="accent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BE" dirty="0">
                  <a:solidFill>
                    <a:schemeClr val="tx1"/>
                  </a:solidFill>
                </a:rPr>
                <a:t>Load &gt; 0.68</a:t>
              </a:r>
            </a:p>
          </p:txBody>
        </p:sp>
        <p:sp>
          <p:nvSpPr>
            <p:cNvPr id="55" name="Rectangle 54">
              <a:extLst>
                <a:ext uri="{FF2B5EF4-FFF2-40B4-BE49-F238E27FC236}">
                  <a16:creationId xmlns:a16="http://schemas.microsoft.com/office/drawing/2014/main" id="{F93D1105-CA77-47E2-9E86-A5EDCE6E4DAA}"/>
                </a:ext>
              </a:extLst>
            </p:cNvPr>
            <p:cNvSpPr/>
            <p:nvPr/>
          </p:nvSpPr>
          <p:spPr>
            <a:xfrm>
              <a:off x="5394911" y="1817921"/>
              <a:ext cx="1558637" cy="484179"/>
            </a:xfrm>
            <a:prstGeom prst="rect">
              <a:avLst/>
            </a:prstGeom>
            <a:solidFill>
              <a:schemeClr val="accent1"/>
            </a:solidFill>
            <a:ln>
              <a:solidFill>
                <a:schemeClr val="accent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BE" dirty="0">
                  <a:solidFill>
                    <a:schemeClr val="tx1"/>
                  </a:solidFill>
                </a:rPr>
                <a:t>PV power &gt; 0.47</a:t>
              </a:r>
            </a:p>
          </p:txBody>
        </p:sp>
        <p:sp>
          <p:nvSpPr>
            <p:cNvPr id="56" name="Rectangle 55">
              <a:extLst>
                <a:ext uri="{FF2B5EF4-FFF2-40B4-BE49-F238E27FC236}">
                  <a16:creationId xmlns:a16="http://schemas.microsoft.com/office/drawing/2014/main" id="{D2B6855A-5B91-3392-2584-FFB8140AAE37}"/>
                </a:ext>
              </a:extLst>
            </p:cNvPr>
            <p:cNvSpPr/>
            <p:nvPr/>
          </p:nvSpPr>
          <p:spPr>
            <a:xfrm>
              <a:off x="3248899" y="3997778"/>
              <a:ext cx="2719502" cy="484179"/>
            </a:xfrm>
            <a:prstGeom prst="rect">
              <a:avLst/>
            </a:prstGeom>
            <a:noFill/>
            <a:ln>
              <a:solidFill>
                <a:schemeClr val="accent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BE" dirty="0">
                  <a:solidFill>
                    <a:schemeClr val="accent1">
                      <a:lumMod val="75000"/>
                    </a:schemeClr>
                  </a:solidFill>
                </a:rPr>
                <a:t>[0.060, 0.082, 0.304, 0.344, 0.210]</a:t>
              </a:r>
            </a:p>
          </p:txBody>
        </p:sp>
      </p:grpSp>
      <p:sp>
        <p:nvSpPr>
          <p:cNvPr id="58" name="TextBox 57">
            <a:extLst>
              <a:ext uri="{FF2B5EF4-FFF2-40B4-BE49-F238E27FC236}">
                <a16:creationId xmlns:a16="http://schemas.microsoft.com/office/drawing/2014/main" id="{57506602-BD78-2D50-D8B5-C49DDFA2ECD5}"/>
              </a:ext>
            </a:extLst>
          </p:cNvPr>
          <p:cNvSpPr txBox="1"/>
          <p:nvPr/>
        </p:nvSpPr>
        <p:spPr>
          <a:xfrm>
            <a:off x="236748" y="1506945"/>
            <a:ext cx="4812708" cy="855940"/>
          </a:xfrm>
          <a:prstGeom prst="rect">
            <a:avLst/>
          </a:prstGeom>
          <a:noFill/>
        </p:spPr>
        <p:txBody>
          <a:bodyPr wrap="square" rtlCol="0">
            <a:spAutoFit/>
          </a:bodyPr>
          <a:lstStyle/>
          <a:p>
            <a:pPr>
              <a:lnSpc>
                <a:spcPct val="75000"/>
              </a:lnSpc>
            </a:pPr>
            <a:r>
              <a:rPr lang="en-BE" sz="3200" b="1" dirty="0">
                <a:solidFill>
                  <a:schemeClr val="accent1">
                    <a:lumMod val="75000"/>
                  </a:schemeClr>
                </a:solidFill>
                <a:latin typeface="Caveat" pitchFamily="2" charset="77"/>
              </a:rPr>
              <a:t>“If it is </a:t>
            </a:r>
            <a:r>
              <a:rPr lang="en-BE" sz="3200" b="1" u="sng" dirty="0">
                <a:solidFill>
                  <a:schemeClr val="accent1">
                    <a:lumMod val="75000"/>
                  </a:schemeClr>
                </a:solidFill>
                <a:latin typeface="Caveat" pitchFamily="2" charset="77"/>
              </a:rPr>
              <a:t>sunny</a:t>
            </a:r>
            <a:r>
              <a:rPr lang="en-BE" sz="3200" b="1" dirty="0">
                <a:solidFill>
                  <a:schemeClr val="accent1">
                    <a:lumMod val="75000"/>
                  </a:schemeClr>
                </a:solidFill>
                <a:latin typeface="Caveat" pitchFamily="2" charset="77"/>
              </a:rPr>
              <a:t> and household </a:t>
            </a:r>
            <a:r>
              <a:rPr lang="en-BE" sz="3200" b="1" u="sng" dirty="0">
                <a:solidFill>
                  <a:schemeClr val="accent1">
                    <a:lumMod val="75000"/>
                  </a:schemeClr>
                </a:solidFill>
                <a:latin typeface="Caveat" pitchFamily="2" charset="77"/>
              </a:rPr>
              <a:t>load is low</a:t>
            </a:r>
            <a:r>
              <a:rPr lang="en-BE" sz="3200" b="1" dirty="0">
                <a:solidFill>
                  <a:schemeClr val="accent1">
                    <a:lumMod val="75000"/>
                  </a:schemeClr>
                </a:solidFill>
                <a:latin typeface="Caveat" pitchFamily="2" charset="77"/>
              </a:rPr>
              <a:t>, then </a:t>
            </a:r>
            <a:r>
              <a:rPr lang="en-BE" sz="3200" b="1" u="sng" dirty="0">
                <a:solidFill>
                  <a:schemeClr val="accent1">
                    <a:lumMod val="75000"/>
                  </a:schemeClr>
                </a:solidFill>
                <a:latin typeface="Caveat" pitchFamily="2" charset="77"/>
              </a:rPr>
              <a:t>charge</a:t>
            </a:r>
            <a:r>
              <a:rPr lang="en-BE" sz="3200" b="1" dirty="0">
                <a:solidFill>
                  <a:schemeClr val="accent1">
                    <a:lumMod val="75000"/>
                  </a:schemeClr>
                </a:solidFill>
                <a:latin typeface="Caveat" pitchFamily="2" charset="77"/>
              </a:rPr>
              <a:t> battery”</a:t>
            </a:r>
          </a:p>
        </p:txBody>
      </p:sp>
      <p:grpSp>
        <p:nvGrpSpPr>
          <p:cNvPr id="61" name="Group 60">
            <a:extLst>
              <a:ext uri="{FF2B5EF4-FFF2-40B4-BE49-F238E27FC236}">
                <a16:creationId xmlns:a16="http://schemas.microsoft.com/office/drawing/2014/main" id="{5DF1558B-F1C8-E8E8-94C1-7A05677F30EF}"/>
              </a:ext>
            </a:extLst>
          </p:cNvPr>
          <p:cNvGrpSpPr/>
          <p:nvPr/>
        </p:nvGrpSpPr>
        <p:grpSpPr>
          <a:xfrm>
            <a:off x="1980685" y="5456680"/>
            <a:ext cx="4450387" cy="504258"/>
            <a:chOff x="1958249" y="5205418"/>
            <a:chExt cx="5244407" cy="594225"/>
          </a:xfrm>
        </p:grpSpPr>
        <p:sp>
          <p:nvSpPr>
            <p:cNvPr id="5" name="TextBox 4">
              <a:extLst>
                <a:ext uri="{FF2B5EF4-FFF2-40B4-BE49-F238E27FC236}">
                  <a16:creationId xmlns:a16="http://schemas.microsoft.com/office/drawing/2014/main" id="{785DEC62-3D11-31D7-A2C3-F9E360FD6AD1}"/>
                </a:ext>
              </a:extLst>
            </p:cNvPr>
            <p:cNvSpPr txBox="1"/>
            <p:nvPr/>
          </p:nvSpPr>
          <p:spPr>
            <a:xfrm>
              <a:off x="2081135" y="5255610"/>
              <a:ext cx="1143226" cy="544033"/>
            </a:xfrm>
            <a:prstGeom prst="rect">
              <a:avLst/>
            </a:prstGeom>
            <a:noFill/>
          </p:spPr>
          <p:txBody>
            <a:bodyPr wrap="none" rtlCol="0">
              <a:spAutoFit/>
            </a:bodyPr>
            <a:lstStyle/>
            <a:p>
              <a:pPr algn="ctr"/>
              <a:r>
                <a:rPr lang="en-GB" sz="1200" dirty="0">
                  <a:solidFill>
                    <a:schemeClr val="bg1">
                      <a:lumMod val="75000"/>
                    </a:schemeClr>
                  </a:solidFill>
                  <a:latin typeface="+mn-lt"/>
                </a:rPr>
                <a:t>d</a:t>
              </a:r>
              <a:r>
                <a:rPr lang="en-BE" sz="1200" dirty="0">
                  <a:solidFill>
                    <a:schemeClr val="bg1">
                      <a:lumMod val="75000"/>
                    </a:schemeClr>
                  </a:solidFill>
                  <a:latin typeface="+mn-lt"/>
                </a:rPr>
                <a:t>ischarge</a:t>
              </a:r>
            </a:p>
            <a:p>
              <a:pPr algn="ctr"/>
              <a:r>
                <a:rPr lang="en-BE" sz="1200" dirty="0">
                  <a:solidFill>
                    <a:schemeClr val="bg1">
                      <a:lumMod val="75000"/>
                    </a:schemeClr>
                  </a:solidFill>
                  <a:latin typeface="+mn-lt"/>
                </a:rPr>
                <a:t>at 100% power</a:t>
              </a:r>
            </a:p>
          </p:txBody>
        </p:sp>
        <p:sp>
          <p:nvSpPr>
            <p:cNvPr id="8" name="TextBox 7">
              <a:extLst>
                <a:ext uri="{FF2B5EF4-FFF2-40B4-BE49-F238E27FC236}">
                  <a16:creationId xmlns:a16="http://schemas.microsoft.com/office/drawing/2014/main" id="{ECA4CA9A-D0E4-B148-A2D4-641712F323A7}"/>
                </a:ext>
              </a:extLst>
            </p:cNvPr>
            <p:cNvSpPr txBox="1"/>
            <p:nvPr/>
          </p:nvSpPr>
          <p:spPr>
            <a:xfrm>
              <a:off x="3241075" y="5255610"/>
              <a:ext cx="1080889" cy="544033"/>
            </a:xfrm>
            <a:prstGeom prst="rect">
              <a:avLst/>
            </a:prstGeom>
            <a:noFill/>
          </p:spPr>
          <p:txBody>
            <a:bodyPr wrap="none" rtlCol="0">
              <a:spAutoFit/>
            </a:bodyPr>
            <a:lstStyle/>
            <a:p>
              <a:pPr algn="ctr"/>
              <a:r>
                <a:rPr lang="en-GB" sz="1200" dirty="0">
                  <a:solidFill>
                    <a:schemeClr val="bg1">
                      <a:lumMod val="75000"/>
                    </a:schemeClr>
                  </a:solidFill>
                  <a:latin typeface="+mn-lt"/>
                </a:rPr>
                <a:t>d</a:t>
              </a:r>
              <a:r>
                <a:rPr lang="en-BE" sz="1200" dirty="0">
                  <a:solidFill>
                    <a:schemeClr val="bg1">
                      <a:lumMod val="75000"/>
                    </a:schemeClr>
                  </a:solidFill>
                  <a:latin typeface="+mn-lt"/>
                </a:rPr>
                <a:t>ischarge</a:t>
              </a:r>
            </a:p>
            <a:p>
              <a:pPr algn="ctr"/>
              <a:r>
                <a:rPr lang="en-BE" sz="1200" dirty="0">
                  <a:solidFill>
                    <a:schemeClr val="bg1">
                      <a:lumMod val="75000"/>
                    </a:schemeClr>
                  </a:solidFill>
                  <a:latin typeface="+mn-lt"/>
                </a:rPr>
                <a:t>at 50% power</a:t>
              </a:r>
            </a:p>
          </p:txBody>
        </p:sp>
        <p:sp>
          <p:nvSpPr>
            <p:cNvPr id="15" name="TextBox 14">
              <a:extLst>
                <a:ext uri="{FF2B5EF4-FFF2-40B4-BE49-F238E27FC236}">
                  <a16:creationId xmlns:a16="http://schemas.microsoft.com/office/drawing/2014/main" id="{782E1AC1-D6CB-CB20-EA32-86C24A9210BF}"/>
                </a:ext>
              </a:extLst>
            </p:cNvPr>
            <p:cNvSpPr txBox="1"/>
            <p:nvPr/>
          </p:nvSpPr>
          <p:spPr>
            <a:xfrm>
              <a:off x="4342927" y="5378720"/>
              <a:ext cx="451849" cy="326420"/>
            </a:xfrm>
            <a:prstGeom prst="rect">
              <a:avLst/>
            </a:prstGeom>
            <a:noFill/>
          </p:spPr>
          <p:txBody>
            <a:bodyPr wrap="none" rtlCol="0">
              <a:spAutoFit/>
            </a:bodyPr>
            <a:lstStyle/>
            <a:p>
              <a:pPr algn="ctr"/>
              <a:r>
                <a:rPr lang="en-US" sz="1200" dirty="0">
                  <a:solidFill>
                    <a:schemeClr val="bg1">
                      <a:lumMod val="75000"/>
                    </a:schemeClr>
                  </a:solidFill>
                  <a:latin typeface="+mn-lt"/>
                </a:rPr>
                <a:t>idle</a:t>
              </a:r>
              <a:endParaRPr lang="en-BE" sz="1200" dirty="0">
                <a:solidFill>
                  <a:schemeClr val="bg1">
                    <a:lumMod val="75000"/>
                  </a:schemeClr>
                </a:solidFill>
                <a:latin typeface="+mn-lt"/>
              </a:endParaRPr>
            </a:p>
          </p:txBody>
        </p:sp>
        <p:sp>
          <p:nvSpPr>
            <p:cNvPr id="19" name="TextBox 18">
              <a:extLst>
                <a:ext uri="{FF2B5EF4-FFF2-40B4-BE49-F238E27FC236}">
                  <a16:creationId xmlns:a16="http://schemas.microsoft.com/office/drawing/2014/main" id="{C3E6365F-F77A-425D-426D-AD1B5BF2BE48}"/>
                </a:ext>
              </a:extLst>
            </p:cNvPr>
            <p:cNvSpPr txBox="1"/>
            <p:nvPr/>
          </p:nvSpPr>
          <p:spPr>
            <a:xfrm>
              <a:off x="4815738" y="5255610"/>
              <a:ext cx="1080889" cy="544033"/>
            </a:xfrm>
            <a:prstGeom prst="rect">
              <a:avLst/>
            </a:prstGeom>
            <a:noFill/>
          </p:spPr>
          <p:txBody>
            <a:bodyPr wrap="none" rtlCol="0">
              <a:spAutoFit/>
            </a:bodyPr>
            <a:lstStyle/>
            <a:p>
              <a:pPr algn="ctr"/>
              <a:r>
                <a:rPr lang="en-BE" sz="1200" dirty="0">
                  <a:solidFill>
                    <a:schemeClr val="bg1">
                      <a:lumMod val="75000"/>
                    </a:schemeClr>
                  </a:solidFill>
                  <a:latin typeface="+mn-lt"/>
                </a:rPr>
                <a:t>charge</a:t>
              </a:r>
            </a:p>
            <a:p>
              <a:pPr algn="ctr"/>
              <a:r>
                <a:rPr lang="en-BE" sz="1200" dirty="0">
                  <a:solidFill>
                    <a:schemeClr val="bg1">
                      <a:lumMod val="75000"/>
                    </a:schemeClr>
                  </a:solidFill>
                  <a:latin typeface="+mn-lt"/>
                </a:rPr>
                <a:t>at 50% power</a:t>
              </a:r>
            </a:p>
          </p:txBody>
        </p:sp>
        <p:sp>
          <p:nvSpPr>
            <p:cNvPr id="21" name="TextBox 20">
              <a:extLst>
                <a:ext uri="{FF2B5EF4-FFF2-40B4-BE49-F238E27FC236}">
                  <a16:creationId xmlns:a16="http://schemas.microsoft.com/office/drawing/2014/main" id="{B2E7E47D-5DD8-DC0C-C8BD-70CE508D2C5F}"/>
                </a:ext>
              </a:extLst>
            </p:cNvPr>
            <p:cNvSpPr txBox="1"/>
            <p:nvPr/>
          </p:nvSpPr>
          <p:spPr>
            <a:xfrm>
              <a:off x="5913338" y="5255610"/>
              <a:ext cx="1143226" cy="544033"/>
            </a:xfrm>
            <a:prstGeom prst="rect">
              <a:avLst/>
            </a:prstGeom>
            <a:noFill/>
          </p:spPr>
          <p:txBody>
            <a:bodyPr wrap="none" rtlCol="0">
              <a:spAutoFit/>
            </a:bodyPr>
            <a:lstStyle/>
            <a:p>
              <a:pPr algn="ctr"/>
              <a:r>
                <a:rPr lang="en-BE" sz="1200" dirty="0">
                  <a:solidFill>
                    <a:schemeClr val="bg1">
                      <a:lumMod val="75000"/>
                    </a:schemeClr>
                  </a:solidFill>
                  <a:latin typeface="+mn-lt"/>
                </a:rPr>
                <a:t>charge</a:t>
              </a:r>
            </a:p>
            <a:p>
              <a:pPr algn="ctr"/>
              <a:r>
                <a:rPr lang="en-BE" sz="1200" dirty="0">
                  <a:solidFill>
                    <a:schemeClr val="bg1">
                      <a:lumMod val="75000"/>
                    </a:schemeClr>
                  </a:solidFill>
                  <a:latin typeface="+mn-lt"/>
                </a:rPr>
                <a:t>at 100% power</a:t>
              </a:r>
            </a:p>
          </p:txBody>
        </p:sp>
        <p:sp>
          <p:nvSpPr>
            <p:cNvPr id="23" name="TextBox 22">
              <a:extLst>
                <a:ext uri="{FF2B5EF4-FFF2-40B4-BE49-F238E27FC236}">
                  <a16:creationId xmlns:a16="http://schemas.microsoft.com/office/drawing/2014/main" id="{50D3FA34-1D24-D1FA-0C8A-79194A22A4F2}"/>
                </a:ext>
              </a:extLst>
            </p:cNvPr>
            <p:cNvSpPr txBox="1"/>
            <p:nvPr/>
          </p:nvSpPr>
          <p:spPr>
            <a:xfrm>
              <a:off x="1958249" y="5218191"/>
              <a:ext cx="317732" cy="544033"/>
            </a:xfrm>
            <a:prstGeom prst="rect">
              <a:avLst/>
            </a:prstGeom>
            <a:noFill/>
          </p:spPr>
          <p:txBody>
            <a:bodyPr wrap="none" rtlCol="0">
              <a:spAutoFit/>
            </a:bodyPr>
            <a:lstStyle/>
            <a:p>
              <a:r>
                <a:rPr lang="en-BE" sz="2400" dirty="0">
                  <a:solidFill>
                    <a:schemeClr val="bg1">
                      <a:lumMod val="75000"/>
                    </a:schemeClr>
                  </a:solidFill>
                </a:rPr>
                <a:t>[</a:t>
              </a:r>
            </a:p>
          </p:txBody>
        </p:sp>
        <p:sp>
          <p:nvSpPr>
            <p:cNvPr id="24" name="TextBox 23">
              <a:extLst>
                <a:ext uri="{FF2B5EF4-FFF2-40B4-BE49-F238E27FC236}">
                  <a16:creationId xmlns:a16="http://schemas.microsoft.com/office/drawing/2014/main" id="{5A8BF599-B84D-3F82-2139-3771ED707FD2}"/>
                </a:ext>
              </a:extLst>
            </p:cNvPr>
            <p:cNvSpPr txBox="1"/>
            <p:nvPr/>
          </p:nvSpPr>
          <p:spPr>
            <a:xfrm>
              <a:off x="6884924" y="5218191"/>
              <a:ext cx="317732" cy="544033"/>
            </a:xfrm>
            <a:prstGeom prst="rect">
              <a:avLst/>
            </a:prstGeom>
            <a:noFill/>
          </p:spPr>
          <p:txBody>
            <a:bodyPr wrap="none" rtlCol="0">
              <a:spAutoFit/>
            </a:bodyPr>
            <a:lstStyle/>
            <a:p>
              <a:r>
                <a:rPr lang="en-BE" sz="2400" dirty="0">
                  <a:solidFill>
                    <a:schemeClr val="bg1">
                      <a:lumMod val="75000"/>
                    </a:schemeClr>
                  </a:solidFill>
                </a:rPr>
                <a:t>]</a:t>
              </a:r>
            </a:p>
          </p:txBody>
        </p:sp>
        <p:sp>
          <p:nvSpPr>
            <p:cNvPr id="26" name="TextBox 25">
              <a:extLst>
                <a:ext uri="{FF2B5EF4-FFF2-40B4-BE49-F238E27FC236}">
                  <a16:creationId xmlns:a16="http://schemas.microsoft.com/office/drawing/2014/main" id="{F38D7793-22AE-B68B-82F8-3E3CE270F749}"/>
                </a:ext>
              </a:extLst>
            </p:cNvPr>
            <p:cNvSpPr txBox="1"/>
            <p:nvPr/>
          </p:nvSpPr>
          <p:spPr>
            <a:xfrm>
              <a:off x="3090737" y="5205418"/>
              <a:ext cx="317732" cy="544033"/>
            </a:xfrm>
            <a:prstGeom prst="rect">
              <a:avLst/>
            </a:prstGeom>
            <a:noFill/>
          </p:spPr>
          <p:txBody>
            <a:bodyPr wrap="none" rtlCol="0">
              <a:spAutoFit/>
            </a:bodyPr>
            <a:lstStyle/>
            <a:p>
              <a:r>
                <a:rPr lang="en-BE" sz="2400" dirty="0">
                  <a:solidFill>
                    <a:schemeClr val="bg1">
                      <a:lumMod val="75000"/>
                    </a:schemeClr>
                  </a:solidFill>
                </a:rPr>
                <a:t>,</a:t>
              </a:r>
            </a:p>
          </p:txBody>
        </p:sp>
        <p:sp>
          <p:nvSpPr>
            <p:cNvPr id="27" name="TextBox 26">
              <a:extLst>
                <a:ext uri="{FF2B5EF4-FFF2-40B4-BE49-F238E27FC236}">
                  <a16:creationId xmlns:a16="http://schemas.microsoft.com/office/drawing/2014/main" id="{F99B8DFE-6D17-74B0-E142-D2810B0987BC}"/>
                </a:ext>
              </a:extLst>
            </p:cNvPr>
            <p:cNvSpPr txBox="1"/>
            <p:nvPr/>
          </p:nvSpPr>
          <p:spPr>
            <a:xfrm>
              <a:off x="4665400" y="5205418"/>
              <a:ext cx="284052" cy="544033"/>
            </a:xfrm>
            <a:prstGeom prst="rect">
              <a:avLst/>
            </a:prstGeom>
            <a:noFill/>
          </p:spPr>
          <p:txBody>
            <a:bodyPr wrap="square" rtlCol="0">
              <a:spAutoFit/>
            </a:bodyPr>
            <a:lstStyle/>
            <a:p>
              <a:r>
                <a:rPr lang="en-BE" sz="2400" dirty="0">
                  <a:solidFill>
                    <a:schemeClr val="bg1">
                      <a:lumMod val="75000"/>
                    </a:schemeClr>
                  </a:solidFill>
                </a:rPr>
                <a:t>,</a:t>
              </a:r>
            </a:p>
          </p:txBody>
        </p:sp>
        <p:sp>
          <p:nvSpPr>
            <p:cNvPr id="53" name="TextBox 52">
              <a:extLst>
                <a:ext uri="{FF2B5EF4-FFF2-40B4-BE49-F238E27FC236}">
                  <a16:creationId xmlns:a16="http://schemas.microsoft.com/office/drawing/2014/main" id="{CB62FDE2-1216-F165-AB96-AA8B54DC8FC9}"/>
                </a:ext>
              </a:extLst>
            </p:cNvPr>
            <p:cNvSpPr txBox="1"/>
            <p:nvPr/>
          </p:nvSpPr>
          <p:spPr>
            <a:xfrm>
              <a:off x="4188250" y="5205418"/>
              <a:ext cx="284052" cy="544033"/>
            </a:xfrm>
            <a:prstGeom prst="rect">
              <a:avLst/>
            </a:prstGeom>
            <a:noFill/>
          </p:spPr>
          <p:txBody>
            <a:bodyPr wrap="square" rtlCol="0">
              <a:spAutoFit/>
            </a:bodyPr>
            <a:lstStyle/>
            <a:p>
              <a:r>
                <a:rPr lang="en-BE" sz="2400" dirty="0">
                  <a:solidFill>
                    <a:schemeClr val="bg1">
                      <a:lumMod val="75000"/>
                    </a:schemeClr>
                  </a:solidFill>
                </a:rPr>
                <a:t>,</a:t>
              </a:r>
            </a:p>
          </p:txBody>
        </p:sp>
        <p:sp>
          <p:nvSpPr>
            <p:cNvPr id="59" name="TextBox 58">
              <a:extLst>
                <a:ext uri="{FF2B5EF4-FFF2-40B4-BE49-F238E27FC236}">
                  <a16:creationId xmlns:a16="http://schemas.microsoft.com/office/drawing/2014/main" id="{CB5729FA-6833-8725-775B-D99C77B6F6DB}"/>
                </a:ext>
              </a:extLst>
            </p:cNvPr>
            <p:cNvSpPr txBox="1"/>
            <p:nvPr/>
          </p:nvSpPr>
          <p:spPr>
            <a:xfrm>
              <a:off x="5762913" y="5205418"/>
              <a:ext cx="284052" cy="544033"/>
            </a:xfrm>
            <a:prstGeom prst="rect">
              <a:avLst/>
            </a:prstGeom>
            <a:noFill/>
          </p:spPr>
          <p:txBody>
            <a:bodyPr wrap="square" rtlCol="0">
              <a:spAutoFit/>
            </a:bodyPr>
            <a:lstStyle/>
            <a:p>
              <a:r>
                <a:rPr lang="en-BE" sz="2400" dirty="0">
                  <a:solidFill>
                    <a:schemeClr val="bg1">
                      <a:lumMod val="75000"/>
                    </a:schemeClr>
                  </a:solidFill>
                </a:rPr>
                <a:t>,</a:t>
              </a:r>
            </a:p>
          </p:txBody>
        </p:sp>
      </p:grpSp>
      <p:sp>
        <p:nvSpPr>
          <p:cNvPr id="62" name="TextBox 61">
            <a:extLst>
              <a:ext uri="{FF2B5EF4-FFF2-40B4-BE49-F238E27FC236}">
                <a16:creationId xmlns:a16="http://schemas.microsoft.com/office/drawing/2014/main" id="{70A5F8B3-49C9-F343-3611-440437CD5D62}"/>
              </a:ext>
            </a:extLst>
          </p:cNvPr>
          <p:cNvSpPr txBox="1"/>
          <p:nvPr/>
        </p:nvSpPr>
        <p:spPr>
          <a:xfrm>
            <a:off x="397636" y="5571476"/>
            <a:ext cx="1608133" cy="338554"/>
          </a:xfrm>
          <a:prstGeom prst="rect">
            <a:avLst/>
          </a:prstGeom>
          <a:noFill/>
        </p:spPr>
        <p:txBody>
          <a:bodyPr wrap="none" rtlCol="0">
            <a:spAutoFit/>
          </a:bodyPr>
          <a:lstStyle/>
          <a:p>
            <a:pPr algn="ctr"/>
            <a:r>
              <a:rPr lang="en-GB" dirty="0">
                <a:solidFill>
                  <a:schemeClr val="bg1">
                    <a:lumMod val="75000"/>
                  </a:schemeClr>
                </a:solidFill>
                <a:latin typeface="+mn-lt"/>
              </a:rPr>
              <a:t>Action probabilities:</a:t>
            </a:r>
            <a:endParaRPr lang="en-BE" dirty="0">
              <a:solidFill>
                <a:schemeClr val="bg1">
                  <a:lumMod val="75000"/>
                </a:schemeClr>
              </a:solidFill>
              <a:latin typeface="+mn-lt"/>
            </a:endParaRPr>
          </a:p>
        </p:txBody>
      </p:sp>
      <p:sp>
        <p:nvSpPr>
          <p:cNvPr id="63" name="Slide Number Placeholder 62">
            <a:extLst>
              <a:ext uri="{FF2B5EF4-FFF2-40B4-BE49-F238E27FC236}">
                <a16:creationId xmlns:a16="http://schemas.microsoft.com/office/drawing/2014/main" id="{373668F4-4F69-3703-5B6E-1C896E04FC8F}"/>
              </a:ext>
            </a:extLst>
          </p:cNvPr>
          <p:cNvSpPr>
            <a:spLocks noGrp="1"/>
          </p:cNvSpPr>
          <p:nvPr>
            <p:ph type="sldNum" sz="quarter" idx="11"/>
          </p:nvPr>
        </p:nvSpPr>
        <p:spPr/>
        <p:txBody>
          <a:bodyPr/>
          <a:lstStyle/>
          <a:p>
            <a:pPr>
              <a:defRPr/>
            </a:pPr>
            <a:fld id="{4908A2AA-746C-4DBB-9102-670E2680A299}" type="slidenum">
              <a:rPr lang="en-US" smtClean="0"/>
              <a:pPr>
                <a:defRPr/>
              </a:pPr>
              <a:t>17</a:t>
            </a:fld>
            <a:endParaRPr lang="en-US"/>
          </a:p>
        </p:txBody>
      </p:sp>
    </p:spTree>
    <p:extLst>
      <p:ext uri="{BB962C8B-B14F-4D97-AF65-F5344CB8AC3E}">
        <p14:creationId xmlns:p14="http://schemas.microsoft.com/office/powerpoint/2010/main" val="3635377805"/>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877C4C1-F196-B36A-326C-19748FABE86B}"/>
              </a:ext>
            </a:extLst>
          </p:cNvPr>
          <p:cNvSpPr>
            <a:spLocks noGrp="1"/>
          </p:cNvSpPr>
          <p:nvPr>
            <p:ph type="title"/>
          </p:nvPr>
        </p:nvSpPr>
        <p:spPr/>
        <p:txBody>
          <a:bodyPr/>
          <a:lstStyle/>
          <a:p>
            <a:r>
              <a:rPr lang="en-BE" dirty="0"/>
              <a:t>Sample result: Home battery control under time-varying pricing</a:t>
            </a:r>
          </a:p>
        </p:txBody>
      </p:sp>
      <p:sp>
        <p:nvSpPr>
          <p:cNvPr id="4" name="Content Placeholder 3">
            <a:extLst>
              <a:ext uri="{FF2B5EF4-FFF2-40B4-BE49-F238E27FC236}">
                <a16:creationId xmlns:a16="http://schemas.microsoft.com/office/drawing/2014/main" id="{CAD3DD5A-50F5-F03A-CD82-840E5A4803FF}"/>
              </a:ext>
            </a:extLst>
          </p:cNvPr>
          <p:cNvSpPr>
            <a:spLocks noGrp="1"/>
          </p:cNvSpPr>
          <p:nvPr>
            <p:ph idx="1"/>
          </p:nvPr>
        </p:nvSpPr>
        <p:spPr/>
        <p:txBody>
          <a:bodyPr/>
          <a:lstStyle/>
          <a:p>
            <a:r>
              <a:rPr lang="en-BE" dirty="0"/>
              <a:t>Household with rooftop PV and battery</a:t>
            </a:r>
          </a:p>
          <a:p>
            <a:r>
              <a:rPr lang="en-BE" dirty="0"/>
              <a:t>Day-ahead pricing (qh based) and capacity tariff (= based on max. peak load)</a:t>
            </a:r>
          </a:p>
        </p:txBody>
      </p:sp>
      <p:sp>
        <p:nvSpPr>
          <p:cNvPr id="3" name="Footer Placeholder 2">
            <a:extLst>
              <a:ext uri="{FF2B5EF4-FFF2-40B4-BE49-F238E27FC236}">
                <a16:creationId xmlns:a16="http://schemas.microsoft.com/office/drawing/2014/main" id="{A9442433-7F35-F94F-65F8-48290396441E}"/>
              </a:ext>
            </a:extLst>
          </p:cNvPr>
          <p:cNvSpPr>
            <a:spLocks noGrp="1"/>
          </p:cNvSpPr>
          <p:nvPr>
            <p:ph type="ftr" sz="quarter" idx="10"/>
          </p:nvPr>
        </p:nvSpPr>
        <p:spPr/>
        <p:txBody>
          <a:bodyPr/>
          <a:lstStyle/>
          <a:p>
            <a:pPr>
              <a:defRPr/>
            </a:pPr>
            <a:r>
              <a:rPr lang="en-US"/>
              <a:t>C. Develder, "AI4E: Data-efficient and scalable algorithmss to exploit energy flexibility"</a:t>
            </a:r>
          </a:p>
        </p:txBody>
      </p:sp>
      <p:grpSp>
        <p:nvGrpSpPr>
          <p:cNvPr id="8" name="Group 7">
            <a:extLst>
              <a:ext uri="{FF2B5EF4-FFF2-40B4-BE49-F238E27FC236}">
                <a16:creationId xmlns:a16="http://schemas.microsoft.com/office/drawing/2014/main" id="{9B5497BE-EE1E-DEEB-DF53-97ED4276E3CD}"/>
              </a:ext>
            </a:extLst>
          </p:cNvPr>
          <p:cNvGrpSpPr/>
          <p:nvPr/>
        </p:nvGrpSpPr>
        <p:grpSpPr>
          <a:xfrm>
            <a:off x="9801181" y="1023226"/>
            <a:ext cx="1106220" cy="1089033"/>
            <a:chOff x="1429912" y="2862189"/>
            <a:chExt cx="1979595" cy="1948838"/>
          </a:xfrm>
        </p:grpSpPr>
        <p:pic>
          <p:nvPicPr>
            <p:cNvPr id="6" name="Picture 5">
              <a:extLst>
                <a:ext uri="{FF2B5EF4-FFF2-40B4-BE49-F238E27FC236}">
                  <a16:creationId xmlns:a16="http://schemas.microsoft.com/office/drawing/2014/main" id="{A60B6B46-3C3A-5F8C-423E-3F90DD7454C8}"/>
                </a:ext>
              </a:extLst>
            </p:cNvPr>
            <p:cNvPicPr>
              <a:picLocks noChangeAspect="1"/>
            </p:cNvPicPr>
            <p:nvPr/>
          </p:nvPicPr>
          <p:blipFill>
            <a:blip r:embed="rId3"/>
            <a:stretch>
              <a:fillRect/>
            </a:stretch>
          </p:blipFill>
          <p:spPr>
            <a:xfrm>
              <a:off x="1429912" y="3336177"/>
              <a:ext cx="1776928" cy="1474850"/>
            </a:xfrm>
            <a:prstGeom prst="rect">
              <a:avLst/>
            </a:prstGeom>
          </p:spPr>
        </p:pic>
        <p:sp>
          <p:nvSpPr>
            <p:cNvPr id="7" name="Sun 6">
              <a:extLst>
                <a:ext uri="{FF2B5EF4-FFF2-40B4-BE49-F238E27FC236}">
                  <a16:creationId xmlns:a16="http://schemas.microsoft.com/office/drawing/2014/main" id="{D78BFC36-4D4D-D6DE-C280-2A4C4818E02F}"/>
                </a:ext>
              </a:extLst>
            </p:cNvPr>
            <p:cNvSpPr/>
            <p:nvPr/>
          </p:nvSpPr>
          <p:spPr>
            <a:xfrm>
              <a:off x="2775661" y="2862189"/>
              <a:ext cx="633846" cy="633846"/>
            </a:xfrm>
            <a:prstGeom prst="sun">
              <a:avLst/>
            </a:pr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BE"/>
            </a:p>
          </p:txBody>
        </p:sp>
      </p:grpSp>
      <p:grpSp>
        <p:nvGrpSpPr>
          <p:cNvPr id="86" name="Group 85">
            <a:extLst>
              <a:ext uri="{FF2B5EF4-FFF2-40B4-BE49-F238E27FC236}">
                <a16:creationId xmlns:a16="http://schemas.microsoft.com/office/drawing/2014/main" id="{357C1D88-AB4B-5335-4F82-3AC9B22EB8E5}"/>
              </a:ext>
            </a:extLst>
          </p:cNvPr>
          <p:cNvGrpSpPr/>
          <p:nvPr/>
        </p:nvGrpSpPr>
        <p:grpSpPr>
          <a:xfrm>
            <a:off x="533200" y="2629286"/>
            <a:ext cx="3280917" cy="2991131"/>
            <a:chOff x="405750" y="2554146"/>
            <a:chExt cx="3280917" cy="2991131"/>
          </a:xfrm>
        </p:grpSpPr>
        <p:pic>
          <p:nvPicPr>
            <p:cNvPr id="9" name="Picture 8">
              <a:extLst>
                <a:ext uri="{FF2B5EF4-FFF2-40B4-BE49-F238E27FC236}">
                  <a16:creationId xmlns:a16="http://schemas.microsoft.com/office/drawing/2014/main" id="{96B86265-C240-8247-2117-EB651B615887}"/>
                </a:ext>
              </a:extLst>
            </p:cNvPr>
            <p:cNvPicPr>
              <a:picLocks noChangeAspect="1"/>
            </p:cNvPicPr>
            <p:nvPr/>
          </p:nvPicPr>
          <p:blipFill>
            <a:blip r:embed="rId4"/>
            <a:stretch>
              <a:fillRect/>
            </a:stretch>
          </p:blipFill>
          <p:spPr>
            <a:xfrm>
              <a:off x="803767" y="2554146"/>
              <a:ext cx="2882900" cy="2095500"/>
            </a:xfrm>
            <a:prstGeom prst="rect">
              <a:avLst/>
            </a:prstGeom>
          </p:spPr>
        </p:pic>
        <p:sp>
          <p:nvSpPr>
            <p:cNvPr id="10" name="TextBox 9">
              <a:extLst>
                <a:ext uri="{FF2B5EF4-FFF2-40B4-BE49-F238E27FC236}">
                  <a16:creationId xmlns:a16="http://schemas.microsoft.com/office/drawing/2014/main" id="{601A8164-0532-6E1C-10E9-8092A16AF04A}"/>
                </a:ext>
              </a:extLst>
            </p:cNvPr>
            <p:cNvSpPr txBox="1"/>
            <p:nvPr/>
          </p:nvSpPr>
          <p:spPr>
            <a:xfrm rot="16200000">
              <a:off x="186298" y="3384571"/>
              <a:ext cx="808235" cy="369332"/>
            </a:xfrm>
            <a:prstGeom prst="rect">
              <a:avLst/>
            </a:prstGeom>
            <a:noFill/>
          </p:spPr>
          <p:txBody>
            <a:bodyPr wrap="none" rtlCol="0">
              <a:spAutoFit/>
            </a:bodyPr>
            <a:lstStyle/>
            <a:p>
              <a:r>
                <a:rPr lang="en-GB" sz="1800" dirty="0">
                  <a:latin typeface="UGent Panno Text" panose="02000506040000040003" pitchFamily="2" charset="0"/>
                </a:rPr>
                <a:t>C</a:t>
              </a:r>
              <a:r>
                <a:rPr lang="en-BE" sz="1800" dirty="0">
                  <a:latin typeface="UGent Panno Text" panose="02000506040000040003" pitchFamily="2" charset="0"/>
                </a:rPr>
                <a:t>ost (</a:t>
              </a:r>
              <a:r>
                <a:rPr lang="en-BE" sz="1800" i="0" dirty="0">
                  <a:solidFill>
                    <a:srgbClr val="474747"/>
                  </a:solidFill>
                  <a:effectLst/>
                  <a:latin typeface="UGent Panno Text" panose="02000506040000040003" pitchFamily="2" charset="0"/>
                </a:rPr>
                <a:t>€</a:t>
              </a:r>
              <a:r>
                <a:rPr lang="en-BE" sz="1800" dirty="0">
                  <a:latin typeface="UGent Panno Text" panose="02000506040000040003" pitchFamily="2" charset="0"/>
                </a:rPr>
                <a:t>)</a:t>
              </a:r>
            </a:p>
          </p:txBody>
        </p:sp>
        <p:sp>
          <p:nvSpPr>
            <p:cNvPr id="11" name="TextBox 10">
              <a:extLst>
                <a:ext uri="{FF2B5EF4-FFF2-40B4-BE49-F238E27FC236}">
                  <a16:creationId xmlns:a16="http://schemas.microsoft.com/office/drawing/2014/main" id="{CBC325D0-159C-C086-7E48-4813CDEE7857}"/>
                </a:ext>
              </a:extLst>
            </p:cNvPr>
            <p:cNvSpPr txBox="1"/>
            <p:nvPr/>
          </p:nvSpPr>
          <p:spPr>
            <a:xfrm>
              <a:off x="794284" y="4298517"/>
              <a:ext cx="272832" cy="338554"/>
            </a:xfrm>
            <a:prstGeom prst="rect">
              <a:avLst/>
            </a:prstGeom>
            <a:noFill/>
          </p:spPr>
          <p:txBody>
            <a:bodyPr wrap="none" rtlCol="0">
              <a:spAutoFit/>
            </a:bodyPr>
            <a:lstStyle/>
            <a:p>
              <a:pPr algn="r"/>
              <a:r>
                <a:rPr lang="en-US" dirty="0">
                  <a:solidFill>
                    <a:schemeClr val="bg2"/>
                  </a:solidFill>
                  <a:latin typeface="UGent Panno Text" panose="02000506040000040003" pitchFamily="2" charset="0"/>
                </a:rPr>
                <a:t>5</a:t>
              </a:r>
              <a:endParaRPr lang="en-BE" dirty="0">
                <a:solidFill>
                  <a:schemeClr val="bg2"/>
                </a:solidFill>
                <a:latin typeface="UGent Panno Text" panose="02000506040000040003" pitchFamily="2" charset="0"/>
              </a:endParaRPr>
            </a:p>
          </p:txBody>
        </p:sp>
        <p:sp>
          <p:nvSpPr>
            <p:cNvPr id="12" name="TextBox 11">
              <a:extLst>
                <a:ext uri="{FF2B5EF4-FFF2-40B4-BE49-F238E27FC236}">
                  <a16:creationId xmlns:a16="http://schemas.microsoft.com/office/drawing/2014/main" id="{B5A5B5BB-0206-26D6-8AE9-9E94BC4C182E}"/>
                </a:ext>
              </a:extLst>
            </p:cNvPr>
            <p:cNvSpPr txBox="1"/>
            <p:nvPr/>
          </p:nvSpPr>
          <p:spPr>
            <a:xfrm>
              <a:off x="722150" y="3822986"/>
              <a:ext cx="344966" cy="338554"/>
            </a:xfrm>
            <a:prstGeom prst="rect">
              <a:avLst/>
            </a:prstGeom>
            <a:noFill/>
          </p:spPr>
          <p:txBody>
            <a:bodyPr wrap="none" rtlCol="0">
              <a:spAutoFit/>
            </a:bodyPr>
            <a:lstStyle/>
            <a:p>
              <a:pPr algn="r"/>
              <a:r>
                <a:rPr lang="en-US" dirty="0">
                  <a:solidFill>
                    <a:schemeClr val="bg2"/>
                  </a:solidFill>
                  <a:latin typeface="UGent Panno Text" panose="02000506040000040003" pitchFamily="2" charset="0"/>
                </a:rPr>
                <a:t>10</a:t>
              </a:r>
              <a:endParaRPr lang="en-BE" dirty="0">
                <a:solidFill>
                  <a:schemeClr val="bg2"/>
                </a:solidFill>
                <a:latin typeface="UGent Panno Text" panose="02000506040000040003" pitchFamily="2" charset="0"/>
              </a:endParaRPr>
            </a:p>
          </p:txBody>
        </p:sp>
        <p:sp>
          <p:nvSpPr>
            <p:cNvPr id="13" name="TextBox 12">
              <a:extLst>
                <a:ext uri="{FF2B5EF4-FFF2-40B4-BE49-F238E27FC236}">
                  <a16:creationId xmlns:a16="http://schemas.microsoft.com/office/drawing/2014/main" id="{55BB11B4-8BE9-F303-7734-4B537DE93234}"/>
                </a:ext>
              </a:extLst>
            </p:cNvPr>
            <p:cNvSpPr txBox="1"/>
            <p:nvPr/>
          </p:nvSpPr>
          <p:spPr>
            <a:xfrm>
              <a:off x="734974" y="3347455"/>
              <a:ext cx="332142" cy="338554"/>
            </a:xfrm>
            <a:prstGeom prst="rect">
              <a:avLst/>
            </a:prstGeom>
            <a:noFill/>
          </p:spPr>
          <p:txBody>
            <a:bodyPr wrap="none" rtlCol="0">
              <a:spAutoFit/>
            </a:bodyPr>
            <a:lstStyle/>
            <a:p>
              <a:pPr algn="r"/>
              <a:r>
                <a:rPr lang="en-US" dirty="0">
                  <a:solidFill>
                    <a:schemeClr val="bg2"/>
                  </a:solidFill>
                  <a:latin typeface="UGent Panno Text" panose="02000506040000040003" pitchFamily="2" charset="0"/>
                </a:rPr>
                <a:t>15</a:t>
              </a:r>
              <a:endParaRPr lang="en-BE" dirty="0">
                <a:solidFill>
                  <a:schemeClr val="bg2"/>
                </a:solidFill>
                <a:latin typeface="UGent Panno Text" panose="02000506040000040003" pitchFamily="2" charset="0"/>
              </a:endParaRPr>
            </a:p>
          </p:txBody>
        </p:sp>
        <p:sp>
          <p:nvSpPr>
            <p:cNvPr id="14" name="TextBox 13">
              <a:extLst>
                <a:ext uri="{FF2B5EF4-FFF2-40B4-BE49-F238E27FC236}">
                  <a16:creationId xmlns:a16="http://schemas.microsoft.com/office/drawing/2014/main" id="{3D40040C-93BD-A141-6E76-FDF98310EEE2}"/>
                </a:ext>
              </a:extLst>
            </p:cNvPr>
            <p:cNvSpPr txBox="1"/>
            <p:nvPr/>
          </p:nvSpPr>
          <p:spPr>
            <a:xfrm>
              <a:off x="694898" y="2880789"/>
              <a:ext cx="372218" cy="338554"/>
            </a:xfrm>
            <a:prstGeom prst="rect">
              <a:avLst/>
            </a:prstGeom>
            <a:noFill/>
          </p:spPr>
          <p:txBody>
            <a:bodyPr wrap="none" rtlCol="0">
              <a:spAutoFit/>
            </a:bodyPr>
            <a:lstStyle/>
            <a:p>
              <a:pPr algn="r"/>
              <a:r>
                <a:rPr lang="en-US" dirty="0">
                  <a:solidFill>
                    <a:schemeClr val="bg2"/>
                  </a:solidFill>
                  <a:latin typeface="UGent Panno Text" panose="02000506040000040003" pitchFamily="2" charset="0"/>
                </a:rPr>
                <a:t>20</a:t>
              </a:r>
              <a:endParaRPr lang="en-BE" dirty="0">
                <a:solidFill>
                  <a:schemeClr val="bg2"/>
                </a:solidFill>
                <a:latin typeface="UGent Panno Text" panose="02000506040000040003" pitchFamily="2" charset="0"/>
              </a:endParaRPr>
            </a:p>
          </p:txBody>
        </p:sp>
        <p:sp>
          <p:nvSpPr>
            <p:cNvPr id="15" name="TextBox 14">
              <a:extLst>
                <a:ext uri="{FF2B5EF4-FFF2-40B4-BE49-F238E27FC236}">
                  <a16:creationId xmlns:a16="http://schemas.microsoft.com/office/drawing/2014/main" id="{E35BA023-E4F3-63B1-FDDD-26F6E95D478A}"/>
                </a:ext>
              </a:extLst>
            </p:cNvPr>
            <p:cNvSpPr txBox="1"/>
            <p:nvPr/>
          </p:nvSpPr>
          <p:spPr>
            <a:xfrm>
              <a:off x="1075397" y="3112159"/>
              <a:ext cx="992579" cy="307777"/>
            </a:xfrm>
            <a:prstGeom prst="rect">
              <a:avLst/>
            </a:prstGeom>
            <a:noFill/>
          </p:spPr>
          <p:txBody>
            <a:bodyPr wrap="none" rtlCol="0">
              <a:spAutoFit/>
            </a:bodyPr>
            <a:lstStyle/>
            <a:p>
              <a:r>
                <a:rPr lang="en-US" sz="1400" dirty="0">
                  <a:solidFill>
                    <a:schemeClr val="accent3"/>
                  </a:solidFill>
                  <a:latin typeface="UGent Panno Text" panose="02000506040000040003" pitchFamily="2" charset="0"/>
                </a:rPr>
                <a:t>Baseline RBC</a:t>
              </a:r>
              <a:endParaRPr lang="en-BE" sz="1400" dirty="0">
                <a:solidFill>
                  <a:schemeClr val="accent3"/>
                </a:solidFill>
                <a:latin typeface="UGent Panno Text" panose="02000506040000040003" pitchFamily="2" charset="0"/>
              </a:endParaRPr>
            </a:p>
          </p:txBody>
        </p:sp>
        <p:sp>
          <p:nvSpPr>
            <p:cNvPr id="16" name="TextBox 15">
              <a:extLst>
                <a:ext uri="{FF2B5EF4-FFF2-40B4-BE49-F238E27FC236}">
                  <a16:creationId xmlns:a16="http://schemas.microsoft.com/office/drawing/2014/main" id="{BF8DFD22-4CC6-3657-EF85-2C3D7172B1B6}"/>
                </a:ext>
              </a:extLst>
            </p:cNvPr>
            <p:cNvSpPr txBox="1"/>
            <p:nvPr/>
          </p:nvSpPr>
          <p:spPr>
            <a:xfrm>
              <a:off x="1238217" y="4571953"/>
              <a:ext cx="548548" cy="369332"/>
            </a:xfrm>
            <a:prstGeom prst="rect">
              <a:avLst/>
            </a:prstGeom>
            <a:noFill/>
          </p:spPr>
          <p:txBody>
            <a:bodyPr wrap="none" rtlCol="0">
              <a:spAutoFit/>
            </a:bodyPr>
            <a:lstStyle/>
            <a:p>
              <a:r>
                <a:rPr lang="en-US" sz="1800" b="1" dirty="0">
                  <a:latin typeface="UGent Panno Text" panose="02000506040000040003" pitchFamily="2" charset="0"/>
                </a:rPr>
                <a:t>DQN</a:t>
              </a:r>
              <a:endParaRPr lang="en-BE" sz="1800" b="1" dirty="0">
                <a:latin typeface="UGent Panno Text" panose="02000506040000040003" pitchFamily="2" charset="0"/>
              </a:endParaRPr>
            </a:p>
          </p:txBody>
        </p:sp>
        <p:sp>
          <p:nvSpPr>
            <p:cNvPr id="17" name="TextBox 16">
              <a:extLst>
                <a:ext uri="{FF2B5EF4-FFF2-40B4-BE49-F238E27FC236}">
                  <a16:creationId xmlns:a16="http://schemas.microsoft.com/office/drawing/2014/main" id="{850B8C6B-5BBE-FFDF-3C8E-2AE252B9924D}"/>
                </a:ext>
              </a:extLst>
            </p:cNvPr>
            <p:cNvSpPr txBox="1"/>
            <p:nvPr/>
          </p:nvSpPr>
          <p:spPr>
            <a:xfrm>
              <a:off x="1933290" y="4621633"/>
              <a:ext cx="797013" cy="525144"/>
            </a:xfrm>
            <a:prstGeom prst="rect">
              <a:avLst/>
            </a:prstGeom>
            <a:noFill/>
          </p:spPr>
          <p:txBody>
            <a:bodyPr wrap="none" rtlCol="0">
              <a:spAutoFit/>
            </a:bodyPr>
            <a:lstStyle/>
            <a:p>
              <a:pPr algn="ctr">
                <a:lnSpc>
                  <a:spcPct val="75000"/>
                </a:lnSpc>
              </a:pPr>
              <a:r>
                <a:rPr lang="en-US" sz="1800" b="1" dirty="0">
                  <a:latin typeface="UGent Panno Text" panose="02000506040000040003" pitchFamily="2" charset="0"/>
                </a:rPr>
                <a:t>DDT</a:t>
              </a:r>
            </a:p>
            <a:p>
              <a:pPr algn="ctr">
                <a:lnSpc>
                  <a:spcPct val="75000"/>
                </a:lnSpc>
              </a:pPr>
              <a:r>
                <a:rPr lang="en-US" sz="1800" dirty="0">
                  <a:latin typeface="UGent Panno Text" panose="02000506040000040003" pitchFamily="2" charset="0"/>
                </a:rPr>
                <a:t>depth 2</a:t>
              </a:r>
              <a:endParaRPr lang="en-BE" sz="1800" dirty="0">
                <a:latin typeface="UGent Panno Text" panose="02000506040000040003" pitchFamily="2" charset="0"/>
              </a:endParaRPr>
            </a:p>
          </p:txBody>
        </p:sp>
        <p:sp>
          <p:nvSpPr>
            <p:cNvPr id="18" name="TextBox 17">
              <a:extLst>
                <a:ext uri="{FF2B5EF4-FFF2-40B4-BE49-F238E27FC236}">
                  <a16:creationId xmlns:a16="http://schemas.microsoft.com/office/drawing/2014/main" id="{ECB0356A-DBBE-168E-ABC9-1A27D334E914}"/>
                </a:ext>
              </a:extLst>
            </p:cNvPr>
            <p:cNvSpPr txBox="1"/>
            <p:nvPr/>
          </p:nvSpPr>
          <p:spPr>
            <a:xfrm>
              <a:off x="2777438" y="4621633"/>
              <a:ext cx="797013" cy="525144"/>
            </a:xfrm>
            <a:prstGeom prst="rect">
              <a:avLst/>
            </a:prstGeom>
            <a:noFill/>
          </p:spPr>
          <p:txBody>
            <a:bodyPr wrap="none" rtlCol="0">
              <a:spAutoFit/>
            </a:bodyPr>
            <a:lstStyle/>
            <a:p>
              <a:pPr algn="ctr">
                <a:lnSpc>
                  <a:spcPct val="75000"/>
                </a:lnSpc>
              </a:pPr>
              <a:r>
                <a:rPr lang="en-US" sz="1800" b="1" dirty="0">
                  <a:latin typeface="UGent Panno Text" panose="02000506040000040003" pitchFamily="2" charset="0"/>
                </a:rPr>
                <a:t>DDT</a:t>
              </a:r>
            </a:p>
            <a:p>
              <a:pPr algn="ctr">
                <a:lnSpc>
                  <a:spcPct val="75000"/>
                </a:lnSpc>
              </a:pPr>
              <a:r>
                <a:rPr lang="en-US" sz="1800" dirty="0">
                  <a:latin typeface="UGent Panno Text" panose="02000506040000040003" pitchFamily="2" charset="0"/>
                </a:rPr>
                <a:t>depth 3</a:t>
              </a:r>
              <a:endParaRPr lang="en-BE" sz="1800" dirty="0">
                <a:latin typeface="UGent Panno Text" panose="02000506040000040003" pitchFamily="2" charset="0"/>
              </a:endParaRPr>
            </a:p>
          </p:txBody>
        </p:sp>
        <p:grpSp>
          <p:nvGrpSpPr>
            <p:cNvPr id="22" name="Group 21">
              <a:extLst>
                <a:ext uri="{FF2B5EF4-FFF2-40B4-BE49-F238E27FC236}">
                  <a16:creationId xmlns:a16="http://schemas.microsoft.com/office/drawing/2014/main" id="{EE900325-DD1A-B241-8008-1BE31C805697}"/>
                </a:ext>
              </a:extLst>
            </p:cNvPr>
            <p:cNvGrpSpPr/>
            <p:nvPr/>
          </p:nvGrpSpPr>
          <p:grpSpPr>
            <a:xfrm>
              <a:off x="2950221" y="5129049"/>
              <a:ext cx="451446" cy="416228"/>
              <a:chOff x="2519406" y="4829195"/>
              <a:chExt cx="1366363" cy="1259770"/>
            </a:xfrm>
          </p:grpSpPr>
          <p:sp>
            <p:nvSpPr>
              <p:cNvPr id="23" name="Rounded Rectangle 22">
                <a:extLst>
                  <a:ext uri="{FF2B5EF4-FFF2-40B4-BE49-F238E27FC236}">
                    <a16:creationId xmlns:a16="http://schemas.microsoft.com/office/drawing/2014/main" id="{F692A006-EC08-64CE-C85F-BC165826E8D2}"/>
                  </a:ext>
                </a:extLst>
              </p:cNvPr>
              <p:cNvSpPr/>
              <p:nvPr/>
            </p:nvSpPr>
            <p:spPr>
              <a:xfrm>
                <a:off x="2519406" y="4829195"/>
                <a:ext cx="1366363" cy="1259770"/>
              </a:xfrm>
              <a:prstGeom prst="roundRect">
                <a:avLst/>
              </a:prstGeom>
              <a:solidFill>
                <a:schemeClr val="bg1">
                  <a:lumMod val="95000"/>
                </a:schemeClr>
              </a:solid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BE"/>
              </a:p>
            </p:txBody>
          </p:sp>
          <p:pic>
            <p:nvPicPr>
              <p:cNvPr id="24" name="Graphic 23" descr="Decision chart outline">
                <a:extLst>
                  <a:ext uri="{FF2B5EF4-FFF2-40B4-BE49-F238E27FC236}">
                    <a16:creationId xmlns:a16="http://schemas.microsoft.com/office/drawing/2014/main" id="{24EF218D-07C3-F62E-5700-F1B40997DD40}"/>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2615672" y="4872165"/>
                <a:ext cx="1173831" cy="1173831"/>
              </a:xfrm>
              <a:prstGeom prst="rect">
                <a:avLst/>
              </a:prstGeom>
            </p:spPr>
          </p:pic>
        </p:grpSp>
        <p:grpSp>
          <p:nvGrpSpPr>
            <p:cNvPr id="29" name="Group 28">
              <a:extLst>
                <a:ext uri="{FF2B5EF4-FFF2-40B4-BE49-F238E27FC236}">
                  <a16:creationId xmlns:a16="http://schemas.microsoft.com/office/drawing/2014/main" id="{C2564793-7A22-63D0-7119-288197400606}"/>
                </a:ext>
              </a:extLst>
            </p:cNvPr>
            <p:cNvGrpSpPr>
              <a:grpSpLocks noChangeAspect="1"/>
            </p:cNvGrpSpPr>
            <p:nvPr/>
          </p:nvGrpSpPr>
          <p:grpSpPr>
            <a:xfrm>
              <a:off x="1277849" y="4900572"/>
              <a:ext cx="450000" cy="414895"/>
              <a:chOff x="8119062" y="2903708"/>
              <a:chExt cx="2085112" cy="1922448"/>
            </a:xfrm>
          </p:grpSpPr>
          <p:sp>
            <p:nvSpPr>
              <p:cNvPr id="32" name="Rounded Rectangle 31">
                <a:extLst>
                  <a:ext uri="{FF2B5EF4-FFF2-40B4-BE49-F238E27FC236}">
                    <a16:creationId xmlns:a16="http://schemas.microsoft.com/office/drawing/2014/main" id="{282A0C75-F3FB-28E4-D075-F1F68B62A0E6}"/>
                  </a:ext>
                </a:extLst>
              </p:cNvPr>
              <p:cNvSpPr/>
              <p:nvPr/>
            </p:nvSpPr>
            <p:spPr>
              <a:xfrm>
                <a:off x="8119062" y="2903708"/>
                <a:ext cx="2085112" cy="1922448"/>
              </a:xfrm>
              <a:prstGeom prst="roundRect">
                <a:avLst/>
              </a:prstGeom>
              <a:solidFill>
                <a:schemeClr val="bg1">
                  <a:lumMod val="95000"/>
                </a:schemeClr>
              </a:solid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BE" dirty="0"/>
              </a:p>
            </p:txBody>
          </p:sp>
          <p:grpSp>
            <p:nvGrpSpPr>
              <p:cNvPr id="33" name="Group 32">
                <a:extLst>
                  <a:ext uri="{FF2B5EF4-FFF2-40B4-BE49-F238E27FC236}">
                    <a16:creationId xmlns:a16="http://schemas.microsoft.com/office/drawing/2014/main" id="{E642D766-B3A0-5AED-A5D2-D0C05EC84A68}"/>
                  </a:ext>
                </a:extLst>
              </p:cNvPr>
              <p:cNvGrpSpPr/>
              <p:nvPr/>
            </p:nvGrpSpPr>
            <p:grpSpPr>
              <a:xfrm>
                <a:off x="8339159" y="3138112"/>
                <a:ext cx="1772251" cy="1473558"/>
                <a:chOff x="6383257" y="1250651"/>
                <a:chExt cx="1974694" cy="1641880"/>
              </a:xfrm>
            </p:grpSpPr>
            <p:sp>
              <p:nvSpPr>
                <p:cNvPr id="34" name="Freeform: Shape 77">
                  <a:extLst>
                    <a:ext uri="{FF2B5EF4-FFF2-40B4-BE49-F238E27FC236}">
                      <a16:creationId xmlns:a16="http://schemas.microsoft.com/office/drawing/2014/main" id="{FD398E1A-49CD-3668-568C-A06966F866E7}"/>
                    </a:ext>
                  </a:extLst>
                </p:cNvPr>
                <p:cNvSpPr/>
                <p:nvPr/>
              </p:nvSpPr>
              <p:spPr>
                <a:xfrm>
                  <a:off x="6505288" y="1372684"/>
                  <a:ext cx="576876" cy="232968"/>
                </a:xfrm>
                <a:custGeom>
                  <a:avLst/>
                  <a:gdLst>
                    <a:gd name="connsiteX0" fmla="*/ -1 w 309562"/>
                    <a:gd name="connsiteY0" fmla="*/ 125016 h 125015"/>
                    <a:gd name="connsiteX1" fmla="*/ 309562 w 309562"/>
                    <a:gd name="connsiteY1" fmla="*/ 0 h 125015"/>
                  </a:gdLst>
                  <a:ahLst/>
                  <a:cxnLst>
                    <a:cxn ang="0">
                      <a:pos x="connsiteX0" y="connsiteY0"/>
                    </a:cxn>
                    <a:cxn ang="0">
                      <a:pos x="connsiteX1" y="connsiteY1"/>
                    </a:cxn>
                  </a:cxnLst>
                  <a:rect l="l" t="t" r="r" b="b"/>
                  <a:pathLst>
                    <a:path w="309562" h="125015">
                      <a:moveTo>
                        <a:pt x="-1" y="125016"/>
                      </a:moveTo>
                      <a:lnTo>
                        <a:pt x="309562" y="0"/>
                      </a:lnTo>
                    </a:path>
                  </a:pathLst>
                </a:custGeom>
                <a:noFill/>
                <a:ln w="12700" cap="flat">
                  <a:solidFill>
                    <a:srgbClr val="C6C6FF"/>
                  </a:solidFill>
                  <a:prstDash val="solid"/>
                  <a:miter/>
                </a:ln>
              </p:spPr>
              <p:txBody>
                <a:bodyPr rtlCol="0" anchor="ctr"/>
                <a:lstStyle/>
                <a:p>
                  <a:endParaRPr lang="en-US"/>
                </a:p>
              </p:txBody>
            </p:sp>
            <p:sp>
              <p:nvSpPr>
                <p:cNvPr id="35" name="Freeform: Shape 78">
                  <a:extLst>
                    <a:ext uri="{FF2B5EF4-FFF2-40B4-BE49-F238E27FC236}">
                      <a16:creationId xmlns:a16="http://schemas.microsoft.com/office/drawing/2014/main" id="{1976C849-0201-893A-4DD0-AAD82AE514AF}"/>
                    </a:ext>
                  </a:extLst>
                </p:cNvPr>
                <p:cNvSpPr/>
                <p:nvPr/>
              </p:nvSpPr>
              <p:spPr>
                <a:xfrm>
                  <a:off x="6505288" y="1605652"/>
                  <a:ext cx="576876" cy="698907"/>
                </a:xfrm>
                <a:custGeom>
                  <a:avLst/>
                  <a:gdLst>
                    <a:gd name="connsiteX0" fmla="*/ -1 w 309562"/>
                    <a:gd name="connsiteY0" fmla="*/ 0 h 375046"/>
                    <a:gd name="connsiteX1" fmla="*/ 309562 w 309562"/>
                    <a:gd name="connsiteY1" fmla="*/ 375047 h 375046"/>
                  </a:gdLst>
                  <a:ahLst/>
                  <a:cxnLst>
                    <a:cxn ang="0">
                      <a:pos x="connsiteX0" y="connsiteY0"/>
                    </a:cxn>
                    <a:cxn ang="0">
                      <a:pos x="connsiteX1" y="connsiteY1"/>
                    </a:cxn>
                  </a:cxnLst>
                  <a:rect l="l" t="t" r="r" b="b"/>
                  <a:pathLst>
                    <a:path w="309562" h="375046">
                      <a:moveTo>
                        <a:pt x="-1" y="0"/>
                      </a:moveTo>
                      <a:lnTo>
                        <a:pt x="309562" y="375047"/>
                      </a:lnTo>
                    </a:path>
                  </a:pathLst>
                </a:custGeom>
                <a:noFill/>
                <a:ln w="12700" cap="flat">
                  <a:solidFill>
                    <a:srgbClr val="7F7FFF"/>
                  </a:solidFill>
                  <a:prstDash val="solid"/>
                  <a:miter/>
                </a:ln>
              </p:spPr>
              <p:txBody>
                <a:bodyPr rtlCol="0" anchor="ctr"/>
                <a:lstStyle/>
                <a:p>
                  <a:endParaRPr lang="en-US"/>
                </a:p>
              </p:txBody>
            </p:sp>
            <p:sp>
              <p:nvSpPr>
                <p:cNvPr id="36" name="Freeform: Shape 81">
                  <a:extLst>
                    <a:ext uri="{FF2B5EF4-FFF2-40B4-BE49-F238E27FC236}">
                      <a16:creationId xmlns:a16="http://schemas.microsoft.com/office/drawing/2014/main" id="{095F1C8A-4FF6-EFE5-E99B-B8975A2B9855}"/>
                    </a:ext>
                  </a:extLst>
                </p:cNvPr>
                <p:cNvSpPr/>
                <p:nvPr/>
              </p:nvSpPr>
              <p:spPr>
                <a:xfrm>
                  <a:off x="6505288" y="1838623"/>
                  <a:ext cx="576876" cy="232968"/>
                </a:xfrm>
                <a:custGeom>
                  <a:avLst/>
                  <a:gdLst>
                    <a:gd name="connsiteX0" fmla="*/ -1 w 309562"/>
                    <a:gd name="connsiteY0" fmla="*/ 125016 h 125015"/>
                    <a:gd name="connsiteX1" fmla="*/ 309562 w 309562"/>
                    <a:gd name="connsiteY1" fmla="*/ 0 h 125015"/>
                  </a:gdLst>
                  <a:ahLst/>
                  <a:cxnLst>
                    <a:cxn ang="0">
                      <a:pos x="connsiteX0" y="connsiteY0"/>
                    </a:cxn>
                    <a:cxn ang="0">
                      <a:pos x="connsiteX1" y="connsiteY1"/>
                    </a:cxn>
                  </a:cxnLst>
                  <a:rect l="l" t="t" r="r" b="b"/>
                  <a:pathLst>
                    <a:path w="309562" h="125015">
                      <a:moveTo>
                        <a:pt x="-1" y="125016"/>
                      </a:moveTo>
                      <a:lnTo>
                        <a:pt x="309562" y="0"/>
                      </a:lnTo>
                    </a:path>
                  </a:pathLst>
                </a:custGeom>
                <a:noFill/>
                <a:ln w="12700" cap="flat">
                  <a:solidFill>
                    <a:srgbClr val="8A8AFF"/>
                  </a:solidFill>
                  <a:prstDash val="solid"/>
                  <a:miter/>
                </a:ln>
              </p:spPr>
              <p:txBody>
                <a:bodyPr rtlCol="0" anchor="ctr"/>
                <a:lstStyle/>
                <a:p>
                  <a:endParaRPr lang="en-US"/>
                </a:p>
              </p:txBody>
            </p:sp>
            <p:sp>
              <p:nvSpPr>
                <p:cNvPr id="37" name="Freeform: Shape 82">
                  <a:extLst>
                    <a:ext uri="{FF2B5EF4-FFF2-40B4-BE49-F238E27FC236}">
                      <a16:creationId xmlns:a16="http://schemas.microsoft.com/office/drawing/2014/main" id="{BFF199DD-493D-6031-B417-A296426722C3}"/>
                    </a:ext>
                  </a:extLst>
                </p:cNvPr>
                <p:cNvSpPr/>
                <p:nvPr/>
              </p:nvSpPr>
              <p:spPr>
                <a:xfrm>
                  <a:off x="6505288" y="2071593"/>
                  <a:ext cx="576876" cy="232968"/>
                </a:xfrm>
                <a:custGeom>
                  <a:avLst/>
                  <a:gdLst>
                    <a:gd name="connsiteX0" fmla="*/ -1 w 309562"/>
                    <a:gd name="connsiteY0" fmla="*/ 0 h 125015"/>
                    <a:gd name="connsiteX1" fmla="*/ 309562 w 309562"/>
                    <a:gd name="connsiteY1" fmla="*/ 125016 h 125015"/>
                  </a:gdLst>
                  <a:ahLst/>
                  <a:cxnLst>
                    <a:cxn ang="0">
                      <a:pos x="connsiteX0" y="connsiteY0"/>
                    </a:cxn>
                    <a:cxn ang="0">
                      <a:pos x="connsiteX1" y="connsiteY1"/>
                    </a:cxn>
                  </a:cxnLst>
                  <a:rect l="l" t="t" r="r" b="b"/>
                  <a:pathLst>
                    <a:path w="309562" h="125015">
                      <a:moveTo>
                        <a:pt x="-1" y="0"/>
                      </a:moveTo>
                      <a:lnTo>
                        <a:pt x="309562" y="125016"/>
                      </a:lnTo>
                    </a:path>
                  </a:pathLst>
                </a:custGeom>
                <a:noFill/>
                <a:ln w="12700" cap="flat">
                  <a:solidFill>
                    <a:srgbClr val="2828FF"/>
                  </a:solidFill>
                  <a:prstDash val="solid"/>
                  <a:miter/>
                </a:ln>
              </p:spPr>
              <p:txBody>
                <a:bodyPr rtlCol="0" anchor="ctr"/>
                <a:lstStyle/>
                <a:p>
                  <a:endParaRPr lang="en-US"/>
                </a:p>
              </p:txBody>
            </p:sp>
            <p:sp>
              <p:nvSpPr>
                <p:cNvPr id="38" name="Freeform: Shape 83">
                  <a:extLst>
                    <a:ext uri="{FF2B5EF4-FFF2-40B4-BE49-F238E27FC236}">
                      <a16:creationId xmlns:a16="http://schemas.microsoft.com/office/drawing/2014/main" id="{22EA60B7-A373-1494-BDE8-05C2DCF1A2E6}"/>
                    </a:ext>
                  </a:extLst>
                </p:cNvPr>
                <p:cNvSpPr/>
                <p:nvPr/>
              </p:nvSpPr>
              <p:spPr>
                <a:xfrm>
                  <a:off x="6505288" y="2071593"/>
                  <a:ext cx="576876" cy="698907"/>
                </a:xfrm>
                <a:custGeom>
                  <a:avLst/>
                  <a:gdLst>
                    <a:gd name="connsiteX0" fmla="*/ -1 w 309562"/>
                    <a:gd name="connsiteY0" fmla="*/ 0 h 375046"/>
                    <a:gd name="connsiteX1" fmla="*/ 309562 w 309562"/>
                    <a:gd name="connsiteY1" fmla="*/ 375047 h 375046"/>
                  </a:gdLst>
                  <a:ahLst/>
                  <a:cxnLst>
                    <a:cxn ang="0">
                      <a:pos x="connsiteX0" y="connsiteY0"/>
                    </a:cxn>
                    <a:cxn ang="0">
                      <a:pos x="connsiteX1" y="connsiteY1"/>
                    </a:cxn>
                  </a:cxnLst>
                  <a:rect l="l" t="t" r="r" b="b"/>
                  <a:pathLst>
                    <a:path w="309562" h="375046">
                      <a:moveTo>
                        <a:pt x="-1" y="0"/>
                      </a:moveTo>
                      <a:lnTo>
                        <a:pt x="309562" y="375047"/>
                      </a:lnTo>
                    </a:path>
                  </a:pathLst>
                </a:custGeom>
                <a:noFill/>
                <a:ln w="12700" cap="flat">
                  <a:solidFill>
                    <a:srgbClr val="FFA2A2"/>
                  </a:solidFill>
                  <a:prstDash val="solid"/>
                  <a:miter/>
                </a:ln>
              </p:spPr>
              <p:txBody>
                <a:bodyPr rtlCol="0" anchor="ctr"/>
                <a:lstStyle/>
                <a:p>
                  <a:endParaRPr lang="en-US"/>
                </a:p>
              </p:txBody>
            </p:sp>
            <p:sp>
              <p:nvSpPr>
                <p:cNvPr id="39" name="Freeform: Shape 84">
                  <a:extLst>
                    <a:ext uri="{FF2B5EF4-FFF2-40B4-BE49-F238E27FC236}">
                      <a16:creationId xmlns:a16="http://schemas.microsoft.com/office/drawing/2014/main" id="{2807CAD9-EBB2-9E61-44A4-F153C2BC2994}"/>
                    </a:ext>
                  </a:extLst>
                </p:cNvPr>
                <p:cNvSpPr/>
                <p:nvPr/>
              </p:nvSpPr>
              <p:spPr>
                <a:xfrm>
                  <a:off x="6505288" y="2304561"/>
                  <a:ext cx="576876" cy="232968"/>
                </a:xfrm>
                <a:custGeom>
                  <a:avLst/>
                  <a:gdLst>
                    <a:gd name="connsiteX0" fmla="*/ -1 w 309562"/>
                    <a:gd name="connsiteY0" fmla="*/ 125016 h 125015"/>
                    <a:gd name="connsiteX1" fmla="*/ 309562 w 309562"/>
                    <a:gd name="connsiteY1" fmla="*/ 0 h 125015"/>
                  </a:gdLst>
                  <a:ahLst/>
                  <a:cxnLst>
                    <a:cxn ang="0">
                      <a:pos x="connsiteX0" y="connsiteY0"/>
                    </a:cxn>
                    <a:cxn ang="0">
                      <a:pos x="connsiteX1" y="connsiteY1"/>
                    </a:cxn>
                  </a:cxnLst>
                  <a:rect l="l" t="t" r="r" b="b"/>
                  <a:pathLst>
                    <a:path w="309562" h="125015">
                      <a:moveTo>
                        <a:pt x="-1" y="125016"/>
                      </a:moveTo>
                      <a:lnTo>
                        <a:pt x="309562" y="0"/>
                      </a:lnTo>
                    </a:path>
                  </a:pathLst>
                </a:custGeom>
                <a:noFill/>
                <a:ln w="12700" cap="flat">
                  <a:solidFill>
                    <a:srgbClr val="ACACFF"/>
                  </a:solidFill>
                  <a:prstDash val="solid"/>
                  <a:miter/>
                </a:ln>
              </p:spPr>
              <p:txBody>
                <a:bodyPr rtlCol="0" anchor="ctr"/>
                <a:lstStyle/>
                <a:p>
                  <a:endParaRPr lang="en-US"/>
                </a:p>
              </p:txBody>
            </p:sp>
            <p:sp>
              <p:nvSpPr>
                <p:cNvPr id="40" name="Freeform: Shape 85">
                  <a:extLst>
                    <a:ext uri="{FF2B5EF4-FFF2-40B4-BE49-F238E27FC236}">
                      <a16:creationId xmlns:a16="http://schemas.microsoft.com/office/drawing/2014/main" id="{245810FD-85FD-26C8-859D-841EEC7F13D8}"/>
                    </a:ext>
                  </a:extLst>
                </p:cNvPr>
                <p:cNvSpPr/>
                <p:nvPr/>
              </p:nvSpPr>
              <p:spPr>
                <a:xfrm>
                  <a:off x="6505288" y="2537532"/>
                  <a:ext cx="576876" cy="232968"/>
                </a:xfrm>
                <a:custGeom>
                  <a:avLst/>
                  <a:gdLst>
                    <a:gd name="connsiteX0" fmla="*/ -1 w 309562"/>
                    <a:gd name="connsiteY0" fmla="*/ 0 h 125015"/>
                    <a:gd name="connsiteX1" fmla="*/ 309562 w 309562"/>
                    <a:gd name="connsiteY1" fmla="*/ 125016 h 125015"/>
                  </a:gdLst>
                  <a:ahLst/>
                  <a:cxnLst>
                    <a:cxn ang="0">
                      <a:pos x="connsiteX0" y="connsiteY0"/>
                    </a:cxn>
                    <a:cxn ang="0">
                      <a:pos x="connsiteX1" y="connsiteY1"/>
                    </a:cxn>
                  </a:cxnLst>
                  <a:rect l="l" t="t" r="r" b="b"/>
                  <a:pathLst>
                    <a:path w="309562" h="125015">
                      <a:moveTo>
                        <a:pt x="-1" y="0"/>
                      </a:moveTo>
                      <a:lnTo>
                        <a:pt x="309562" y="125016"/>
                      </a:lnTo>
                    </a:path>
                  </a:pathLst>
                </a:custGeom>
                <a:noFill/>
                <a:ln w="12700" cap="flat">
                  <a:solidFill>
                    <a:srgbClr val="FF8D8D"/>
                  </a:solidFill>
                  <a:prstDash val="solid"/>
                  <a:miter/>
                </a:ln>
              </p:spPr>
              <p:txBody>
                <a:bodyPr rtlCol="0" anchor="ctr"/>
                <a:lstStyle/>
                <a:p>
                  <a:endParaRPr lang="en-US"/>
                </a:p>
              </p:txBody>
            </p:sp>
            <p:sp>
              <p:nvSpPr>
                <p:cNvPr id="41" name="Freeform: Shape 86">
                  <a:extLst>
                    <a:ext uri="{FF2B5EF4-FFF2-40B4-BE49-F238E27FC236}">
                      <a16:creationId xmlns:a16="http://schemas.microsoft.com/office/drawing/2014/main" id="{34841EB8-7CF9-E3DF-6546-AA29F214E780}"/>
                    </a:ext>
                  </a:extLst>
                </p:cNvPr>
                <p:cNvSpPr/>
                <p:nvPr/>
              </p:nvSpPr>
              <p:spPr>
                <a:xfrm>
                  <a:off x="7082166" y="1372684"/>
                  <a:ext cx="576876" cy="232968"/>
                </a:xfrm>
                <a:custGeom>
                  <a:avLst/>
                  <a:gdLst>
                    <a:gd name="connsiteX0" fmla="*/ -1 w 309562"/>
                    <a:gd name="connsiteY0" fmla="*/ 0 h 125015"/>
                    <a:gd name="connsiteX1" fmla="*/ 309562 w 309562"/>
                    <a:gd name="connsiteY1" fmla="*/ 125016 h 125015"/>
                  </a:gdLst>
                  <a:ahLst/>
                  <a:cxnLst>
                    <a:cxn ang="0">
                      <a:pos x="connsiteX0" y="connsiteY0"/>
                    </a:cxn>
                    <a:cxn ang="0">
                      <a:pos x="connsiteX1" y="connsiteY1"/>
                    </a:cxn>
                  </a:cxnLst>
                  <a:rect l="l" t="t" r="r" b="b"/>
                  <a:pathLst>
                    <a:path w="309562" h="125015">
                      <a:moveTo>
                        <a:pt x="-1" y="0"/>
                      </a:moveTo>
                      <a:lnTo>
                        <a:pt x="309562" y="125016"/>
                      </a:lnTo>
                    </a:path>
                  </a:pathLst>
                </a:custGeom>
                <a:noFill/>
                <a:ln w="12700" cap="flat">
                  <a:solidFill>
                    <a:srgbClr val="FF4747"/>
                  </a:solidFill>
                  <a:prstDash val="solid"/>
                  <a:miter/>
                </a:ln>
              </p:spPr>
              <p:txBody>
                <a:bodyPr rtlCol="0" anchor="ctr"/>
                <a:lstStyle/>
                <a:p>
                  <a:endParaRPr lang="en-US"/>
                </a:p>
              </p:txBody>
            </p:sp>
            <p:sp>
              <p:nvSpPr>
                <p:cNvPr id="42" name="Freeform: Shape 87">
                  <a:extLst>
                    <a:ext uri="{FF2B5EF4-FFF2-40B4-BE49-F238E27FC236}">
                      <a16:creationId xmlns:a16="http://schemas.microsoft.com/office/drawing/2014/main" id="{29D08D0D-5CA6-CA74-E8FF-99E8FAC356BE}"/>
                    </a:ext>
                  </a:extLst>
                </p:cNvPr>
                <p:cNvSpPr/>
                <p:nvPr/>
              </p:nvSpPr>
              <p:spPr>
                <a:xfrm>
                  <a:off x="7082166" y="1372684"/>
                  <a:ext cx="576876" cy="698907"/>
                </a:xfrm>
                <a:custGeom>
                  <a:avLst/>
                  <a:gdLst>
                    <a:gd name="connsiteX0" fmla="*/ -1 w 309562"/>
                    <a:gd name="connsiteY0" fmla="*/ 0 h 375046"/>
                    <a:gd name="connsiteX1" fmla="*/ 309562 w 309562"/>
                    <a:gd name="connsiteY1" fmla="*/ 375047 h 375046"/>
                  </a:gdLst>
                  <a:ahLst/>
                  <a:cxnLst>
                    <a:cxn ang="0">
                      <a:pos x="connsiteX0" y="connsiteY0"/>
                    </a:cxn>
                    <a:cxn ang="0">
                      <a:pos x="connsiteX1" y="connsiteY1"/>
                    </a:cxn>
                  </a:cxnLst>
                  <a:rect l="l" t="t" r="r" b="b"/>
                  <a:pathLst>
                    <a:path w="309562" h="375046">
                      <a:moveTo>
                        <a:pt x="-1" y="0"/>
                      </a:moveTo>
                      <a:lnTo>
                        <a:pt x="309562" y="375047"/>
                      </a:lnTo>
                    </a:path>
                  </a:pathLst>
                </a:custGeom>
                <a:noFill/>
                <a:ln w="12700" cap="flat">
                  <a:solidFill>
                    <a:srgbClr val="FF0C0C"/>
                  </a:solidFill>
                  <a:prstDash val="solid"/>
                  <a:miter/>
                </a:ln>
              </p:spPr>
              <p:txBody>
                <a:bodyPr rtlCol="0" anchor="ctr"/>
                <a:lstStyle/>
                <a:p>
                  <a:endParaRPr lang="en-US"/>
                </a:p>
              </p:txBody>
            </p:sp>
            <p:sp>
              <p:nvSpPr>
                <p:cNvPr id="43" name="Freeform: Shape 88">
                  <a:extLst>
                    <a:ext uri="{FF2B5EF4-FFF2-40B4-BE49-F238E27FC236}">
                      <a16:creationId xmlns:a16="http://schemas.microsoft.com/office/drawing/2014/main" id="{30CE8803-2D95-8472-5AC9-A0CB5DCB1785}"/>
                    </a:ext>
                  </a:extLst>
                </p:cNvPr>
                <p:cNvSpPr/>
                <p:nvPr/>
              </p:nvSpPr>
              <p:spPr>
                <a:xfrm>
                  <a:off x="7082166" y="1605652"/>
                  <a:ext cx="576876" cy="232968"/>
                </a:xfrm>
                <a:custGeom>
                  <a:avLst/>
                  <a:gdLst>
                    <a:gd name="connsiteX0" fmla="*/ -1 w 309562"/>
                    <a:gd name="connsiteY0" fmla="*/ 125016 h 125015"/>
                    <a:gd name="connsiteX1" fmla="*/ 309562 w 309562"/>
                    <a:gd name="connsiteY1" fmla="*/ 0 h 125015"/>
                  </a:gdLst>
                  <a:ahLst/>
                  <a:cxnLst>
                    <a:cxn ang="0">
                      <a:pos x="connsiteX0" y="connsiteY0"/>
                    </a:cxn>
                    <a:cxn ang="0">
                      <a:pos x="connsiteX1" y="connsiteY1"/>
                    </a:cxn>
                  </a:cxnLst>
                  <a:rect l="l" t="t" r="r" b="b"/>
                  <a:pathLst>
                    <a:path w="309562" h="125015">
                      <a:moveTo>
                        <a:pt x="-1" y="125016"/>
                      </a:moveTo>
                      <a:lnTo>
                        <a:pt x="309562" y="0"/>
                      </a:lnTo>
                    </a:path>
                  </a:pathLst>
                </a:custGeom>
                <a:noFill/>
                <a:ln w="12700" cap="flat">
                  <a:solidFill>
                    <a:srgbClr val="9393FF"/>
                  </a:solidFill>
                  <a:prstDash val="solid"/>
                  <a:miter/>
                </a:ln>
              </p:spPr>
              <p:txBody>
                <a:bodyPr rtlCol="0" anchor="ctr"/>
                <a:lstStyle/>
                <a:p>
                  <a:endParaRPr lang="en-US"/>
                </a:p>
              </p:txBody>
            </p:sp>
            <p:sp>
              <p:nvSpPr>
                <p:cNvPr id="44" name="Freeform: Shape 89">
                  <a:extLst>
                    <a:ext uri="{FF2B5EF4-FFF2-40B4-BE49-F238E27FC236}">
                      <a16:creationId xmlns:a16="http://schemas.microsoft.com/office/drawing/2014/main" id="{03E2744A-C33F-455D-5419-F0B41356BB28}"/>
                    </a:ext>
                  </a:extLst>
                </p:cNvPr>
                <p:cNvSpPr/>
                <p:nvPr/>
              </p:nvSpPr>
              <p:spPr>
                <a:xfrm>
                  <a:off x="7082166" y="1838623"/>
                  <a:ext cx="576876" cy="232968"/>
                </a:xfrm>
                <a:custGeom>
                  <a:avLst/>
                  <a:gdLst>
                    <a:gd name="connsiteX0" fmla="*/ -1 w 309562"/>
                    <a:gd name="connsiteY0" fmla="*/ 0 h 125015"/>
                    <a:gd name="connsiteX1" fmla="*/ 309562 w 309562"/>
                    <a:gd name="connsiteY1" fmla="*/ 125016 h 125015"/>
                  </a:gdLst>
                  <a:ahLst/>
                  <a:cxnLst>
                    <a:cxn ang="0">
                      <a:pos x="connsiteX0" y="connsiteY0"/>
                    </a:cxn>
                    <a:cxn ang="0">
                      <a:pos x="connsiteX1" y="connsiteY1"/>
                    </a:cxn>
                  </a:cxnLst>
                  <a:rect l="l" t="t" r="r" b="b"/>
                  <a:pathLst>
                    <a:path w="309562" h="125015">
                      <a:moveTo>
                        <a:pt x="-1" y="0"/>
                      </a:moveTo>
                      <a:lnTo>
                        <a:pt x="309562" y="125016"/>
                      </a:lnTo>
                    </a:path>
                  </a:pathLst>
                </a:custGeom>
                <a:noFill/>
                <a:ln w="12700" cap="flat">
                  <a:solidFill>
                    <a:srgbClr val="FFBDBD"/>
                  </a:solidFill>
                  <a:prstDash val="solid"/>
                  <a:miter/>
                </a:ln>
              </p:spPr>
              <p:txBody>
                <a:bodyPr rtlCol="0" anchor="ctr"/>
                <a:lstStyle/>
                <a:p>
                  <a:endParaRPr lang="en-US"/>
                </a:p>
              </p:txBody>
            </p:sp>
            <p:sp>
              <p:nvSpPr>
                <p:cNvPr id="45" name="Freeform: Shape 90">
                  <a:extLst>
                    <a:ext uri="{FF2B5EF4-FFF2-40B4-BE49-F238E27FC236}">
                      <a16:creationId xmlns:a16="http://schemas.microsoft.com/office/drawing/2014/main" id="{B55F7311-FE21-CD9C-1DBD-7389AA1B3C5C}"/>
                    </a:ext>
                  </a:extLst>
                </p:cNvPr>
                <p:cNvSpPr/>
                <p:nvPr/>
              </p:nvSpPr>
              <p:spPr>
                <a:xfrm>
                  <a:off x="7082166" y="1605652"/>
                  <a:ext cx="576876" cy="698907"/>
                </a:xfrm>
                <a:custGeom>
                  <a:avLst/>
                  <a:gdLst>
                    <a:gd name="connsiteX0" fmla="*/ -1 w 309562"/>
                    <a:gd name="connsiteY0" fmla="*/ 375047 h 375046"/>
                    <a:gd name="connsiteX1" fmla="*/ 309562 w 309562"/>
                    <a:gd name="connsiteY1" fmla="*/ 0 h 375046"/>
                  </a:gdLst>
                  <a:ahLst/>
                  <a:cxnLst>
                    <a:cxn ang="0">
                      <a:pos x="connsiteX0" y="connsiteY0"/>
                    </a:cxn>
                    <a:cxn ang="0">
                      <a:pos x="connsiteX1" y="connsiteY1"/>
                    </a:cxn>
                  </a:cxnLst>
                  <a:rect l="l" t="t" r="r" b="b"/>
                  <a:pathLst>
                    <a:path w="309562" h="375046">
                      <a:moveTo>
                        <a:pt x="-1" y="375047"/>
                      </a:moveTo>
                      <a:lnTo>
                        <a:pt x="309562" y="0"/>
                      </a:lnTo>
                    </a:path>
                  </a:pathLst>
                </a:custGeom>
                <a:noFill/>
                <a:ln w="12700" cap="flat">
                  <a:solidFill>
                    <a:srgbClr val="3131FF"/>
                  </a:solidFill>
                  <a:prstDash val="solid"/>
                  <a:miter/>
                </a:ln>
              </p:spPr>
              <p:txBody>
                <a:bodyPr rtlCol="0" anchor="ctr"/>
                <a:lstStyle/>
                <a:p>
                  <a:endParaRPr lang="en-US"/>
                </a:p>
              </p:txBody>
            </p:sp>
            <p:sp>
              <p:nvSpPr>
                <p:cNvPr id="46" name="Freeform: Shape 91">
                  <a:extLst>
                    <a:ext uri="{FF2B5EF4-FFF2-40B4-BE49-F238E27FC236}">
                      <a16:creationId xmlns:a16="http://schemas.microsoft.com/office/drawing/2014/main" id="{62EB6E89-2757-B90B-7E1F-9BAE76A32AAC}"/>
                    </a:ext>
                  </a:extLst>
                </p:cNvPr>
                <p:cNvSpPr/>
                <p:nvPr/>
              </p:nvSpPr>
              <p:spPr>
                <a:xfrm>
                  <a:off x="7082166" y="2071593"/>
                  <a:ext cx="576876" cy="232968"/>
                </a:xfrm>
                <a:custGeom>
                  <a:avLst/>
                  <a:gdLst>
                    <a:gd name="connsiteX0" fmla="*/ -1 w 309562"/>
                    <a:gd name="connsiteY0" fmla="*/ 125016 h 125015"/>
                    <a:gd name="connsiteX1" fmla="*/ 309562 w 309562"/>
                    <a:gd name="connsiteY1" fmla="*/ 0 h 125015"/>
                  </a:gdLst>
                  <a:ahLst/>
                  <a:cxnLst>
                    <a:cxn ang="0">
                      <a:pos x="connsiteX0" y="connsiteY0"/>
                    </a:cxn>
                    <a:cxn ang="0">
                      <a:pos x="connsiteX1" y="connsiteY1"/>
                    </a:cxn>
                  </a:cxnLst>
                  <a:rect l="l" t="t" r="r" b="b"/>
                  <a:pathLst>
                    <a:path w="309562" h="125015">
                      <a:moveTo>
                        <a:pt x="-1" y="125016"/>
                      </a:moveTo>
                      <a:lnTo>
                        <a:pt x="309562" y="0"/>
                      </a:lnTo>
                    </a:path>
                  </a:pathLst>
                </a:custGeom>
                <a:noFill/>
                <a:ln w="12700" cap="flat">
                  <a:solidFill>
                    <a:srgbClr val="9C9CFF"/>
                  </a:solidFill>
                  <a:prstDash val="solid"/>
                  <a:miter/>
                </a:ln>
              </p:spPr>
              <p:txBody>
                <a:bodyPr rtlCol="0" anchor="ctr"/>
                <a:lstStyle/>
                <a:p>
                  <a:endParaRPr lang="en-US"/>
                </a:p>
              </p:txBody>
            </p:sp>
            <p:sp>
              <p:nvSpPr>
                <p:cNvPr id="47" name="Freeform: Shape 92">
                  <a:extLst>
                    <a:ext uri="{FF2B5EF4-FFF2-40B4-BE49-F238E27FC236}">
                      <a16:creationId xmlns:a16="http://schemas.microsoft.com/office/drawing/2014/main" id="{56463502-56B3-980A-7F73-CD5E2F3EB0B7}"/>
                    </a:ext>
                  </a:extLst>
                </p:cNvPr>
                <p:cNvSpPr/>
                <p:nvPr/>
              </p:nvSpPr>
              <p:spPr>
                <a:xfrm>
                  <a:off x="7659042" y="1605652"/>
                  <a:ext cx="576876" cy="465939"/>
                </a:xfrm>
                <a:custGeom>
                  <a:avLst/>
                  <a:gdLst>
                    <a:gd name="connsiteX0" fmla="*/ -1 w 309562"/>
                    <a:gd name="connsiteY0" fmla="*/ 0 h 250031"/>
                    <a:gd name="connsiteX1" fmla="*/ 309562 w 309562"/>
                    <a:gd name="connsiteY1" fmla="*/ 250031 h 250031"/>
                  </a:gdLst>
                  <a:ahLst/>
                  <a:cxnLst>
                    <a:cxn ang="0">
                      <a:pos x="connsiteX0" y="connsiteY0"/>
                    </a:cxn>
                    <a:cxn ang="0">
                      <a:pos x="connsiteX1" y="connsiteY1"/>
                    </a:cxn>
                  </a:cxnLst>
                  <a:rect l="l" t="t" r="r" b="b"/>
                  <a:pathLst>
                    <a:path w="309562" h="250031">
                      <a:moveTo>
                        <a:pt x="-1" y="0"/>
                      </a:moveTo>
                      <a:lnTo>
                        <a:pt x="309562" y="250031"/>
                      </a:lnTo>
                    </a:path>
                  </a:pathLst>
                </a:custGeom>
                <a:noFill/>
                <a:ln w="12700" cap="flat">
                  <a:solidFill>
                    <a:srgbClr val="FF7474"/>
                  </a:solidFill>
                  <a:prstDash val="solid"/>
                  <a:miter/>
                </a:ln>
              </p:spPr>
              <p:txBody>
                <a:bodyPr rtlCol="0" anchor="ctr"/>
                <a:lstStyle/>
                <a:p>
                  <a:endParaRPr lang="en-US"/>
                </a:p>
              </p:txBody>
            </p:sp>
            <p:sp>
              <p:nvSpPr>
                <p:cNvPr id="48" name="Freeform: Shape 93">
                  <a:extLst>
                    <a:ext uri="{FF2B5EF4-FFF2-40B4-BE49-F238E27FC236}">
                      <a16:creationId xmlns:a16="http://schemas.microsoft.com/office/drawing/2014/main" id="{5BFFF7EB-E1C2-5DE0-5A76-DD72A9C92188}"/>
                    </a:ext>
                  </a:extLst>
                </p:cNvPr>
                <p:cNvSpPr/>
                <p:nvPr/>
              </p:nvSpPr>
              <p:spPr>
                <a:xfrm>
                  <a:off x="7659042" y="2071593"/>
                  <a:ext cx="576876" cy="11094"/>
                </a:xfrm>
                <a:custGeom>
                  <a:avLst/>
                  <a:gdLst>
                    <a:gd name="connsiteX0" fmla="*/ -1 w 309562"/>
                    <a:gd name="connsiteY0" fmla="*/ 0 h 5953"/>
                    <a:gd name="connsiteX1" fmla="*/ 309562 w 309562"/>
                    <a:gd name="connsiteY1" fmla="*/ 0 h 5953"/>
                  </a:gdLst>
                  <a:ahLst/>
                  <a:cxnLst>
                    <a:cxn ang="0">
                      <a:pos x="connsiteX0" y="connsiteY0"/>
                    </a:cxn>
                    <a:cxn ang="0">
                      <a:pos x="connsiteX1" y="connsiteY1"/>
                    </a:cxn>
                  </a:cxnLst>
                  <a:rect l="l" t="t" r="r" b="b"/>
                  <a:pathLst>
                    <a:path w="309562" h="5953">
                      <a:moveTo>
                        <a:pt x="-1" y="0"/>
                      </a:moveTo>
                      <a:lnTo>
                        <a:pt x="309562" y="0"/>
                      </a:lnTo>
                    </a:path>
                  </a:pathLst>
                </a:custGeom>
                <a:noFill/>
                <a:ln w="12700" cap="flat">
                  <a:solidFill>
                    <a:srgbClr val="FFCECE"/>
                  </a:solidFill>
                  <a:prstDash val="solid"/>
                  <a:miter/>
                </a:ln>
              </p:spPr>
              <p:txBody>
                <a:bodyPr rtlCol="0" anchor="ctr"/>
                <a:lstStyle/>
                <a:p>
                  <a:endParaRPr lang="en-US"/>
                </a:p>
              </p:txBody>
            </p:sp>
            <p:sp>
              <p:nvSpPr>
                <p:cNvPr id="49" name="Freeform: Shape 94">
                  <a:extLst>
                    <a:ext uri="{FF2B5EF4-FFF2-40B4-BE49-F238E27FC236}">
                      <a16:creationId xmlns:a16="http://schemas.microsoft.com/office/drawing/2014/main" id="{A4E75E8C-D895-2B1F-03EA-5E90E58144F4}"/>
                    </a:ext>
                  </a:extLst>
                </p:cNvPr>
                <p:cNvSpPr/>
                <p:nvPr/>
              </p:nvSpPr>
              <p:spPr>
                <a:xfrm>
                  <a:off x="7082166" y="2304561"/>
                  <a:ext cx="576876" cy="232968"/>
                </a:xfrm>
                <a:custGeom>
                  <a:avLst/>
                  <a:gdLst>
                    <a:gd name="connsiteX0" fmla="*/ -1 w 309562"/>
                    <a:gd name="connsiteY0" fmla="*/ 0 h 125015"/>
                    <a:gd name="connsiteX1" fmla="*/ 309562 w 309562"/>
                    <a:gd name="connsiteY1" fmla="*/ 125016 h 125015"/>
                  </a:gdLst>
                  <a:ahLst/>
                  <a:cxnLst>
                    <a:cxn ang="0">
                      <a:pos x="connsiteX0" y="connsiteY0"/>
                    </a:cxn>
                    <a:cxn ang="0">
                      <a:pos x="connsiteX1" y="connsiteY1"/>
                    </a:cxn>
                  </a:cxnLst>
                  <a:rect l="l" t="t" r="r" b="b"/>
                  <a:pathLst>
                    <a:path w="309562" h="125015">
                      <a:moveTo>
                        <a:pt x="-1" y="0"/>
                      </a:moveTo>
                      <a:lnTo>
                        <a:pt x="309562" y="125016"/>
                      </a:lnTo>
                    </a:path>
                  </a:pathLst>
                </a:custGeom>
                <a:noFill/>
                <a:ln w="12700" cap="flat">
                  <a:solidFill>
                    <a:srgbClr val="1F1FFF"/>
                  </a:solidFill>
                  <a:prstDash val="solid"/>
                  <a:miter/>
                </a:ln>
              </p:spPr>
              <p:txBody>
                <a:bodyPr rtlCol="0" anchor="ctr"/>
                <a:lstStyle/>
                <a:p>
                  <a:endParaRPr lang="en-US"/>
                </a:p>
              </p:txBody>
            </p:sp>
            <p:sp>
              <p:nvSpPr>
                <p:cNvPr id="50" name="Freeform: Shape 95">
                  <a:extLst>
                    <a:ext uri="{FF2B5EF4-FFF2-40B4-BE49-F238E27FC236}">
                      <a16:creationId xmlns:a16="http://schemas.microsoft.com/office/drawing/2014/main" id="{6C2EDD55-6C8C-EA22-735E-8E6116372D8A}"/>
                    </a:ext>
                  </a:extLst>
                </p:cNvPr>
                <p:cNvSpPr/>
                <p:nvPr/>
              </p:nvSpPr>
              <p:spPr>
                <a:xfrm>
                  <a:off x="7082166" y="2537532"/>
                  <a:ext cx="576876" cy="232968"/>
                </a:xfrm>
                <a:custGeom>
                  <a:avLst/>
                  <a:gdLst>
                    <a:gd name="connsiteX0" fmla="*/ -1 w 309562"/>
                    <a:gd name="connsiteY0" fmla="*/ 125016 h 125015"/>
                    <a:gd name="connsiteX1" fmla="*/ 309562 w 309562"/>
                    <a:gd name="connsiteY1" fmla="*/ 0 h 125015"/>
                  </a:gdLst>
                  <a:ahLst/>
                  <a:cxnLst>
                    <a:cxn ang="0">
                      <a:pos x="connsiteX0" y="connsiteY0"/>
                    </a:cxn>
                    <a:cxn ang="0">
                      <a:pos x="connsiteX1" y="connsiteY1"/>
                    </a:cxn>
                  </a:cxnLst>
                  <a:rect l="l" t="t" r="r" b="b"/>
                  <a:pathLst>
                    <a:path w="309562" h="125015">
                      <a:moveTo>
                        <a:pt x="-1" y="125016"/>
                      </a:moveTo>
                      <a:lnTo>
                        <a:pt x="309562" y="0"/>
                      </a:lnTo>
                    </a:path>
                  </a:pathLst>
                </a:custGeom>
                <a:noFill/>
                <a:ln w="12700" cap="flat">
                  <a:solidFill>
                    <a:srgbClr val="B5B5FF"/>
                  </a:solidFill>
                  <a:prstDash val="solid"/>
                  <a:miter/>
                </a:ln>
              </p:spPr>
              <p:txBody>
                <a:bodyPr rtlCol="0" anchor="ctr"/>
                <a:lstStyle/>
                <a:p>
                  <a:endParaRPr lang="en-US"/>
                </a:p>
              </p:txBody>
            </p:sp>
            <p:sp>
              <p:nvSpPr>
                <p:cNvPr id="51" name="Freeform: Shape 96">
                  <a:extLst>
                    <a:ext uri="{FF2B5EF4-FFF2-40B4-BE49-F238E27FC236}">
                      <a16:creationId xmlns:a16="http://schemas.microsoft.com/office/drawing/2014/main" id="{33D7F0DE-477F-F3C9-60D4-9DEE217CD7A8}"/>
                    </a:ext>
                  </a:extLst>
                </p:cNvPr>
                <p:cNvSpPr/>
                <p:nvPr/>
              </p:nvSpPr>
              <p:spPr>
                <a:xfrm>
                  <a:off x="7659042" y="2071593"/>
                  <a:ext cx="576876" cy="465939"/>
                </a:xfrm>
                <a:custGeom>
                  <a:avLst/>
                  <a:gdLst>
                    <a:gd name="connsiteX0" fmla="*/ -1 w 309562"/>
                    <a:gd name="connsiteY0" fmla="*/ 250031 h 250031"/>
                    <a:gd name="connsiteX1" fmla="*/ 309562 w 309562"/>
                    <a:gd name="connsiteY1" fmla="*/ 0 h 250031"/>
                  </a:gdLst>
                  <a:ahLst/>
                  <a:cxnLst>
                    <a:cxn ang="0">
                      <a:pos x="connsiteX0" y="connsiteY0"/>
                    </a:cxn>
                    <a:cxn ang="0">
                      <a:pos x="connsiteX1" y="connsiteY1"/>
                    </a:cxn>
                  </a:cxnLst>
                  <a:rect l="l" t="t" r="r" b="b"/>
                  <a:pathLst>
                    <a:path w="309562" h="250031">
                      <a:moveTo>
                        <a:pt x="-1" y="250031"/>
                      </a:moveTo>
                      <a:lnTo>
                        <a:pt x="309562" y="0"/>
                      </a:lnTo>
                    </a:path>
                  </a:pathLst>
                </a:custGeom>
                <a:noFill/>
                <a:ln w="12700" cap="flat">
                  <a:solidFill>
                    <a:srgbClr val="FF6C6C"/>
                  </a:solidFill>
                  <a:prstDash val="solid"/>
                  <a:miter/>
                </a:ln>
              </p:spPr>
              <p:txBody>
                <a:bodyPr rtlCol="0" anchor="ctr"/>
                <a:lstStyle/>
                <a:p>
                  <a:endParaRPr lang="en-US"/>
                </a:p>
              </p:txBody>
            </p:sp>
            <p:sp>
              <p:nvSpPr>
                <p:cNvPr id="52" name="Freeform: Shape 97">
                  <a:extLst>
                    <a:ext uri="{FF2B5EF4-FFF2-40B4-BE49-F238E27FC236}">
                      <a16:creationId xmlns:a16="http://schemas.microsoft.com/office/drawing/2014/main" id="{9B495BA1-30B9-21B5-50FE-50AA3ACE5A44}"/>
                    </a:ext>
                  </a:extLst>
                </p:cNvPr>
                <p:cNvSpPr/>
                <p:nvPr/>
              </p:nvSpPr>
              <p:spPr>
                <a:xfrm>
                  <a:off x="6383257" y="1483621"/>
                  <a:ext cx="244062" cy="244062"/>
                </a:xfrm>
                <a:custGeom>
                  <a:avLst/>
                  <a:gdLst>
                    <a:gd name="connsiteX0" fmla="*/ 130968 w 130968"/>
                    <a:gd name="connsiteY0" fmla="*/ 65484 h 130968"/>
                    <a:gd name="connsiteX1" fmla="*/ 65483 w 130968"/>
                    <a:gd name="connsiteY1" fmla="*/ 130969 h 130968"/>
                    <a:gd name="connsiteX2" fmla="*/ -1 w 130968"/>
                    <a:gd name="connsiteY2" fmla="*/ 65484 h 130968"/>
                    <a:gd name="connsiteX3" fmla="*/ 65483 w 130968"/>
                    <a:gd name="connsiteY3" fmla="*/ 0 h 130968"/>
                    <a:gd name="connsiteX4" fmla="*/ 130968 w 130968"/>
                    <a:gd name="connsiteY4" fmla="*/ 65484 h 13096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0968" h="130968">
                      <a:moveTo>
                        <a:pt x="130968" y="65484"/>
                      </a:moveTo>
                      <a:cubicBezTo>
                        <a:pt x="130968" y="101650"/>
                        <a:pt x="101649" y="130969"/>
                        <a:pt x="65483" y="130969"/>
                      </a:cubicBezTo>
                      <a:cubicBezTo>
                        <a:pt x="29317" y="130969"/>
                        <a:pt x="-1" y="101650"/>
                        <a:pt x="-1" y="65484"/>
                      </a:cubicBezTo>
                      <a:cubicBezTo>
                        <a:pt x="-1" y="29318"/>
                        <a:pt x="29317" y="0"/>
                        <a:pt x="65483" y="0"/>
                      </a:cubicBezTo>
                      <a:cubicBezTo>
                        <a:pt x="101649" y="0"/>
                        <a:pt x="130968" y="29318"/>
                        <a:pt x="130968" y="65484"/>
                      </a:cubicBezTo>
                      <a:close/>
                    </a:path>
                  </a:pathLst>
                </a:custGeom>
                <a:solidFill>
                  <a:srgbClr val="FFFFFF"/>
                </a:solidFill>
                <a:ln w="12700" cap="flat">
                  <a:solidFill>
                    <a:srgbClr val="333333"/>
                  </a:solidFill>
                  <a:prstDash val="solid"/>
                  <a:miter/>
                </a:ln>
              </p:spPr>
              <p:txBody>
                <a:bodyPr rtlCol="0" anchor="ctr"/>
                <a:lstStyle/>
                <a:p>
                  <a:endParaRPr lang="en-US"/>
                </a:p>
              </p:txBody>
            </p:sp>
            <p:sp>
              <p:nvSpPr>
                <p:cNvPr id="53" name="Freeform: Shape 98">
                  <a:extLst>
                    <a:ext uri="{FF2B5EF4-FFF2-40B4-BE49-F238E27FC236}">
                      <a16:creationId xmlns:a16="http://schemas.microsoft.com/office/drawing/2014/main" id="{21DAAD31-A631-667E-E6E8-24D175D9CC92}"/>
                    </a:ext>
                  </a:extLst>
                </p:cNvPr>
                <p:cNvSpPr/>
                <p:nvPr/>
              </p:nvSpPr>
              <p:spPr>
                <a:xfrm>
                  <a:off x="6383257" y="1949560"/>
                  <a:ext cx="244062" cy="244062"/>
                </a:xfrm>
                <a:custGeom>
                  <a:avLst/>
                  <a:gdLst>
                    <a:gd name="connsiteX0" fmla="*/ 130968 w 130968"/>
                    <a:gd name="connsiteY0" fmla="*/ 65484 h 130968"/>
                    <a:gd name="connsiteX1" fmla="*/ 65483 w 130968"/>
                    <a:gd name="connsiteY1" fmla="*/ 130969 h 130968"/>
                    <a:gd name="connsiteX2" fmla="*/ -1 w 130968"/>
                    <a:gd name="connsiteY2" fmla="*/ 65484 h 130968"/>
                    <a:gd name="connsiteX3" fmla="*/ 65483 w 130968"/>
                    <a:gd name="connsiteY3" fmla="*/ 0 h 130968"/>
                    <a:gd name="connsiteX4" fmla="*/ 130968 w 130968"/>
                    <a:gd name="connsiteY4" fmla="*/ 65484 h 13096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0968" h="130968">
                      <a:moveTo>
                        <a:pt x="130968" y="65484"/>
                      </a:moveTo>
                      <a:cubicBezTo>
                        <a:pt x="130968" y="101650"/>
                        <a:pt x="101649" y="130969"/>
                        <a:pt x="65483" y="130969"/>
                      </a:cubicBezTo>
                      <a:cubicBezTo>
                        <a:pt x="29317" y="130969"/>
                        <a:pt x="-1" y="101650"/>
                        <a:pt x="-1" y="65484"/>
                      </a:cubicBezTo>
                      <a:cubicBezTo>
                        <a:pt x="-1" y="29318"/>
                        <a:pt x="29317" y="0"/>
                        <a:pt x="65483" y="0"/>
                      </a:cubicBezTo>
                      <a:cubicBezTo>
                        <a:pt x="101649" y="0"/>
                        <a:pt x="130968" y="29318"/>
                        <a:pt x="130968" y="65484"/>
                      </a:cubicBezTo>
                      <a:close/>
                    </a:path>
                  </a:pathLst>
                </a:custGeom>
                <a:solidFill>
                  <a:srgbClr val="FFFFFF"/>
                </a:solidFill>
                <a:ln w="12700" cap="flat">
                  <a:solidFill>
                    <a:srgbClr val="333333"/>
                  </a:solidFill>
                  <a:prstDash val="solid"/>
                  <a:miter/>
                </a:ln>
              </p:spPr>
              <p:txBody>
                <a:bodyPr rtlCol="0" anchor="ctr"/>
                <a:lstStyle/>
                <a:p>
                  <a:endParaRPr lang="en-US"/>
                </a:p>
              </p:txBody>
            </p:sp>
            <p:sp>
              <p:nvSpPr>
                <p:cNvPr id="54" name="Freeform: Shape 99">
                  <a:extLst>
                    <a:ext uri="{FF2B5EF4-FFF2-40B4-BE49-F238E27FC236}">
                      <a16:creationId xmlns:a16="http://schemas.microsoft.com/office/drawing/2014/main" id="{43CCC1D1-119A-9E9E-57F7-A1D1783CEFBD}"/>
                    </a:ext>
                  </a:extLst>
                </p:cNvPr>
                <p:cNvSpPr/>
                <p:nvPr/>
              </p:nvSpPr>
              <p:spPr>
                <a:xfrm>
                  <a:off x="6383257" y="2415501"/>
                  <a:ext cx="244062" cy="244062"/>
                </a:xfrm>
                <a:custGeom>
                  <a:avLst/>
                  <a:gdLst>
                    <a:gd name="connsiteX0" fmla="*/ 130968 w 130968"/>
                    <a:gd name="connsiteY0" fmla="*/ 65484 h 130968"/>
                    <a:gd name="connsiteX1" fmla="*/ 65483 w 130968"/>
                    <a:gd name="connsiteY1" fmla="*/ 130969 h 130968"/>
                    <a:gd name="connsiteX2" fmla="*/ -1 w 130968"/>
                    <a:gd name="connsiteY2" fmla="*/ 65484 h 130968"/>
                    <a:gd name="connsiteX3" fmla="*/ 65483 w 130968"/>
                    <a:gd name="connsiteY3" fmla="*/ 0 h 130968"/>
                    <a:gd name="connsiteX4" fmla="*/ 130968 w 130968"/>
                    <a:gd name="connsiteY4" fmla="*/ 65484 h 13096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0968" h="130968">
                      <a:moveTo>
                        <a:pt x="130968" y="65484"/>
                      </a:moveTo>
                      <a:cubicBezTo>
                        <a:pt x="130968" y="101650"/>
                        <a:pt x="101649" y="130969"/>
                        <a:pt x="65483" y="130969"/>
                      </a:cubicBezTo>
                      <a:cubicBezTo>
                        <a:pt x="29317" y="130969"/>
                        <a:pt x="-1" y="101650"/>
                        <a:pt x="-1" y="65484"/>
                      </a:cubicBezTo>
                      <a:cubicBezTo>
                        <a:pt x="-1" y="29318"/>
                        <a:pt x="29317" y="0"/>
                        <a:pt x="65483" y="0"/>
                      </a:cubicBezTo>
                      <a:cubicBezTo>
                        <a:pt x="101649" y="0"/>
                        <a:pt x="130968" y="29318"/>
                        <a:pt x="130968" y="65484"/>
                      </a:cubicBezTo>
                      <a:close/>
                    </a:path>
                  </a:pathLst>
                </a:custGeom>
                <a:solidFill>
                  <a:srgbClr val="FFFFFF"/>
                </a:solidFill>
                <a:ln w="12700" cap="flat">
                  <a:solidFill>
                    <a:srgbClr val="333333"/>
                  </a:solidFill>
                  <a:prstDash val="solid"/>
                  <a:miter/>
                </a:ln>
              </p:spPr>
              <p:txBody>
                <a:bodyPr rtlCol="0" anchor="ctr"/>
                <a:lstStyle/>
                <a:p>
                  <a:endParaRPr lang="en-US"/>
                </a:p>
              </p:txBody>
            </p:sp>
            <p:sp>
              <p:nvSpPr>
                <p:cNvPr id="55" name="Freeform: Shape 100">
                  <a:extLst>
                    <a:ext uri="{FF2B5EF4-FFF2-40B4-BE49-F238E27FC236}">
                      <a16:creationId xmlns:a16="http://schemas.microsoft.com/office/drawing/2014/main" id="{1FAFC844-B4E7-28C8-073F-B20E5A55C66F}"/>
                    </a:ext>
                  </a:extLst>
                </p:cNvPr>
                <p:cNvSpPr/>
                <p:nvPr/>
              </p:nvSpPr>
              <p:spPr>
                <a:xfrm>
                  <a:off x="6960135" y="1250651"/>
                  <a:ext cx="244062" cy="244062"/>
                </a:xfrm>
                <a:custGeom>
                  <a:avLst/>
                  <a:gdLst>
                    <a:gd name="connsiteX0" fmla="*/ 130968 w 130968"/>
                    <a:gd name="connsiteY0" fmla="*/ 65484 h 130968"/>
                    <a:gd name="connsiteX1" fmla="*/ 65483 w 130968"/>
                    <a:gd name="connsiteY1" fmla="*/ 130969 h 130968"/>
                    <a:gd name="connsiteX2" fmla="*/ -1 w 130968"/>
                    <a:gd name="connsiteY2" fmla="*/ 65484 h 130968"/>
                    <a:gd name="connsiteX3" fmla="*/ 65483 w 130968"/>
                    <a:gd name="connsiteY3" fmla="*/ 0 h 130968"/>
                    <a:gd name="connsiteX4" fmla="*/ 130968 w 130968"/>
                    <a:gd name="connsiteY4" fmla="*/ 65484 h 13096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0968" h="130968">
                      <a:moveTo>
                        <a:pt x="130968" y="65484"/>
                      </a:moveTo>
                      <a:cubicBezTo>
                        <a:pt x="130968" y="101650"/>
                        <a:pt x="101649" y="130969"/>
                        <a:pt x="65483" y="130969"/>
                      </a:cubicBezTo>
                      <a:cubicBezTo>
                        <a:pt x="29317" y="130969"/>
                        <a:pt x="-1" y="101650"/>
                        <a:pt x="-1" y="65484"/>
                      </a:cubicBezTo>
                      <a:cubicBezTo>
                        <a:pt x="-1" y="29318"/>
                        <a:pt x="29317" y="0"/>
                        <a:pt x="65483" y="0"/>
                      </a:cubicBezTo>
                      <a:cubicBezTo>
                        <a:pt x="101649" y="0"/>
                        <a:pt x="130968" y="29318"/>
                        <a:pt x="130968" y="65484"/>
                      </a:cubicBezTo>
                      <a:close/>
                    </a:path>
                  </a:pathLst>
                </a:custGeom>
                <a:solidFill>
                  <a:srgbClr val="FFFFFF"/>
                </a:solidFill>
                <a:ln w="12700" cap="flat">
                  <a:solidFill>
                    <a:srgbClr val="333333"/>
                  </a:solidFill>
                  <a:prstDash val="solid"/>
                  <a:miter/>
                </a:ln>
              </p:spPr>
              <p:txBody>
                <a:bodyPr rtlCol="0" anchor="ctr"/>
                <a:lstStyle/>
                <a:p>
                  <a:endParaRPr lang="en-US"/>
                </a:p>
              </p:txBody>
            </p:sp>
            <p:sp>
              <p:nvSpPr>
                <p:cNvPr id="56" name="Freeform: Shape 101">
                  <a:extLst>
                    <a:ext uri="{FF2B5EF4-FFF2-40B4-BE49-F238E27FC236}">
                      <a16:creationId xmlns:a16="http://schemas.microsoft.com/office/drawing/2014/main" id="{56E803BF-E333-121F-A983-FAE33915AC55}"/>
                    </a:ext>
                  </a:extLst>
                </p:cNvPr>
                <p:cNvSpPr/>
                <p:nvPr/>
              </p:nvSpPr>
              <p:spPr>
                <a:xfrm>
                  <a:off x="6960135" y="1716592"/>
                  <a:ext cx="244062" cy="244062"/>
                </a:xfrm>
                <a:custGeom>
                  <a:avLst/>
                  <a:gdLst>
                    <a:gd name="connsiteX0" fmla="*/ 130968 w 130968"/>
                    <a:gd name="connsiteY0" fmla="*/ 65484 h 130968"/>
                    <a:gd name="connsiteX1" fmla="*/ 65483 w 130968"/>
                    <a:gd name="connsiteY1" fmla="*/ 130969 h 130968"/>
                    <a:gd name="connsiteX2" fmla="*/ -1 w 130968"/>
                    <a:gd name="connsiteY2" fmla="*/ 65484 h 130968"/>
                    <a:gd name="connsiteX3" fmla="*/ 65483 w 130968"/>
                    <a:gd name="connsiteY3" fmla="*/ 0 h 130968"/>
                    <a:gd name="connsiteX4" fmla="*/ 130968 w 130968"/>
                    <a:gd name="connsiteY4" fmla="*/ 65484 h 13096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0968" h="130968">
                      <a:moveTo>
                        <a:pt x="130968" y="65484"/>
                      </a:moveTo>
                      <a:cubicBezTo>
                        <a:pt x="130968" y="101650"/>
                        <a:pt x="101649" y="130969"/>
                        <a:pt x="65483" y="130969"/>
                      </a:cubicBezTo>
                      <a:cubicBezTo>
                        <a:pt x="29317" y="130969"/>
                        <a:pt x="-1" y="101650"/>
                        <a:pt x="-1" y="65484"/>
                      </a:cubicBezTo>
                      <a:cubicBezTo>
                        <a:pt x="-1" y="29318"/>
                        <a:pt x="29317" y="0"/>
                        <a:pt x="65483" y="0"/>
                      </a:cubicBezTo>
                      <a:cubicBezTo>
                        <a:pt x="101649" y="0"/>
                        <a:pt x="130968" y="29318"/>
                        <a:pt x="130968" y="65484"/>
                      </a:cubicBezTo>
                      <a:close/>
                    </a:path>
                  </a:pathLst>
                </a:custGeom>
                <a:solidFill>
                  <a:srgbClr val="FFFFFF"/>
                </a:solidFill>
                <a:ln w="12700" cap="flat">
                  <a:solidFill>
                    <a:srgbClr val="333333"/>
                  </a:solidFill>
                  <a:prstDash val="solid"/>
                  <a:miter/>
                </a:ln>
              </p:spPr>
              <p:txBody>
                <a:bodyPr rtlCol="0" anchor="ctr"/>
                <a:lstStyle/>
                <a:p>
                  <a:endParaRPr lang="en-US"/>
                </a:p>
              </p:txBody>
            </p:sp>
            <p:sp>
              <p:nvSpPr>
                <p:cNvPr id="57" name="Freeform: Shape 102">
                  <a:extLst>
                    <a:ext uri="{FF2B5EF4-FFF2-40B4-BE49-F238E27FC236}">
                      <a16:creationId xmlns:a16="http://schemas.microsoft.com/office/drawing/2014/main" id="{04464C94-9427-AF29-AECE-1BCEF179A5D7}"/>
                    </a:ext>
                  </a:extLst>
                </p:cNvPr>
                <p:cNvSpPr/>
                <p:nvPr/>
              </p:nvSpPr>
              <p:spPr>
                <a:xfrm>
                  <a:off x="6960135" y="2182530"/>
                  <a:ext cx="244062" cy="244062"/>
                </a:xfrm>
                <a:custGeom>
                  <a:avLst/>
                  <a:gdLst>
                    <a:gd name="connsiteX0" fmla="*/ 130968 w 130968"/>
                    <a:gd name="connsiteY0" fmla="*/ 65484 h 130968"/>
                    <a:gd name="connsiteX1" fmla="*/ 65483 w 130968"/>
                    <a:gd name="connsiteY1" fmla="*/ 130969 h 130968"/>
                    <a:gd name="connsiteX2" fmla="*/ -1 w 130968"/>
                    <a:gd name="connsiteY2" fmla="*/ 65484 h 130968"/>
                    <a:gd name="connsiteX3" fmla="*/ 65483 w 130968"/>
                    <a:gd name="connsiteY3" fmla="*/ 0 h 130968"/>
                    <a:gd name="connsiteX4" fmla="*/ 130968 w 130968"/>
                    <a:gd name="connsiteY4" fmla="*/ 65484 h 13096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0968" h="130968">
                      <a:moveTo>
                        <a:pt x="130968" y="65484"/>
                      </a:moveTo>
                      <a:cubicBezTo>
                        <a:pt x="130968" y="101650"/>
                        <a:pt x="101649" y="130969"/>
                        <a:pt x="65483" y="130969"/>
                      </a:cubicBezTo>
                      <a:cubicBezTo>
                        <a:pt x="29317" y="130969"/>
                        <a:pt x="-1" y="101650"/>
                        <a:pt x="-1" y="65484"/>
                      </a:cubicBezTo>
                      <a:cubicBezTo>
                        <a:pt x="-1" y="29318"/>
                        <a:pt x="29317" y="0"/>
                        <a:pt x="65483" y="0"/>
                      </a:cubicBezTo>
                      <a:cubicBezTo>
                        <a:pt x="101649" y="0"/>
                        <a:pt x="130968" y="29318"/>
                        <a:pt x="130968" y="65484"/>
                      </a:cubicBezTo>
                      <a:close/>
                    </a:path>
                  </a:pathLst>
                </a:custGeom>
                <a:solidFill>
                  <a:srgbClr val="FFFFFF"/>
                </a:solidFill>
                <a:ln w="12700" cap="flat">
                  <a:solidFill>
                    <a:srgbClr val="333333"/>
                  </a:solidFill>
                  <a:prstDash val="solid"/>
                  <a:miter/>
                </a:ln>
              </p:spPr>
              <p:txBody>
                <a:bodyPr rtlCol="0" anchor="ctr"/>
                <a:lstStyle/>
                <a:p>
                  <a:endParaRPr lang="en-US" dirty="0"/>
                </a:p>
              </p:txBody>
            </p:sp>
            <p:sp>
              <p:nvSpPr>
                <p:cNvPr id="58" name="Freeform: Shape 103">
                  <a:extLst>
                    <a:ext uri="{FF2B5EF4-FFF2-40B4-BE49-F238E27FC236}">
                      <a16:creationId xmlns:a16="http://schemas.microsoft.com/office/drawing/2014/main" id="{623F897B-1304-736D-213F-438F4587AEB7}"/>
                    </a:ext>
                  </a:extLst>
                </p:cNvPr>
                <p:cNvSpPr/>
                <p:nvPr/>
              </p:nvSpPr>
              <p:spPr>
                <a:xfrm>
                  <a:off x="6960135" y="2648469"/>
                  <a:ext cx="244062" cy="244062"/>
                </a:xfrm>
                <a:custGeom>
                  <a:avLst/>
                  <a:gdLst>
                    <a:gd name="connsiteX0" fmla="*/ 130968 w 130968"/>
                    <a:gd name="connsiteY0" fmla="*/ 65484 h 130968"/>
                    <a:gd name="connsiteX1" fmla="*/ 65483 w 130968"/>
                    <a:gd name="connsiteY1" fmla="*/ 130969 h 130968"/>
                    <a:gd name="connsiteX2" fmla="*/ -1 w 130968"/>
                    <a:gd name="connsiteY2" fmla="*/ 65484 h 130968"/>
                    <a:gd name="connsiteX3" fmla="*/ 65483 w 130968"/>
                    <a:gd name="connsiteY3" fmla="*/ 0 h 130968"/>
                    <a:gd name="connsiteX4" fmla="*/ 130968 w 130968"/>
                    <a:gd name="connsiteY4" fmla="*/ 65484 h 13096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0968" h="130968">
                      <a:moveTo>
                        <a:pt x="130968" y="65484"/>
                      </a:moveTo>
                      <a:cubicBezTo>
                        <a:pt x="130968" y="101650"/>
                        <a:pt x="101649" y="130969"/>
                        <a:pt x="65483" y="130969"/>
                      </a:cubicBezTo>
                      <a:cubicBezTo>
                        <a:pt x="29317" y="130969"/>
                        <a:pt x="-1" y="101650"/>
                        <a:pt x="-1" y="65484"/>
                      </a:cubicBezTo>
                      <a:cubicBezTo>
                        <a:pt x="-1" y="29318"/>
                        <a:pt x="29317" y="0"/>
                        <a:pt x="65483" y="0"/>
                      </a:cubicBezTo>
                      <a:cubicBezTo>
                        <a:pt x="101649" y="0"/>
                        <a:pt x="130968" y="29318"/>
                        <a:pt x="130968" y="65484"/>
                      </a:cubicBezTo>
                      <a:close/>
                    </a:path>
                  </a:pathLst>
                </a:custGeom>
                <a:solidFill>
                  <a:srgbClr val="FFFFFF"/>
                </a:solidFill>
                <a:ln w="12700" cap="flat">
                  <a:solidFill>
                    <a:srgbClr val="333333"/>
                  </a:solidFill>
                  <a:prstDash val="solid"/>
                  <a:miter/>
                </a:ln>
              </p:spPr>
              <p:txBody>
                <a:bodyPr rtlCol="0" anchor="ctr"/>
                <a:lstStyle/>
                <a:p>
                  <a:endParaRPr lang="en-US"/>
                </a:p>
              </p:txBody>
            </p:sp>
            <p:sp>
              <p:nvSpPr>
                <p:cNvPr id="59" name="Freeform: Shape 104">
                  <a:extLst>
                    <a:ext uri="{FF2B5EF4-FFF2-40B4-BE49-F238E27FC236}">
                      <a16:creationId xmlns:a16="http://schemas.microsoft.com/office/drawing/2014/main" id="{3DFF5160-189D-C860-8FC5-BABD354DA797}"/>
                    </a:ext>
                  </a:extLst>
                </p:cNvPr>
                <p:cNvSpPr/>
                <p:nvPr/>
              </p:nvSpPr>
              <p:spPr>
                <a:xfrm>
                  <a:off x="7537011" y="1483621"/>
                  <a:ext cx="244062" cy="244062"/>
                </a:xfrm>
                <a:custGeom>
                  <a:avLst/>
                  <a:gdLst>
                    <a:gd name="connsiteX0" fmla="*/ 130968 w 130968"/>
                    <a:gd name="connsiteY0" fmla="*/ 65484 h 130968"/>
                    <a:gd name="connsiteX1" fmla="*/ 65483 w 130968"/>
                    <a:gd name="connsiteY1" fmla="*/ 130969 h 130968"/>
                    <a:gd name="connsiteX2" fmla="*/ -1 w 130968"/>
                    <a:gd name="connsiteY2" fmla="*/ 65484 h 130968"/>
                    <a:gd name="connsiteX3" fmla="*/ 65483 w 130968"/>
                    <a:gd name="connsiteY3" fmla="*/ 0 h 130968"/>
                    <a:gd name="connsiteX4" fmla="*/ 130968 w 130968"/>
                    <a:gd name="connsiteY4" fmla="*/ 65484 h 13096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0968" h="130968">
                      <a:moveTo>
                        <a:pt x="130968" y="65484"/>
                      </a:moveTo>
                      <a:cubicBezTo>
                        <a:pt x="130968" y="101650"/>
                        <a:pt x="101649" y="130969"/>
                        <a:pt x="65483" y="130969"/>
                      </a:cubicBezTo>
                      <a:cubicBezTo>
                        <a:pt x="29317" y="130969"/>
                        <a:pt x="-1" y="101650"/>
                        <a:pt x="-1" y="65484"/>
                      </a:cubicBezTo>
                      <a:cubicBezTo>
                        <a:pt x="-1" y="29318"/>
                        <a:pt x="29317" y="0"/>
                        <a:pt x="65483" y="0"/>
                      </a:cubicBezTo>
                      <a:cubicBezTo>
                        <a:pt x="101649" y="0"/>
                        <a:pt x="130968" y="29318"/>
                        <a:pt x="130968" y="65484"/>
                      </a:cubicBezTo>
                      <a:close/>
                    </a:path>
                  </a:pathLst>
                </a:custGeom>
                <a:solidFill>
                  <a:srgbClr val="FFFFFF"/>
                </a:solidFill>
                <a:ln w="12700" cap="flat">
                  <a:solidFill>
                    <a:srgbClr val="333333"/>
                  </a:solidFill>
                  <a:prstDash val="solid"/>
                  <a:miter/>
                </a:ln>
              </p:spPr>
              <p:txBody>
                <a:bodyPr rtlCol="0" anchor="ctr"/>
                <a:lstStyle/>
                <a:p>
                  <a:endParaRPr lang="en-US"/>
                </a:p>
              </p:txBody>
            </p:sp>
            <p:sp>
              <p:nvSpPr>
                <p:cNvPr id="60" name="Freeform: Shape 105">
                  <a:extLst>
                    <a:ext uri="{FF2B5EF4-FFF2-40B4-BE49-F238E27FC236}">
                      <a16:creationId xmlns:a16="http://schemas.microsoft.com/office/drawing/2014/main" id="{81E345E3-94A2-3B13-6FB8-8451A9BF9911}"/>
                    </a:ext>
                  </a:extLst>
                </p:cNvPr>
                <p:cNvSpPr/>
                <p:nvPr/>
              </p:nvSpPr>
              <p:spPr>
                <a:xfrm>
                  <a:off x="7537011" y="1949560"/>
                  <a:ext cx="244062" cy="244062"/>
                </a:xfrm>
                <a:custGeom>
                  <a:avLst/>
                  <a:gdLst>
                    <a:gd name="connsiteX0" fmla="*/ 130968 w 130968"/>
                    <a:gd name="connsiteY0" fmla="*/ 65484 h 130968"/>
                    <a:gd name="connsiteX1" fmla="*/ 65483 w 130968"/>
                    <a:gd name="connsiteY1" fmla="*/ 130969 h 130968"/>
                    <a:gd name="connsiteX2" fmla="*/ -1 w 130968"/>
                    <a:gd name="connsiteY2" fmla="*/ 65484 h 130968"/>
                    <a:gd name="connsiteX3" fmla="*/ 65483 w 130968"/>
                    <a:gd name="connsiteY3" fmla="*/ 0 h 130968"/>
                    <a:gd name="connsiteX4" fmla="*/ 130968 w 130968"/>
                    <a:gd name="connsiteY4" fmla="*/ 65484 h 13096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0968" h="130968">
                      <a:moveTo>
                        <a:pt x="130968" y="65484"/>
                      </a:moveTo>
                      <a:cubicBezTo>
                        <a:pt x="130968" y="101650"/>
                        <a:pt x="101649" y="130969"/>
                        <a:pt x="65483" y="130969"/>
                      </a:cubicBezTo>
                      <a:cubicBezTo>
                        <a:pt x="29317" y="130969"/>
                        <a:pt x="-1" y="101650"/>
                        <a:pt x="-1" y="65484"/>
                      </a:cubicBezTo>
                      <a:cubicBezTo>
                        <a:pt x="-1" y="29318"/>
                        <a:pt x="29317" y="0"/>
                        <a:pt x="65483" y="0"/>
                      </a:cubicBezTo>
                      <a:cubicBezTo>
                        <a:pt x="101649" y="0"/>
                        <a:pt x="130968" y="29318"/>
                        <a:pt x="130968" y="65484"/>
                      </a:cubicBezTo>
                      <a:close/>
                    </a:path>
                  </a:pathLst>
                </a:custGeom>
                <a:solidFill>
                  <a:srgbClr val="FFFFFF"/>
                </a:solidFill>
                <a:ln w="12700" cap="flat">
                  <a:solidFill>
                    <a:srgbClr val="333333"/>
                  </a:solidFill>
                  <a:prstDash val="solid"/>
                  <a:miter/>
                </a:ln>
              </p:spPr>
              <p:txBody>
                <a:bodyPr rtlCol="0" anchor="ctr"/>
                <a:lstStyle/>
                <a:p>
                  <a:endParaRPr lang="en-US"/>
                </a:p>
              </p:txBody>
            </p:sp>
            <p:sp>
              <p:nvSpPr>
                <p:cNvPr id="61" name="Freeform: Shape 106">
                  <a:extLst>
                    <a:ext uri="{FF2B5EF4-FFF2-40B4-BE49-F238E27FC236}">
                      <a16:creationId xmlns:a16="http://schemas.microsoft.com/office/drawing/2014/main" id="{1DEBA8DB-939A-A61C-7A2A-1230C6D4104F}"/>
                    </a:ext>
                  </a:extLst>
                </p:cNvPr>
                <p:cNvSpPr/>
                <p:nvPr/>
              </p:nvSpPr>
              <p:spPr>
                <a:xfrm>
                  <a:off x="7537011" y="2415501"/>
                  <a:ext cx="244062" cy="244062"/>
                </a:xfrm>
                <a:custGeom>
                  <a:avLst/>
                  <a:gdLst>
                    <a:gd name="connsiteX0" fmla="*/ 130968 w 130968"/>
                    <a:gd name="connsiteY0" fmla="*/ 65484 h 130968"/>
                    <a:gd name="connsiteX1" fmla="*/ 65483 w 130968"/>
                    <a:gd name="connsiteY1" fmla="*/ 130969 h 130968"/>
                    <a:gd name="connsiteX2" fmla="*/ -1 w 130968"/>
                    <a:gd name="connsiteY2" fmla="*/ 65484 h 130968"/>
                    <a:gd name="connsiteX3" fmla="*/ 65483 w 130968"/>
                    <a:gd name="connsiteY3" fmla="*/ 0 h 130968"/>
                    <a:gd name="connsiteX4" fmla="*/ 130968 w 130968"/>
                    <a:gd name="connsiteY4" fmla="*/ 65484 h 13096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0968" h="130968">
                      <a:moveTo>
                        <a:pt x="130968" y="65484"/>
                      </a:moveTo>
                      <a:cubicBezTo>
                        <a:pt x="130968" y="101650"/>
                        <a:pt x="101649" y="130969"/>
                        <a:pt x="65483" y="130969"/>
                      </a:cubicBezTo>
                      <a:cubicBezTo>
                        <a:pt x="29317" y="130969"/>
                        <a:pt x="-1" y="101650"/>
                        <a:pt x="-1" y="65484"/>
                      </a:cubicBezTo>
                      <a:cubicBezTo>
                        <a:pt x="-1" y="29318"/>
                        <a:pt x="29317" y="0"/>
                        <a:pt x="65483" y="0"/>
                      </a:cubicBezTo>
                      <a:cubicBezTo>
                        <a:pt x="101649" y="0"/>
                        <a:pt x="130968" y="29318"/>
                        <a:pt x="130968" y="65484"/>
                      </a:cubicBezTo>
                      <a:close/>
                    </a:path>
                  </a:pathLst>
                </a:custGeom>
                <a:solidFill>
                  <a:srgbClr val="FFFFFF"/>
                </a:solidFill>
                <a:ln w="12700" cap="flat">
                  <a:solidFill>
                    <a:srgbClr val="333333"/>
                  </a:solidFill>
                  <a:prstDash val="solid"/>
                  <a:miter/>
                </a:ln>
              </p:spPr>
              <p:txBody>
                <a:bodyPr rtlCol="0" anchor="ctr"/>
                <a:lstStyle/>
                <a:p>
                  <a:endParaRPr lang="en-US"/>
                </a:p>
              </p:txBody>
            </p:sp>
            <p:sp>
              <p:nvSpPr>
                <p:cNvPr id="62" name="Freeform: Shape 107">
                  <a:extLst>
                    <a:ext uri="{FF2B5EF4-FFF2-40B4-BE49-F238E27FC236}">
                      <a16:creationId xmlns:a16="http://schemas.microsoft.com/office/drawing/2014/main" id="{8A5C7B6F-ECEA-790D-31C2-863B3C4069F2}"/>
                    </a:ext>
                  </a:extLst>
                </p:cNvPr>
                <p:cNvSpPr/>
                <p:nvPr/>
              </p:nvSpPr>
              <p:spPr>
                <a:xfrm>
                  <a:off x="8113889" y="1949560"/>
                  <a:ext cx="244062" cy="244062"/>
                </a:xfrm>
                <a:custGeom>
                  <a:avLst/>
                  <a:gdLst>
                    <a:gd name="connsiteX0" fmla="*/ 130968 w 130968"/>
                    <a:gd name="connsiteY0" fmla="*/ 65484 h 130968"/>
                    <a:gd name="connsiteX1" fmla="*/ 65483 w 130968"/>
                    <a:gd name="connsiteY1" fmla="*/ 130969 h 130968"/>
                    <a:gd name="connsiteX2" fmla="*/ -1 w 130968"/>
                    <a:gd name="connsiteY2" fmla="*/ 65484 h 130968"/>
                    <a:gd name="connsiteX3" fmla="*/ 65483 w 130968"/>
                    <a:gd name="connsiteY3" fmla="*/ 0 h 130968"/>
                    <a:gd name="connsiteX4" fmla="*/ 130968 w 130968"/>
                    <a:gd name="connsiteY4" fmla="*/ 65484 h 13096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0968" h="130968">
                      <a:moveTo>
                        <a:pt x="130968" y="65484"/>
                      </a:moveTo>
                      <a:cubicBezTo>
                        <a:pt x="130968" y="101650"/>
                        <a:pt x="101649" y="130969"/>
                        <a:pt x="65483" y="130969"/>
                      </a:cubicBezTo>
                      <a:cubicBezTo>
                        <a:pt x="29317" y="130969"/>
                        <a:pt x="-1" y="101650"/>
                        <a:pt x="-1" y="65484"/>
                      </a:cubicBezTo>
                      <a:cubicBezTo>
                        <a:pt x="-1" y="29318"/>
                        <a:pt x="29317" y="0"/>
                        <a:pt x="65483" y="0"/>
                      </a:cubicBezTo>
                      <a:cubicBezTo>
                        <a:pt x="101649" y="0"/>
                        <a:pt x="130968" y="29318"/>
                        <a:pt x="130968" y="65484"/>
                      </a:cubicBezTo>
                      <a:close/>
                    </a:path>
                  </a:pathLst>
                </a:custGeom>
                <a:solidFill>
                  <a:srgbClr val="FFFFFF"/>
                </a:solidFill>
                <a:ln w="12700" cap="flat">
                  <a:solidFill>
                    <a:srgbClr val="333333"/>
                  </a:solidFill>
                  <a:prstDash val="solid"/>
                  <a:miter/>
                </a:ln>
              </p:spPr>
              <p:txBody>
                <a:bodyPr rtlCol="0" anchor="ctr"/>
                <a:lstStyle/>
                <a:p>
                  <a:endParaRPr lang="en-US"/>
                </a:p>
              </p:txBody>
            </p:sp>
          </p:grpSp>
        </p:grpSp>
        <p:grpSp>
          <p:nvGrpSpPr>
            <p:cNvPr id="81" name="Group 80">
              <a:extLst>
                <a:ext uri="{FF2B5EF4-FFF2-40B4-BE49-F238E27FC236}">
                  <a16:creationId xmlns:a16="http://schemas.microsoft.com/office/drawing/2014/main" id="{E0B6EA07-4BA9-7E5C-7CBE-B368BC598020}"/>
                </a:ext>
              </a:extLst>
            </p:cNvPr>
            <p:cNvGrpSpPr/>
            <p:nvPr/>
          </p:nvGrpSpPr>
          <p:grpSpPr>
            <a:xfrm>
              <a:off x="2106073" y="5125411"/>
              <a:ext cx="451446" cy="416228"/>
              <a:chOff x="2519406" y="4829195"/>
              <a:chExt cx="1366363" cy="1259770"/>
            </a:xfrm>
          </p:grpSpPr>
          <p:sp>
            <p:nvSpPr>
              <p:cNvPr id="82" name="Rounded Rectangle 81">
                <a:extLst>
                  <a:ext uri="{FF2B5EF4-FFF2-40B4-BE49-F238E27FC236}">
                    <a16:creationId xmlns:a16="http://schemas.microsoft.com/office/drawing/2014/main" id="{00C3D308-E568-B342-C6F1-460E4A2B65D1}"/>
                  </a:ext>
                </a:extLst>
              </p:cNvPr>
              <p:cNvSpPr/>
              <p:nvPr/>
            </p:nvSpPr>
            <p:spPr>
              <a:xfrm>
                <a:off x="2519406" y="4829195"/>
                <a:ext cx="1366363" cy="1259770"/>
              </a:xfrm>
              <a:prstGeom prst="roundRect">
                <a:avLst/>
              </a:prstGeom>
              <a:solidFill>
                <a:schemeClr val="bg1">
                  <a:lumMod val="95000"/>
                </a:schemeClr>
              </a:solid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BE" dirty="0"/>
              </a:p>
            </p:txBody>
          </p:sp>
          <p:pic>
            <p:nvPicPr>
              <p:cNvPr id="83" name="Graphic 82" descr="Decision chart outline">
                <a:extLst>
                  <a:ext uri="{FF2B5EF4-FFF2-40B4-BE49-F238E27FC236}">
                    <a16:creationId xmlns:a16="http://schemas.microsoft.com/office/drawing/2014/main" id="{251AA1EC-CEFB-69B7-1CA7-A273BBA3E739}"/>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2615672" y="4872165"/>
                <a:ext cx="1173831" cy="1173831"/>
              </a:xfrm>
              <a:prstGeom prst="rect">
                <a:avLst/>
              </a:prstGeom>
            </p:spPr>
          </p:pic>
        </p:grpSp>
      </p:grpSp>
      <p:pic>
        <p:nvPicPr>
          <p:cNvPr id="85" name="Picture 84">
            <a:extLst>
              <a:ext uri="{FF2B5EF4-FFF2-40B4-BE49-F238E27FC236}">
                <a16:creationId xmlns:a16="http://schemas.microsoft.com/office/drawing/2014/main" id="{6B08A046-A9A4-A5BB-38B5-98CAFEFF4000}"/>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6429306" y="2322303"/>
            <a:ext cx="5187841" cy="3747870"/>
          </a:xfrm>
          <a:prstGeom prst="rect">
            <a:avLst/>
          </a:prstGeom>
        </p:spPr>
      </p:pic>
      <p:sp>
        <p:nvSpPr>
          <p:cNvPr id="96" name="TextBox 95">
            <a:extLst>
              <a:ext uri="{FF2B5EF4-FFF2-40B4-BE49-F238E27FC236}">
                <a16:creationId xmlns:a16="http://schemas.microsoft.com/office/drawing/2014/main" id="{92811322-B5B8-4FEF-C322-04008A5B069A}"/>
              </a:ext>
            </a:extLst>
          </p:cNvPr>
          <p:cNvSpPr txBox="1"/>
          <p:nvPr/>
        </p:nvSpPr>
        <p:spPr>
          <a:xfrm>
            <a:off x="13503614" y="4773603"/>
            <a:ext cx="548548" cy="369332"/>
          </a:xfrm>
          <a:prstGeom prst="rect">
            <a:avLst/>
          </a:prstGeom>
          <a:noFill/>
        </p:spPr>
        <p:txBody>
          <a:bodyPr wrap="none" rtlCol="0">
            <a:spAutoFit/>
          </a:bodyPr>
          <a:lstStyle/>
          <a:p>
            <a:r>
              <a:rPr lang="en-US" sz="1800" b="1" dirty="0">
                <a:latin typeface="UGent Panno Text" panose="02000506040000040003" pitchFamily="2" charset="0"/>
              </a:rPr>
              <a:t>DQN</a:t>
            </a:r>
            <a:endParaRPr lang="en-BE" sz="1800" b="1" dirty="0">
              <a:latin typeface="UGent Panno Text" panose="02000506040000040003" pitchFamily="2" charset="0"/>
            </a:endParaRPr>
          </a:p>
        </p:txBody>
      </p:sp>
      <p:sp>
        <p:nvSpPr>
          <p:cNvPr id="97" name="TextBox 96">
            <a:extLst>
              <a:ext uri="{FF2B5EF4-FFF2-40B4-BE49-F238E27FC236}">
                <a16:creationId xmlns:a16="http://schemas.microsoft.com/office/drawing/2014/main" id="{EC9622C9-8AB6-AF08-F539-799141A7F86F}"/>
              </a:ext>
            </a:extLst>
          </p:cNvPr>
          <p:cNvSpPr txBox="1"/>
          <p:nvPr/>
        </p:nvSpPr>
        <p:spPr>
          <a:xfrm>
            <a:off x="14198687" y="4823283"/>
            <a:ext cx="797013" cy="525144"/>
          </a:xfrm>
          <a:prstGeom prst="rect">
            <a:avLst/>
          </a:prstGeom>
          <a:noFill/>
        </p:spPr>
        <p:txBody>
          <a:bodyPr wrap="none" rtlCol="0">
            <a:spAutoFit/>
          </a:bodyPr>
          <a:lstStyle/>
          <a:p>
            <a:pPr algn="ctr">
              <a:lnSpc>
                <a:spcPct val="75000"/>
              </a:lnSpc>
            </a:pPr>
            <a:r>
              <a:rPr lang="en-US" sz="1800" b="1" dirty="0">
                <a:latin typeface="UGent Panno Text" panose="02000506040000040003" pitchFamily="2" charset="0"/>
              </a:rPr>
              <a:t>DDT</a:t>
            </a:r>
          </a:p>
          <a:p>
            <a:pPr algn="ctr">
              <a:lnSpc>
                <a:spcPct val="75000"/>
              </a:lnSpc>
            </a:pPr>
            <a:r>
              <a:rPr lang="en-US" sz="1800" dirty="0">
                <a:latin typeface="UGent Panno Text" panose="02000506040000040003" pitchFamily="2" charset="0"/>
              </a:rPr>
              <a:t>depth 2</a:t>
            </a:r>
            <a:endParaRPr lang="en-BE" sz="1800" dirty="0">
              <a:latin typeface="UGent Panno Text" panose="02000506040000040003" pitchFamily="2" charset="0"/>
            </a:endParaRPr>
          </a:p>
        </p:txBody>
      </p:sp>
      <p:sp>
        <p:nvSpPr>
          <p:cNvPr id="98" name="TextBox 97">
            <a:extLst>
              <a:ext uri="{FF2B5EF4-FFF2-40B4-BE49-F238E27FC236}">
                <a16:creationId xmlns:a16="http://schemas.microsoft.com/office/drawing/2014/main" id="{71332456-3BCF-7432-890F-D863C1AAB818}"/>
              </a:ext>
            </a:extLst>
          </p:cNvPr>
          <p:cNvSpPr txBox="1"/>
          <p:nvPr/>
        </p:nvSpPr>
        <p:spPr>
          <a:xfrm>
            <a:off x="15042835" y="4823283"/>
            <a:ext cx="797013" cy="525144"/>
          </a:xfrm>
          <a:prstGeom prst="rect">
            <a:avLst/>
          </a:prstGeom>
          <a:noFill/>
        </p:spPr>
        <p:txBody>
          <a:bodyPr wrap="none" rtlCol="0">
            <a:spAutoFit/>
          </a:bodyPr>
          <a:lstStyle/>
          <a:p>
            <a:pPr algn="ctr">
              <a:lnSpc>
                <a:spcPct val="75000"/>
              </a:lnSpc>
            </a:pPr>
            <a:r>
              <a:rPr lang="en-US" sz="1800" b="1" dirty="0">
                <a:latin typeface="UGent Panno Text" panose="02000506040000040003" pitchFamily="2" charset="0"/>
              </a:rPr>
              <a:t>DDT</a:t>
            </a:r>
          </a:p>
          <a:p>
            <a:pPr algn="ctr">
              <a:lnSpc>
                <a:spcPct val="75000"/>
              </a:lnSpc>
            </a:pPr>
            <a:r>
              <a:rPr lang="en-US" sz="1800" dirty="0">
                <a:latin typeface="UGent Panno Text" panose="02000506040000040003" pitchFamily="2" charset="0"/>
              </a:rPr>
              <a:t>depth 3</a:t>
            </a:r>
            <a:endParaRPr lang="en-BE" sz="1800" dirty="0">
              <a:latin typeface="UGent Panno Text" panose="02000506040000040003" pitchFamily="2" charset="0"/>
            </a:endParaRPr>
          </a:p>
        </p:txBody>
      </p:sp>
      <p:grpSp>
        <p:nvGrpSpPr>
          <p:cNvPr id="99" name="Group 98">
            <a:extLst>
              <a:ext uri="{FF2B5EF4-FFF2-40B4-BE49-F238E27FC236}">
                <a16:creationId xmlns:a16="http://schemas.microsoft.com/office/drawing/2014/main" id="{2098B895-F338-E792-67D7-162DE988B0AF}"/>
              </a:ext>
            </a:extLst>
          </p:cNvPr>
          <p:cNvGrpSpPr/>
          <p:nvPr/>
        </p:nvGrpSpPr>
        <p:grpSpPr>
          <a:xfrm>
            <a:off x="15215618" y="5330699"/>
            <a:ext cx="451446" cy="416228"/>
            <a:chOff x="2519406" y="4829195"/>
            <a:chExt cx="1366363" cy="1259770"/>
          </a:xfrm>
        </p:grpSpPr>
        <p:sp>
          <p:nvSpPr>
            <p:cNvPr id="135" name="Rounded Rectangle 134">
              <a:extLst>
                <a:ext uri="{FF2B5EF4-FFF2-40B4-BE49-F238E27FC236}">
                  <a16:creationId xmlns:a16="http://schemas.microsoft.com/office/drawing/2014/main" id="{2EDA1F5B-4DB2-DDFA-096F-B0327B6B0E1D}"/>
                </a:ext>
              </a:extLst>
            </p:cNvPr>
            <p:cNvSpPr/>
            <p:nvPr/>
          </p:nvSpPr>
          <p:spPr>
            <a:xfrm>
              <a:off x="2519406" y="4829195"/>
              <a:ext cx="1366363" cy="1259770"/>
            </a:xfrm>
            <a:prstGeom prst="roundRect">
              <a:avLst/>
            </a:prstGeom>
            <a:solidFill>
              <a:schemeClr val="bg1">
                <a:lumMod val="95000"/>
              </a:schemeClr>
            </a:solid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BE"/>
            </a:p>
          </p:txBody>
        </p:sp>
        <p:pic>
          <p:nvPicPr>
            <p:cNvPr id="136" name="Graphic 135" descr="Decision chart outline">
              <a:extLst>
                <a:ext uri="{FF2B5EF4-FFF2-40B4-BE49-F238E27FC236}">
                  <a16:creationId xmlns:a16="http://schemas.microsoft.com/office/drawing/2014/main" id="{DB58B738-9B93-3ACF-3C54-B5FDE6C8771B}"/>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2615672" y="4872165"/>
              <a:ext cx="1173831" cy="1173831"/>
            </a:xfrm>
            <a:prstGeom prst="rect">
              <a:avLst/>
            </a:prstGeom>
          </p:spPr>
        </p:pic>
      </p:grpSp>
      <p:grpSp>
        <p:nvGrpSpPr>
          <p:cNvPr id="100" name="Group 99">
            <a:extLst>
              <a:ext uri="{FF2B5EF4-FFF2-40B4-BE49-F238E27FC236}">
                <a16:creationId xmlns:a16="http://schemas.microsoft.com/office/drawing/2014/main" id="{C22B64E1-6712-DC86-46FB-453C3892B421}"/>
              </a:ext>
            </a:extLst>
          </p:cNvPr>
          <p:cNvGrpSpPr>
            <a:grpSpLocks noChangeAspect="1"/>
          </p:cNvGrpSpPr>
          <p:nvPr/>
        </p:nvGrpSpPr>
        <p:grpSpPr>
          <a:xfrm>
            <a:off x="13543246" y="5102222"/>
            <a:ext cx="450000" cy="414895"/>
            <a:chOff x="8119062" y="2903708"/>
            <a:chExt cx="2085112" cy="1922448"/>
          </a:xfrm>
        </p:grpSpPr>
        <p:sp>
          <p:nvSpPr>
            <p:cNvPr id="104" name="Rounded Rectangle 103">
              <a:extLst>
                <a:ext uri="{FF2B5EF4-FFF2-40B4-BE49-F238E27FC236}">
                  <a16:creationId xmlns:a16="http://schemas.microsoft.com/office/drawing/2014/main" id="{2C2945EA-D164-D9C3-CE72-6FEA7F0B26D9}"/>
                </a:ext>
              </a:extLst>
            </p:cNvPr>
            <p:cNvSpPr/>
            <p:nvPr/>
          </p:nvSpPr>
          <p:spPr>
            <a:xfrm>
              <a:off x="8119062" y="2903708"/>
              <a:ext cx="2085112" cy="1922448"/>
            </a:xfrm>
            <a:prstGeom prst="roundRect">
              <a:avLst/>
            </a:prstGeom>
            <a:solidFill>
              <a:schemeClr val="bg1">
                <a:lumMod val="95000"/>
              </a:schemeClr>
            </a:solid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BE" dirty="0"/>
            </a:p>
          </p:txBody>
        </p:sp>
        <p:grpSp>
          <p:nvGrpSpPr>
            <p:cNvPr id="105" name="Group 104">
              <a:extLst>
                <a:ext uri="{FF2B5EF4-FFF2-40B4-BE49-F238E27FC236}">
                  <a16:creationId xmlns:a16="http://schemas.microsoft.com/office/drawing/2014/main" id="{04224586-5F8B-C6CF-B631-9F43CC8B96A7}"/>
                </a:ext>
              </a:extLst>
            </p:cNvPr>
            <p:cNvGrpSpPr/>
            <p:nvPr/>
          </p:nvGrpSpPr>
          <p:grpSpPr>
            <a:xfrm>
              <a:off x="8339159" y="3138112"/>
              <a:ext cx="1772251" cy="1473558"/>
              <a:chOff x="6383257" y="1250651"/>
              <a:chExt cx="1974694" cy="1641880"/>
            </a:xfrm>
          </p:grpSpPr>
          <p:sp>
            <p:nvSpPr>
              <p:cNvPr id="106" name="Freeform: Shape 77">
                <a:extLst>
                  <a:ext uri="{FF2B5EF4-FFF2-40B4-BE49-F238E27FC236}">
                    <a16:creationId xmlns:a16="http://schemas.microsoft.com/office/drawing/2014/main" id="{CBE13A4F-8A98-CBCB-E9BD-F4AF40736179}"/>
                  </a:ext>
                </a:extLst>
              </p:cNvPr>
              <p:cNvSpPr/>
              <p:nvPr/>
            </p:nvSpPr>
            <p:spPr>
              <a:xfrm>
                <a:off x="6505288" y="1372684"/>
                <a:ext cx="576876" cy="232968"/>
              </a:xfrm>
              <a:custGeom>
                <a:avLst/>
                <a:gdLst>
                  <a:gd name="connsiteX0" fmla="*/ -1 w 309562"/>
                  <a:gd name="connsiteY0" fmla="*/ 125016 h 125015"/>
                  <a:gd name="connsiteX1" fmla="*/ 309562 w 309562"/>
                  <a:gd name="connsiteY1" fmla="*/ 0 h 125015"/>
                </a:gdLst>
                <a:ahLst/>
                <a:cxnLst>
                  <a:cxn ang="0">
                    <a:pos x="connsiteX0" y="connsiteY0"/>
                  </a:cxn>
                  <a:cxn ang="0">
                    <a:pos x="connsiteX1" y="connsiteY1"/>
                  </a:cxn>
                </a:cxnLst>
                <a:rect l="l" t="t" r="r" b="b"/>
                <a:pathLst>
                  <a:path w="309562" h="125015">
                    <a:moveTo>
                      <a:pt x="-1" y="125016"/>
                    </a:moveTo>
                    <a:lnTo>
                      <a:pt x="309562" y="0"/>
                    </a:lnTo>
                  </a:path>
                </a:pathLst>
              </a:custGeom>
              <a:noFill/>
              <a:ln w="12700" cap="flat">
                <a:solidFill>
                  <a:srgbClr val="C6C6FF"/>
                </a:solidFill>
                <a:prstDash val="solid"/>
                <a:miter/>
              </a:ln>
            </p:spPr>
            <p:txBody>
              <a:bodyPr rtlCol="0" anchor="ctr"/>
              <a:lstStyle/>
              <a:p>
                <a:endParaRPr lang="en-US"/>
              </a:p>
            </p:txBody>
          </p:sp>
          <p:sp>
            <p:nvSpPr>
              <p:cNvPr id="107" name="Freeform: Shape 78">
                <a:extLst>
                  <a:ext uri="{FF2B5EF4-FFF2-40B4-BE49-F238E27FC236}">
                    <a16:creationId xmlns:a16="http://schemas.microsoft.com/office/drawing/2014/main" id="{DE11C59A-663F-85FD-4D9F-C48EE20356B6}"/>
                  </a:ext>
                </a:extLst>
              </p:cNvPr>
              <p:cNvSpPr/>
              <p:nvPr/>
            </p:nvSpPr>
            <p:spPr>
              <a:xfrm>
                <a:off x="6505288" y="1605652"/>
                <a:ext cx="576876" cy="698907"/>
              </a:xfrm>
              <a:custGeom>
                <a:avLst/>
                <a:gdLst>
                  <a:gd name="connsiteX0" fmla="*/ -1 w 309562"/>
                  <a:gd name="connsiteY0" fmla="*/ 0 h 375046"/>
                  <a:gd name="connsiteX1" fmla="*/ 309562 w 309562"/>
                  <a:gd name="connsiteY1" fmla="*/ 375047 h 375046"/>
                </a:gdLst>
                <a:ahLst/>
                <a:cxnLst>
                  <a:cxn ang="0">
                    <a:pos x="connsiteX0" y="connsiteY0"/>
                  </a:cxn>
                  <a:cxn ang="0">
                    <a:pos x="connsiteX1" y="connsiteY1"/>
                  </a:cxn>
                </a:cxnLst>
                <a:rect l="l" t="t" r="r" b="b"/>
                <a:pathLst>
                  <a:path w="309562" h="375046">
                    <a:moveTo>
                      <a:pt x="-1" y="0"/>
                    </a:moveTo>
                    <a:lnTo>
                      <a:pt x="309562" y="375047"/>
                    </a:lnTo>
                  </a:path>
                </a:pathLst>
              </a:custGeom>
              <a:noFill/>
              <a:ln w="12700" cap="flat">
                <a:solidFill>
                  <a:srgbClr val="7F7FFF"/>
                </a:solidFill>
                <a:prstDash val="solid"/>
                <a:miter/>
              </a:ln>
            </p:spPr>
            <p:txBody>
              <a:bodyPr rtlCol="0" anchor="ctr"/>
              <a:lstStyle/>
              <a:p>
                <a:endParaRPr lang="en-US"/>
              </a:p>
            </p:txBody>
          </p:sp>
          <p:sp>
            <p:nvSpPr>
              <p:cNvPr id="108" name="Freeform: Shape 81">
                <a:extLst>
                  <a:ext uri="{FF2B5EF4-FFF2-40B4-BE49-F238E27FC236}">
                    <a16:creationId xmlns:a16="http://schemas.microsoft.com/office/drawing/2014/main" id="{7B23FD6E-CE15-24B9-D13A-5ED5E66C649D}"/>
                  </a:ext>
                </a:extLst>
              </p:cNvPr>
              <p:cNvSpPr/>
              <p:nvPr/>
            </p:nvSpPr>
            <p:spPr>
              <a:xfrm>
                <a:off x="6505288" y="1838623"/>
                <a:ext cx="576876" cy="232968"/>
              </a:xfrm>
              <a:custGeom>
                <a:avLst/>
                <a:gdLst>
                  <a:gd name="connsiteX0" fmla="*/ -1 w 309562"/>
                  <a:gd name="connsiteY0" fmla="*/ 125016 h 125015"/>
                  <a:gd name="connsiteX1" fmla="*/ 309562 w 309562"/>
                  <a:gd name="connsiteY1" fmla="*/ 0 h 125015"/>
                </a:gdLst>
                <a:ahLst/>
                <a:cxnLst>
                  <a:cxn ang="0">
                    <a:pos x="connsiteX0" y="connsiteY0"/>
                  </a:cxn>
                  <a:cxn ang="0">
                    <a:pos x="connsiteX1" y="connsiteY1"/>
                  </a:cxn>
                </a:cxnLst>
                <a:rect l="l" t="t" r="r" b="b"/>
                <a:pathLst>
                  <a:path w="309562" h="125015">
                    <a:moveTo>
                      <a:pt x="-1" y="125016"/>
                    </a:moveTo>
                    <a:lnTo>
                      <a:pt x="309562" y="0"/>
                    </a:lnTo>
                  </a:path>
                </a:pathLst>
              </a:custGeom>
              <a:noFill/>
              <a:ln w="12700" cap="flat">
                <a:solidFill>
                  <a:srgbClr val="8A8AFF"/>
                </a:solidFill>
                <a:prstDash val="solid"/>
                <a:miter/>
              </a:ln>
            </p:spPr>
            <p:txBody>
              <a:bodyPr rtlCol="0" anchor="ctr"/>
              <a:lstStyle/>
              <a:p>
                <a:endParaRPr lang="en-US"/>
              </a:p>
            </p:txBody>
          </p:sp>
          <p:sp>
            <p:nvSpPr>
              <p:cNvPr id="109" name="Freeform: Shape 82">
                <a:extLst>
                  <a:ext uri="{FF2B5EF4-FFF2-40B4-BE49-F238E27FC236}">
                    <a16:creationId xmlns:a16="http://schemas.microsoft.com/office/drawing/2014/main" id="{EFB0184F-3D4F-FCF0-EB3E-F75735A4FF66}"/>
                  </a:ext>
                </a:extLst>
              </p:cNvPr>
              <p:cNvSpPr/>
              <p:nvPr/>
            </p:nvSpPr>
            <p:spPr>
              <a:xfrm>
                <a:off x="6505288" y="2071593"/>
                <a:ext cx="576876" cy="232968"/>
              </a:xfrm>
              <a:custGeom>
                <a:avLst/>
                <a:gdLst>
                  <a:gd name="connsiteX0" fmla="*/ -1 w 309562"/>
                  <a:gd name="connsiteY0" fmla="*/ 0 h 125015"/>
                  <a:gd name="connsiteX1" fmla="*/ 309562 w 309562"/>
                  <a:gd name="connsiteY1" fmla="*/ 125016 h 125015"/>
                </a:gdLst>
                <a:ahLst/>
                <a:cxnLst>
                  <a:cxn ang="0">
                    <a:pos x="connsiteX0" y="connsiteY0"/>
                  </a:cxn>
                  <a:cxn ang="0">
                    <a:pos x="connsiteX1" y="connsiteY1"/>
                  </a:cxn>
                </a:cxnLst>
                <a:rect l="l" t="t" r="r" b="b"/>
                <a:pathLst>
                  <a:path w="309562" h="125015">
                    <a:moveTo>
                      <a:pt x="-1" y="0"/>
                    </a:moveTo>
                    <a:lnTo>
                      <a:pt x="309562" y="125016"/>
                    </a:lnTo>
                  </a:path>
                </a:pathLst>
              </a:custGeom>
              <a:noFill/>
              <a:ln w="12700" cap="flat">
                <a:solidFill>
                  <a:srgbClr val="2828FF"/>
                </a:solidFill>
                <a:prstDash val="solid"/>
                <a:miter/>
              </a:ln>
            </p:spPr>
            <p:txBody>
              <a:bodyPr rtlCol="0" anchor="ctr"/>
              <a:lstStyle/>
              <a:p>
                <a:endParaRPr lang="en-US"/>
              </a:p>
            </p:txBody>
          </p:sp>
          <p:sp>
            <p:nvSpPr>
              <p:cNvPr id="110" name="Freeform: Shape 83">
                <a:extLst>
                  <a:ext uri="{FF2B5EF4-FFF2-40B4-BE49-F238E27FC236}">
                    <a16:creationId xmlns:a16="http://schemas.microsoft.com/office/drawing/2014/main" id="{4203EA60-3E19-85A7-645F-58F9BEE4B303}"/>
                  </a:ext>
                </a:extLst>
              </p:cNvPr>
              <p:cNvSpPr/>
              <p:nvPr/>
            </p:nvSpPr>
            <p:spPr>
              <a:xfrm>
                <a:off x="6505288" y="2071593"/>
                <a:ext cx="576876" cy="698907"/>
              </a:xfrm>
              <a:custGeom>
                <a:avLst/>
                <a:gdLst>
                  <a:gd name="connsiteX0" fmla="*/ -1 w 309562"/>
                  <a:gd name="connsiteY0" fmla="*/ 0 h 375046"/>
                  <a:gd name="connsiteX1" fmla="*/ 309562 w 309562"/>
                  <a:gd name="connsiteY1" fmla="*/ 375047 h 375046"/>
                </a:gdLst>
                <a:ahLst/>
                <a:cxnLst>
                  <a:cxn ang="0">
                    <a:pos x="connsiteX0" y="connsiteY0"/>
                  </a:cxn>
                  <a:cxn ang="0">
                    <a:pos x="connsiteX1" y="connsiteY1"/>
                  </a:cxn>
                </a:cxnLst>
                <a:rect l="l" t="t" r="r" b="b"/>
                <a:pathLst>
                  <a:path w="309562" h="375046">
                    <a:moveTo>
                      <a:pt x="-1" y="0"/>
                    </a:moveTo>
                    <a:lnTo>
                      <a:pt x="309562" y="375047"/>
                    </a:lnTo>
                  </a:path>
                </a:pathLst>
              </a:custGeom>
              <a:noFill/>
              <a:ln w="12700" cap="flat">
                <a:solidFill>
                  <a:srgbClr val="FFA2A2"/>
                </a:solidFill>
                <a:prstDash val="solid"/>
                <a:miter/>
              </a:ln>
            </p:spPr>
            <p:txBody>
              <a:bodyPr rtlCol="0" anchor="ctr"/>
              <a:lstStyle/>
              <a:p>
                <a:endParaRPr lang="en-US"/>
              </a:p>
            </p:txBody>
          </p:sp>
          <p:sp>
            <p:nvSpPr>
              <p:cNvPr id="111" name="Freeform: Shape 84">
                <a:extLst>
                  <a:ext uri="{FF2B5EF4-FFF2-40B4-BE49-F238E27FC236}">
                    <a16:creationId xmlns:a16="http://schemas.microsoft.com/office/drawing/2014/main" id="{EB395EDB-8999-55D0-7E41-AE8202C8A5DF}"/>
                  </a:ext>
                </a:extLst>
              </p:cNvPr>
              <p:cNvSpPr/>
              <p:nvPr/>
            </p:nvSpPr>
            <p:spPr>
              <a:xfrm>
                <a:off x="6505288" y="2304561"/>
                <a:ext cx="576876" cy="232968"/>
              </a:xfrm>
              <a:custGeom>
                <a:avLst/>
                <a:gdLst>
                  <a:gd name="connsiteX0" fmla="*/ -1 w 309562"/>
                  <a:gd name="connsiteY0" fmla="*/ 125016 h 125015"/>
                  <a:gd name="connsiteX1" fmla="*/ 309562 w 309562"/>
                  <a:gd name="connsiteY1" fmla="*/ 0 h 125015"/>
                </a:gdLst>
                <a:ahLst/>
                <a:cxnLst>
                  <a:cxn ang="0">
                    <a:pos x="connsiteX0" y="connsiteY0"/>
                  </a:cxn>
                  <a:cxn ang="0">
                    <a:pos x="connsiteX1" y="connsiteY1"/>
                  </a:cxn>
                </a:cxnLst>
                <a:rect l="l" t="t" r="r" b="b"/>
                <a:pathLst>
                  <a:path w="309562" h="125015">
                    <a:moveTo>
                      <a:pt x="-1" y="125016"/>
                    </a:moveTo>
                    <a:lnTo>
                      <a:pt x="309562" y="0"/>
                    </a:lnTo>
                  </a:path>
                </a:pathLst>
              </a:custGeom>
              <a:noFill/>
              <a:ln w="12700" cap="flat">
                <a:solidFill>
                  <a:srgbClr val="ACACFF"/>
                </a:solidFill>
                <a:prstDash val="solid"/>
                <a:miter/>
              </a:ln>
            </p:spPr>
            <p:txBody>
              <a:bodyPr rtlCol="0" anchor="ctr"/>
              <a:lstStyle/>
              <a:p>
                <a:endParaRPr lang="en-US"/>
              </a:p>
            </p:txBody>
          </p:sp>
          <p:sp>
            <p:nvSpPr>
              <p:cNvPr id="112" name="Freeform: Shape 85">
                <a:extLst>
                  <a:ext uri="{FF2B5EF4-FFF2-40B4-BE49-F238E27FC236}">
                    <a16:creationId xmlns:a16="http://schemas.microsoft.com/office/drawing/2014/main" id="{CC1FA87C-DC30-390F-3E8B-C14C7CF3EB5E}"/>
                  </a:ext>
                </a:extLst>
              </p:cNvPr>
              <p:cNvSpPr/>
              <p:nvPr/>
            </p:nvSpPr>
            <p:spPr>
              <a:xfrm>
                <a:off x="6505288" y="2537532"/>
                <a:ext cx="576876" cy="232968"/>
              </a:xfrm>
              <a:custGeom>
                <a:avLst/>
                <a:gdLst>
                  <a:gd name="connsiteX0" fmla="*/ -1 w 309562"/>
                  <a:gd name="connsiteY0" fmla="*/ 0 h 125015"/>
                  <a:gd name="connsiteX1" fmla="*/ 309562 w 309562"/>
                  <a:gd name="connsiteY1" fmla="*/ 125016 h 125015"/>
                </a:gdLst>
                <a:ahLst/>
                <a:cxnLst>
                  <a:cxn ang="0">
                    <a:pos x="connsiteX0" y="connsiteY0"/>
                  </a:cxn>
                  <a:cxn ang="0">
                    <a:pos x="connsiteX1" y="connsiteY1"/>
                  </a:cxn>
                </a:cxnLst>
                <a:rect l="l" t="t" r="r" b="b"/>
                <a:pathLst>
                  <a:path w="309562" h="125015">
                    <a:moveTo>
                      <a:pt x="-1" y="0"/>
                    </a:moveTo>
                    <a:lnTo>
                      <a:pt x="309562" y="125016"/>
                    </a:lnTo>
                  </a:path>
                </a:pathLst>
              </a:custGeom>
              <a:noFill/>
              <a:ln w="12700" cap="flat">
                <a:solidFill>
                  <a:srgbClr val="FF8D8D"/>
                </a:solidFill>
                <a:prstDash val="solid"/>
                <a:miter/>
              </a:ln>
            </p:spPr>
            <p:txBody>
              <a:bodyPr rtlCol="0" anchor="ctr"/>
              <a:lstStyle/>
              <a:p>
                <a:endParaRPr lang="en-US"/>
              </a:p>
            </p:txBody>
          </p:sp>
          <p:sp>
            <p:nvSpPr>
              <p:cNvPr id="113" name="Freeform: Shape 86">
                <a:extLst>
                  <a:ext uri="{FF2B5EF4-FFF2-40B4-BE49-F238E27FC236}">
                    <a16:creationId xmlns:a16="http://schemas.microsoft.com/office/drawing/2014/main" id="{613D779C-6FB1-F3BC-CB4D-5D4AF5828275}"/>
                  </a:ext>
                </a:extLst>
              </p:cNvPr>
              <p:cNvSpPr/>
              <p:nvPr/>
            </p:nvSpPr>
            <p:spPr>
              <a:xfrm>
                <a:off x="7082166" y="1372684"/>
                <a:ext cx="576876" cy="232968"/>
              </a:xfrm>
              <a:custGeom>
                <a:avLst/>
                <a:gdLst>
                  <a:gd name="connsiteX0" fmla="*/ -1 w 309562"/>
                  <a:gd name="connsiteY0" fmla="*/ 0 h 125015"/>
                  <a:gd name="connsiteX1" fmla="*/ 309562 w 309562"/>
                  <a:gd name="connsiteY1" fmla="*/ 125016 h 125015"/>
                </a:gdLst>
                <a:ahLst/>
                <a:cxnLst>
                  <a:cxn ang="0">
                    <a:pos x="connsiteX0" y="connsiteY0"/>
                  </a:cxn>
                  <a:cxn ang="0">
                    <a:pos x="connsiteX1" y="connsiteY1"/>
                  </a:cxn>
                </a:cxnLst>
                <a:rect l="l" t="t" r="r" b="b"/>
                <a:pathLst>
                  <a:path w="309562" h="125015">
                    <a:moveTo>
                      <a:pt x="-1" y="0"/>
                    </a:moveTo>
                    <a:lnTo>
                      <a:pt x="309562" y="125016"/>
                    </a:lnTo>
                  </a:path>
                </a:pathLst>
              </a:custGeom>
              <a:noFill/>
              <a:ln w="12700" cap="flat">
                <a:solidFill>
                  <a:srgbClr val="FF4747"/>
                </a:solidFill>
                <a:prstDash val="solid"/>
                <a:miter/>
              </a:ln>
            </p:spPr>
            <p:txBody>
              <a:bodyPr rtlCol="0" anchor="ctr"/>
              <a:lstStyle/>
              <a:p>
                <a:endParaRPr lang="en-US"/>
              </a:p>
            </p:txBody>
          </p:sp>
          <p:sp>
            <p:nvSpPr>
              <p:cNvPr id="114" name="Freeform: Shape 87">
                <a:extLst>
                  <a:ext uri="{FF2B5EF4-FFF2-40B4-BE49-F238E27FC236}">
                    <a16:creationId xmlns:a16="http://schemas.microsoft.com/office/drawing/2014/main" id="{F7ABC159-CA59-9E52-E988-79187A19C283}"/>
                  </a:ext>
                </a:extLst>
              </p:cNvPr>
              <p:cNvSpPr/>
              <p:nvPr/>
            </p:nvSpPr>
            <p:spPr>
              <a:xfrm>
                <a:off x="7082166" y="1372684"/>
                <a:ext cx="576876" cy="698907"/>
              </a:xfrm>
              <a:custGeom>
                <a:avLst/>
                <a:gdLst>
                  <a:gd name="connsiteX0" fmla="*/ -1 w 309562"/>
                  <a:gd name="connsiteY0" fmla="*/ 0 h 375046"/>
                  <a:gd name="connsiteX1" fmla="*/ 309562 w 309562"/>
                  <a:gd name="connsiteY1" fmla="*/ 375047 h 375046"/>
                </a:gdLst>
                <a:ahLst/>
                <a:cxnLst>
                  <a:cxn ang="0">
                    <a:pos x="connsiteX0" y="connsiteY0"/>
                  </a:cxn>
                  <a:cxn ang="0">
                    <a:pos x="connsiteX1" y="connsiteY1"/>
                  </a:cxn>
                </a:cxnLst>
                <a:rect l="l" t="t" r="r" b="b"/>
                <a:pathLst>
                  <a:path w="309562" h="375046">
                    <a:moveTo>
                      <a:pt x="-1" y="0"/>
                    </a:moveTo>
                    <a:lnTo>
                      <a:pt x="309562" y="375047"/>
                    </a:lnTo>
                  </a:path>
                </a:pathLst>
              </a:custGeom>
              <a:noFill/>
              <a:ln w="12700" cap="flat">
                <a:solidFill>
                  <a:srgbClr val="FF0C0C"/>
                </a:solidFill>
                <a:prstDash val="solid"/>
                <a:miter/>
              </a:ln>
            </p:spPr>
            <p:txBody>
              <a:bodyPr rtlCol="0" anchor="ctr"/>
              <a:lstStyle/>
              <a:p>
                <a:endParaRPr lang="en-US"/>
              </a:p>
            </p:txBody>
          </p:sp>
          <p:sp>
            <p:nvSpPr>
              <p:cNvPr id="115" name="Freeform: Shape 88">
                <a:extLst>
                  <a:ext uri="{FF2B5EF4-FFF2-40B4-BE49-F238E27FC236}">
                    <a16:creationId xmlns:a16="http://schemas.microsoft.com/office/drawing/2014/main" id="{82350B28-4366-2F58-58EA-DBB6EFBE1196}"/>
                  </a:ext>
                </a:extLst>
              </p:cNvPr>
              <p:cNvSpPr/>
              <p:nvPr/>
            </p:nvSpPr>
            <p:spPr>
              <a:xfrm>
                <a:off x="7082166" y="1605652"/>
                <a:ext cx="576876" cy="232968"/>
              </a:xfrm>
              <a:custGeom>
                <a:avLst/>
                <a:gdLst>
                  <a:gd name="connsiteX0" fmla="*/ -1 w 309562"/>
                  <a:gd name="connsiteY0" fmla="*/ 125016 h 125015"/>
                  <a:gd name="connsiteX1" fmla="*/ 309562 w 309562"/>
                  <a:gd name="connsiteY1" fmla="*/ 0 h 125015"/>
                </a:gdLst>
                <a:ahLst/>
                <a:cxnLst>
                  <a:cxn ang="0">
                    <a:pos x="connsiteX0" y="connsiteY0"/>
                  </a:cxn>
                  <a:cxn ang="0">
                    <a:pos x="connsiteX1" y="connsiteY1"/>
                  </a:cxn>
                </a:cxnLst>
                <a:rect l="l" t="t" r="r" b="b"/>
                <a:pathLst>
                  <a:path w="309562" h="125015">
                    <a:moveTo>
                      <a:pt x="-1" y="125016"/>
                    </a:moveTo>
                    <a:lnTo>
                      <a:pt x="309562" y="0"/>
                    </a:lnTo>
                  </a:path>
                </a:pathLst>
              </a:custGeom>
              <a:noFill/>
              <a:ln w="12700" cap="flat">
                <a:solidFill>
                  <a:srgbClr val="9393FF"/>
                </a:solidFill>
                <a:prstDash val="solid"/>
                <a:miter/>
              </a:ln>
            </p:spPr>
            <p:txBody>
              <a:bodyPr rtlCol="0" anchor="ctr"/>
              <a:lstStyle/>
              <a:p>
                <a:endParaRPr lang="en-US"/>
              </a:p>
            </p:txBody>
          </p:sp>
          <p:sp>
            <p:nvSpPr>
              <p:cNvPr id="116" name="Freeform: Shape 89">
                <a:extLst>
                  <a:ext uri="{FF2B5EF4-FFF2-40B4-BE49-F238E27FC236}">
                    <a16:creationId xmlns:a16="http://schemas.microsoft.com/office/drawing/2014/main" id="{43299CC7-10FC-1882-4D34-E34FF029CA05}"/>
                  </a:ext>
                </a:extLst>
              </p:cNvPr>
              <p:cNvSpPr/>
              <p:nvPr/>
            </p:nvSpPr>
            <p:spPr>
              <a:xfrm>
                <a:off x="7082166" y="1838623"/>
                <a:ext cx="576876" cy="232968"/>
              </a:xfrm>
              <a:custGeom>
                <a:avLst/>
                <a:gdLst>
                  <a:gd name="connsiteX0" fmla="*/ -1 w 309562"/>
                  <a:gd name="connsiteY0" fmla="*/ 0 h 125015"/>
                  <a:gd name="connsiteX1" fmla="*/ 309562 w 309562"/>
                  <a:gd name="connsiteY1" fmla="*/ 125016 h 125015"/>
                </a:gdLst>
                <a:ahLst/>
                <a:cxnLst>
                  <a:cxn ang="0">
                    <a:pos x="connsiteX0" y="connsiteY0"/>
                  </a:cxn>
                  <a:cxn ang="0">
                    <a:pos x="connsiteX1" y="connsiteY1"/>
                  </a:cxn>
                </a:cxnLst>
                <a:rect l="l" t="t" r="r" b="b"/>
                <a:pathLst>
                  <a:path w="309562" h="125015">
                    <a:moveTo>
                      <a:pt x="-1" y="0"/>
                    </a:moveTo>
                    <a:lnTo>
                      <a:pt x="309562" y="125016"/>
                    </a:lnTo>
                  </a:path>
                </a:pathLst>
              </a:custGeom>
              <a:noFill/>
              <a:ln w="12700" cap="flat">
                <a:solidFill>
                  <a:srgbClr val="FFBDBD"/>
                </a:solidFill>
                <a:prstDash val="solid"/>
                <a:miter/>
              </a:ln>
            </p:spPr>
            <p:txBody>
              <a:bodyPr rtlCol="0" anchor="ctr"/>
              <a:lstStyle/>
              <a:p>
                <a:endParaRPr lang="en-US"/>
              </a:p>
            </p:txBody>
          </p:sp>
          <p:sp>
            <p:nvSpPr>
              <p:cNvPr id="117" name="Freeform: Shape 90">
                <a:extLst>
                  <a:ext uri="{FF2B5EF4-FFF2-40B4-BE49-F238E27FC236}">
                    <a16:creationId xmlns:a16="http://schemas.microsoft.com/office/drawing/2014/main" id="{1D34E510-A2DE-F487-4D12-C84D3459F6CE}"/>
                  </a:ext>
                </a:extLst>
              </p:cNvPr>
              <p:cNvSpPr/>
              <p:nvPr/>
            </p:nvSpPr>
            <p:spPr>
              <a:xfrm>
                <a:off x="7082166" y="1605652"/>
                <a:ext cx="576876" cy="698907"/>
              </a:xfrm>
              <a:custGeom>
                <a:avLst/>
                <a:gdLst>
                  <a:gd name="connsiteX0" fmla="*/ -1 w 309562"/>
                  <a:gd name="connsiteY0" fmla="*/ 375047 h 375046"/>
                  <a:gd name="connsiteX1" fmla="*/ 309562 w 309562"/>
                  <a:gd name="connsiteY1" fmla="*/ 0 h 375046"/>
                </a:gdLst>
                <a:ahLst/>
                <a:cxnLst>
                  <a:cxn ang="0">
                    <a:pos x="connsiteX0" y="connsiteY0"/>
                  </a:cxn>
                  <a:cxn ang="0">
                    <a:pos x="connsiteX1" y="connsiteY1"/>
                  </a:cxn>
                </a:cxnLst>
                <a:rect l="l" t="t" r="r" b="b"/>
                <a:pathLst>
                  <a:path w="309562" h="375046">
                    <a:moveTo>
                      <a:pt x="-1" y="375047"/>
                    </a:moveTo>
                    <a:lnTo>
                      <a:pt x="309562" y="0"/>
                    </a:lnTo>
                  </a:path>
                </a:pathLst>
              </a:custGeom>
              <a:noFill/>
              <a:ln w="12700" cap="flat">
                <a:solidFill>
                  <a:srgbClr val="3131FF"/>
                </a:solidFill>
                <a:prstDash val="solid"/>
                <a:miter/>
              </a:ln>
            </p:spPr>
            <p:txBody>
              <a:bodyPr rtlCol="0" anchor="ctr"/>
              <a:lstStyle/>
              <a:p>
                <a:endParaRPr lang="en-US"/>
              </a:p>
            </p:txBody>
          </p:sp>
          <p:sp>
            <p:nvSpPr>
              <p:cNvPr id="118" name="Freeform: Shape 91">
                <a:extLst>
                  <a:ext uri="{FF2B5EF4-FFF2-40B4-BE49-F238E27FC236}">
                    <a16:creationId xmlns:a16="http://schemas.microsoft.com/office/drawing/2014/main" id="{3066BE09-9A54-469E-4E24-BC0015116013}"/>
                  </a:ext>
                </a:extLst>
              </p:cNvPr>
              <p:cNvSpPr/>
              <p:nvPr/>
            </p:nvSpPr>
            <p:spPr>
              <a:xfrm>
                <a:off x="7082166" y="2071593"/>
                <a:ext cx="576876" cy="232968"/>
              </a:xfrm>
              <a:custGeom>
                <a:avLst/>
                <a:gdLst>
                  <a:gd name="connsiteX0" fmla="*/ -1 w 309562"/>
                  <a:gd name="connsiteY0" fmla="*/ 125016 h 125015"/>
                  <a:gd name="connsiteX1" fmla="*/ 309562 w 309562"/>
                  <a:gd name="connsiteY1" fmla="*/ 0 h 125015"/>
                </a:gdLst>
                <a:ahLst/>
                <a:cxnLst>
                  <a:cxn ang="0">
                    <a:pos x="connsiteX0" y="connsiteY0"/>
                  </a:cxn>
                  <a:cxn ang="0">
                    <a:pos x="connsiteX1" y="connsiteY1"/>
                  </a:cxn>
                </a:cxnLst>
                <a:rect l="l" t="t" r="r" b="b"/>
                <a:pathLst>
                  <a:path w="309562" h="125015">
                    <a:moveTo>
                      <a:pt x="-1" y="125016"/>
                    </a:moveTo>
                    <a:lnTo>
                      <a:pt x="309562" y="0"/>
                    </a:lnTo>
                  </a:path>
                </a:pathLst>
              </a:custGeom>
              <a:noFill/>
              <a:ln w="12700" cap="flat">
                <a:solidFill>
                  <a:srgbClr val="9C9CFF"/>
                </a:solidFill>
                <a:prstDash val="solid"/>
                <a:miter/>
              </a:ln>
            </p:spPr>
            <p:txBody>
              <a:bodyPr rtlCol="0" anchor="ctr"/>
              <a:lstStyle/>
              <a:p>
                <a:endParaRPr lang="en-US"/>
              </a:p>
            </p:txBody>
          </p:sp>
          <p:sp>
            <p:nvSpPr>
              <p:cNvPr id="119" name="Freeform: Shape 92">
                <a:extLst>
                  <a:ext uri="{FF2B5EF4-FFF2-40B4-BE49-F238E27FC236}">
                    <a16:creationId xmlns:a16="http://schemas.microsoft.com/office/drawing/2014/main" id="{D6E50F2E-FCC6-D34C-7D68-AE94CBD9FC3E}"/>
                  </a:ext>
                </a:extLst>
              </p:cNvPr>
              <p:cNvSpPr/>
              <p:nvPr/>
            </p:nvSpPr>
            <p:spPr>
              <a:xfrm>
                <a:off x="7659042" y="1605652"/>
                <a:ext cx="576876" cy="465939"/>
              </a:xfrm>
              <a:custGeom>
                <a:avLst/>
                <a:gdLst>
                  <a:gd name="connsiteX0" fmla="*/ -1 w 309562"/>
                  <a:gd name="connsiteY0" fmla="*/ 0 h 250031"/>
                  <a:gd name="connsiteX1" fmla="*/ 309562 w 309562"/>
                  <a:gd name="connsiteY1" fmla="*/ 250031 h 250031"/>
                </a:gdLst>
                <a:ahLst/>
                <a:cxnLst>
                  <a:cxn ang="0">
                    <a:pos x="connsiteX0" y="connsiteY0"/>
                  </a:cxn>
                  <a:cxn ang="0">
                    <a:pos x="connsiteX1" y="connsiteY1"/>
                  </a:cxn>
                </a:cxnLst>
                <a:rect l="l" t="t" r="r" b="b"/>
                <a:pathLst>
                  <a:path w="309562" h="250031">
                    <a:moveTo>
                      <a:pt x="-1" y="0"/>
                    </a:moveTo>
                    <a:lnTo>
                      <a:pt x="309562" y="250031"/>
                    </a:lnTo>
                  </a:path>
                </a:pathLst>
              </a:custGeom>
              <a:noFill/>
              <a:ln w="12700" cap="flat">
                <a:solidFill>
                  <a:srgbClr val="FF7474"/>
                </a:solidFill>
                <a:prstDash val="solid"/>
                <a:miter/>
              </a:ln>
            </p:spPr>
            <p:txBody>
              <a:bodyPr rtlCol="0" anchor="ctr"/>
              <a:lstStyle/>
              <a:p>
                <a:endParaRPr lang="en-US"/>
              </a:p>
            </p:txBody>
          </p:sp>
          <p:sp>
            <p:nvSpPr>
              <p:cNvPr id="120" name="Freeform: Shape 93">
                <a:extLst>
                  <a:ext uri="{FF2B5EF4-FFF2-40B4-BE49-F238E27FC236}">
                    <a16:creationId xmlns:a16="http://schemas.microsoft.com/office/drawing/2014/main" id="{35AE1608-3A69-DF57-A381-B112FD1EA82B}"/>
                  </a:ext>
                </a:extLst>
              </p:cNvPr>
              <p:cNvSpPr/>
              <p:nvPr/>
            </p:nvSpPr>
            <p:spPr>
              <a:xfrm>
                <a:off x="7659042" y="2071593"/>
                <a:ext cx="576876" cy="11094"/>
              </a:xfrm>
              <a:custGeom>
                <a:avLst/>
                <a:gdLst>
                  <a:gd name="connsiteX0" fmla="*/ -1 w 309562"/>
                  <a:gd name="connsiteY0" fmla="*/ 0 h 5953"/>
                  <a:gd name="connsiteX1" fmla="*/ 309562 w 309562"/>
                  <a:gd name="connsiteY1" fmla="*/ 0 h 5953"/>
                </a:gdLst>
                <a:ahLst/>
                <a:cxnLst>
                  <a:cxn ang="0">
                    <a:pos x="connsiteX0" y="connsiteY0"/>
                  </a:cxn>
                  <a:cxn ang="0">
                    <a:pos x="connsiteX1" y="connsiteY1"/>
                  </a:cxn>
                </a:cxnLst>
                <a:rect l="l" t="t" r="r" b="b"/>
                <a:pathLst>
                  <a:path w="309562" h="5953">
                    <a:moveTo>
                      <a:pt x="-1" y="0"/>
                    </a:moveTo>
                    <a:lnTo>
                      <a:pt x="309562" y="0"/>
                    </a:lnTo>
                  </a:path>
                </a:pathLst>
              </a:custGeom>
              <a:noFill/>
              <a:ln w="12700" cap="flat">
                <a:solidFill>
                  <a:srgbClr val="FFCECE"/>
                </a:solidFill>
                <a:prstDash val="solid"/>
                <a:miter/>
              </a:ln>
            </p:spPr>
            <p:txBody>
              <a:bodyPr rtlCol="0" anchor="ctr"/>
              <a:lstStyle/>
              <a:p>
                <a:endParaRPr lang="en-US"/>
              </a:p>
            </p:txBody>
          </p:sp>
          <p:sp>
            <p:nvSpPr>
              <p:cNvPr id="121" name="Freeform: Shape 94">
                <a:extLst>
                  <a:ext uri="{FF2B5EF4-FFF2-40B4-BE49-F238E27FC236}">
                    <a16:creationId xmlns:a16="http://schemas.microsoft.com/office/drawing/2014/main" id="{93A4E5E0-971B-8632-0AC5-807594864F91}"/>
                  </a:ext>
                </a:extLst>
              </p:cNvPr>
              <p:cNvSpPr/>
              <p:nvPr/>
            </p:nvSpPr>
            <p:spPr>
              <a:xfrm>
                <a:off x="7082166" y="2304561"/>
                <a:ext cx="576876" cy="232968"/>
              </a:xfrm>
              <a:custGeom>
                <a:avLst/>
                <a:gdLst>
                  <a:gd name="connsiteX0" fmla="*/ -1 w 309562"/>
                  <a:gd name="connsiteY0" fmla="*/ 0 h 125015"/>
                  <a:gd name="connsiteX1" fmla="*/ 309562 w 309562"/>
                  <a:gd name="connsiteY1" fmla="*/ 125016 h 125015"/>
                </a:gdLst>
                <a:ahLst/>
                <a:cxnLst>
                  <a:cxn ang="0">
                    <a:pos x="connsiteX0" y="connsiteY0"/>
                  </a:cxn>
                  <a:cxn ang="0">
                    <a:pos x="connsiteX1" y="connsiteY1"/>
                  </a:cxn>
                </a:cxnLst>
                <a:rect l="l" t="t" r="r" b="b"/>
                <a:pathLst>
                  <a:path w="309562" h="125015">
                    <a:moveTo>
                      <a:pt x="-1" y="0"/>
                    </a:moveTo>
                    <a:lnTo>
                      <a:pt x="309562" y="125016"/>
                    </a:lnTo>
                  </a:path>
                </a:pathLst>
              </a:custGeom>
              <a:noFill/>
              <a:ln w="12700" cap="flat">
                <a:solidFill>
                  <a:srgbClr val="1F1FFF"/>
                </a:solidFill>
                <a:prstDash val="solid"/>
                <a:miter/>
              </a:ln>
            </p:spPr>
            <p:txBody>
              <a:bodyPr rtlCol="0" anchor="ctr"/>
              <a:lstStyle/>
              <a:p>
                <a:endParaRPr lang="en-US"/>
              </a:p>
            </p:txBody>
          </p:sp>
          <p:sp>
            <p:nvSpPr>
              <p:cNvPr id="122" name="Freeform: Shape 95">
                <a:extLst>
                  <a:ext uri="{FF2B5EF4-FFF2-40B4-BE49-F238E27FC236}">
                    <a16:creationId xmlns:a16="http://schemas.microsoft.com/office/drawing/2014/main" id="{A74EAE5C-B85C-EB96-D4D3-556CE24461CC}"/>
                  </a:ext>
                </a:extLst>
              </p:cNvPr>
              <p:cNvSpPr/>
              <p:nvPr/>
            </p:nvSpPr>
            <p:spPr>
              <a:xfrm>
                <a:off x="7082166" y="2537532"/>
                <a:ext cx="576876" cy="232968"/>
              </a:xfrm>
              <a:custGeom>
                <a:avLst/>
                <a:gdLst>
                  <a:gd name="connsiteX0" fmla="*/ -1 w 309562"/>
                  <a:gd name="connsiteY0" fmla="*/ 125016 h 125015"/>
                  <a:gd name="connsiteX1" fmla="*/ 309562 w 309562"/>
                  <a:gd name="connsiteY1" fmla="*/ 0 h 125015"/>
                </a:gdLst>
                <a:ahLst/>
                <a:cxnLst>
                  <a:cxn ang="0">
                    <a:pos x="connsiteX0" y="connsiteY0"/>
                  </a:cxn>
                  <a:cxn ang="0">
                    <a:pos x="connsiteX1" y="connsiteY1"/>
                  </a:cxn>
                </a:cxnLst>
                <a:rect l="l" t="t" r="r" b="b"/>
                <a:pathLst>
                  <a:path w="309562" h="125015">
                    <a:moveTo>
                      <a:pt x="-1" y="125016"/>
                    </a:moveTo>
                    <a:lnTo>
                      <a:pt x="309562" y="0"/>
                    </a:lnTo>
                  </a:path>
                </a:pathLst>
              </a:custGeom>
              <a:noFill/>
              <a:ln w="12700" cap="flat">
                <a:solidFill>
                  <a:srgbClr val="B5B5FF"/>
                </a:solidFill>
                <a:prstDash val="solid"/>
                <a:miter/>
              </a:ln>
            </p:spPr>
            <p:txBody>
              <a:bodyPr rtlCol="0" anchor="ctr"/>
              <a:lstStyle/>
              <a:p>
                <a:endParaRPr lang="en-US"/>
              </a:p>
            </p:txBody>
          </p:sp>
          <p:sp>
            <p:nvSpPr>
              <p:cNvPr id="123" name="Freeform: Shape 96">
                <a:extLst>
                  <a:ext uri="{FF2B5EF4-FFF2-40B4-BE49-F238E27FC236}">
                    <a16:creationId xmlns:a16="http://schemas.microsoft.com/office/drawing/2014/main" id="{010AA6AE-16C5-3D60-3D5A-B7CD4550DFE2}"/>
                  </a:ext>
                </a:extLst>
              </p:cNvPr>
              <p:cNvSpPr/>
              <p:nvPr/>
            </p:nvSpPr>
            <p:spPr>
              <a:xfrm>
                <a:off x="7659042" y="2071593"/>
                <a:ext cx="576876" cy="465939"/>
              </a:xfrm>
              <a:custGeom>
                <a:avLst/>
                <a:gdLst>
                  <a:gd name="connsiteX0" fmla="*/ -1 w 309562"/>
                  <a:gd name="connsiteY0" fmla="*/ 250031 h 250031"/>
                  <a:gd name="connsiteX1" fmla="*/ 309562 w 309562"/>
                  <a:gd name="connsiteY1" fmla="*/ 0 h 250031"/>
                </a:gdLst>
                <a:ahLst/>
                <a:cxnLst>
                  <a:cxn ang="0">
                    <a:pos x="connsiteX0" y="connsiteY0"/>
                  </a:cxn>
                  <a:cxn ang="0">
                    <a:pos x="connsiteX1" y="connsiteY1"/>
                  </a:cxn>
                </a:cxnLst>
                <a:rect l="l" t="t" r="r" b="b"/>
                <a:pathLst>
                  <a:path w="309562" h="250031">
                    <a:moveTo>
                      <a:pt x="-1" y="250031"/>
                    </a:moveTo>
                    <a:lnTo>
                      <a:pt x="309562" y="0"/>
                    </a:lnTo>
                  </a:path>
                </a:pathLst>
              </a:custGeom>
              <a:noFill/>
              <a:ln w="12700" cap="flat">
                <a:solidFill>
                  <a:srgbClr val="FF6C6C"/>
                </a:solidFill>
                <a:prstDash val="solid"/>
                <a:miter/>
              </a:ln>
            </p:spPr>
            <p:txBody>
              <a:bodyPr rtlCol="0" anchor="ctr"/>
              <a:lstStyle/>
              <a:p>
                <a:endParaRPr lang="en-US"/>
              </a:p>
            </p:txBody>
          </p:sp>
          <p:sp>
            <p:nvSpPr>
              <p:cNvPr id="124" name="Freeform: Shape 97">
                <a:extLst>
                  <a:ext uri="{FF2B5EF4-FFF2-40B4-BE49-F238E27FC236}">
                    <a16:creationId xmlns:a16="http://schemas.microsoft.com/office/drawing/2014/main" id="{F85B6409-1FA7-DCDF-CAC1-7FAFEAB4D737}"/>
                  </a:ext>
                </a:extLst>
              </p:cNvPr>
              <p:cNvSpPr/>
              <p:nvPr/>
            </p:nvSpPr>
            <p:spPr>
              <a:xfrm>
                <a:off x="6383257" y="1483621"/>
                <a:ext cx="244062" cy="244062"/>
              </a:xfrm>
              <a:custGeom>
                <a:avLst/>
                <a:gdLst>
                  <a:gd name="connsiteX0" fmla="*/ 130968 w 130968"/>
                  <a:gd name="connsiteY0" fmla="*/ 65484 h 130968"/>
                  <a:gd name="connsiteX1" fmla="*/ 65483 w 130968"/>
                  <a:gd name="connsiteY1" fmla="*/ 130969 h 130968"/>
                  <a:gd name="connsiteX2" fmla="*/ -1 w 130968"/>
                  <a:gd name="connsiteY2" fmla="*/ 65484 h 130968"/>
                  <a:gd name="connsiteX3" fmla="*/ 65483 w 130968"/>
                  <a:gd name="connsiteY3" fmla="*/ 0 h 130968"/>
                  <a:gd name="connsiteX4" fmla="*/ 130968 w 130968"/>
                  <a:gd name="connsiteY4" fmla="*/ 65484 h 13096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0968" h="130968">
                    <a:moveTo>
                      <a:pt x="130968" y="65484"/>
                    </a:moveTo>
                    <a:cubicBezTo>
                      <a:pt x="130968" y="101650"/>
                      <a:pt x="101649" y="130969"/>
                      <a:pt x="65483" y="130969"/>
                    </a:cubicBezTo>
                    <a:cubicBezTo>
                      <a:pt x="29317" y="130969"/>
                      <a:pt x="-1" y="101650"/>
                      <a:pt x="-1" y="65484"/>
                    </a:cubicBezTo>
                    <a:cubicBezTo>
                      <a:pt x="-1" y="29318"/>
                      <a:pt x="29317" y="0"/>
                      <a:pt x="65483" y="0"/>
                    </a:cubicBezTo>
                    <a:cubicBezTo>
                      <a:pt x="101649" y="0"/>
                      <a:pt x="130968" y="29318"/>
                      <a:pt x="130968" y="65484"/>
                    </a:cubicBezTo>
                    <a:close/>
                  </a:path>
                </a:pathLst>
              </a:custGeom>
              <a:solidFill>
                <a:srgbClr val="FFFFFF"/>
              </a:solidFill>
              <a:ln w="12700" cap="flat">
                <a:solidFill>
                  <a:srgbClr val="333333"/>
                </a:solidFill>
                <a:prstDash val="solid"/>
                <a:miter/>
              </a:ln>
            </p:spPr>
            <p:txBody>
              <a:bodyPr rtlCol="0" anchor="ctr"/>
              <a:lstStyle/>
              <a:p>
                <a:endParaRPr lang="en-US"/>
              </a:p>
            </p:txBody>
          </p:sp>
          <p:sp>
            <p:nvSpPr>
              <p:cNvPr id="125" name="Freeform: Shape 98">
                <a:extLst>
                  <a:ext uri="{FF2B5EF4-FFF2-40B4-BE49-F238E27FC236}">
                    <a16:creationId xmlns:a16="http://schemas.microsoft.com/office/drawing/2014/main" id="{7BD3429F-499D-BD71-9D24-475243A73131}"/>
                  </a:ext>
                </a:extLst>
              </p:cNvPr>
              <p:cNvSpPr/>
              <p:nvPr/>
            </p:nvSpPr>
            <p:spPr>
              <a:xfrm>
                <a:off x="6383257" y="1949560"/>
                <a:ext cx="244062" cy="244062"/>
              </a:xfrm>
              <a:custGeom>
                <a:avLst/>
                <a:gdLst>
                  <a:gd name="connsiteX0" fmla="*/ 130968 w 130968"/>
                  <a:gd name="connsiteY0" fmla="*/ 65484 h 130968"/>
                  <a:gd name="connsiteX1" fmla="*/ 65483 w 130968"/>
                  <a:gd name="connsiteY1" fmla="*/ 130969 h 130968"/>
                  <a:gd name="connsiteX2" fmla="*/ -1 w 130968"/>
                  <a:gd name="connsiteY2" fmla="*/ 65484 h 130968"/>
                  <a:gd name="connsiteX3" fmla="*/ 65483 w 130968"/>
                  <a:gd name="connsiteY3" fmla="*/ 0 h 130968"/>
                  <a:gd name="connsiteX4" fmla="*/ 130968 w 130968"/>
                  <a:gd name="connsiteY4" fmla="*/ 65484 h 13096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0968" h="130968">
                    <a:moveTo>
                      <a:pt x="130968" y="65484"/>
                    </a:moveTo>
                    <a:cubicBezTo>
                      <a:pt x="130968" y="101650"/>
                      <a:pt x="101649" y="130969"/>
                      <a:pt x="65483" y="130969"/>
                    </a:cubicBezTo>
                    <a:cubicBezTo>
                      <a:pt x="29317" y="130969"/>
                      <a:pt x="-1" y="101650"/>
                      <a:pt x="-1" y="65484"/>
                    </a:cubicBezTo>
                    <a:cubicBezTo>
                      <a:pt x="-1" y="29318"/>
                      <a:pt x="29317" y="0"/>
                      <a:pt x="65483" y="0"/>
                    </a:cubicBezTo>
                    <a:cubicBezTo>
                      <a:pt x="101649" y="0"/>
                      <a:pt x="130968" y="29318"/>
                      <a:pt x="130968" y="65484"/>
                    </a:cubicBezTo>
                    <a:close/>
                  </a:path>
                </a:pathLst>
              </a:custGeom>
              <a:solidFill>
                <a:srgbClr val="FFFFFF"/>
              </a:solidFill>
              <a:ln w="12700" cap="flat">
                <a:solidFill>
                  <a:srgbClr val="333333"/>
                </a:solidFill>
                <a:prstDash val="solid"/>
                <a:miter/>
              </a:ln>
            </p:spPr>
            <p:txBody>
              <a:bodyPr rtlCol="0" anchor="ctr"/>
              <a:lstStyle/>
              <a:p>
                <a:endParaRPr lang="en-US"/>
              </a:p>
            </p:txBody>
          </p:sp>
          <p:sp>
            <p:nvSpPr>
              <p:cNvPr id="126" name="Freeform: Shape 99">
                <a:extLst>
                  <a:ext uri="{FF2B5EF4-FFF2-40B4-BE49-F238E27FC236}">
                    <a16:creationId xmlns:a16="http://schemas.microsoft.com/office/drawing/2014/main" id="{19A8D0A8-7F2F-6345-29F2-25480C3FD1E0}"/>
                  </a:ext>
                </a:extLst>
              </p:cNvPr>
              <p:cNvSpPr/>
              <p:nvPr/>
            </p:nvSpPr>
            <p:spPr>
              <a:xfrm>
                <a:off x="6383257" y="2415501"/>
                <a:ext cx="244062" cy="244062"/>
              </a:xfrm>
              <a:custGeom>
                <a:avLst/>
                <a:gdLst>
                  <a:gd name="connsiteX0" fmla="*/ 130968 w 130968"/>
                  <a:gd name="connsiteY0" fmla="*/ 65484 h 130968"/>
                  <a:gd name="connsiteX1" fmla="*/ 65483 w 130968"/>
                  <a:gd name="connsiteY1" fmla="*/ 130969 h 130968"/>
                  <a:gd name="connsiteX2" fmla="*/ -1 w 130968"/>
                  <a:gd name="connsiteY2" fmla="*/ 65484 h 130968"/>
                  <a:gd name="connsiteX3" fmla="*/ 65483 w 130968"/>
                  <a:gd name="connsiteY3" fmla="*/ 0 h 130968"/>
                  <a:gd name="connsiteX4" fmla="*/ 130968 w 130968"/>
                  <a:gd name="connsiteY4" fmla="*/ 65484 h 13096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0968" h="130968">
                    <a:moveTo>
                      <a:pt x="130968" y="65484"/>
                    </a:moveTo>
                    <a:cubicBezTo>
                      <a:pt x="130968" y="101650"/>
                      <a:pt x="101649" y="130969"/>
                      <a:pt x="65483" y="130969"/>
                    </a:cubicBezTo>
                    <a:cubicBezTo>
                      <a:pt x="29317" y="130969"/>
                      <a:pt x="-1" y="101650"/>
                      <a:pt x="-1" y="65484"/>
                    </a:cubicBezTo>
                    <a:cubicBezTo>
                      <a:pt x="-1" y="29318"/>
                      <a:pt x="29317" y="0"/>
                      <a:pt x="65483" y="0"/>
                    </a:cubicBezTo>
                    <a:cubicBezTo>
                      <a:pt x="101649" y="0"/>
                      <a:pt x="130968" y="29318"/>
                      <a:pt x="130968" y="65484"/>
                    </a:cubicBezTo>
                    <a:close/>
                  </a:path>
                </a:pathLst>
              </a:custGeom>
              <a:solidFill>
                <a:srgbClr val="FFFFFF"/>
              </a:solidFill>
              <a:ln w="12700" cap="flat">
                <a:solidFill>
                  <a:srgbClr val="333333"/>
                </a:solidFill>
                <a:prstDash val="solid"/>
                <a:miter/>
              </a:ln>
            </p:spPr>
            <p:txBody>
              <a:bodyPr rtlCol="0" anchor="ctr"/>
              <a:lstStyle/>
              <a:p>
                <a:endParaRPr lang="en-US"/>
              </a:p>
            </p:txBody>
          </p:sp>
          <p:sp>
            <p:nvSpPr>
              <p:cNvPr id="127" name="Freeform: Shape 100">
                <a:extLst>
                  <a:ext uri="{FF2B5EF4-FFF2-40B4-BE49-F238E27FC236}">
                    <a16:creationId xmlns:a16="http://schemas.microsoft.com/office/drawing/2014/main" id="{B35E1EFA-E6C0-0C7C-3005-C4157F3E8093}"/>
                  </a:ext>
                </a:extLst>
              </p:cNvPr>
              <p:cNvSpPr/>
              <p:nvPr/>
            </p:nvSpPr>
            <p:spPr>
              <a:xfrm>
                <a:off x="6960135" y="1250651"/>
                <a:ext cx="244062" cy="244062"/>
              </a:xfrm>
              <a:custGeom>
                <a:avLst/>
                <a:gdLst>
                  <a:gd name="connsiteX0" fmla="*/ 130968 w 130968"/>
                  <a:gd name="connsiteY0" fmla="*/ 65484 h 130968"/>
                  <a:gd name="connsiteX1" fmla="*/ 65483 w 130968"/>
                  <a:gd name="connsiteY1" fmla="*/ 130969 h 130968"/>
                  <a:gd name="connsiteX2" fmla="*/ -1 w 130968"/>
                  <a:gd name="connsiteY2" fmla="*/ 65484 h 130968"/>
                  <a:gd name="connsiteX3" fmla="*/ 65483 w 130968"/>
                  <a:gd name="connsiteY3" fmla="*/ 0 h 130968"/>
                  <a:gd name="connsiteX4" fmla="*/ 130968 w 130968"/>
                  <a:gd name="connsiteY4" fmla="*/ 65484 h 13096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0968" h="130968">
                    <a:moveTo>
                      <a:pt x="130968" y="65484"/>
                    </a:moveTo>
                    <a:cubicBezTo>
                      <a:pt x="130968" y="101650"/>
                      <a:pt x="101649" y="130969"/>
                      <a:pt x="65483" y="130969"/>
                    </a:cubicBezTo>
                    <a:cubicBezTo>
                      <a:pt x="29317" y="130969"/>
                      <a:pt x="-1" y="101650"/>
                      <a:pt x="-1" y="65484"/>
                    </a:cubicBezTo>
                    <a:cubicBezTo>
                      <a:pt x="-1" y="29318"/>
                      <a:pt x="29317" y="0"/>
                      <a:pt x="65483" y="0"/>
                    </a:cubicBezTo>
                    <a:cubicBezTo>
                      <a:pt x="101649" y="0"/>
                      <a:pt x="130968" y="29318"/>
                      <a:pt x="130968" y="65484"/>
                    </a:cubicBezTo>
                    <a:close/>
                  </a:path>
                </a:pathLst>
              </a:custGeom>
              <a:solidFill>
                <a:srgbClr val="FFFFFF"/>
              </a:solidFill>
              <a:ln w="12700" cap="flat">
                <a:solidFill>
                  <a:srgbClr val="333333"/>
                </a:solidFill>
                <a:prstDash val="solid"/>
                <a:miter/>
              </a:ln>
            </p:spPr>
            <p:txBody>
              <a:bodyPr rtlCol="0" anchor="ctr"/>
              <a:lstStyle/>
              <a:p>
                <a:endParaRPr lang="en-US"/>
              </a:p>
            </p:txBody>
          </p:sp>
          <p:sp>
            <p:nvSpPr>
              <p:cNvPr id="128" name="Freeform: Shape 101">
                <a:extLst>
                  <a:ext uri="{FF2B5EF4-FFF2-40B4-BE49-F238E27FC236}">
                    <a16:creationId xmlns:a16="http://schemas.microsoft.com/office/drawing/2014/main" id="{1849A018-5C74-1862-2DDD-E7DDB0B8294A}"/>
                  </a:ext>
                </a:extLst>
              </p:cNvPr>
              <p:cNvSpPr/>
              <p:nvPr/>
            </p:nvSpPr>
            <p:spPr>
              <a:xfrm>
                <a:off x="6960135" y="1716592"/>
                <a:ext cx="244062" cy="244062"/>
              </a:xfrm>
              <a:custGeom>
                <a:avLst/>
                <a:gdLst>
                  <a:gd name="connsiteX0" fmla="*/ 130968 w 130968"/>
                  <a:gd name="connsiteY0" fmla="*/ 65484 h 130968"/>
                  <a:gd name="connsiteX1" fmla="*/ 65483 w 130968"/>
                  <a:gd name="connsiteY1" fmla="*/ 130969 h 130968"/>
                  <a:gd name="connsiteX2" fmla="*/ -1 w 130968"/>
                  <a:gd name="connsiteY2" fmla="*/ 65484 h 130968"/>
                  <a:gd name="connsiteX3" fmla="*/ 65483 w 130968"/>
                  <a:gd name="connsiteY3" fmla="*/ 0 h 130968"/>
                  <a:gd name="connsiteX4" fmla="*/ 130968 w 130968"/>
                  <a:gd name="connsiteY4" fmla="*/ 65484 h 13096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0968" h="130968">
                    <a:moveTo>
                      <a:pt x="130968" y="65484"/>
                    </a:moveTo>
                    <a:cubicBezTo>
                      <a:pt x="130968" y="101650"/>
                      <a:pt x="101649" y="130969"/>
                      <a:pt x="65483" y="130969"/>
                    </a:cubicBezTo>
                    <a:cubicBezTo>
                      <a:pt x="29317" y="130969"/>
                      <a:pt x="-1" y="101650"/>
                      <a:pt x="-1" y="65484"/>
                    </a:cubicBezTo>
                    <a:cubicBezTo>
                      <a:pt x="-1" y="29318"/>
                      <a:pt x="29317" y="0"/>
                      <a:pt x="65483" y="0"/>
                    </a:cubicBezTo>
                    <a:cubicBezTo>
                      <a:pt x="101649" y="0"/>
                      <a:pt x="130968" y="29318"/>
                      <a:pt x="130968" y="65484"/>
                    </a:cubicBezTo>
                    <a:close/>
                  </a:path>
                </a:pathLst>
              </a:custGeom>
              <a:solidFill>
                <a:srgbClr val="FFFFFF"/>
              </a:solidFill>
              <a:ln w="12700" cap="flat">
                <a:solidFill>
                  <a:srgbClr val="333333"/>
                </a:solidFill>
                <a:prstDash val="solid"/>
                <a:miter/>
              </a:ln>
            </p:spPr>
            <p:txBody>
              <a:bodyPr rtlCol="0" anchor="ctr"/>
              <a:lstStyle/>
              <a:p>
                <a:endParaRPr lang="en-US"/>
              </a:p>
            </p:txBody>
          </p:sp>
          <p:sp>
            <p:nvSpPr>
              <p:cNvPr id="129" name="Freeform: Shape 102">
                <a:extLst>
                  <a:ext uri="{FF2B5EF4-FFF2-40B4-BE49-F238E27FC236}">
                    <a16:creationId xmlns:a16="http://schemas.microsoft.com/office/drawing/2014/main" id="{D48B2454-A40B-DE91-BECE-3C4E68F4C978}"/>
                  </a:ext>
                </a:extLst>
              </p:cNvPr>
              <p:cNvSpPr/>
              <p:nvPr/>
            </p:nvSpPr>
            <p:spPr>
              <a:xfrm>
                <a:off x="6960135" y="2182530"/>
                <a:ext cx="244062" cy="244062"/>
              </a:xfrm>
              <a:custGeom>
                <a:avLst/>
                <a:gdLst>
                  <a:gd name="connsiteX0" fmla="*/ 130968 w 130968"/>
                  <a:gd name="connsiteY0" fmla="*/ 65484 h 130968"/>
                  <a:gd name="connsiteX1" fmla="*/ 65483 w 130968"/>
                  <a:gd name="connsiteY1" fmla="*/ 130969 h 130968"/>
                  <a:gd name="connsiteX2" fmla="*/ -1 w 130968"/>
                  <a:gd name="connsiteY2" fmla="*/ 65484 h 130968"/>
                  <a:gd name="connsiteX3" fmla="*/ 65483 w 130968"/>
                  <a:gd name="connsiteY3" fmla="*/ 0 h 130968"/>
                  <a:gd name="connsiteX4" fmla="*/ 130968 w 130968"/>
                  <a:gd name="connsiteY4" fmla="*/ 65484 h 13096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0968" h="130968">
                    <a:moveTo>
                      <a:pt x="130968" y="65484"/>
                    </a:moveTo>
                    <a:cubicBezTo>
                      <a:pt x="130968" y="101650"/>
                      <a:pt x="101649" y="130969"/>
                      <a:pt x="65483" y="130969"/>
                    </a:cubicBezTo>
                    <a:cubicBezTo>
                      <a:pt x="29317" y="130969"/>
                      <a:pt x="-1" y="101650"/>
                      <a:pt x="-1" y="65484"/>
                    </a:cubicBezTo>
                    <a:cubicBezTo>
                      <a:pt x="-1" y="29318"/>
                      <a:pt x="29317" y="0"/>
                      <a:pt x="65483" y="0"/>
                    </a:cubicBezTo>
                    <a:cubicBezTo>
                      <a:pt x="101649" y="0"/>
                      <a:pt x="130968" y="29318"/>
                      <a:pt x="130968" y="65484"/>
                    </a:cubicBezTo>
                    <a:close/>
                  </a:path>
                </a:pathLst>
              </a:custGeom>
              <a:solidFill>
                <a:srgbClr val="FFFFFF"/>
              </a:solidFill>
              <a:ln w="12700" cap="flat">
                <a:solidFill>
                  <a:srgbClr val="333333"/>
                </a:solidFill>
                <a:prstDash val="solid"/>
                <a:miter/>
              </a:ln>
            </p:spPr>
            <p:txBody>
              <a:bodyPr rtlCol="0" anchor="ctr"/>
              <a:lstStyle/>
              <a:p>
                <a:endParaRPr lang="en-US"/>
              </a:p>
            </p:txBody>
          </p:sp>
          <p:sp>
            <p:nvSpPr>
              <p:cNvPr id="130" name="Freeform: Shape 103">
                <a:extLst>
                  <a:ext uri="{FF2B5EF4-FFF2-40B4-BE49-F238E27FC236}">
                    <a16:creationId xmlns:a16="http://schemas.microsoft.com/office/drawing/2014/main" id="{8B1D40FE-DB20-626B-2408-EC85DA0E03E6}"/>
                  </a:ext>
                </a:extLst>
              </p:cNvPr>
              <p:cNvSpPr/>
              <p:nvPr/>
            </p:nvSpPr>
            <p:spPr>
              <a:xfrm>
                <a:off x="6960135" y="2648469"/>
                <a:ext cx="244062" cy="244062"/>
              </a:xfrm>
              <a:custGeom>
                <a:avLst/>
                <a:gdLst>
                  <a:gd name="connsiteX0" fmla="*/ 130968 w 130968"/>
                  <a:gd name="connsiteY0" fmla="*/ 65484 h 130968"/>
                  <a:gd name="connsiteX1" fmla="*/ 65483 w 130968"/>
                  <a:gd name="connsiteY1" fmla="*/ 130969 h 130968"/>
                  <a:gd name="connsiteX2" fmla="*/ -1 w 130968"/>
                  <a:gd name="connsiteY2" fmla="*/ 65484 h 130968"/>
                  <a:gd name="connsiteX3" fmla="*/ 65483 w 130968"/>
                  <a:gd name="connsiteY3" fmla="*/ 0 h 130968"/>
                  <a:gd name="connsiteX4" fmla="*/ 130968 w 130968"/>
                  <a:gd name="connsiteY4" fmla="*/ 65484 h 13096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0968" h="130968">
                    <a:moveTo>
                      <a:pt x="130968" y="65484"/>
                    </a:moveTo>
                    <a:cubicBezTo>
                      <a:pt x="130968" y="101650"/>
                      <a:pt x="101649" y="130969"/>
                      <a:pt x="65483" y="130969"/>
                    </a:cubicBezTo>
                    <a:cubicBezTo>
                      <a:pt x="29317" y="130969"/>
                      <a:pt x="-1" y="101650"/>
                      <a:pt x="-1" y="65484"/>
                    </a:cubicBezTo>
                    <a:cubicBezTo>
                      <a:pt x="-1" y="29318"/>
                      <a:pt x="29317" y="0"/>
                      <a:pt x="65483" y="0"/>
                    </a:cubicBezTo>
                    <a:cubicBezTo>
                      <a:pt x="101649" y="0"/>
                      <a:pt x="130968" y="29318"/>
                      <a:pt x="130968" y="65484"/>
                    </a:cubicBezTo>
                    <a:close/>
                  </a:path>
                </a:pathLst>
              </a:custGeom>
              <a:solidFill>
                <a:srgbClr val="FFFFFF"/>
              </a:solidFill>
              <a:ln w="12700" cap="flat">
                <a:solidFill>
                  <a:srgbClr val="333333"/>
                </a:solidFill>
                <a:prstDash val="solid"/>
                <a:miter/>
              </a:ln>
            </p:spPr>
            <p:txBody>
              <a:bodyPr rtlCol="0" anchor="ctr"/>
              <a:lstStyle/>
              <a:p>
                <a:endParaRPr lang="en-US"/>
              </a:p>
            </p:txBody>
          </p:sp>
          <p:sp>
            <p:nvSpPr>
              <p:cNvPr id="131" name="Freeform: Shape 104">
                <a:extLst>
                  <a:ext uri="{FF2B5EF4-FFF2-40B4-BE49-F238E27FC236}">
                    <a16:creationId xmlns:a16="http://schemas.microsoft.com/office/drawing/2014/main" id="{A8579DF4-402B-ACDF-FAF5-539B6A0A3A76}"/>
                  </a:ext>
                </a:extLst>
              </p:cNvPr>
              <p:cNvSpPr/>
              <p:nvPr/>
            </p:nvSpPr>
            <p:spPr>
              <a:xfrm>
                <a:off x="7537011" y="1483621"/>
                <a:ext cx="244062" cy="244062"/>
              </a:xfrm>
              <a:custGeom>
                <a:avLst/>
                <a:gdLst>
                  <a:gd name="connsiteX0" fmla="*/ 130968 w 130968"/>
                  <a:gd name="connsiteY0" fmla="*/ 65484 h 130968"/>
                  <a:gd name="connsiteX1" fmla="*/ 65483 w 130968"/>
                  <a:gd name="connsiteY1" fmla="*/ 130969 h 130968"/>
                  <a:gd name="connsiteX2" fmla="*/ -1 w 130968"/>
                  <a:gd name="connsiteY2" fmla="*/ 65484 h 130968"/>
                  <a:gd name="connsiteX3" fmla="*/ 65483 w 130968"/>
                  <a:gd name="connsiteY3" fmla="*/ 0 h 130968"/>
                  <a:gd name="connsiteX4" fmla="*/ 130968 w 130968"/>
                  <a:gd name="connsiteY4" fmla="*/ 65484 h 13096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0968" h="130968">
                    <a:moveTo>
                      <a:pt x="130968" y="65484"/>
                    </a:moveTo>
                    <a:cubicBezTo>
                      <a:pt x="130968" y="101650"/>
                      <a:pt x="101649" y="130969"/>
                      <a:pt x="65483" y="130969"/>
                    </a:cubicBezTo>
                    <a:cubicBezTo>
                      <a:pt x="29317" y="130969"/>
                      <a:pt x="-1" y="101650"/>
                      <a:pt x="-1" y="65484"/>
                    </a:cubicBezTo>
                    <a:cubicBezTo>
                      <a:pt x="-1" y="29318"/>
                      <a:pt x="29317" y="0"/>
                      <a:pt x="65483" y="0"/>
                    </a:cubicBezTo>
                    <a:cubicBezTo>
                      <a:pt x="101649" y="0"/>
                      <a:pt x="130968" y="29318"/>
                      <a:pt x="130968" y="65484"/>
                    </a:cubicBezTo>
                    <a:close/>
                  </a:path>
                </a:pathLst>
              </a:custGeom>
              <a:solidFill>
                <a:srgbClr val="FFFFFF"/>
              </a:solidFill>
              <a:ln w="12700" cap="flat">
                <a:solidFill>
                  <a:srgbClr val="333333"/>
                </a:solidFill>
                <a:prstDash val="solid"/>
                <a:miter/>
              </a:ln>
            </p:spPr>
            <p:txBody>
              <a:bodyPr rtlCol="0" anchor="ctr"/>
              <a:lstStyle/>
              <a:p>
                <a:endParaRPr lang="en-US"/>
              </a:p>
            </p:txBody>
          </p:sp>
          <p:sp>
            <p:nvSpPr>
              <p:cNvPr id="132" name="Freeform: Shape 105">
                <a:extLst>
                  <a:ext uri="{FF2B5EF4-FFF2-40B4-BE49-F238E27FC236}">
                    <a16:creationId xmlns:a16="http://schemas.microsoft.com/office/drawing/2014/main" id="{AFB16331-DDF8-6BB4-B43D-10EDAE7BFD36}"/>
                  </a:ext>
                </a:extLst>
              </p:cNvPr>
              <p:cNvSpPr/>
              <p:nvPr/>
            </p:nvSpPr>
            <p:spPr>
              <a:xfrm>
                <a:off x="7537011" y="1949560"/>
                <a:ext cx="244062" cy="244062"/>
              </a:xfrm>
              <a:custGeom>
                <a:avLst/>
                <a:gdLst>
                  <a:gd name="connsiteX0" fmla="*/ 130968 w 130968"/>
                  <a:gd name="connsiteY0" fmla="*/ 65484 h 130968"/>
                  <a:gd name="connsiteX1" fmla="*/ 65483 w 130968"/>
                  <a:gd name="connsiteY1" fmla="*/ 130969 h 130968"/>
                  <a:gd name="connsiteX2" fmla="*/ -1 w 130968"/>
                  <a:gd name="connsiteY2" fmla="*/ 65484 h 130968"/>
                  <a:gd name="connsiteX3" fmla="*/ 65483 w 130968"/>
                  <a:gd name="connsiteY3" fmla="*/ 0 h 130968"/>
                  <a:gd name="connsiteX4" fmla="*/ 130968 w 130968"/>
                  <a:gd name="connsiteY4" fmla="*/ 65484 h 13096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0968" h="130968">
                    <a:moveTo>
                      <a:pt x="130968" y="65484"/>
                    </a:moveTo>
                    <a:cubicBezTo>
                      <a:pt x="130968" y="101650"/>
                      <a:pt x="101649" y="130969"/>
                      <a:pt x="65483" y="130969"/>
                    </a:cubicBezTo>
                    <a:cubicBezTo>
                      <a:pt x="29317" y="130969"/>
                      <a:pt x="-1" y="101650"/>
                      <a:pt x="-1" y="65484"/>
                    </a:cubicBezTo>
                    <a:cubicBezTo>
                      <a:pt x="-1" y="29318"/>
                      <a:pt x="29317" y="0"/>
                      <a:pt x="65483" y="0"/>
                    </a:cubicBezTo>
                    <a:cubicBezTo>
                      <a:pt x="101649" y="0"/>
                      <a:pt x="130968" y="29318"/>
                      <a:pt x="130968" y="65484"/>
                    </a:cubicBezTo>
                    <a:close/>
                  </a:path>
                </a:pathLst>
              </a:custGeom>
              <a:solidFill>
                <a:srgbClr val="FFFFFF"/>
              </a:solidFill>
              <a:ln w="12700" cap="flat">
                <a:solidFill>
                  <a:srgbClr val="333333"/>
                </a:solidFill>
                <a:prstDash val="solid"/>
                <a:miter/>
              </a:ln>
            </p:spPr>
            <p:txBody>
              <a:bodyPr rtlCol="0" anchor="ctr"/>
              <a:lstStyle/>
              <a:p>
                <a:endParaRPr lang="en-US"/>
              </a:p>
            </p:txBody>
          </p:sp>
          <p:sp>
            <p:nvSpPr>
              <p:cNvPr id="133" name="Freeform: Shape 106">
                <a:extLst>
                  <a:ext uri="{FF2B5EF4-FFF2-40B4-BE49-F238E27FC236}">
                    <a16:creationId xmlns:a16="http://schemas.microsoft.com/office/drawing/2014/main" id="{2DD8850F-3815-D35C-525A-48B1012AB1DD}"/>
                  </a:ext>
                </a:extLst>
              </p:cNvPr>
              <p:cNvSpPr/>
              <p:nvPr/>
            </p:nvSpPr>
            <p:spPr>
              <a:xfrm>
                <a:off x="7537011" y="2415501"/>
                <a:ext cx="244062" cy="244062"/>
              </a:xfrm>
              <a:custGeom>
                <a:avLst/>
                <a:gdLst>
                  <a:gd name="connsiteX0" fmla="*/ 130968 w 130968"/>
                  <a:gd name="connsiteY0" fmla="*/ 65484 h 130968"/>
                  <a:gd name="connsiteX1" fmla="*/ 65483 w 130968"/>
                  <a:gd name="connsiteY1" fmla="*/ 130969 h 130968"/>
                  <a:gd name="connsiteX2" fmla="*/ -1 w 130968"/>
                  <a:gd name="connsiteY2" fmla="*/ 65484 h 130968"/>
                  <a:gd name="connsiteX3" fmla="*/ 65483 w 130968"/>
                  <a:gd name="connsiteY3" fmla="*/ 0 h 130968"/>
                  <a:gd name="connsiteX4" fmla="*/ 130968 w 130968"/>
                  <a:gd name="connsiteY4" fmla="*/ 65484 h 13096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0968" h="130968">
                    <a:moveTo>
                      <a:pt x="130968" y="65484"/>
                    </a:moveTo>
                    <a:cubicBezTo>
                      <a:pt x="130968" y="101650"/>
                      <a:pt x="101649" y="130969"/>
                      <a:pt x="65483" y="130969"/>
                    </a:cubicBezTo>
                    <a:cubicBezTo>
                      <a:pt x="29317" y="130969"/>
                      <a:pt x="-1" y="101650"/>
                      <a:pt x="-1" y="65484"/>
                    </a:cubicBezTo>
                    <a:cubicBezTo>
                      <a:pt x="-1" y="29318"/>
                      <a:pt x="29317" y="0"/>
                      <a:pt x="65483" y="0"/>
                    </a:cubicBezTo>
                    <a:cubicBezTo>
                      <a:pt x="101649" y="0"/>
                      <a:pt x="130968" y="29318"/>
                      <a:pt x="130968" y="65484"/>
                    </a:cubicBezTo>
                    <a:close/>
                  </a:path>
                </a:pathLst>
              </a:custGeom>
              <a:solidFill>
                <a:srgbClr val="FFFFFF"/>
              </a:solidFill>
              <a:ln w="12700" cap="flat">
                <a:solidFill>
                  <a:srgbClr val="333333"/>
                </a:solidFill>
                <a:prstDash val="solid"/>
                <a:miter/>
              </a:ln>
            </p:spPr>
            <p:txBody>
              <a:bodyPr rtlCol="0" anchor="ctr"/>
              <a:lstStyle/>
              <a:p>
                <a:endParaRPr lang="en-US"/>
              </a:p>
            </p:txBody>
          </p:sp>
          <p:sp>
            <p:nvSpPr>
              <p:cNvPr id="134" name="Freeform: Shape 107">
                <a:extLst>
                  <a:ext uri="{FF2B5EF4-FFF2-40B4-BE49-F238E27FC236}">
                    <a16:creationId xmlns:a16="http://schemas.microsoft.com/office/drawing/2014/main" id="{277DE7CD-A889-5932-A560-EA670BDDA0A7}"/>
                  </a:ext>
                </a:extLst>
              </p:cNvPr>
              <p:cNvSpPr/>
              <p:nvPr/>
            </p:nvSpPr>
            <p:spPr>
              <a:xfrm>
                <a:off x="8113889" y="1949560"/>
                <a:ext cx="244062" cy="244062"/>
              </a:xfrm>
              <a:custGeom>
                <a:avLst/>
                <a:gdLst>
                  <a:gd name="connsiteX0" fmla="*/ 130968 w 130968"/>
                  <a:gd name="connsiteY0" fmla="*/ 65484 h 130968"/>
                  <a:gd name="connsiteX1" fmla="*/ 65483 w 130968"/>
                  <a:gd name="connsiteY1" fmla="*/ 130969 h 130968"/>
                  <a:gd name="connsiteX2" fmla="*/ -1 w 130968"/>
                  <a:gd name="connsiteY2" fmla="*/ 65484 h 130968"/>
                  <a:gd name="connsiteX3" fmla="*/ 65483 w 130968"/>
                  <a:gd name="connsiteY3" fmla="*/ 0 h 130968"/>
                  <a:gd name="connsiteX4" fmla="*/ 130968 w 130968"/>
                  <a:gd name="connsiteY4" fmla="*/ 65484 h 13096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0968" h="130968">
                    <a:moveTo>
                      <a:pt x="130968" y="65484"/>
                    </a:moveTo>
                    <a:cubicBezTo>
                      <a:pt x="130968" y="101650"/>
                      <a:pt x="101649" y="130969"/>
                      <a:pt x="65483" y="130969"/>
                    </a:cubicBezTo>
                    <a:cubicBezTo>
                      <a:pt x="29317" y="130969"/>
                      <a:pt x="-1" y="101650"/>
                      <a:pt x="-1" y="65484"/>
                    </a:cubicBezTo>
                    <a:cubicBezTo>
                      <a:pt x="-1" y="29318"/>
                      <a:pt x="29317" y="0"/>
                      <a:pt x="65483" y="0"/>
                    </a:cubicBezTo>
                    <a:cubicBezTo>
                      <a:pt x="101649" y="0"/>
                      <a:pt x="130968" y="29318"/>
                      <a:pt x="130968" y="65484"/>
                    </a:cubicBezTo>
                    <a:close/>
                  </a:path>
                </a:pathLst>
              </a:custGeom>
              <a:solidFill>
                <a:srgbClr val="FFFFFF"/>
              </a:solidFill>
              <a:ln w="12700" cap="flat">
                <a:solidFill>
                  <a:srgbClr val="333333"/>
                </a:solidFill>
                <a:prstDash val="solid"/>
                <a:miter/>
              </a:ln>
            </p:spPr>
            <p:txBody>
              <a:bodyPr rtlCol="0" anchor="ctr"/>
              <a:lstStyle/>
              <a:p>
                <a:endParaRPr lang="en-US"/>
              </a:p>
            </p:txBody>
          </p:sp>
        </p:grpSp>
      </p:grpSp>
      <p:grpSp>
        <p:nvGrpSpPr>
          <p:cNvPr id="101" name="Group 100">
            <a:extLst>
              <a:ext uri="{FF2B5EF4-FFF2-40B4-BE49-F238E27FC236}">
                <a16:creationId xmlns:a16="http://schemas.microsoft.com/office/drawing/2014/main" id="{935BB85A-AB33-0F80-A770-870DDC7FA974}"/>
              </a:ext>
            </a:extLst>
          </p:cNvPr>
          <p:cNvGrpSpPr/>
          <p:nvPr/>
        </p:nvGrpSpPr>
        <p:grpSpPr>
          <a:xfrm>
            <a:off x="14371470" y="5327061"/>
            <a:ext cx="451446" cy="416228"/>
            <a:chOff x="2519406" y="4829195"/>
            <a:chExt cx="1366363" cy="1259770"/>
          </a:xfrm>
        </p:grpSpPr>
        <p:sp>
          <p:nvSpPr>
            <p:cNvPr id="102" name="Rounded Rectangle 101">
              <a:extLst>
                <a:ext uri="{FF2B5EF4-FFF2-40B4-BE49-F238E27FC236}">
                  <a16:creationId xmlns:a16="http://schemas.microsoft.com/office/drawing/2014/main" id="{D968243D-D5E4-3E36-DA1F-8AF5C1C9E2A1}"/>
                </a:ext>
              </a:extLst>
            </p:cNvPr>
            <p:cNvSpPr/>
            <p:nvPr/>
          </p:nvSpPr>
          <p:spPr>
            <a:xfrm>
              <a:off x="2519406" y="4829195"/>
              <a:ext cx="1366363" cy="1259770"/>
            </a:xfrm>
            <a:prstGeom prst="roundRect">
              <a:avLst/>
            </a:prstGeom>
            <a:solidFill>
              <a:schemeClr val="bg1">
                <a:lumMod val="95000"/>
              </a:schemeClr>
            </a:solid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BE"/>
            </a:p>
          </p:txBody>
        </p:sp>
        <p:pic>
          <p:nvPicPr>
            <p:cNvPr id="103" name="Graphic 102" descr="Decision chart outline">
              <a:extLst>
                <a:ext uri="{FF2B5EF4-FFF2-40B4-BE49-F238E27FC236}">
                  <a16:creationId xmlns:a16="http://schemas.microsoft.com/office/drawing/2014/main" id="{558A0580-56B5-1978-5881-E6BE4D84F380}"/>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2615672" y="4872165"/>
              <a:ext cx="1173831" cy="1173831"/>
            </a:xfrm>
            <a:prstGeom prst="rect">
              <a:avLst/>
            </a:prstGeom>
          </p:spPr>
        </p:pic>
      </p:grpSp>
      <p:grpSp>
        <p:nvGrpSpPr>
          <p:cNvPr id="146" name="Group 145">
            <a:extLst>
              <a:ext uri="{FF2B5EF4-FFF2-40B4-BE49-F238E27FC236}">
                <a16:creationId xmlns:a16="http://schemas.microsoft.com/office/drawing/2014/main" id="{DFA34845-5835-1BB8-8723-906D7C7A8AD7}"/>
              </a:ext>
            </a:extLst>
          </p:cNvPr>
          <p:cNvGrpSpPr/>
          <p:nvPr/>
        </p:nvGrpSpPr>
        <p:grpSpPr>
          <a:xfrm>
            <a:off x="2233523" y="2440549"/>
            <a:ext cx="4512469" cy="1658945"/>
            <a:chOff x="2233523" y="2440549"/>
            <a:chExt cx="4512469" cy="1658945"/>
          </a:xfrm>
        </p:grpSpPr>
        <p:sp>
          <p:nvSpPr>
            <p:cNvPr id="139" name="TextBox 138">
              <a:extLst>
                <a:ext uri="{FF2B5EF4-FFF2-40B4-BE49-F238E27FC236}">
                  <a16:creationId xmlns:a16="http://schemas.microsoft.com/office/drawing/2014/main" id="{91A80841-35FC-0392-CAD0-B40B0CFE811F}"/>
                </a:ext>
              </a:extLst>
            </p:cNvPr>
            <p:cNvSpPr txBox="1"/>
            <p:nvPr/>
          </p:nvSpPr>
          <p:spPr>
            <a:xfrm>
              <a:off x="3629937" y="2663525"/>
              <a:ext cx="3116055" cy="486608"/>
            </a:xfrm>
            <a:prstGeom prst="rect">
              <a:avLst/>
            </a:prstGeom>
            <a:noFill/>
          </p:spPr>
          <p:txBody>
            <a:bodyPr wrap="square" rtlCol="0">
              <a:spAutoFit/>
            </a:bodyPr>
            <a:lstStyle/>
            <a:p>
              <a:pPr>
                <a:lnSpc>
                  <a:spcPct val="75000"/>
                </a:lnSpc>
              </a:pPr>
              <a:r>
                <a:rPr lang="en-BE" sz="3200" b="1" u="sng" dirty="0">
                  <a:solidFill>
                    <a:schemeClr val="accent3"/>
                  </a:solidFill>
                  <a:latin typeface="Caveat" pitchFamily="2" charset="77"/>
                </a:rPr>
                <a:t>Comparable</a:t>
              </a:r>
              <a:r>
                <a:rPr lang="en-BE" sz="3200" b="1" dirty="0">
                  <a:solidFill>
                    <a:schemeClr val="accent3"/>
                  </a:solidFill>
                  <a:latin typeface="Caveat" pitchFamily="2" charset="77"/>
                </a:rPr>
                <a:t> cost . . .</a:t>
              </a:r>
            </a:p>
          </p:txBody>
        </p:sp>
        <p:sp>
          <p:nvSpPr>
            <p:cNvPr id="142" name="Freeform 141">
              <a:extLst>
                <a:ext uri="{FF2B5EF4-FFF2-40B4-BE49-F238E27FC236}">
                  <a16:creationId xmlns:a16="http://schemas.microsoft.com/office/drawing/2014/main" id="{46A71DBE-8788-73A8-A888-D9B91C6B6A61}"/>
                </a:ext>
              </a:extLst>
            </p:cNvPr>
            <p:cNvSpPr/>
            <p:nvPr/>
          </p:nvSpPr>
          <p:spPr>
            <a:xfrm rot="8100000">
              <a:off x="2270460" y="2440549"/>
              <a:ext cx="1407039" cy="776949"/>
            </a:xfrm>
            <a:custGeom>
              <a:avLst/>
              <a:gdLst>
                <a:gd name="connsiteX0" fmla="*/ 0 w 1619442"/>
                <a:gd name="connsiteY0" fmla="*/ 0 h 910413"/>
                <a:gd name="connsiteX1" fmla="*/ 876300 w 1619442"/>
                <a:gd name="connsiteY1" fmla="*/ 901700 h 910413"/>
                <a:gd name="connsiteX2" fmla="*/ 1612900 w 1619442"/>
                <a:gd name="connsiteY2" fmla="*/ 457200 h 910413"/>
                <a:gd name="connsiteX0" fmla="*/ 0 w 1617944"/>
                <a:gd name="connsiteY0" fmla="*/ 0 h 677084"/>
                <a:gd name="connsiteX1" fmla="*/ 698500 w 1617944"/>
                <a:gd name="connsiteY1" fmla="*/ 660400 h 677084"/>
                <a:gd name="connsiteX2" fmla="*/ 1612900 w 1617944"/>
                <a:gd name="connsiteY2" fmla="*/ 457200 h 677084"/>
                <a:gd name="connsiteX0" fmla="*/ 0 w 1643183"/>
                <a:gd name="connsiteY0" fmla="*/ 0 h 672053"/>
                <a:gd name="connsiteX1" fmla="*/ 698500 w 1643183"/>
                <a:gd name="connsiteY1" fmla="*/ 660400 h 672053"/>
                <a:gd name="connsiteX2" fmla="*/ 1638300 w 1643183"/>
                <a:gd name="connsiteY2" fmla="*/ 342900 h 672053"/>
                <a:gd name="connsiteX0" fmla="*/ 0 w 1638300"/>
                <a:gd name="connsiteY0" fmla="*/ 0 h 682079"/>
                <a:gd name="connsiteX1" fmla="*/ 698500 w 1638300"/>
                <a:gd name="connsiteY1" fmla="*/ 660400 h 682079"/>
                <a:gd name="connsiteX2" fmla="*/ 1638300 w 1638300"/>
                <a:gd name="connsiteY2" fmla="*/ 342900 h 682079"/>
                <a:gd name="connsiteX0" fmla="*/ 0 w 1638300"/>
                <a:gd name="connsiteY0" fmla="*/ 0 h 682079"/>
                <a:gd name="connsiteX1" fmla="*/ 698500 w 1638300"/>
                <a:gd name="connsiteY1" fmla="*/ 660400 h 682079"/>
                <a:gd name="connsiteX2" fmla="*/ 1638300 w 1638300"/>
                <a:gd name="connsiteY2" fmla="*/ 342900 h 682079"/>
                <a:gd name="connsiteX0" fmla="*/ 0 w 1498600"/>
                <a:gd name="connsiteY0" fmla="*/ 0 h 682079"/>
                <a:gd name="connsiteX1" fmla="*/ 558800 w 1498600"/>
                <a:gd name="connsiteY1" fmla="*/ 660400 h 682079"/>
                <a:gd name="connsiteX2" fmla="*/ 1498600 w 1498600"/>
                <a:gd name="connsiteY2" fmla="*/ 342900 h 682079"/>
                <a:gd name="connsiteX0" fmla="*/ 0 w 1498600"/>
                <a:gd name="connsiteY0" fmla="*/ 0 h 776760"/>
                <a:gd name="connsiteX1" fmla="*/ 596900 w 1498600"/>
                <a:gd name="connsiteY1" fmla="*/ 762000 h 776760"/>
                <a:gd name="connsiteX2" fmla="*/ 1498600 w 1498600"/>
                <a:gd name="connsiteY2" fmla="*/ 342900 h 776760"/>
                <a:gd name="connsiteX0" fmla="*/ 0 w 1569848"/>
                <a:gd name="connsiteY0" fmla="*/ 0 h 773907"/>
                <a:gd name="connsiteX1" fmla="*/ 596900 w 1569848"/>
                <a:gd name="connsiteY1" fmla="*/ 762000 h 773907"/>
                <a:gd name="connsiteX2" fmla="*/ 1569848 w 1569848"/>
                <a:gd name="connsiteY2" fmla="*/ 269364 h 773907"/>
                <a:gd name="connsiteX0" fmla="*/ 0 w 1407039"/>
                <a:gd name="connsiteY0" fmla="*/ 0 h 771793"/>
                <a:gd name="connsiteX1" fmla="*/ 596900 w 1407039"/>
                <a:gd name="connsiteY1" fmla="*/ 762000 h 771793"/>
                <a:gd name="connsiteX2" fmla="*/ 1407039 w 1407039"/>
                <a:gd name="connsiteY2" fmla="*/ 188385 h 771793"/>
                <a:gd name="connsiteX0" fmla="*/ 0 w 1407039"/>
                <a:gd name="connsiteY0" fmla="*/ 0 h 776949"/>
                <a:gd name="connsiteX1" fmla="*/ 596900 w 1407039"/>
                <a:gd name="connsiteY1" fmla="*/ 762000 h 776949"/>
                <a:gd name="connsiteX2" fmla="*/ 1407039 w 1407039"/>
                <a:gd name="connsiteY2" fmla="*/ 188385 h 776949"/>
              </a:gdLst>
              <a:ahLst/>
              <a:cxnLst>
                <a:cxn ang="0">
                  <a:pos x="connsiteX0" y="connsiteY0"/>
                </a:cxn>
                <a:cxn ang="0">
                  <a:pos x="connsiteX1" y="connsiteY1"/>
                </a:cxn>
                <a:cxn ang="0">
                  <a:pos x="connsiteX2" y="connsiteY2"/>
                </a:cxn>
              </a:cxnLst>
              <a:rect l="l" t="t" r="r" b="b"/>
              <a:pathLst>
                <a:path w="1407039" h="776949">
                  <a:moveTo>
                    <a:pt x="0" y="0"/>
                  </a:moveTo>
                  <a:cubicBezTo>
                    <a:pt x="151341" y="438150"/>
                    <a:pt x="328083" y="685800"/>
                    <a:pt x="596900" y="762000"/>
                  </a:cubicBezTo>
                  <a:cubicBezTo>
                    <a:pt x="865717" y="838200"/>
                    <a:pt x="1184857" y="619499"/>
                    <a:pt x="1407039" y="188385"/>
                  </a:cubicBezTo>
                </a:path>
              </a:pathLst>
            </a:custGeom>
            <a:noFill/>
            <a:ln w="28575">
              <a:solidFill>
                <a:schemeClr val="accent3"/>
              </a:solidFill>
              <a:headEnd type="none" w="med" len="med"/>
              <a:tailEnd type="arrow" w="med" len="me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BE"/>
            </a:p>
          </p:txBody>
        </p:sp>
        <p:sp>
          <p:nvSpPr>
            <p:cNvPr id="143" name="Rounded Rectangle 142">
              <a:extLst>
                <a:ext uri="{FF2B5EF4-FFF2-40B4-BE49-F238E27FC236}">
                  <a16:creationId xmlns:a16="http://schemas.microsoft.com/office/drawing/2014/main" id="{45A1A24B-9783-C2E3-0DB7-7D83F31A2801}"/>
                </a:ext>
              </a:extLst>
            </p:cNvPr>
            <p:cNvSpPr/>
            <p:nvPr/>
          </p:nvSpPr>
          <p:spPr>
            <a:xfrm>
              <a:off x="2233523" y="3576484"/>
              <a:ext cx="1493427" cy="523010"/>
            </a:xfrm>
            <a:prstGeom prst="roundRect">
              <a:avLst/>
            </a:prstGeom>
            <a:noFill/>
            <a:ln>
              <a:solidFill>
                <a:schemeClr val="accent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BE"/>
            </a:p>
          </p:txBody>
        </p:sp>
      </p:grpSp>
      <p:grpSp>
        <p:nvGrpSpPr>
          <p:cNvPr id="90" name="Group 89">
            <a:extLst>
              <a:ext uri="{FF2B5EF4-FFF2-40B4-BE49-F238E27FC236}">
                <a16:creationId xmlns:a16="http://schemas.microsoft.com/office/drawing/2014/main" id="{BBD63FBB-B13A-D5C0-8A63-C99A8BE334E8}"/>
              </a:ext>
            </a:extLst>
          </p:cNvPr>
          <p:cNvGrpSpPr/>
          <p:nvPr/>
        </p:nvGrpSpPr>
        <p:grpSpPr>
          <a:xfrm>
            <a:off x="13736582" y="6334388"/>
            <a:ext cx="451446" cy="416228"/>
            <a:chOff x="2519406" y="4829195"/>
            <a:chExt cx="1366363" cy="1259770"/>
          </a:xfrm>
        </p:grpSpPr>
        <p:sp>
          <p:nvSpPr>
            <p:cNvPr id="91" name="Rounded Rectangle 90">
              <a:extLst>
                <a:ext uri="{FF2B5EF4-FFF2-40B4-BE49-F238E27FC236}">
                  <a16:creationId xmlns:a16="http://schemas.microsoft.com/office/drawing/2014/main" id="{89837FCA-9C1D-076F-A3E4-08608996AC3B}"/>
                </a:ext>
              </a:extLst>
            </p:cNvPr>
            <p:cNvSpPr/>
            <p:nvPr/>
          </p:nvSpPr>
          <p:spPr>
            <a:xfrm>
              <a:off x="2519406" y="4829195"/>
              <a:ext cx="1366363" cy="1259770"/>
            </a:xfrm>
            <a:prstGeom prst="roundRect">
              <a:avLst/>
            </a:prstGeom>
            <a:solidFill>
              <a:schemeClr val="bg1">
                <a:lumMod val="95000"/>
              </a:schemeClr>
            </a:solid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BE"/>
            </a:p>
          </p:txBody>
        </p:sp>
        <p:pic>
          <p:nvPicPr>
            <p:cNvPr id="92" name="Graphic 91" descr="Decision chart outline">
              <a:extLst>
                <a:ext uri="{FF2B5EF4-FFF2-40B4-BE49-F238E27FC236}">
                  <a16:creationId xmlns:a16="http://schemas.microsoft.com/office/drawing/2014/main" id="{481FDB79-6EE1-2F87-D1BA-8C3A7A652B1A}"/>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2615672" y="4872165"/>
              <a:ext cx="1173831" cy="1173831"/>
            </a:xfrm>
            <a:prstGeom prst="rect">
              <a:avLst/>
            </a:prstGeom>
          </p:spPr>
        </p:pic>
      </p:grpSp>
      <p:sp>
        <p:nvSpPr>
          <p:cNvPr id="186" name="Rectangle 185">
            <a:extLst>
              <a:ext uri="{FF2B5EF4-FFF2-40B4-BE49-F238E27FC236}">
                <a16:creationId xmlns:a16="http://schemas.microsoft.com/office/drawing/2014/main" id="{855937EE-8B00-0724-7961-AED77A47CA08}"/>
              </a:ext>
            </a:extLst>
          </p:cNvPr>
          <p:cNvSpPr/>
          <p:nvPr/>
        </p:nvSpPr>
        <p:spPr>
          <a:xfrm>
            <a:off x="10266556" y="2557346"/>
            <a:ext cx="431181" cy="3171746"/>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BE"/>
          </a:p>
        </p:txBody>
      </p:sp>
      <p:grpSp>
        <p:nvGrpSpPr>
          <p:cNvPr id="187" name="Group 186">
            <a:extLst>
              <a:ext uri="{FF2B5EF4-FFF2-40B4-BE49-F238E27FC236}">
                <a16:creationId xmlns:a16="http://schemas.microsoft.com/office/drawing/2014/main" id="{BFA5237C-735E-7542-B131-401982F54956}"/>
              </a:ext>
            </a:extLst>
          </p:cNvPr>
          <p:cNvGrpSpPr/>
          <p:nvPr/>
        </p:nvGrpSpPr>
        <p:grpSpPr>
          <a:xfrm>
            <a:off x="10300072" y="4888748"/>
            <a:ext cx="409110" cy="628366"/>
            <a:chOff x="10257900" y="4885853"/>
            <a:chExt cx="476290" cy="731554"/>
          </a:xfrm>
        </p:grpSpPr>
        <p:sp>
          <p:nvSpPr>
            <p:cNvPr id="188" name="TextBox 187">
              <a:extLst>
                <a:ext uri="{FF2B5EF4-FFF2-40B4-BE49-F238E27FC236}">
                  <a16:creationId xmlns:a16="http://schemas.microsoft.com/office/drawing/2014/main" id="{F6C32D86-D188-4BB8-4A27-FC62002CD99A}"/>
                </a:ext>
              </a:extLst>
            </p:cNvPr>
            <p:cNvSpPr txBox="1"/>
            <p:nvPr/>
          </p:nvSpPr>
          <p:spPr>
            <a:xfrm>
              <a:off x="10257900" y="4885853"/>
              <a:ext cx="476290" cy="314039"/>
            </a:xfrm>
            <a:prstGeom prst="rect">
              <a:avLst/>
            </a:prstGeom>
            <a:solidFill>
              <a:schemeClr val="bg1"/>
            </a:solidFill>
          </p:spPr>
          <p:txBody>
            <a:bodyPr wrap="none" rtlCol="0">
              <a:spAutoFit/>
            </a:bodyPr>
            <a:lstStyle/>
            <a:p>
              <a:r>
                <a:rPr lang="en-US" sz="1400" b="1" dirty="0">
                  <a:latin typeface="UGent Panno Text" panose="02000506040000040003" pitchFamily="2" charset="0"/>
                </a:rPr>
                <a:t>DQN</a:t>
              </a:r>
              <a:endParaRPr lang="en-BE" sz="1400" b="1" dirty="0">
                <a:latin typeface="UGent Panno Text" panose="02000506040000040003" pitchFamily="2" charset="0"/>
              </a:endParaRPr>
            </a:p>
          </p:txBody>
        </p:sp>
        <p:grpSp>
          <p:nvGrpSpPr>
            <p:cNvPr id="189" name="Group 188">
              <a:extLst>
                <a:ext uri="{FF2B5EF4-FFF2-40B4-BE49-F238E27FC236}">
                  <a16:creationId xmlns:a16="http://schemas.microsoft.com/office/drawing/2014/main" id="{2CDFAB6E-43AD-4182-0FCE-B2063F6CD246}"/>
                </a:ext>
              </a:extLst>
            </p:cNvPr>
            <p:cNvGrpSpPr>
              <a:grpSpLocks noChangeAspect="1"/>
            </p:cNvGrpSpPr>
            <p:nvPr/>
          </p:nvGrpSpPr>
          <p:grpSpPr>
            <a:xfrm>
              <a:off x="10279701" y="5202512"/>
              <a:ext cx="450000" cy="414895"/>
              <a:chOff x="8132683" y="2903708"/>
              <a:chExt cx="2085112" cy="1922448"/>
            </a:xfrm>
          </p:grpSpPr>
          <p:sp>
            <p:nvSpPr>
              <p:cNvPr id="190" name="Rounded Rectangle 189">
                <a:extLst>
                  <a:ext uri="{FF2B5EF4-FFF2-40B4-BE49-F238E27FC236}">
                    <a16:creationId xmlns:a16="http://schemas.microsoft.com/office/drawing/2014/main" id="{7CD5D888-97C2-B60E-741B-EAA7651D85C9}"/>
                  </a:ext>
                </a:extLst>
              </p:cNvPr>
              <p:cNvSpPr/>
              <p:nvPr/>
            </p:nvSpPr>
            <p:spPr>
              <a:xfrm>
                <a:off x="8132683" y="2903708"/>
                <a:ext cx="2085112" cy="1922448"/>
              </a:xfrm>
              <a:prstGeom prst="roundRect">
                <a:avLst/>
              </a:prstGeom>
              <a:solidFill>
                <a:schemeClr val="bg1">
                  <a:lumMod val="95000"/>
                </a:schemeClr>
              </a:solid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BE" dirty="0"/>
              </a:p>
            </p:txBody>
          </p:sp>
          <p:grpSp>
            <p:nvGrpSpPr>
              <p:cNvPr id="191" name="Group 190">
                <a:extLst>
                  <a:ext uri="{FF2B5EF4-FFF2-40B4-BE49-F238E27FC236}">
                    <a16:creationId xmlns:a16="http://schemas.microsoft.com/office/drawing/2014/main" id="{98DA0E45-65EE-CDCC-F81C-4EBB2B2022A0}"/>
                  </a:ext>
                </a:extLst>
              </p:cNvPr>
              <p:cNvGrpSpPr/>
              <p:nvPr/>
            </p:nvGrpSpPr>
            <p:grpSpPr>
              <a:xfrm>
                <a:off x="8339159" y="3138112"/>
                <a:ext cx="1772251" cy="1473558"/>
                <a:chOff x="6383257" y="1250651"/>
                <a:chExt cx="1974694" cy="1641880"/>
              </a:xfrm>
            </p:grpSpPr>
            <p:sp>
              <p:nvSpPr>
                <p:cNvPr id="192" name="Freeform: Shape 77">
                  <a:extLst>
                    <a:ext uri="{FF2B5EF4-FFF2-40B4-BE49-F238E27FC236}">
                      <a16:creationId xmlns:a16="http://schemas.microsoft.com/office/drawing/2014/main" id="{321CFF14-3A9C-E865-57B3-B8BDB3854633}"/>
                    </a:ext>
                  </a:extLst>
                </p:cNvPr>
                <p:cNvSpPr/>
                <p:nvPr/>
              </p:nvSpPr>
              <p:spPr>
                <a:xfrm>
                  <a:off x="6505288" y="1372684"/>
                  <a:ext cx="576876" cy="232968"/>
                </a:xfrm>
                <a:custGeom>
                  <a:avLst/>
                  <a:gdLst>
                    <a:gd name="connsiteX0" fmla="*/ -1 w 309562"/>
                    <a:gd name="connsiteY0" fmla="*/ 125016 h 125015"/>
                    <a:gd name="connsiteX1" fmla="*/ 309562 w 309562"/>
                    <a:gd name="connsiteY1" fmla="*/ 0 h 125015"/>
                  </a:gdLst>
                  <a:ahLst/>
                  <a:cxnLst>
                    <a:cxn ang="0">
                      <a:pos x="connsiteX0" y="connsiteY0"/>
                    </a:cxn>
                    <a:cxn ang="0">
                      <a:pos x="connsiteX1" y="connsiteY1"/>
                    </a:cxn>
                  </a:cxnLst>
                  <a:rect l="l" t="t" r="r" b="b"/>
                  <a:pathLst>
                    <a:path w="309562" h="125015">
                      <a:moveTo>
                        <a:pt x="-1" y="125016"/>
                      </a:moveTo>
                      <a:lnTo>
                        <a:pt x="309562" y="0"/>
                      </a:lnTo>
                    </a:path>
                  </a:pathLst>
                </a:custGeom>
                <a:noFill/>
                <a:ln w="12700" cap="flat">
                  <a:solidFill>
                    <a:srgbClr val="C6C6FF"/>
                  </a:solidFill>
                  <a:prstDash val="solid"/>
                  <a:miter/>
                </a:ln>
              </p:spPr>
              <p:txBody>
                <a:bodyPr rtlCol="0" anchor="ctr"/>
                <a:lstStyle/>
                <a:p>
                  <a:endParaRPr lang="en-US"/>
                </a:p>
              </p:txBody>
            </p:sp>
            <p:sp>
              <p:nvSpPr>
                <p:cNvPr id="193" name="Freeform: Shape 78">
                  <a:extLst>
                    <a:ext uri="{FF2B5EF4-FFF2-40B4-BE49-F238E27FC236}">
                      <a16:creationId xmlns:a16="http://schemas.microsoft.com/office/drawing/2014/main" id="{41365430-9937-38BB-80F3-9B55822C4C57}"/>
                    </a:ext>
                  </a:extLst>
                </p:cNvPr>
                <p:cNvSpPr/>
                <p:nvPr/>
              </p:nvSpPr>
              <p:spPr>
                <a:xfrm>
                  <a:off x="6505288" y="1605652"/>
                  <a:ext cx="576876" cy="698907"/>
                </a:xfrm>
                <a:custGeom>
                  <a:avLst/>
                  <a:gdLst>
                    <a:gd name="connsiteX0" fmla="*/ -1 w 309562"/>
                    <a:gd name="connsiteY0" fmla="*/ 0 h 375046"/>
                    <a:gd name="connsiteX1" fmla="*/ 309562 w 309562"/>
                    <a:gd name="connsiteY1" fmla="*/ 375047 h 375046"/>
                  </a:gdLst>
                  <a:ahLst/>
                  <a:cxnLst>
                    <a:cxn ang="0">
                      <a:pos x="connsiteX0" y="connsiteY0"/>
                    </a:cxn>
                    <a:cxn ang="0">
                      <a:pos x="connsiteX1" y="connsiteY1"/>
                    </a:cxn>
                  </a:cxnLst>
                  <a:rect l="l" t="t" r="r" b="b"/>
                  <a:pathLst>
                    <a:path w="309562" h="375046">
                      <a:moveTo>
                        <a:pt x="-1" y="0"/>
                      </a:moveTo>
                      <a:lnTo>
                        <a:pt x="309562" y="375047"/>
                      </a:lnTo>
                    </a:path>
                  </a:pathLst>
                </a:custGeom>
                <a:noFill/>
                <a:ln w="12700" cap="flat">
                  <a:solidFill>
                    <a:srgbClr val="7F7FFF"/>
                  </a:solidFill>
                  <a:prstDash val="solid"/>
                  <a:miter/>
                </a:ln>
              </p:spPr>
              <p:txBody>
                <a:bodyPr rtlCol="0" anchor="ctr"/>
                <a:lstStyle/>
                <a:p>
                  <a:endParaRPr lang="en-US"/>
                </a:p>
              </p:txBody>
            </p:sp>
            <p:sp>
              <p:nvSpPr>
                <p:cNvPr id="194" name="Freeform: Shape 81">
                  <a:extLst>
                    <a:ext uri="{FF2B5EF4-FFF2-40B4-BE49-F238E27FC236}">
                      <a16:creationId xmlns:a16="http://schemas.microsoft.com/office/drawing/2014/main" id="{5CCCF023-6C00-E62C-FE79-5EA2BCE9D427}"/>
                    </a:ext>
                  </a:extLst>
                </p:cNvPr>
                <p:cNvSpPr/>
                <p:nvPr/>
              </p:nvSpPr>
              <p:spPr>
                <a:xfrm>
                  <a:off x="6505288" y="1838623"/>
                  <a:ext cx="576876" cy="232968"/>
                </a:xfrm>
                <a:custGeom>
                  <a:avLst/>
                  <a:gdLst>
                    <a:gd name="connsiteX0" fmla="*/ -1 w 309562"/>
                    <a:gd name="connsiteY0" fmla="*/ 125016 h 125015"/>
                    <a:gd name="connsiteX1" fmla="*/ 309562 w 309562"/>
                    <a:gd name="connsiteY1" fmla="*/ 0 h 125015"/>
                  </a:gdLst>
                  <a:ahLst/>
                  <a:cxnLst>
                    <a:cxn ang="0">
                      <a:pos x="connsiteX0" y="connsiteY0"/>
                    </a:cxn>
                    <a:cxn ang="0">
                      <a:pos x="connsiteX1" y="connsiteY1"/>
                    </a:cxn>
                  </a:cxnLst>
                  <a:rect l="l" t="t" r="r" b="b"/>
                  <a:pathLst>
                    <a:path w="309562" h="125015">
                      <a:moveTo>
                        <a:pt x="-1" y="125016"/>
                      </a:moveTo>
                      <a:lnTo>
                        <a:pt x="309562" y="0"/>
                      </a:lnTo>
                    </a:path>
                  </a:pathLst>
                </a:custGeom>
                <a:noFill/>
                <a:ln w="12700" cap="flat">
                  <a:solidFill>
                    <a:srgbClr val="8A8AFF"/>
                  </a:solidFill>
                  <a:prstDash val="solid"/>
                  <a:miter/>
                </a:ln>
              </p:spPr>
              <p:txBody>
                <a:bodyPr rtlCol="0" anchor="ctr"/>
                <a:lstStyle/>
                <a:p>
                  <a:endParaRPr lang="en-US"/>
                </a:p>
              </p:txBody>
            </p:sp>
            <p:sp>
              <p:nvSpPr>
                <p:cNvPr id="195" name="Freeform: Shape 82">
                  <a:extLst>
                    <a:ext uri="{FF2B5EF4-FFF2-40B4-BE49-F238E27FC236}">
                      <a16:creationId xmlns:a16="http://schemas.microsoft.com/office/drawing/2014/main" id="{45BF9E11-9BD5-D763-29F5-DAA0857E6FC4}"/>
                    </a:ext>
                  </a:extLst>
                </p:cNvPr>
                <p:cNvSpPr/>
                <p:nvPr/>
              </p:nvSpPr>
              <p:spPr>
                <a:xfrm>
                  <a:off x="6505288" y="2071593"/>
                  <a:ext cx="576876" cy="232968"/>
                </a:xfrm>
                <a:custGeom>
                  <a:avLst/>
                  <a:gdLst>
                    <a:gd name="connsiteX0" fmla="*/ -1 w 309562"/>
                    <a:gd name="connsiteY0" fmla="*/ 0 h 125015"/>
                    <a:gd name="connsiteX1" fmla="*/ 309562 w 309562"/>
                    <a:gd name="connsiteY1" fmla="*/ 125016 h 125015"/>
                  </a:gdLst>
                  <a:ahLst/>
                  <a:cxnLst>
                    <a:cxn ang="0">
                      <a:pos x="connsiteX0" y="connsiteY0"/>
                    </a:cxn>
                    <a:cxn ang="0">
                      <a:pos x="connsiteX1" y="connsiteY1"/>
                    </a:cxn>
                  </a:cxnLst>
                  <a:rect l="l" t="t" r="r" b="b"/>
                  <a:pathLst>
                    <a:path w="309562" h="125015">
                      <a:moveTo>
                        <a:pt x="-1" y="0"/>
                      </a:moveTo>
                      <a:lnTo>
                        <a:pt x="309562" y="125016"/>
                      </a:lnTo>
                    </a:path>
                  </a:pathLst>
                </a:custGeom>
                <a:noFill/>
                <a:ln w="12700" cap="flat">
                  <a:solidFill>
                    <a:srgbClr val="2828FF"/>
                  </a:solidFill>
                  <a:prstDash val="solid"/>
                  <a:miter/>
                </a:ln>
              </p:spPr>
              <p:txBody>
                <a:bodyPr rtlCol="0" anchor="ctr"/>
                <a:lstStyle/>
                <a:p>
                  <a:endParaRPr lang="en-US"/>
                </a:p>
              </p:txBody>
            </p:sp>
            <p:sp>
              <p:nvSpPr>
                <p:cNvPr id="196" name="Freeform: Shape 83">
                  <a:extLst>
                    <a:ext uri="{FF2B5EF4-FFF2-40B4-BE49-F238E27FC236}">
                      <a16:creationId xmlns:a16="http://schemas.microsoft.com/office/drawing/2014/main" id="{95D65B46-A29B-5592-190F-FA5148EDA06E}"/>
                    </a:ext>
                  </a:extLst>
                </p:cNvPr>
                <p:cNvSpPr/>
                <p:nvPr/>
              </p:nvSpPr>
              <p:spPr>
                <a:xfrm>
                  <a:off x="6505288" y="2071593"/>
                  <a:ext cx="576876" cy="698907"/>
                </a:xfrm>
                <a:custGeom>
                  <a:avLst/>
                  <a:gdLst>
                    <a:gd name="connsiteX0" fmla="*/ -1 w 309562"/>
                    <a:gd name="connsiteY0" fmla="*/ 0 h 375046"/>
                    <a:gd name="connsiteX1" fmla="*/ 309562 w 309562"/>
                    <a:gd name="connsiteY1" fmla="*/ 375047 h 375046"/>
                  </a:gdLst>
                  <a:ahLst/>
                  <a:cxnLst>
                    <a:cxn ang="0">
                      <a:pos x="connsiteX0" y="connsiteY0"/>
                    </a:cxn>
                    <a:cxn ang="0">
                      <a:pos x="connsiteX1" y="connsiteY1"/>
                    </a:cxn>
                  </a:cxnLst>
                  <a:rect l="l" t="t" r="r" b="b"/>
                  <a:pathLst>
                    <a:path w="309562" h="375046">
                      <a:moveTo>
                        <a:pt x="-1" y="0"/>
                      </a:moveTo>
                      <a:lnTo>
                        <a:pt x="309562" y="375047"/>
                      </a:lnTo>
                    </a:path>
                  </a:pathLst>
                </a:custGeom>
                <a:noFill/>
                <a:ln w="12700" cap="flat">
                  <a:solidFill>
                    <a:srgbClr val="FFA2A2"/>
                  </a:solidFill>
                  <a:prstDash val="solid"/>
                  <a:miter/>
                </a:ln>
              </p:spPr>
              <p:txBody>
                <a:bodyPr rtlCol="0" anchor="ctr"/>
                <a:lstStyle/>
                <a:p>
                  <a:endParaRPr lang="en-US"/>
                </a:p>
              </p:txBody>
            </p:sp>
            <p:sp>
              <p:nvSpPr>
                <p:cNvPr id="197" name="Freeform: Shape 84">
                  <a:extLst>
                    <a:ext uri="{FF2B5EF4-FFF2-40B4-BE49-F238E27FC236}">
                      <a16:creationId xmlns:a16="http://schemas.microsoft.com/office/drawing/2014/main" id="{87759B3C-9660-1480-3D07-6575E995636A}"/>
                    </a:ext>
                  </a:extLst>
                </p:cNvPr>
                <p:cNvSpPr/>
                <p:nvPr/>
              </p:nvSpPr>
              <p:spPr>
                <a:xfrm>
                  <a:off x="6505288" y="2304561"/>
                  <a:ext cx="576876" cy="232968"/>
                </a:xfrm>
                <a:custGeom>
                  <a:avLst/>
                  <a:gdLst>
                    <a:gd name="connsiteX0" fmla="*/ -1 w 309562"/>
                    <a:gd name="connsiteY0" fmla="*/ 125016 h 125015"/>
                    <a:gd name="connsiteX1" fmla="*/ 309562 w 309562"/>
                    <a:gd name="connsiteY1" fmla="*/ 0 h 125015"/>
                  </a:gdLst>
                  <a:ahLst/>
                  <a:cxnLst>
                    <a:cxn ang="0">
                      <a:pos x="connsiteX0" y="connsiteY0"/>
                    </a:cxn>
                    <a:cxn ang="0">
                      <a:pos x="connsiteX1" y="connsiteY1"/>
                    </a:cxn>
                  </a:cxnLst>
                  <a:rect l="l" t="t" r="r" b="b"/>
                  <a:pathLst>
                    <a:path w="309562" h="125015">
                      <a:moveTo>
                        <a:pt x="-1" y="125016"/>
                      </a:moveTo>
                      <a:lnTo>
                        <a:pt x="309562" y="0"/>
                      </a:lnTo>
                    </a:path>
                  </a:pathLst>
                </a:custGeom>
                <a:noFill/>
                <a:ln w="12700" cap="flat">
                  <a:solidFill>
                    <a:srgbClr val="ACACFF"/>
                  </a:solidFill>
                  <a:prstDash val="solid"/>
                  <a:miter/>
                </a:ln>
              </p:spPr>
              <p:txBody>
                <a:bodyPr rtlCol="0" anchor="ctr"/>
                <a:lstStyle/>
                <a:p>
                  <a:endParaRPr lang="en-US"/>
                </a:p>
              </p:txBody>
            </p:sp>
            <p:sp>
              <p:nvSpPr>
                <p:cNvPr id="198" name="Freeform: Shape 85">
                  <a:extLst>
                    <a:ext uri="{FF2B5EF4-FFF2-40B4-BE49-F238E27FC236}">
                      <a16:creationId xmlns:a16="http://schemas.microsoft.com/office/drawing/2014/main" id="{A22A3D37-CDA6-37AA-62A0-C0E2EB400C26}"/>
                    </a:ext>
                  </a:extLst>
                </p:cNvPr>
                <p:cNvSpPr/>
                <p:nvPr/>
              </p:nvSpPr>
              <p:spPr>
                <a:xfrm>
                  <a:off x="6505288" y="2537532"/>
                  <a:ext cx="576876" cy="232968"/>
                </a:xfrm>
                <a:custGeom>
                  <a:avLst/>
                  <a:gdLst>
                    <a:gd name="connsiteX0" fmla="*/ -1 w 309562"/>
                    <a:gd name="connsiteY0" fmla="*/ 0 h 125015"/>
                    <a:gd name="connsiteX1" fmla="*/ 309562 w 309562"/>
                    <a:gd name="connsiteY1" fmla="*/ 125016 h 125015"/>
                  </a:gdLst>
                  <a:ahLst/>
                  <a:cxnLst>
                    <a:cxn ang="0">
                      <a:pos x="connsiteX0" y="connsiteY0"/>
                    </a:cxn>
                    <a:cxn ang="0">
                      <a:pos x="connsiteX1" y="connsiteY1"/>
                    </a:cxn>
                  </a:cxnLst>
                  <a:rect l="l" t="t" r="r" b="b"/>
                  <a:pathLst>
                    <a:path w="309562" h="125015">
                      <a:moveTo>
                        <a:pt x="-1" y="0"/>
                      </a:moveTo>
                      <a:lnTo>
                        <a:pt x="309562" y="125016"/>
                      </a:lnTo>
                    </a:path>
                  </a:pathLst>
                </a:custGeom>
                <a:noFill/>
                <a:ln w="12700" cap="flat">
                  <a:solidFill>
                    <a:srgbClr val="FF8D8D"/>
                  </a:solidFill>
                  <a:prstDash val="solid"/>
                  <a:miter/>
                </a:ln>
              </p:spPr>
              <p:txBody>
                <a:bodyPr rtlCol="0" anchor="ctr"/>
                <a:lstStyle/>
                <a:p>
                  <a:endParaRPr lang="en-US"/>
                </a:p>
              </p:txBody>
            </p:sp>
            <p:sp>
              <p:nvSpPr>
                <p:cNvPr id="199" name="Freeform: Shape 86">
                  <a:extLst>
                    <a:ext uri="{FF2B5EF4-FFF2-40B4-BE49-F238E27FC236}">
                      <a16:creationId xmlns:a16="http://schemas.microsoft.com/office/drawing/2014/main" id="{923BC4C4-89F2-4802-6A71-87B2313F29C3}"/>
                    </a:ext>
                  </a:extLst>
                </p:cNvPr>
                <p:cNvSpPr/>
                <p:nvPr/>
              </p:nvSpPr>
              <p:spPr>
                <a:xfrm>
                  <a:off x="7082166" y="1372684"/>
                  <a:ext cx="576876" cy="232968"/>
                </a:xfrm>
                <a:custGeom>
                  <a:avLst/>
                  <a:gdLst>
                    <a:gd name="connsiteX0" fmla="*/ -1 w 309562"/>
                    <a:gd name="connsiteY0" fmla="*/ 0 h 125015"/>
                    <a:gd name="connsiteX1" fmla="*/ 309562 w 309562"/>
                    <a:gd name="connsiteY1" fmla="*/ 125016 h 125015"/>
                  </a:gdLst>
                  <a:ahLst/>
                  <a:cxnLst>
                    <a:cxn ang="0">
                      <a:pos x="connsiteX0" y="connsiteY0"/>
                    </a:cxn>
                    <a:cxn ang="0">
                      <a:pos x="connsiteX1" y="connsiteY1"/>
                    </a:cxn>
                  </a:cxnLst>
                  <a:rect l="l" t="t" r="r" b="b"/>
                  <a:pathLst>
                    <a:path w="309562" h="125015">
                      <a:moveTo>
                        <a:pt x="-1" y="0"/>
                      </a:moveTo>
                      <a:lnTo>
                        <a:pt x="309562" y="125016"/>
                      </a:lnTo>
                    </a:path>
                  </a:pathLst>
                </a:custGeom>
                <a:noFill/>
                <a:ln w="12700" cap="flat">
                  <a:solidFill>
                    <a:srgbClr val="FF4747"/>
                  </a:solidFill>
                  <a:prstDash val="solid"/>
                  <a:miter/>
                </a:ln>
              </p:spPr>
              <p:txBody>
                <a:bodyPr rtlCol="0" anchor="ctr"/>
                <a:lstStyle/>
                <a:p>
                  <a:endParaRPr lang="en-US"/>
                </a:p>
              </p:txBody>
            </p:sp>
            <p:sp>
              <p:nvSpPr>
                <p:cNvPr id="200" name="Freeform: Shape 87">
                  <a:extLst>
                    <a:ext uri="{FF2B5EF4-FFF2-40B4-BE49-F238E27FC236}">
                      <a16:creationId xmlns:a16="http://schemas.microsoft.com/office/drawing/2014/main" id="{5EB80CD1-971C-CDE6-E295-9A6FD5413ED6}"/>
                    </a:ext>
                  </a:extLst>
                </p:cNvPr>
                <p:cNvSpPr/>
                <p:nvPr/>
              </p:nvSpPr>
              <p:spPr>
                <a:xfrm>
                  <a:off x="7082166" y="1372684"/>
                  <a:ext cx="576876" cy="698907"/>
                </a:xfrm>
                <a:custGeom>
                  <a:avLst/>
                  <a:gdLst>
                    <a:gd name="connsiteX0" fmla="*/ -1 w 309562"/>
                    <a:gd name="connsiteY0" fmla="*/ 0 h 375046"/>
                    <a:gd name="connsiteX1" fmla="*/ 309562 w 309562"/>
                    <a:gd name="connsiteY1" fmla="*/ 375047 h 375046"/>
                  </a:gdLst>
                  <a:ahLst/>
                  <a:cxnLst>
                    <a:cxn ang="0">
                      <a:pos x="connsiteX0" y="connsiteY0"/>
                    </a:cxn>
                    <a:cxn ang="0">
                      <a:pos x="connsiteX1" y="connsiteY1"/>
                    </a:cxn>
                  </a:cxnLst>
                  <a:rect l="l" t="t" r="r" b="b"/>
                  <a:pathLst>
                    <a:path w="309562" h="375046">
                      <a:moveTo>
                        <a:pt x="-1" y="0"/>
                      </a:moveTo>
                      <a:lnTo>
                        <a:pt x="309562" y="375047"/>
                      </a:lnTo>
                    </a:path>
                  </a:pathLst>
                </a:custGeom>
                <a:noFill/>
                <a:ln w="12700" cap="flat">
                  <a:solidFill>
                    <a:srgbClr val="FF0C0C"/>
                  </a:solidFill>
                  <a:prstDash val="solid"/>
                  <a:miter/>
                </a:ln>
              </p:spPr>
              <p:txBody>
                <a:bodyPr rtlCol="0" anchor="ctr"/>
                <a:lstStyle/>
                <a:p>
                  <a:endParaRPr lang="en-US"/>
                </a:p>
              </p:txBody>
            </p:sp>
            <p:sp>
              <p:nvSpPr>
                <p:cNvPr id="201" name="Freeform: Shape 88">
                  <a:extLst>
                    <a:ext uri="{FF2B5EF4-FFF2-40B4-BE49-F238E27FC236}">
                      <a16:creationId xmlns:a16="http://schemas.microsoft.com/office/drawing/2014/main" id="{AD61E9DC-1EC5-94F3-3285-B3BF23A67AC6}"/>
                    </a:ext>
                  </a:extLst>
                </p:cNvPr>
                <p:cNvSpPr/>
                <p:nvPr/>
              </p:nvSpPr>
              <p:spPr>
                <a:xfrm>
                  <a:off x="7082166" y="1605652"/>
                  <a:ext cx="576876" cy="232968"/>
                </a:xfrm>
                <a:custGeom>
                  <a:avLst/>
                  <a:gdLst>
                    <a:gd name="connsiteX0" fmla="*/ -1 w 309562"/>
                    <a:gd name="connsiteY0" fmla="*/ 125016 h 125015"/>
                    <a:gd name="connsiteX1" fmla="*/ 309562 w 309562"/>
                    <a:gd name="connsiteY1" fmla="*/ 0 h 125015"/>
                  </a:gdLst>
                  <a:ahLst/>
                  <a:cxnLst>
                    <a:cxn ang="0">
                      <a:pos x="connsiteX0" y="connsiteY0"/>
                    </a:cxn>
                    <a:cxn ang="0">
                      <a:pos x="connsiteX1" y="connsiteY1"/>
                    </a:cxn>
                  </a:cxnLst>
                  <a:rect l="l" t="t" r="r" b="b"/>
                  <a:pathLst>
                    <a:path w="309562" h="125015">
                      <a:moveTo>
                        <a:pt x="-1" y="125016"/>
                      </a:moveTo>
                      <a:lnTo>
                        <a:pt x="309562" y="0"/>
                      </a:lnTo>
                    </a:path>
                  </a:pathLst>
                </a:custGeom>
                <a:noFill/>
                <a:ln w="12700" cap="flat">
                  <a:solidFill>
                    <a:srgbClr val="9393FF"/>
                  </a:solidFill>
                  <a:prstDash val="solid"/>
                  <a:miter/>
                </a:ln>
              </p:spPr>
              <p:txBody>
                <a:bodyPr rtlCol="0" anchor="ctr"/>
                <a:lstStyle/>
                <a:p>
                  <a:endParaRPr lang="en-US"/>
                </a:p>
              </p:txBody>
            </p:sp>
            <p:sp>
              <p:nvSpPr>
                <p:cNvPr id="202" name="Freeform: Shape 89">
                  <a:extLst>
                    <a:ext uri="{FF2B5EF4-FFF2-40B4-BE49-F238E27FC236}">
                      <a16:creationId xmlns:a16="http://schemas.microsoft.com/office/drawing/2014/main" id="{03C88894-4752-8A43-B59A-A415AA84836A}"/>
                    </a:ext>
                  </a:extLst>
                </p:cNvPr>
                <p:cNvSpPr/>
                <p:nvPr/>
              </p:nvSpPr>
              <p:spPr>
                <a:xfrm>
                  <a:off x="7082166" y="1838623"/>
                  <a:ext cx="576876" cy="232968"/>
                </a:xfrm>
                <a:custGeom>
                  <a:avLst/>
                  <a:gdLst>
                    <a:gd name="connsiteX0" fmla="*/ -1 w 309562"/>
                    <a:gd name="connsiteY0" fmla="*/ 0 h 125015"/>
                    <a:gd name="connsiteX1" fmla="*/ 309562 w 309562"/>
                    <a:gd name="connsiteY1" fmla="*/ 125016 h 125015"/>
                  </a:gdLst>
                  <a:ahLst/>
                  <a:cxnLst>
                    <a:cxn ang="0">
                      <a:pos x="connsiteX0" y="connsiteY0"/>
                    </a:cxn>
                    <a:cxn ang="0">
                      <a:pos x="connsiteX1" y="connsiteY1"/>
                    </a:cxn>
                  </a:cxnLst>
                  <a:rect l="l" t="t" r="r" b="b"/>
                  <a:pathLst>
                    <a:path w="309562" h="125015">
                      <a:moveTo>
                        <a:pt x="-1" y="0"/>
                      </a:moveTo>
                      <a:lnTo>
                        <a:pt x="309562" y="125016"/>
                      </a:lnTo>
                    </a:path>
                  </a:pathLst>
                </a:custGeom>
                <a:noFill/>
                <a:ln w="12700" cap="flat">
                  <a:solidFill>
                    <a:srgbClr val="FFBDBD"/>
                  </a:solidFill>
                  <a:prstDash val="solid"/>
                  <a:miter/>
                </a:ln>
              </p:spPr>
              <p:txBody>
                <a:bodyPr rtlCol="0" anchor="ctr"/>
                <a:lstStyle/>
                <a:p>
                  <a:endParaRPr lang="en-US"/>
                </a:p>
              </p:txBody>
            </p:sp>
            <p:sp>
              <p:nvSpPr>
                <p:cNvPr id="203" name="Freeform: Shape 90">
                  <a:extLst>
                    <a:ext uri="{FF2B5EF4-FFF2-40B4-BE49-F238E27FC236}">
                      <a16:creationId xmlns:a16="http://schemas.microsoft.com/office/drawing/2014/main" id="{5E9FEE67-94B2-6447-F26E-43F9366B050F}"/>
                    </a:ext>
                  </a:extLst>
                </p:cNvPr>
                <p:cNvSpPr/>
                <p:nvPr/>
              </p:nvSpPr>
              <p:spPr>
                <a:xfrm>
                  <a:off x="7082166" y="1605652"/>
                  <a:ext cx="576876" cy="698907"/>
                </a:xfrm>
                <a:custGeom>
                  <a:avLst/>
                  <a:gdLst>
                    <a:gd name="connsiteX0" fmla="*/ -1 w 309562"/>
                    <a:gd name="connsiteY0" fmla="*/ 375047 h 375046"/>
                    <a:gd name="connsiteX1" fmla="*/ 309562 w 309562"/>
                    <a:gd name="connsiteY1" fmla="*/ 0 h 375046"/>
                  </a:gdLst>
                  <a:ahLst/>
                  <a:cxnLst>
                    <a:cxn ang="0">
                      <a:pos x="connsiteX0" y="connsiteY0"/>
                    </a:cxn>
                    <a:cxn ang="0">
                      <a:pos x="connsiteX1" y="connsiteY1"/>
                    </a:cxn>
                  </a:cxnLst>
                  <a:rect l="l" t="t" r="r" b="b"/>
                  <a:pathLst>
                    <a:path w="309562" h="375046">
                      <a:moveTo>
                        <a:pt x="-1" y="375047"/>
                      </a:moveTo>
                      <a:lnTo>
                        <a:pt x="309562" y="0"/>
                      </a:lnTo>
                    </a:path>
                  </a:pathLst>
                </a:custGeom>
                <a:noFill/>
                <a:ln w="12700" cap="flat">
                  <a:solidFill>
                    <a:srgbClr val="3131FF"/>
                  </a:solidFill>
                  <a:prstDash val="solid"/>
                  <a:miter/>
                </a:ln>
              </p:spPr>
              <p:txBody>
                <a:bodyPr rtlCol="0" anchor="ctr"/>
                <a:lstStyle/>
                <a:p>
                  <a:endParaRPr lang="en-US"/>
                </a:p>
              </p:txBody>
            </p:sp>
            <p:sp>
              <p:nvSpPr>
                <p:cNvPr id="204" name="Freeform: Shape 91">
                  <a:extLst>
                    <a:ext uri="{FF2B5EF4-FFF2-40B4-BE49-F238E27FC236}">
                      <a16:creationId xmlns:a16="http://schemas.microsoft.com/office/drawing/2014/main" id="{A879EFA7-5246-C410-0DC6-62008B2C502D}"/>
                    </a:ext>
                  </a:extLst>
                </p:cNvPr>
                <p:cNvSpPr/>
                <p:nvPr/>
              </p:nvSpPr>
              <p:spPr>
                <a:xfrm>
                  <a:off x="7082166" y="2071593"/>
                  <a:ext cx="576876" cy="232968"/>
                </a:xfrm>
                <a:custGeom>
                  <a:avLst/>
                  <a:gdLst>
                    <a:gd name="connsiteX0" fmla="*/ -1 w 309562"/>
                    <a:gd name="connsiteY0" fmla="*/ 125016 h 125015"/>
                    <a:gd name="connsiteX1" fmla="*/ 309562 w 309562"/>
                    <a:gd name="connsiteY1" fmla="*/ 0 h 125015"/>
                  </a:gdLst>
                  <a:ahLst/>
                  <a:cxnLst>
                    <a:cxn ang="0">
                      <a:pos x="connsiteX0" y="connsiteY0"/>
                    </a:cxn>
                    <a:cxn ang="0">
                      <a:pos x="connsiteX1" y="connsiteY1"/>
                    </a:cxn>
                  </a:cxnLst>
                  <a:rect l="l" t="t" r="r" b="b"/>
                  <a:pathLst>
                    <a:path w="309562" h="125015">
                      <a:moveTo>
                        <a:pt x="-1" y="125016"/>
                      </a:moveTo>
                      <a:lnTo>
                        <a:pt x="309562" y="0"/>
                      </a:lnTo>
                    </a:path>
                  </a:pathLst>
                </a:custGeom>
                <a:noFill/>
                <a:ln w="12700" cap="flat">
                  <a:solidFill>
                    <a:srgbClr val="9C9CFF"/>
                  </a:solidFill>
                  <a:prstDash val="solid"/>
                  <a:miter/>
                </a:ln>
              </p:spPr>
              <p:txBody>
                <a:bodyPr rtlCol="0" anchor="ctr"/>
                <a:lstStyle/>
                <a:p>
                  <a:endParaRPr lang="en-US"/>
                </a:p>
              </p:txBody>
            </p:sp>
            <p:sp>
              <p:nvSpPr>
                <p:cNvPr id="205" name="Freeform: Shape 92">
                  <a:extLst>
                    <a:ext uri="{FF2B5EF4-FFF2-40B4-BE49-F238E27FC236}">
                      <a16:creationId xmlns:a16="http://schemas.microsoft.com/office/drawing/2014/main" id="{07C250A4-02AA-1B40-49ED-504C578C19E4}"/>
                    </a:ext>
                  </a:extLst>
                </p:cNvPr>
                <p:cNvSpPr/>
                <p:nvPr/>
              </p:nvSpPr>
              <p:spPr>
                <a:xfrm>
                  <a:off x="7659042" y="1605652"/>
                  <a:ext cx="576876" cy="465939"/>
                </a:xfrm>
                <a:custGeom>
                  <a:avLst/>
                  <a:gdLst>
                    <a:gd name="connsiteX0" fmla="*/ -1 w 309562"/>
                    <a:gd name="connsiteY0" fmla="*/ 0 h 250031"/>
                    <a:gd name="connsiteX1" fmla="*/ 309562 w 309562"/>
                    <a:gd name="connsiteY1" fmla="*/ 250031 h 250031"/>
                  </a:gdLst>
                  <a:ahLst/>
                  <a:cxnLst>
                    <a:cxn ang="0">
                      <a:pos x="connsiteX0" y="connsiteY0"/>
                    </a:cxn>
                    <a:cxn ang="0">
                      <a:pos x="connsiteX1" y="connsiteY1"/>
                    </a:cxn>
                  </a:cxnLst>
                  <a:rect l="l" t="t" r="r" b="b"/>
                  <a:pathLst>
                    <a:path w="309562" h="250031">
                      <a:moveTo>
                        <a:pt x="-1" y="0"/>
                      </a:moveTo>
                      <a:lnTo>
                        <a:pt x="309562" y="250031"/>
                      </a:lnTo>
                    </a:path>
                  </a:pathLst>
                </a:custGeom>
                <a:noFill/>
                <a:ln w="12700" cap="flat">
                  <a:solidFill>
                    <a:srgbClr val="FF7474"/>
                  </a:solidFill>
                  <a:prstDash val="solid"/>
                  <a:miter/>
                </a:ln>
              </p:spPr>
              <p:txBody>
                <a:bodyPr rtlCol="0" anchor="ctr"/>
                <a:lstStyle/>
                <a:p>
                  <a:endParaRPr lang="en-US"/>
                </a:p>
              </p:txBody>
            </p:sp>
            <p:sp>
              <p:nvSpPr>
                <p:cNvPr id="206" name="Freeform: Shape 93">
                  <a:extLst>
                    <a:ext uri="{FF2B5EF4-FFF2-40B4-BE49-F238E27FC236}">
                      <a16:creationId xmlns:a16="http://schemas.microsoft.com/office/drawing/2014/main" id="{F0F800B6-9BBF-A264-DDD4-6DC8231C988E}"/>
                    </a:ext>
                  </a:extLst>
                </p:cNvPr>
                <p:cNvSpPr/>
                <p:nvPr/>
              </p:nvSpPr>
              <p:spPr>
                <a:xfrm>
                  <a:off x="7659042" y="2071593"/>
                  <a:ext cx="576876" cy="11094"/>
                </a:xfrm>
                <a:custGeom>
                  <a:avLst/>
                  <a:gdLst>
                    <a:gd name="connsiteX0" fmla="*/ -1 w 309562"/>
                    <a:gd name="connsiteY0" fmla="*/ 0 h 5953"/>
                    <a:gd name="connsiteX1" fmla="*/ 309562 w 309562"/>
                    <a:gd name="connsiteY1" fmla="*/ 0 h 5953"/>
                  </a:gdLst>
                  <a:ahLst/>
                  <a:cxnLst>
                    <a:cxn ang="0">
                      <a:pos x="connsiteX0" y="connsiteY0"/>
                    </a:cxn>
                    <a:cxn ang="0">
                      <a:pos x="connsiteX1" y="connsiteY1"/>
                    </a:cxn>
                  </a:cxnLst>
                  <a:rect l="l" t="t" r="r" b="b"/>
                  <a:pathLst>
                    <a:path w="309562" h="5953">
                      <a:moveTo>
                        <a:pt x="-1" y="0"/>
                      </a:moveTo>
                      <a:lnTo>
                        <a:pt x="309562" y="0"/>
                      </a:lnTo>
                    </a:path>
                  </a:pathLst>
                </a:custGeom>
                <a:noFill/>
                <a:ln w="12700" cap="flat">
                  <a:solidFill>
                    <a:srgbClr val="FFCECE"/>
                  </a:solidFill>
                  <a:prstDash val="solid"/>
                  <a:miter/>
                </a:ln>
              </p:spPr>
              <p:txBody>
                <a:bodyPr rtlCol="0" anchor="ctr"/>
                <a:lstStyle/>
                <a:p>
                  <a:endParaRPr lang="en-US"/>
                </a:p>
              </p:txBody>
            </p:sp>
            <p:sp>
              <p:nvSpPr>
                <p:cNvPr id="207" name="Freeform: Shape 94">
                  <a:extLst>
                    <a:ext uri="{FF2B5EF4-FFF2-40B4-BE49-F238E27FC236}">
                      <a16:creationId xmlns:a16="http://schemas.microsoft.com/office/drawing/2014/main" id="{8ECDE4BE-E4BC-DCCC-F55F-F496B1FDB9C0}"/>
                    </a:ext>
                  </a:extLst>
                </p:cNvPr>
                <p:cNvSpPr/>
                <p:nvPr/>
              </p:nvSpPr>
              <p:spPr>
                <a:xfrm>
                  <a:off x="7082166" y="2304561"/>
                  <a:ext cx="576876" cy="232968"/>
                </a:xfrm>
                <a:custGeom>
                  <a:avLst/>
                  <a:gdLst>
                    <a:gd name="connsiteX0" fmla="*/ -1 w 309562"/>
                    <a:gd name="connsiteY0" fmla="*/ 0 h 125015"/>
                    <a:gd name="connsiteX1" fmla="*/ 309562 w 309562"/>
                    <a:gd name="connsiteY1" fmla="*/ 125016 h 125015"/>
                  </a:gdLst>
                  <a:ahLst/>
                  <a:cxnLst>
                    <a:cxn ang="0">
                      <a:pos x="connsiteX0" y="connsiteY0"/>
                    </a:cxn>
                    <a:cxn ang="0">
                      <a:pos x="connsiteX1" y="connsiteY1"/>
                    </a:cxn>
                  </a:cxnLst>
                  <a:rect l="l" t="t" r="r" b="b"/>
                  <a:pathLst>
                    <a:path w="309562" h="125015">
                      <a:moveTo>
                        <a:pt x="-1" y="0"/>
                      </a:moveTo>
                      <a:lnTo>
                        <a:pt x="309562" y="125016"/>
                      </a:lnTo>
                    </a:path>
                  </a:pathLst>
                </a:custGeom>
                <a:noFill/>
                <a:ln w="12700" cap="flat">
                  <a:solidFill>
                    <a:srgbClr val="1F1FFF"/>
                  </a:solidFill>
                  <a:prstDash val="solid"/>
                  <a:miter/>
                </a:ln>
              </p:spPr>
              <p:txBody>
                <a:bodyPr rtlCol="0" anchor="ctr"/>
                <a:lstStyle/>
                <a:p>
                  <a:endParaRPr lang="en-US"/>
                </a:p>
              </p:txBody>
            </p:sp>
            <p:sp>
              <p:nvSpPr>
                <p:cNvPr id="208" name="Freeform: Shape 95">
                  <a:extLst>
                    <a:ext uri="{FF2B5EF4-FFF2-40B4-BE49-F238E27FC236}">
                      <a16:creationId xmlns:a16="http://schemas.microsoft.com/office/drawing/2014/main" id="{D047E747-5352-4162-436A-E692FB7FBC49}"/>
                    </a:ext>
                  </a:extLst>
                </p:cNvPr>
                <p:cNvSpPr/>
                <p:nvPr/>
              </p:nvSpPr>
              <p:spPr>
                <a:xfrm>
                  <a:off x="7082166" y="2537532"/>
                  <a:ext cx="576876" cy="232968"/>
                </a:xfrm>
                <a:custGeom>
                  <a:avLst/>
                  <a:gdLst>
                    <a:gd name="connsiteX0" fmla="*/ -1 w 309562"/>
                    <a:gd name="connsiteY0" fmla="*/ 125016 h 125015"/>
                    <a:gd name="connsiteX1" fmla="*/ 309562 w 309562"/>
                    <a:gd name="connsiteY1" fmla="*/ 0 h 125015"/>
                  </a:gdLst>
                  <a:ahLst/>
                  <a:cxnLst>
                    <a:cxn ang="0">
                      <a:pos x="connsiteX0" y="connsiteY0"/>
                    </a:cxn>
                    <a:cxn ang="0">
                      <a:pos x="connsiteX1" y="connsiteY1"/>
                    </a:cxn>
                  </a:cxnLst>
                  <a:rect l="l" t="t" r="r" b="b"/>
                  <a:pathLst>
                    <a:path w="309562" h="125015">
                      <a:moveTo>
                        <a:pt x="-1" y="125016"/>
                      </a:moveTo>
                      <a:lnTo>
                        <a:pt x="309562" y="0"/>
                      </a:lnTo>
                    </a:path>
                  </a:pathLst>
                </a:custGeom>
                <a:noFill/>
                <a:ln w="12700" cap="flat">
                  <a:solidFill>
                    <a:srgbClr val="B5B5FF"/>
                  </a:solidFill>
                  <a:prstDash val="solid"/>
                  <a:miter/>
                </a:ln>
              </p:spPr>
              <p:txBody>
                <a:bodyPr rtlCol="0" anchor="ctr"/>
                <a:lstStyle/>
                <a:p>
                  <a:endParaRPr lang="en-US"/>
                </a:p>
              </p:txBody>
            </p:sp>
            <p:sp>
              <p:nvSpPr>
                <p:cNvPr id="209" name="Freeform: Shape 96">
                  <a:extLst>
                    <a:ext uri="{FF2B5EF4-FFF2-40B4-BE49-F238E27FC236}">
                      <a16:creationId xmlns:a16="http://schemas.microsoft.com/office/drawing/2014/main" id="{109A61D4-D58A-6C85-3834-268E519E925D}"/>
                    </a:ext>
                  </a:extLst>
                </p:cNvPr>
                <p:cNvSpPr/>
                <p:nvPr/>
              </p:nvSpPr>
              <p:spPr>
                <a:xfrm>
                  <a:off x="7659042" y="2071593"/>
                  <a:ext cx="576876" cy="465939"/>
                </a:xfrm>
                <a:custGeom>
                  <a:avLst/>
                  <a:gdLst>
                    <a:gd name="connsiteX0" fmla="*/ -1 w 309562"/>
                    <a:gd name="connsiteY0" fmla="*/ 250031 h 250031"/>
                    <a:gd name="connsiteX1" fmla="*/ 309562 w 309562"/>
                    <a:gd name="connsiteY1" fmla="*/ 0 h 250031"/>
                  </a:gdLst>
                  <a:ahLst/>
                  <a:cxnLst>
                    <a:cxn ang="0">
                      <a:pos x="connsiteX0" y="connsiteY0"/>
                    </a:cxn>
                    <a:cxn ang="0">
                      <a:pos x="connsiteX1" y="connsiteY1"/>
                    </a:cxn>
                  </a:cxnLst>
                  <a:rect l="l" t="t" r="r" b="b"/>
                  <a:pathLst>
                    <a:path w="309562" h="250031">
                      <a:moveTo>
                        <a:pt x="-1" y="250031"/>
                      </a:moveTo>
                      <a:lnTo>
                        <a:pt x="309562" y="0"/>
                      </a:lnTo>
                    </a:path>
                  </a:pathLst>
                </a:custGeom>
                <a:noFill/>
                <a:ln w="12700" cap="flat">
                  <a:solidFill>
                    <a:srgbClr val="FF6C6C"/>
                  </a:solidFill>
                  <a:prstDash val="solid"/>
                  <a:miter/>
                </a:ln>
              </p:spPr>
              <p:txBody>
                <a:bodyPr rtlCol="0" anchor="ctr"/>
                <a:lstStyle/>
                <a:p>
                  <a:endParaRPr lang="en-US"/>
                </a:p>
              </p:txBody>
            </p:sp>
            <p:sp>
              <p:nvSpPr>
                <p:cNvPr id="210" name="Freeform: Shape 97">
                  <a:extLst>
                    <a:ext uri="{FF2B5EF4-FFF2-40B4-BE49-F238E27FC236}">
                      <a16:creationId xmlns:a16="http://schemas.microsoft.com/office/drawing/2014/main" id="{4D03D8CD-9BA4-F3C8-7033-BBE65987271A}"/>
                    </a:ext>
                  </a:extLst>
                </p:cNvPr>
                <p:cNvSpPr/>
                <p:nvPr/>
              </p:nvSpPr>
              <p:spPr>
                <a:xfrm>
                  <a:off x="6383257" y="1483621"/>
                  <a:ext cx="244062" cy="244062"/>
                </a:xfrm>
                <a:custGeom>
                  <a:avLst/>
                  <a:gdLst>
                    <a:gd name="connsiteX0" fmla="*/ 130968 w 130968"/>
                    <a:gd name="connsiteY0" fmla="*/ 65484 h 130968"/>
                    <a:gd name="connsiteX1" fmla="*/ 65483 w 130968"/>
                    <a:gd name="connsiteY1" fmla="*/ 130969 h 130968"/>
                    <a:gd name="connsiteX2" fmla="*/ -1 w 130968"/>
                    <a:gd name="connsiteY2" fmla="*/ 65484 h 130968"/>
                    <a:gd name="connsiteX3" fmla="*/ 65483 w 130968"/>
                    <a:gd name="connsiteY3" fmla="*/ 0 h 130968"/>
                    <a:gd name="connsiteX4" fmla="*/ 130968 w 130968"/>
                    <a:gd name="connsiteY4" fmla="*/ 65484 h 13096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0968" h="130968">
                      <a:moveTo>
                        <a:pt x="130968" y="65484"/>
                      </a:moveTo>
                      <a:cubicBezTo>
                        <a:pt x="130968" y="101650"/>
                        <a:pt x="101649" y="130969"/>
                        <a:pt x="65483" y="130969"/>
                      </a:cubicBezTo>
                      <a:cubicBezTo>
                        <a:pt x="29317" y="130969"/>
                        <a:pt x="-1" y="101650"/>
                        <a:pt x="-1" y="65484"/>
                      </a:cubicBezTo>
                      <a:cubicBezTo>
                        <a:pt x="-1" y="29318"/>
                        <a:pt x="29317" y="0"/>
                        <a:pt x="65483" y="0"/>
                      </a:cubicBezTo>
                      <a:cubicBezTo>
                        <a:pt x="101649" y="0"/>
                        <a:pt x="130968" y="29318"/>
                        <a:pt x="130968" y="65484"/>
                      </a:cubicBezTo>
                      <a:close/>
                    </a:path>
                  </a:pathLst>
                </a:custGeom>
                <a:solidFill>
                  <a:srgbClr val="FFFFFF"/>
                </a:solidFill>
                <a:ln w="12700" cap="flat">
                  <a:solidFill>
                    <a:srgbClr val="333333"/>
                  </a:solidFill>
                  <a:prstDash val="solid"/>
                  <a:miter/>
                </a:ln>
              </p:spPr>
              <p:txBody>
                <a:bodyPr rtlCol="0" anchor="ctr"/>
                <a:lstStyle/>
                <a:p>
                  <a:endParaRPr lang="en-US"/>
                </a:p>
              </p:txBody>
            </p:sp>
            <p:sp>
              <p:nvSpPr>
                <p:cNvPr id="211" name="Freeform: Shape 98">
                  <a:extLst>
                    <a:ext uri="{FF2B5EF4-FFF2-40B4-BE49-F238E27FC236}">
                      <a16:creationId xmlns:a16="http://schemas.microsoft.com/office/drawing/2014/main" id="{D9715E6E-5B3A-6E3B-E3E8-569DA9C37A29}"/>
                    </a:ext>
                  </a:extLst>
                </p:cNvPr>
                <p:cNvSpPr/>
                <p:nvPr/>
              </p:nvSpPr>
              <p:spPr>
                <a:xfrm>
                  <a:off x="6383257" y="1949560"/>
                  <a:ext cx="244062" cy="244062"/>
                </a:xfrm>
                <a:custGeom>
                  <a:avLst/>
                  <a:gdLst>
                    <a:gd name="connsiteX0" fmla="*/ 130968 w 130968"/>
                    <a:gd name="connsiteY0" fmla="*/ 65484 h 130968"/>
                    <a:gd name="connsiteX1" fmla="*/ 65483 w 130968"/>
                    <a:gd name="connsiteY1" fmla="*/ 130969 h 130968"/>
                    <a:gd name="connsiteX2" fmla="*/ -1 w 130968"/>
                    <a:gd name="connsiteY2" fmla="*/ 65484 h 130968"/>
                    <a:gd name="connsiteX3" fmla="*/ 65483 w 130968"/>
                    <a:gd name="connsiteY3" fmla="*/ 0 h 130968"/>
                    <a:gd name="connsiteX4" fmla="*/ 130968 w 130968"/>
                    <a:gd name="connsiteY4" fmla="*/ 65484 h 13096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0968" h="130968">
                      <a:moveTo>
                        <a:pt x="130968" y="65484"/>
                      </a:moveTo>
                      <a:cubicBezTo>
                        <a:pt x="130968" y="101650"/>
                        <a:pt x="101649" y="130969"/>
                        <a:pt x="65483" y="130969"/>
                      </a:cubicBezTo>
                      <a:cubicBezTo>
                        <a:pt x="29317" y="130969"/>
                        <a:pt x="-1" y="101650"/>
                        <a:pt x="-1" y="65484"/>
                      </a:cubicBezTo>
                      <a:cubicBezTo>
                        <a:pt x="-1" y="29318"/>
                        <a:pt x="29317" y="0"/>
                        <a:pt x="65483" y="0"/>
                      </a:cubicBezTo>
                      <a:cubicBezTo>
                        <a:pt x="101649" y="0"/>
                        <a:pt x="130968" y="29318"/>
                        <a:pt x="130968" y="65484"/>
                      </a:cubicBezTo>
                      <a:close/>
                    </a:path>
                  </a:pathLst>
                </a:custGeom>
                <a:solidFill>
                  <a:srgbClr val="FFFFFF"/>
                </a:solidFill>
                <a:ln w="12700" cap="flat">
                  <a:solidFill>
                    <a:srgbClr val="333333"/>
                  </a:solidFill>
                  <a:prstDash val="solid"/>
                  <a:miter/>
                </a:ln>
              </p:spPr>
              <p:txBody>
                <a:bodyPr rtlCol="0" anchor="ctr"/>
                <a:lstStyle/>
                <a:p>
                  <a:endParaRPr lang="en-US"/>
                </a:p>
              </p:txBody>
            </p:sp>
            <p:sp>
              <p:nvSpPr>
                <p:cNvPr id="212" name="Freeform: Shape 99">
                  <a:extLst>
                    <a:ext uri="{FF2B5EF4-FFF2-40B4-BE49-F238E27FC236}">
                      <a16:creationId xmlns:a16="http://schemas.microsoft.com/office/drawing/2014/main" id="{7E5A92E8-E878-0F7A-07DD-70F7F9CD9D88}"/>
                    </a:ext>
                  </a:extLst>
                </p:cNvPr>
                <p:cNvSpPr/>
                <p:nvPr/>
              </p:nvSpPr>
              <p:spPr>
                <a:xfrm>
                  <a:off x="6383257" y="2415501"/>
                  <a:ext cx="244062" cy="244062"/>
                </a:xfrm>
                <a:custGeom>
                  <a:avLst/>
                  <a:gdLst>
                    <a:gd name="connsiteX0" fmla="*/ 130968 w 130968"/>
                    <a:gd name="connsiteY0" fmla="*/ 65484 h 130968"/>
                    <a:gd name="connsiteX1" fmla="*/ 65483 w 130968"/>
                    <a:gd name="connsiteY1" fmla="*/ 130969 h 130968"/>
                    <a:gd name="connsiteX2" fmla="*/ -1 w 130968"/>
                    <a:gd name="connsiteY2" fmla="*/ 65484 h 130968"/>
                    <a:gd name="connsiteX3" fmla="*/ 65483 w 130968"/>
                    <a:gd name="connsiteY3" fmla="*/ 0 h 130968"/>
                    <a:gd name="connsiteX4" fmla="*/ 130968 w 130968"/>
                    <a:gd name="connsiteY4" fmla="*/ 65484 h 13096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0968" h="130968">
                      <a:moveTo>
                        <a:pt x="130968" y="65484"/>
                      </a:moveTo>
                      <a:cubicBezTo>
                        <a:pt x="130968" y="101650"/>
                        <a:pt x="101649" y="130969"/>
                        <a:pt x="65483" y="130969"/>
                      </a:cubicBezTo>
                      <a:cubicBezTo>
                        <a:pt x="29317" y="130969"/>
                        <a:pt x="-1" y="101650"/>
                        <a:pt x="-1" y="65484"/>
                      </a:cubicBezTo>
                      <a:cubicBezTo>
                        <a:pt x="-1" y="29318"/>
                        <a:pt x="29317" y="0"/>
                        <a:pt x="65483" y="0"/>
                      </a:cubicBezTo>
                      <a:cubicBezTo>
                        <a:pt x="101649" y="0"/>
                        <a:pt x="130968" y="29318"/>
                        <a:pt x="130968" y="65484"/>
                      </a:cubicBezTo>
                      <a:close/>
                    </a:path>
                  </a:pathLst>
                </a:custGeom>
                <a:solidFill>
                  <a:srgbClr val="FFFFFF"/>
                </a:solidFill>
                <a:ln w="12700" cap="flat">
                  <a:solidFill>
                    <a:srgbClr val="333333"/>
                  </a:solidFill>
                  <a:prstDash val="solid"/>
                  <a:miter/>
                </a:ln>
              </p:spPr>
              <p:txBody>
                <a:bodyPr rtlCol="0" anchor="ctr"/>
                <a:lstStyle/>
                <a:p>
                  <a:endParaRPr lang="en-US"/>
                </a:p>
              </p:txBody>
            </p:sp>
            <p:sp>
              <p:nvSpPr>
                <p:cNvPr id="213" name="Freeform: Shape 100">
                  <a:extLst>
                    <a:ext uri="{FF2B5EF4-FFF2-40B4-BE49-F238E27FC236}">
                      <a16:creationId xmlns:a16="http://schemas.microsoft.com/office/drawing/2014/main" id="{3230A2F6-6EAA-7D61-E14C-4162154C53AB}"/>
                    </a:ext>
                  </a:extLst>
                </p:cNvPr>
                <p:cNvSpPr/>
                <p:nvPr/>
              </p:nvSpPr>
              <p:spPr>
                <a:xfrm>
                  <a:off x="6960135" y="1250651"/>
                  <a:ext cx="244062" cy="244062"/>
                </a:xfrm>
                <a:custGeom>
                  <a:avLst/>
                  <a:gdLst>
                    <a:gd name="connsiteX0" fmla="*/ 130968 w 130968"/>
                    <a:gd name="connsiteY0" fmla="*/ 65484 h 130968"/>
                    <a:gd name="connsiteX1" fmla="*/ 65483 w 130968"/>
                    <a:gd name="connsiteY1" fmla="*/ 130969 h 130968"/>
                    <a:gd name="connsiteX2" fmla="*/ -1 w 130968"/>
                    <a:gd name="connsiteY2" fmla="*/ 65484 h 130968"/>
                    <a:gd name="connsiteX3" fmla="*/ 65483 w 130968"/>
                    <a:gd name="connsiteY3" fmla="*/ 0 h 130968"/>
                    <a:gd name="connsiteX4" fmla="*/ 130968 w 130968"/>
                    <a:gd name="connsiteY4" fmla="*/ 65484 h 13096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0968" h="130968">
                      <a:moveTo>
                        <a:pt x="130968" y="65484"/>
                      </a:moveTo>
                      <a:cubicBezTo>
                        <a:pt x="130968" y="101650"/>
                        <a:pt x="101649" y="130969"/>
                        <a:pt x="65483" y="130969"/>
                      </a:cubicBezTo>
                      <a:cubicBezTo>
                        <a:pt x="29317" y="130969"/>
                        <a:pt x="-1" y="101650"/>
                        <a:pt x="-1" y="65484"/>
                      </a:cubicBezTo>
                      <a:cubicBezTo>
                        <a:pt x="-1" y="29318"/>
                        <a:pt x="29317" y="0"/>
                        <a:pt x="65483" y="0"/>
                      </a:cubicBezTo>
                      <a:cubicBezTo>
                        <a:pt x="101649" y="0"/>
                        <a:pt x="130968" y="29318"/>
                        <a:pt x="130968" y="65484"/>
                      </a:cubicBezTo>
                      <a:close/>
                    </a:path>
                  </a:pathLst>
                </a:custGeom>
                <a:solidFill>
                  <a:srgbClr val="FFFFFF"/>
                </a:solidFill>
                <a:ln w="12700" cap="flat">
                  <a:solidFill>
                    <a:srgbClr val="333333"/>
                  </a:solidFill>
                  <a:prstDash val="solid"/>
                  <a:miter/>
                </a:ln>
              </p:spPr>
              <p:txBody>
                <a:bodyPr rtlCol="0" anchor="ctr"/>
                <a:lstStyle/>
                <a:p>
                  <a:endParaRPr lang="en-US"/>
                </a:p>
              </p:txBody>
            </p:sp>
            <p:sp>
              <p:nvSpPr>
                <p:cNvPr id="214" name="Freeform: Shape 101">
                  <a:extLst>
                    <a:ext uri="{FF2B5EF4-FFF2-40B4-BE49-F238E27FC236}">
                      <a16:creationId xmlns:a16="http://schemas.microsoft.com/office/drawing/2014/main" id="{F9C21B40-481C-39AE-A680-C397267612C8}"/>
                    </a:ext>
                  </a:extLst>
                </p:cNvPr>
                <p:cNvSpPr/>
                <p:nvPr/>
              </p:nvSpPr>
              <p:spPr>
                <a:xfrm>
                  <a:off x="6960135" y="1716592"/>
                  <a:ext cx="244062" cy="244062"/>
                </a:xfrm>
                <a:custGeom>
                  <a:avLst/>
                  <a:gdLst>
                    <a:gd name="connsiteX0" fmla="*/ 130968 w 130968"/>
                    <a:gd name="connsiteY0" fmla="*/ 65484 h 130968"/>
                    <a:gd name="connsiteX1" fmla="*/ 65483 w 130968"/>
                    <a:gd name="connsiteY1" fmla="*/ 130969 h 130968"/>
                    <a:gd name="connsiteX2" fmla="*/ -1 w 130968"/>
                    <a:gd name="connsiteY2" fmla="*/ 65484 h 130968"/>
                    <a:gd name="connsiteX3" fmla="*/ 65483 w 130968"/>
                    <a:gd name="connsiteY3" fmla="*/ 0 h 130968"/>
                    <a:gd name="connsiteX4" fmla="*/ 130968 w 130968"/>
                    <a:gd name="connsiteY4" fmla="*/ 65484 h 13096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0968" h="130968">
                      <a:moveTo>
                        <a:pt x="130968" y="65484"/>
                      </a:moveTo>
                      <a:cubicBezTo>
                        <a:pt x="130968" y="101650"/>
                        <a:pt x="101649" y="130969"/>
                        <a:pt x="65483" y="130969"/>
                      </a:cubicBezTo>
                      <a:cubicBezTo>
                        <a:pt x="29317" y="130969"/>
                        <a:pt x="-1" y="101650"/>
                        <a:pt x="-1" y="65484"/>
                      </a:cubicBezTo>
                      <a:cubicBezTo>
                        <a:pt x="-1" y="29318"/>
                        <a:pt x="29317" y="0"/>
                        <a:pt x="65483" y="0"/>
                      </a:cubicBezTo>
                      <a:cubicBezTo>
                        <a:pt x="101649" y="0"/>
                        <a:pt x="130968" y="29318"/>
                        <a:pt x="130968" y="65484"/>
                      </a:cubicBezTo>
                      <a:close/>
                    </a:path>
                  </a:pathLst>
                </a:custGeom>
                <a:solidFill>
                  <a:srgbClr val="FFFFFF"/>
                </a:solidFill>
                <a:ln w="12700" cap="flat">
                  <a:solidFill>
                    <a:srgbClr val="333333"/>
                  </a:solidFill>
                  <a:prstDash val="solid"/>
                  <a:miter/>
                </a:ln>
              </p:spPr>
              <p:txBody>
                <a:bodyPr rtlCol="0" anchor="ctr"/>
                <a:lstStyle/>
                <a:p>
                  <a:endParaRPr lang="en-US"/>
                </a:p>
              </p:txBody>
            </p:sp>
            <p:sp>
              <p:nvSpPr>
                <p:cNvPr id="215" name="Freeform: Shape 102">
                  <a:extLst>
                    <a:ext uri="{FF2B5EF4-FFF2-40B4-BE49-F238E27FC236}">
                      <a16:creationId xmlns:a16="http://schemas.microsoft.com/office/drawing/2014/main" id="{92F68613-5DC5-B74C-BD97-47ABFE1BB314}"/>
                    </a:ext>
                  </a:extLst>
                </p:cNvPr>
                <p:cNvSpPr/>
                <p:nvPr/>
              </p:nvSpPr>
              <p:spPr>
                <a:xfrm>
                  <a:off x="6960135" y="2182530"/>
                  <a:ext cx="244062" cy="244062"/>
                </a:xfrm>
                <a:custGeom>
                  <a:avLst/>
                  <a:gdLst>
                    <a:gd name="connsiteX0" fmla="*/ 130968 w 130968"/>
                    <a:gd name="connsiteY0" fmla="*/ 65484 h 130968"/>
                    <a:gd name="connsiteX1" fmla="*/ 65483 w 130968"/>
                    <a:gd name="connsiteY1" fmla="*/ 130969 h 130968"/>
                    <a:gd name="connsiteX2" fmla="*/ -1 w 130968"/>
                    <a:gd name="connsiteY2" fmla="*/ 65484 h 130968"/>
                    <a:gd name="connsiteX3" fmla="*/ 65483 w 130968"/>
                    <a:gd name="connsiteY3" fmla="*/ 0 h 130968"/>
                    <a:gd name="connsiteX4" fmla="*/ 130968 w 130968"/>
                    <a:gd name="connsiteY4" fmla="*/ 65484 h 13096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0968" h="130968">
                      <a:moveTo>
                        <a:pt x="130968" y="65484"/>
                      </a:moveTo>
                      <a:cubicBezTo>
                        <a:pt x="130968" y="101650"/>
                        <a:pt x="101649" y="130969"/>
                        <a:pt x="65483" y="130969"/>
                      </a:cubicBezTo>
                      <a:cubicBezTo>
                        <a:pt x="29317" y="130969"/>
                        <a:pt x="-1" y="101650"/>
                        <a:pt x="-1" y="65484"/>
                      </a:cubicBezTo>
                      <a:cubicBezTo>
                        <a:pt x="-1" y="29318"/>
                        <a:pt x="29317" y="0"/>
                        <a:pt x="65483" y="0"/>
                      </a:cubicBezTo>
                      <a:cubicBezTo>
                        <a:pt x="101649" y="0"/>
                        <a:pt x="130968" y="29318"/>
                        <a:pt x="130968" y="65484"/>
                      </a:cubicBezTo>
                      <a:close/>
                    </a:path>
                  </a:pathLst>
                </a:custGeom>
                <a:solidFill>
                  <a:srgbClr val="FFFFFF"/>
                </a:solidFill>
                <a:ln w="12700" cap="flat">
                  <a:solidFill>
                    <a:srgbClr val="333333"/>
                  </a:solidFill>
                  <a:prstDash val="solid"/>
                  <a:miter/>
                </a:ln>
              </p:spPr>
              <p:txBody>
                <a:bodyPr rtlCol="0" anchor="ctr"/>
                <a:lstStyle/>
                <a:p>
                  <a:endParaRPr lang="en-US"/>
                </a:p>
              </p:txBody>
            </p:sp>
            <p:sp>
              <p:nvSpPr>
                <p:cNvPr id="216" name="Freeform: Shape 103">
                  <a:extLst>
                    <a:ext uri="{FF2B5EF4-FFF2-40B4-BE49-F238E27FC236}">
                      <a16:creationId xmlns:a16="http://schemas.microsoft.com/office/drawing/2014/main" id="{39EF49A7-6DF2-BE4A-628D-199A5FC158CD}"/>
                    </a:ext>
                  </a:extLst>
                </p:cNvPr>
                <p:cNvSpPr/>
                <p:nvPr/>
              </p:nvSpPr>
              <p:spPr>
                <a:xfrm>
                  <a:off x="6960135" y="2648469"/>
                  <a:ext cx="244062" cy="244062"/>
                </a:xfrm>
                <a:custGeom>
                  <a:avLst/>
                  <a:gdLst>
                    <a:gd name="connsiteX0" fmla="*/ 130968 w 130968"/>
                    <a:gd name="connsiteY0" fmla="*/ 65484 h 130968"/>
                    <a:gd name="connsiteX1" fmla="*/ 65483 w 130968"/>
                    <a:gd name="connsiteY1" fmla="*/ 130969 h 130968"/>
                    <a:gd name="connsiteX2" fmla="*/ -1 w 130968"/>
                    <a:gd name="connsiteY2" fmla="*/ 65484 h 130968"/>
                    <a:gd name="connsiteX3" fmla="*/ 65483 w 130968"/>
                    <a:gd name="connsiteY3" fmla="*/ 0 h 130968"/>
                    <a:gd name="connsiteX4" fmla="*/ 130968 w 130968"/>
                    <a:gd name="connsiteY4" fmla="*/ 65484 h 13096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0968" h="130968">
                      <a:moveTo>
                        <a:pt x="130968" y="65484"/>
                      </a:moveTo>
                      <a:cubicBezTo>
                        <a:pt x="130968" y="101650"/>
                        <a:pt x="101649" y="130969"/>
                        <a:pt x="65483" y="130969"/>
                      </a:cubicBezTo>
                      <a:cubicBezTo>
                        <a:pt x="29317" y="130969"/>
                        <a:pt x="-1" y="101650"/>
                        <a:pt x="-1" y="65484"/>
                      </a:cubicBezTo>
                      <a:cubicBezTo>
                        <a:pt x="-1" y="29318"/>
                        <a:pt x="29317" y="0"/>
                        <a:pt x="65483" y="0"/>
                      </a:cubicBezTo>
                      <a:cubicBezTo>
                        <a:pt x="101649" y="0"/>
                        <a:pt x="130968" y="29318"/>
                        <a:pt x="130968" y="65484"/>
                      </a:cubicBezTo>
                      <a:close/>
                    </a:path>
                  </a:pathLst>
                </a:custGeom>
                <a:solidFill>
                  <a:srgbClr val="FFFFFF"/>
                </a:solidFill>
                <a:ln w="12700" cap="flat">
                  <a:solidFill>
                    <a:srgbClr val="333333"/>
                  </a:solidFill>
                  <a:prstDash val="solid"/>
                  <a:miter/>
                </a:ln>
              </p:spPr>
              <p:txBody>
                <a:bodyPr rtlCol="0" anchor="ctr"/>
                <a:lstStyle/>
                <a:p>
                  <a:endParaRPr lang="en-US"/>
                </a:p>
              </p:txBody>
            </p:sp>
            <p:sp>
              <p:nvSpPr>
                <p:cNvPr id="217" name="Freeform: Shape 104">
                  <a:extLst>
                    <a:ext uri="{FF2B5EF4-FFF2-40B4-BE49-F238E27FC236}">
                      <a16:creationId xmlns:a16="http://schemas.microsoft.com/office/drawing/2014/main" id="{DC557305-E09D-B2B3-D995-3323A5D61955}"/>
                    </a:ext>
                  </a:extLst>
                </p:cNvPr>
                <p:cNvSpPr/>
                <p:nvPr/>
              </p:nvSpPr>
              <p:spPr>
                <a:xfrm>
                  <a:off x="7537011" y="1483621"/>
                  <a:ext cx="244062" cy="244062"/>
                </a:xfrm>
                <a:custGeom>
                  <a:avLst/>
                  <a:gdLst>
                    <a:gd name="connsiteX0" fmla="*/ 130968 w 130968"/>
                    <a:gd name="connsiteY0" fmla="*/ 65484 h 130968"/>
                    <a:gd name="connsiteX1" fmla="*/ 65483 w 130968"/>
                    <a:gd name="connsiteY1" fmla="*/ 130969 h 130968"/>
                    <a:gd name="connsiteX2" fmla="*/ -1 w 130968"/>
                    <a:gd name="connsiteY2" fmla="*/ 65484 h 130968"/>
                    <a:gd name="connsiteX3" fmla="*/ 65483 w 130968"/>
                    <a:gd name="connsiteY3" fmla="*/ 0 h 130968"/>
                    <a:gd name="connsiteX4" fmla="*/ 130968 w 130968"/>
                    <a:gd name="connsiteY4" fmla="*/ 65484 h 13096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0968" h="130968">
                      <a:moveTo>
                        <a:pt x="130968" y="65484"/>
                      </a:moveTo>
                      <a:cubicBezTo>
                        <a:pt x="130968" y="101650"/>
                        <a:pt x="101649" y="130969"/>
                        <a:pt x="65483" y="130969"/>
                      </a:cubicBezTo>
                      <a:cubicBezTo>
                        <a:pt x="29317" y="130969"/>
                        <a:pt x="-1" y="101650"/>
                        <a:pt x="-1" y="65484"/>
                      </a:cubicBezTo>
                      <a:cubicBezTo>
                        <a:pt x="-1" y="29318"/>
                        <a:pt x="29317" y="0"/>
                        <a:pt x="65483" y="0"/>
                      </a:cubicBezTo>
                      <a:cubicBezTo>
                        <a:pt x="101649" y="0"/>
                        <a:pt x="130968" y="29318"/>
                        <a:pt x="130968" y="65484"/>
                      </a:cubicBezTo>
                      <a:close/>
                    </a:path>
                  </a:pathLst>
                </a:custGeom>
                <a:solidFill>
                  <a:srgbClr val="FFFFFF"/>
                </a:solidFill>
                <a:ln w="12700" cap="flat">
                  <a:solidFill>
                    <a:srgbClr val="333333"/>
                  </a:solidFill>
                  <a:prstDash val="solid"/>
                  <a:miter/>
                </a:ln>
              </p:spPr>
              <p:txBody>
                <a:bodyPr rtlCol="0" anchor="ctr"/>
                <a:lstStyle/>
                <a:p>
                  <a:endParaRPr lang="en-US"/>
                </a:p>
              </p:txBody>
            </p:sp>
            <p:sp>
              <p:nvSpPr>
                <p:cNvPr id="218" name="Freeform: Shape 105">
                  <a:extLst>
                    <a:ext uri="{FF2B5EF4-FFF2-40B4-BE49-F238E27FC236}">
                      <a16:creationId xmlns:a16="http://schemas.microsoft.com/office/drawing/2014/main" id="{6D387983-BC26-972D-CBE8-BD44049767C0}"/>
                    </a:ext>
                  </a:extLst>
                </p:cNvPr>
                <p:cNvSpPr/>
                <p:nvPr/>
              </p:nvSpPr>
              <p:spPr>
                <a:xfrm>
                  <a:off x="7537011" y="1949560"/>
                  <a:ext cx="244062" cy="244062"/>
                </a:xfrm>
                <a:custGeom>
                  <a:avLst/>
                  <a:gdLst>
                    <a:gd name="connsiteX0" fmla="*/ 130968 w 130968"/>
                    <a:gd name="connsiteY0" fmla="*/ 65484 h 130968"/>
                    <a:gd name="connsiteX1" fmla="*/ 65483 w 130968"/>
                    <a:gd name="connsiteY1" fmla="*/ 130969 h 130968"/>
                    <a:gd name="connsiteX2" fmla="*/ -1 w 130968"/>
                    <a:gd name="connsiteY2" fmla="*/ 65484 h 130968"/>
                    <a:gd name="connsiteX3" fmla="*/ 65483 w 130968"/>
                    <a:gd name="connsiteY3" fmla="*/ 0 h 130968"/>
                    <a:gd name="connsiteX4" fmla="*/ 130968 w 130968"/>
                    <a:gd name="connsiteY4" fmla="*/ 65484 h 13096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0968" h="130968">
                      <a:moveTo>
                        <a:pt x="130968" y="65484"/>
                      </a:moveTo>
                      <a:cubicBezTo>
                        <a:pt x="130968" y="101650"/>
                        <a:pt x="101649" y="130969"/>
                        <a:pt x="65483" y="130969"/>
                      </a:cubicBezTo>
                      <a:cubicBezTo>
                        <a:pt x="29317" y="130969"/>
                        <a:pt x="-1" y="101650"/>
                        <a:pt x="-1" y="65484"/>
                      </a:cubicBezTo>
                      <a:cubicBezTo>
                        <a:pt x="-1" y="29318"/>
                        <a:pt x="29317" y="0"/>
                        <a:pt x="65483" y="0"/>
                      </a:cubicBezTo>
                      <a:cubicBezTo>
                        <a:pt x="101649" y="0"/>
                        <a:pt x="130968" y="29318"/>
                        <a:pt x="130968" y="65484"/>
                      </a:cubicBezTo>
                      <a:close/>
                    </a:path>
                  </a:pathLst>
                </a:custGeom>
                <a:solidFill>
                  <a:srgbClr val="FFFFFF"/>
                </a:solidFill>
                <a:ln w="12700" cap="flat">
                  <a:solidFill>
                    <a:srgbClr val="333333"/>
                  </a:solidFill>
                  <a:prstDash val="solid"/>
                  <a:miter/>
                </a:ln>
              </p:spPr>
              <p:txBody>
                <a:bodyPr rtlCol="0" anchor="ctr"/>
                <a:lstStyle/>
                <a:p>
                  <a:endParaRPr lang="en-US"/>
                </a:p>
              </p:txBody>
            </p:sp>
            <p:sp>
              <p:nvSpPr>
                <p:cNvPr id="219" name="Freeform: Shape 106">
                  <a:extLst>
                    <a:ext uri="{FF2B5EF4-FFF2-40B4-BE49-F238E27FC236}">
                      <a16:creationId xmlns:a16="http://schemas.microsoft.com/office/drawing/2014/main" id="{91C92B92-BED5-1196-89A2-799FEF34C8C0}"/>
                    </a:ext>
                  </a:extLst>
                </p:cNvPr>
                <p:cNvSpPr/>
                <p:nvPr/>
              </p:nvSpPr>
              <p:spPr>
                <a:xfrm>
                  <a:off x="7537011" y="2415501"/>
                  <a:ext cx="244062" cy="244062"/>
                </a:xfrm>
                <a:custGeom>
                  <a:avLst/>
                  <a:gdLst>
                    <a:gd name="connsiteX0" fmla="*/ 130968 w 130968"/>
                    <a:gd name="connsiteY0" fmla="*/ 65484 h 130968"/>
                    <a:gd name="connsiteX1" fmla="*/ 65483 w 130968"/>
                    <a:gd name="connsiteY1" fmla="*/ 130969 h 130968"/>
                    <a:gd name="connsiteX2" fmla="*/ -1 w 130968"/>
                    <a:gd name="connsiteY2" fmla="*/ 65484 h 130968"/>
                    <a:gd name="connsiteX3" fmla="*/ 65483 w 130968"/>
                    <a:gd name="connsiteY3" fmla="*/ 0 h 130968"/>
                    <a:gd name="connsiteX4" fmla="*/ 130968 w 130968"/>
                    <a:gd name="connsiteY4" fmla="*/ 65484 h 13096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0968" h="130968">
                      <a:moveTo>
                        <a:pt x="130968" y="65484"/>
                      </a:moveTo>
                      <a:cubicBezTo>
                        <a:pt x="130968" y="101650"/>
                        <a:pt x="101649" y="130969"/>
                        <a:pt x="65483" y="130969"/>
                      </a:cubicBezTo>
                      <a:cubicBezTo>
                        <a:pt x="29317" y="130969"/>
                        <a:pt x="-1" y="101650"/>
                        <a:pt x="-1" y="65484"/>
                      </a:cubicBezTo>
                      <a:cubicBezTo>
                        <a:pt x="-1" y="29318"/>
                        <a:pt x="29317" y="0"/>
                        <a:pt x="65483" y="0"/>
                      </a:cubicBezTo>
                      <a:cubicBezTo>
                        <a:pt x="101649" y="0"/>
                        <a:pt x="130968" y="29318"/>
                        <a:pt x="130968" y="65484"/>
                      </a:cubicBezTo>
                      <a:close/>
                    </a:path>
                  </a:pathLst>
                </a:custGeom>
                <a:solidFill>
                  <a:srgbClr val="FFFFFF"/>
                </a:solidFill>
                <a:ln w="12700" cap="flat">
                  <a:solidFill>
                    <a:srgbClr val="333333"/>
                  </a:solidFill>
                  <a:prstDash val="solid"/>
                  <a:miter/>
                </a:ln>
              </p:spPr>
              <p:txBody>
                <a:bodyPr rtlCol="0" anchor="ctr"/>
                <a:lstStyle/>
                <a:p>
                  <a:endParaRPr lang="en-US"/>
                </a:p>
              </p:txBody>
            </p:sp>
            <p:sp>
              <p:nvSpPr>
                <p:cNvPr id="220" name="Freeform: Shape 107">
                  <a:extLst>
                    <a:ext uri="{FF2B5EF4-FFF2-40B4-BE49-F238E27FC236}">
                      <a16:creationId xmlns:a16="http://schemas.microsoft.com/office/drawing/2014/main" id="{5A7A2F89-FA0A-8573-FC02-512C8CACB657}"/>
                    </a:ext>
                  </a:extLst>
                </p:cNvPr>
                <p:cNvSpPr/>
                <p:nvPr/>
              </p:nvSpPr>
              <p:spPr>
                <a:xfrm>
                  <a:off x="8113889" y="1949560"/>
                  <a:ext cx="244062" cy="244062"/>
                </a:xfrm>
                <a:custGeom>
                  <a:avLst/>
                  <a:gdLst>
                    <a:gd name="connsiteX0" fmla="*/ 130968 w 130968"/>
                    <a:gd name="connsiteY0" fmla="*/ 65484 h 130968"/>
                    <a:gd name="connsiteX1" fmla="*/ 65483 w 130968"/>
                    <a:gd name="connsiteY1" fmla="*/ 130969 h 130968"/>
                    <a:gd name="connsiteX2" fmla="*/ -1 w 130968"/>
                    <a:gd name="connsiteY2" fmla="*/ 65484 h 130968"/>
                    <a:gd name="connsiteX3" fmla="*/ 65483 w 130968"/>
                    <a:gd name="connsiteY3" fmla="*/ 0 h 130968"/>
                    <a:gd name="connsiteX4" fmla="*/ 130968 w 130968"/>
                    <a:gd name="connsiteY4" fmla="*/ 65484 h 13096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0968" h="130968">
                      <a:moveTo>
                        <a:pt x="130968" y="65484"/>
                      </a:moveTo>
                      <a:cubicBezTo>
                        <a:pt x="130968" y="101650"/>
                        <a:pt x="101649" y="130969"/>
                        <a:pt x="65483" y="130969"/>
                      </a:cubicBezTo>
                      <a:cubicBezTo>
                        <a:pt x="29317" y="130969"/>
                        <a:pt x="-1" y="101650"/>
                        <a:pt x="-1" y="65484"/>
                      </a:cubicBezTo>
                      <a:cubicBezTo>
                        <a:pt x="-1" y="29318"/>
                        <a:pt x="29317" y="0"/>
                        <a:pt x="65483" y="0"/>
                      </a:cubicBezTo>
                      <a:cubicBezTo>
                        <a:pt x="101649" y="0"/>
                        <a:pt x="130968" y="29318"/>
                        <a:pt x="130968" y="65484"/>
                      </a:cubicBezTo>
                      <a:close/>
                    </a:path>
                  </a:pathLst>
                </a:custGeom>
                <a:solidFill>
                  <a:srgbClr val="FFFFFF"/>
                </a:solidFill>
                <a:ln w="12700" cap="flat">
                  <a:solidFill>
                    <a:srgbClr val="333333"/>
                  </a:solidFill>
                  <a:prstDash val="solid"/>
                  <a:miter/>
                </a:ln>
              </p:spPr>
              <p:txBody>
                <a:bodyPr rtlCol="0" anchor="ctr"/>
                <a:lstStyle/>
                <a:p>
                  <a:endParaRPr lang="en-US"/>
                </a:p>
              </p:txBody>
            </p:sp>
          </p:grpSp>
        </p:grpSp>
      </p:grpSp>
      <p:grpSp>
        <p:nvGrpSpPr>
          <p:cNvPr id="221" name="Group 220">
            <a:extLst>
              <a:ext uri="{FF2B5EF4-FFF2-40B4-BE49-F238E27FC236}">
                <a16:creationId xmlns:a16="http://schemas.microsoft.com/office/drawing/2014/main" id="{9293E1F7-E462-7BC6-09A5-5BCEE381D0EB}"/>
              </a:ext>
            </a:extLst>
          </p:cNvPr>
          <p:cNvGrpSpPr/>
          <p:nvPr/>
        </p:nvGrpSpPr>
        <p:grpSpPr>
          <a:xfrm>
            <a:off x="10217885" y="3729576"/>
            <a:ext cx="573484" cy="743628"/>
            <a:chOff x="10219371" y="3724370"/>
            <a:chExt cx="667658" cy="865742"/>
          </a:xfrm>
        </p:grpSpPr>
        <p:sp>
          <p:nvSpPr>
            <p:cNvPr id="222" name="TextBox 221">
              <a:extLst>
                <a:ext uri="{FF2B5EF4-FFF2-40B4-BE49-F238E27FC236}">
                  <a16:creationId xmlns:a16="http://schemas.microsoft.com/office/drawing/2014/main" id="{DFAFCADF-E7A3-ADAA-DB76-39F45B54452A}"/>
                </a:ext>
              </a:extLst>
            </p:cNvPr>
            <p:cNvSpPr txBox="1"/>
            <p:nvPr/>
          </p:nvSpPr>
          <p:spPr>
            <a:xfrm>
              <a:off x="10219371" y="3724370"/>
              <a:ext cx="667658" cy="437692"/>
            </a:xfrm>
            <a:prstGeom prst="rect">
              <a:avLst/>
            </a:prstGeom>
            <a:noFill/>
          </p:spPr>
          <p:txBody>
            <a:bodyPr wrap="none" rtlCol="0">
              <a:spAutoFit/>
            </a:bodyPr>
            <a:lstStyle/>
            <a:p>
              <a:pPr algn="ctr">
                <a:lnSpc>
                  <a:spcPct val="75000"/>
                </a:lnSpc>
              </a:pPr>
              <a:r>
                <a:rPr lang="en-US" sz="1400" b="1" dirty="0">
                  <a:latin typeface="UGent Panno Text" panose="02000506040000040003" pitchFamily="2" charset="0"/>
                </a:rPr>
                <a:t>DDT</a:t>
              </a:r>
            </a:p>
            <a:p>
              <a:pPr algn="ctr">
                <a:lnSpc>
                  <a:spcPct val="75000"/>
                </a:lnSpc>
              </a:pPr>
              <a:r>
                <a:rPr lang="en-US" sz="1400" dirty="0">
                  <a:latin typeface="UGent Panno Text" panose="02000506040000040003" pitchFamily="2" charset="0"/>
                </a:rPr>
                <a:t>depth 2</a:t>
              </a:r>
              <a:endParaRPr lang="en-BE" sz="1400" dirty="0">
                <a:latin typeface="UGent Panno Text" panose="02000506040000040003" pitchFamily="2" charset="0"/>
              </a:endParaRPr>
            </a:p>
          </p:txBody>
        </p:sp>
        <p:grpSp>
          <p:nvGrpSpPr>
            <p:cNvPr id="223" name="Group 222">
              <a:extLst>
                <a:ext uri="{FF2B5EF4-FFF2-40B4-BE49-F238E27FC236}">
                  <a16:creationId xmlns:a16="http://schemas.microsoft.com/office/drawing/2014/main" id="{64417538-A50C-E987-A663-38A5842F0B1B}"/>
                </a:ext>
              </a:extLst>
            </p:cNvPr>
            <p:cNvGrpSpPr/>
            <p:nvPr/>
          </p:nvGrpSpPr>
          <p:grpSpPr>
            <a:xfrm>
              <a:off x="10327477" y="4173884"/>
              <a:ext cx="451446" cy="416228"/>
              <a:chOff x="2519406" y="4829195"/>
              <a:chExt cx="1366363" cy="1259770"/>
            </a:xfrm>
          </p:grpSpPr>
          <p:sp>
            <p:nvSpPr>
              <p:cNvPr id="224" name="Rounded Rectangle 223">
                <a:extLst>
                  <a:ext uri="{FF2B5EF4-FFF2-40B4-BE49-F238E27FC236}">
                    <a16:creationId xmlns:a16="http://schemas.microsoft.com/office/drawing/2014/main" id="{B19BEA46-2060-C441-B1C1-9E6EC9554AFF}"/>
                  </a:ext>
                </a:extLst>
              </p:cNvPr>
              <p:cNvSpPr/>
              <p:nvPr/>
            </p:nvSpPr>
            <p:spPr>
              <a:xfrm>
                <a:off x="2519406" y="4829195"/>
                <a:ext cx="1366363" cy="1259770"/>
              </a:xfrm>
              <a:prstGeom prst="roundRect">
                <a:avLst/>
              </a:prstGeom>
              <a:solidFill>
                <a:schemeClr val="bg1">
                  <a:lumMod val="95000"/>
                </a:schemeClr>
              </a:solid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BE"/>
              </a:p>
            </p:txBody>
          </p:sp>
          <p:pic>
            <p:nvPicPr>
              <p:cNvPr id="225" name="Graphic 224" descr="Decision chart outline">
                <a:extLst>
                  <a:ext uri="{FF2B5EF4-FFF2-40B4-BE49-F238E27FC236}">
                    <a16:creationId xmlns:a16="http://schemas.microsoft.com/office/drawing/2014/main" id="{1B2F5827-3EC3-C074-BAAB-1FD17E563BB4}"/>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2615672" y="4872165"/>
                <a:ext cx="1173831" cy="1173831"/>
              </a:xfrm>
              <a:prstGeom prst="rect">
                <a:avLst/>
              </a:prstGeom>
            </p:spPr>
          </p:pic>
        </p:grpSp>
      </p:grpSp>
      <p:grpSp>
        <p:nvGrpSpPr>
          <p:cNvPr id="226" name="Group 225">
            <a:extLst>
              <a:ext uri="{FF2B5EF4-FFF2-40B4-BE49-F238E27FC236}">
                <a16:creationId xmlns:a16="http://schemas.microsoft.com/office/drawing/2014/main" id="{A0726A31-937E-EEFA-DA8E-CA178F52BA40}"/>
              </a:ext>
            </a:extLst>
          </p:cNvPr>
          <p:cNvGrpSpPr/>
          <p:nvPr/>
        </p:nvGrpSpPr>
        <p:grpSpPr>
          <a:xfrm>
            <a:off x="10216480" y="2632150"/>
            <a:ext cx="576294" cy="752349"/>
            <a:chOff x="10217736" y="2627868"/>
            <a:chExt cx="670929" cy="875897"/>
          </a:xfrm>
        </p:grpSpPr>
        <p:sp>
          <p:nvSpPr>
            <p:cNvPr id="227" name="TextBox 226">
              <a:extLst>
                <a:ext uri="{FF2B5EF4-FFF2-40B4-BE49-F238E27FC236}">
                  <a16:creationId xmlns:a16="http://schemas.microsoft.com/office/drawing/2014/main" id="{D40EAA30-A387-F69D-35E5-12F1A5E3389C}"/>
                </a:ext>
              </a:extLst>
            </p:cNvPr>
            <p:cNvSpPr txBox="1"/>
            <p:nvPr/>
          </p:nvSpPr>
          <p:spPr>
            <a:xfrm>
              <a:off x="10217736" y="2627868"/>
              <a:ext cx="670929" cy="437692"/>
            </a:xfrm>
            <a:prstGeom prst="rect">
              <a:avLst/>
            </a:prstGeom>
            <a:noFill/>
          </p:spPr>
          <p:txBody>
            <a:bodyPr wrap="none" rtlCol="0">
              <a:spAutoFit/>
            </a:bodyPr>
            <a:lstStyle/>
            <a:p>
              <a:pPr algn="ctr">
                <a:lnSpc>
                  <a:spcPct val="75000"/>
                </a:lnSpc>
              </a:pPr>
              <a:r>
                <a:rPr lang="en-US" sz="1400" b="1" dirty="0">
                  <a:latin typeface="UGent Panno Text" panose="02000506040000040003" pitchFamily="2" charset="0"/>
                </a:rPr>
                <a:t>DDT</a:t>
              </a:r>
            </a:p>
            <a:p>
              <a:pPr algn="ctr">
                <a:lnSpc>
                  <a:spcPct val="75000"/>
                </a:lnSpc>
              </a:pPr>
              <a:r>
                <a:rPr lang="en-US" sz="1400" dirty="0">
                  <a:latin typeface="UGent Panno Text" panose="02000506040000040003" pitchFamily="2" charset="0"/>
                </a:rPr>
                <a:t>depth 3</a:t>
              </a:r>
              <a:endParaRPr lang="en-BE" sz="1400" dirty="0">
                <a:latin typeface="UGent Panno Text" panose="02000506040000040003" pitchFamily="2" charset="0"/>
              </a:endParaRPr>
            </a:p>
          </p:txBody>
        </p:sp>
        <p:grpSp>
          <p:nvGrpSpPr>
            <p:cNvPr id="228" name="Group 227">
              <a:extLst>
                <a:ext uri="{FF2B5EF4-FFF2-40B4-BE49-F238E27FC236}">
                  <a16:creationId xmlns:a16="http://schemas.microsoft.com/office/drawing/2014/main" id="{040D2EE7-5E6C-D15B-E6CC-C5C177B9A088}"/>
                </a:ext>
              </a:extLst>
            </p:cNvPr>
            <p:cNvGrpSpPr/>
            <p:nvPr/>
          </p:nvGrpSpPr>
          <p:grpSpPr>
            <a:xfrm>
              <a:off x="10327477" y="3087537"/>
              <a:ext cx="451446" cy="416228"/>
              <a:chOff x="2519406" y="4829195"/>
              <a:chExt cx="1366363" cy="1259770"/>
            </a:xfrm>
          </p:grpSpPr>
          <p:sp>
            <p:nvSpPr>
              <p:cNvPr id="229" name="Rounded Rectangle 228">
                <a:extLst>
                  <a:ext uri="{FF2B5EF4-FFF2-40B4-BE49-F238E27FC236}">
                    <a16:creationId xmlns:a16="http://schemas.microsoft.com/office/drawing/2014/main" id="{E2169810-537B-C958-0C1A-6D0FBC619FFB}"/>
                  </a:ext>
                </a:extLst>
              </p:cNvPr>
              <p:cNvSpPr/>
              <p:nvPr/>
            </p:nvSpPr>
            <p:spPr>
              <a:xfrm>
                <a:off x="2519406" y="4829195"/>
                <a:ext cx="1366363" cy="1259770"/>
              </a:xfrm>
              <a:prstGeom prst="roundRect">
                <a:avLst/>
              </a:prstGeom>
              <a:solidFill>
                <a:schemeClr val="bg1">
                  <a:lumMod val="95000"/>
                </a:schemeClr>
              </a:solid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BE"/>
              </a:p>
            </p:txBody>
          </p:sp>
          <p:pic>
            <p:nvPicPr>
              <p:cNvPr id="230" name="Graphic 229" descr="Decision chart outline">
                <a:extLst>
                  <a:ext uri="{FF2B5EF4-FFF2-40B4-BE49-F238E27FC236}">
                    <a16:creationId xmlns:a16="http://schemas.microsoft.com/office/drawing/2014/main" id="{1C6D1FA9-D862-3F1E-2A3A-B6B24CF220CD}"/>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2615672" y="4872165"/>
                <a:ext cx="1173831" cy="1173831"/>
              </a:xfrm>
              <a:prstGeom prst="rect">
                <a:avLst/>
              </a:prstGeom>
            </p:spPr>
          </p:pic>
        </p:grpSp>
      </p:grpSp>
      <p:grpSp>
        <p:nvGrpSpPr>
          <p:cNvPr id="25" name="Group 24">
            <a:extLst>
              <a:ext uri="{FF2B5EF4-FFF2-40B4-BE49-F238E27FC236}">
                <a16:creationId xmlns:a16="http://schemas.microsoft.com/office/drawing/2014/main" id="{284C1F46-D42D-D776-BB81-226B4B362C3B}"/>
              </a:ext>
            </a:extLst>
          </p:cNvPr>
          <p:cNvGrpSpPr/>
          <p:nvPr/>
        </p:nvGrpSpPr>
        <p:grpSpPr>
          <a:xfrm>
            <a:off x="6388148" y="2174380"/>
            <a:ext cx="3773849" cy="2855486"/>
            <a:chOff x="6388148" y="2174380"/>
            <a:chExt cx="3773849" cy="2855486"/>
          </a:xfrm>
        </p:grpSpPr>
        <p:sp>
          <p:nvSpPr>
            <p:cNvPr id="5" name="TextBox 4">
              <a:extLst>
                <a:ext uri="{FF2B5EF4-FFF2-40B4-BE49-F238E27FC236}">
                  <a16:creationId xmlns:a16="http://schemas.microsoft.com/office/drawing/2014/main" id="{DF0E2A33-274A-4C5C-78EE-EEB3565DD525}"/>
                </a:ext>
              </a:extLst>
            </p:cNvPr>
            <p:cNvSpPr txBox="1"/>
            <p:nvPr/>
          </p:nvSpPr>
          <p:spPr>
            <a:xfrm>
              <a:off x="7003870" y="2174380"/>
              <a:ext cx="941284" cy="369332"/>
            </a:xfrm>
            <a:prstGeom prst="rect">
              <a:avLst/>
            </a:prstGeom>
            <a:solidFill>
              <a:srgbClr val="FFFFFF"/>
            </a:solidFill>
          </p:spPr>
          <p:txBody>
            <a:bodyPr wrap="none" rtlCol="0">
              <a:spAutoFit/>
            </a:bodyPr>
            <a:lstStyle/>
            <a:p>
              <a:pPr algn="ctr"/>
              <a:r>
                <a:rPr lang="en-BE" sz="1800" dirty="0">
                  <a:latin typeface="+mn-lt"/>
                </a:rPr>
                <a:t>Low Load</a:t>
              </a:r>
            </a:p>
          </p:txBody>
        </p:sp>
        <p:sp>
          <p:nvSpPr>
            <p:cNvPr id="19" name="TextBox 18">
              <a:extLst>
                <a:ext uri="{FF2B5EF4-FFF2-40B4-BE49-F238E27FC236}">
                  <a16:creationId xmlns:a16="http://schemas.microsoft.com/office/drawing/2014/main" id="{7C01BEBA-4F44-84BD-C767-51AAD39026EF}"/>
                </a:ext>
              </a:extLst>
            </p:cNvPr>
            <p:cNvSpPr txBox="1"/>
            <p:nvPr/>
          </p:nvSpPr>
          <p:spPr>
            <a:xfrm>
              <a:off x="8107475" y="2174380"/>
              <a:ext cx="984565" cy="369332"/>
            </a:xfrm>
            <a:prstGeom prst="rect">
              <a:avLst/>
            </a:prstGeom>
            <a:solidFill>
              <a:srgbClr val="FFFFFF"/>
            </a:solidFill>
          </p:spPr>
          <p:txBody>
            <a:bodyPr wrap="none" rtlCol="0">
              <a:spAutoFit/>
            </a:bodyPr>
            <a:lstStyle/>
            <a:p>
              <a:pPr algn="ctr"/>
              <a:r>
                <a:rPr lang="en-BE" sz="1800" dirty="0">
                  <a:latin typeface="+mn-lt"/>
                </a:rPr>
                <a:t>Med. Load</a:t>
              </a:r>
            </a:p>
          </p:txBody>
        </p:sp>
        <p:sp>
          <p:nvSpPr>
            <p:cNvPr id="20" name="TextBox 19">
              <a:extLst>
                <a:ext uri="{FF2B5EF4-FFF2-40B4-BE49-F238E27FC236}">
                  <a16:creationId xmlns:a16="http://schemas.microsoft.com/office/drawing/2014/main" id="{2F7CA93B-8B1A-F57C-F308-DADEEAB3B9F5}"/>
                </a:ext>
              </a:extLst>
            </p:cNvPr>
            <p:cNvSpPr txBox="1"/>
            <p:nvPr/>
          </p:nvSpPr>
          <p:spPr>
            <a:xfrm>
              <a:off x="9174226" y="2174380"/>
              <a:ext cx="987771" cy="369332"/>
            </a:xfrm>
            <a:prstGeom prst="rect">
              <a:avLst/>
            </a:prstGeom>
            <a:solidFill>
              <a:srgbClr val="FFFFFF"/>
            </a:solidFill>
          </p:spPr>
          <p:txBody>
            <a:bodyPr wrap="none" rtlCol="0">
              <a:spAutoFit/>
            </a:bodyPr>
            <a:lstStyle/>
            <a:p>
              <a:pPr algn="ctr"/>
              <a:r>
                <a:rPr lang="en-BE" sz="1800" dirty="0">
                  <a:latin typeface="+mn-lt"/>
                </a:rPr>
                <a:t>High Load</a:t>
              </a:r>
            </a:p>
          </p:txBody>
        </p:sp>
        <p:sp>
          <p:nvSpPr>
            <p:cNvPr id="21" name="TextBox 20">
              <a:extLst>
                <a:ext uri="{FF2B5EF4-FFF2-40B4-BE49-F238E27FC236}">
                  <a16:creationId xmlns:a16="http://schemas.microsoft.com/office/drawing/2014/main" id="{4A885FF0-F818-73FE-1E81-078B5ADEEC36}"/>
                </a:ext>
              </a:extLst>
            </p:cNvPr>
            <p:cNvSpPr txBox="1"/>
            <p:nvPr/>
          </p:nvSpPr>
          <p:spPr>
            <a:xfrm rot="16200000">
              <a:off x="5889394" y="4099933"/>
              <a:ext cx="1428687" cy="431179"/>
            </a:xfrm>
            <a:prstGeom prst="rect">
              <a:avLst/>
            </a:prstGeom>
            <a:solidFill>
              <a:srgbClr val="FFFFFF"/>
            </a:solidFill>
          </p:spPr>
          <p:txBody>
            <a:bodyPr wrap="none" rtlCol="0">
              <a:noAutofit/>
            </a:bodyPr>
            <a:lstStyle/>
            <a:p>
              <a:pPr algn="ctr"/>
              <a:r>
                <a:rPr lang="en-BE" sz="1800" dirty="0">
                  <a:latin typeface="+mn-lt"/>
                </a:rPr>
                <a:t>Normalized Cost</a:t>
              </a:r>
            </a:p>
          </p:txBody>
        </p:sp>
      </p:grpSp>
      <p:grpSp>
        <p:nvGrpSpPr>
          <p:cNvPr id="145" name="Group 144">
            <a:extLst>
              <a:ext uri="{FF2B5EF4-FFF2-40B4-BE49-F238E27FC236}">
                <a16:creationId xmlns:a16="http://schemas.microsoft.com/office/drawing/2014/main" id="{BA2E5C9D-E161-9223-518A-604C3556EF74}"/>
              </a:ext>
            </a:extLst>
          </p:cNvPr>
          <p:cNvGrpSpPr/>
          <p:nvPr/>
        </p:nvGrpSpPr>
        <p:grpSpPr>
          <a:xfrm>
            <a:off x="3623541" y="2215330"/>
            <a:ext cx="7170607" cy="2509455"/>
            <a:chOff x="3623541" y="2215330"/>
            <a:chExt cx="7170607" cy="2509455"/>
          </a:xfrm>
        </p:grpSpPr>
        <p:sp>
          <p:nvSpPr>
            <p:cNvPr id="140" name="TextBox 139">
              <a:extLst>
                <a:ext uri="{FF2B5EF4-FFF2-40B4-BE49-F238E27FC236}">
                  <a16:creationId xmlns:a16="http://schemas.microsoft.com/office/drawing/2014/main" id="{403B233E-9870-B9AA-267F-C478A539D932}"/>
                </a:ext>
              </a:extLst>
            </p:cNvPr>
            <p:cNvSpPr txBox="1"/>
            <p:nvPr/>
          </p:nvSpPr>
          <p:spPr>
            <a:xfrm>
              <a:off x="3623541" y="3132651"/>
              <a:ext cx="4029337" cy="486608"/>
            </a:xfrm>
            <a:prstGeom prst="rect">
              <a:avLst/>
            </a:prstGeom>
            <a:noFill/>
          </p:spPr>
          <p:txBody>
            <a:bodyPr wrap="square" rtlCol="0">
              <a:spAutoFit/>
            </a:bodyPr>
            <a:lstStyle/>
            <a:p>
              <a:pPr>
                <a:lnSpc>
                  <a:spcPct val="75000"/>
                </a:lnSpc>
              </a:pPr>
              <a:r>
                <a:rPr lang="en-BE" sz="3200" b="1" dirty="0">
                  <a:solidFill>
                    <a:schemeClr val="accent3"/>
                  </a:solidFill>
                  <a:latin typeface="Caveat" pitchFamily="2" charset="77"/>
                </a:rPr>
                <a:t>with </a:t>
              </a:r>
              <a:r>
                <a:rPr lang="en-BE" sz="3200" b="1" u="sng" dirty="0">
                  <a:solidFill>
                    <a:schemeClr val="accent3"/>
                  </a:solidFill>
                  <a:latin typeface="Caveat" pitchFamily="2" charset="77"/>
                </a:rPr>
                <a:t>simpler</a:t>
              </a:r>
              <a:r>
                <a:rPr lang="en-BE" sz="3200" b="1" dirty="0">
                  <a:solidFill>
                    <a:schemeClr val="accent3"/>
                  </a:solidFill>
                  <a:latin typeface="Caveat" pitchFamily="2" charset="77"/>
                </a:rPr>
                <a:t> policies</a:t>
              </a:r>
            </a:p>
          </p:txBody>
        </p:sp>
        <p:sp>
          <p:nvSpPr>
            <p:cNvPr id="141" name="Freeform 140">
              <a:extLst>
                <a:ext uri="{FF2B5EF4-FFF2-40B4-BE49-F238E27FC236}">
                  <a16:creationId xmlns:a16="http://schemas.microsoft.com/office/drawing/2014/main" id="{9A9354E3-37CB-D947-0CBA-9470161E16B6}"/>
                </a:ext>
              </a:extLst>
            </p:cNvPr>
            <p:cNvSpPr/>
            <p:nvPr/>
          </p:nvSpPr>
          <p:spPr>
            <a:xfrm>
              <a:off x="5240074" y="3640617"/>
              <a:ext cx="1197429" cy="342258"/>
            </a:xfrm>
            <a:custGeom>
              <a:avLst/>
              <a:gdLst>
                <a:gd name="connsiteX0" fmla="*/ 0 w 1619442"/>
                <a:gd name="connsiteY0" fmla="*/ 0 h 910413"/>
                <a:gd name="connsiteX1" fmla="*/ 876300 w 1619442"/>
                <a:gd name="connsiteY1" fmla="*/ 901700 h 910413"/>
                <a:gd name="connsiteX2" fmla="*/ 1612900 w 1619442"/>
                <a:gd name="connsiteY2" fmla="*/ 457200 h 910413"/>
                <a:gd name="connsiteX0" fmla="*/ 0 w 1617944"/>
                <a:gd name="connsiteY0" fmla="*/ 0 h 677084"/>
                <a:gd name="connsiteX1" fmla="*/ 698500 w 1617944"/>
                <a:gd name="connsiteY1" fmla="*/ 660400 h 677084"/>
                <a:gd name="connsiteX2" fmla="*/ 1612900 w 1617944"/>
                <a:gd name="connsiteY2" fmla="*/ 457200 h 677084"/>
                <a:gd name="connsiteX0" fmla="*/ 0 w 1643183"/>
                <a:gd name="connsiteY0" fmla="*/ 0 h 672053"/>
                <a:gd name="connsiteX1" fmla="*/ 698500 w 1643183"/>
                <a:gd name="connsiteY1" fmla="*/ 660400 h 672053"/>
                <a:gd name="connsiteX2" fmla="*/ 1638300 w 1643183"/>
                <a:gd name="connsiteY2" fmla="*/ 342900 h 672053"/>
                <a:gd name="connsiteX0" fmla="*/ 0 w 1638300"/>
                <a:gd name="connsiteY0" fmla="*/ 0 h 682079"/>
                <a:gd name="connsiteX1" fmla="*/ 698500 w 1638300"/>
                <a:gd name="connsiteY1" fmla="*/ 660400 h 682079"/>
                <a:gd name="connsiteX2" fmla="*/ 1638300 w 1638300"/>
                <a:gd name="connsiteY2" fmla="*/ 342900 h 682079"/>
                <a:gd name="connsiteX0" fmla="*/ 0 w 1638300"/>
                <a:gd name="connsiteY0" fmla="*/ 0 h 682079"/>
                <a:gd name="connsiteX1" fmla="*/ 698500 w 1638300"/>
                <a:gd name="connsiteY1" fmla="*/ 660400 h 682079"/>
                <a:gd name="connsiteX2" fmla="*/ 1638300 w 1638300"/>
                <a:gd name="connsiteY2" fmla="*/ 342900 h 682079"/>
                <a:gd name="connsiteX0" fmla="*/ 0 w 1498600"/>
                <a:gd name="connsiteY0" fmla="*/ 0 h 682079"/>
                <a:gd name="connsiteX1" fmla="*/ 558800 w 1498600"/>
                <a:gd name="connsiteY1" fmla="*/ 660400 h 682079"/>
                <a:gd name="connsiteX2" fmla="*/ 1498600 w 1498600"/>
                <a:gd name="connsiteY2" fmla="*/ 342900 h 682079"/>
                <a:gd name="connsiteX0" fmla="*/ 0 w 1498600"/>
                <a:gd name="connsiteY0" fmla="*/ 0 h 776760"/>
                <a:gd name="connsiteX1" fmla="*/ 596900 w 1498600"/>
                <a:gd name="connsiteY1" fmla="*/ 762000 h 776760"/>
                <a:gd name="connsiteX2" fmla="*/ 1498600 w 1498600"/>
                <a:gd name="connsiteY2" fmla="*/ 342900 h 776760"/>
                <a:gd name="connsiteX0" fmla="*/ 0 w 1498600"/>
                <a:gd name="connsiteY0" fmla="*/ 0 h 776760"/>
                <a:gd name="connsiteX1" fmla="*/ 596900 w 1498600"/>
                <a:gd name="connsiteY1" fmla="*/ 762000 h 776760"/>
                <a:gd name="connsiteX2" fmla="*/ 1498600 w 1498600"/>
                <a:gd name="connsiteY2" fmla="*/ 342900 h 776760"/>
                <a:gd name="connsiteX0" fmla="*/ 0 w 1371600"/>
                <a:gd name="connsiteY0" fmla="*/ 0 h 522760"/>
                <a:gd name="connsiteX1" fmla="*/ 469900 w 1371600"/>
                <a:gd name="connsiteY1" fmla="*/ 508000 h 522760"/>
                <a:gd name="connsiteX2" fmla="*/ 1371600 w 1371600"/>
                <a:gd name="connsiteY2" fmla="*/ 88900 h 522760"/>
                <a:gd name="connsiteX0" fmla="*/ 0 w 1197429"/>
                <a:gd name="connsiteY0" fmla="*/ 0 h 537274"/>
                <a:gd name="connsiteX1" fmla="*/ 295729 w 1197429"/>
                <a:gd name="connsiteY1" fmla="*/ 522514 h 537274"/>
                <a:gd name="connsiteX2" fmla="*/ 1197429 w 1197429"/>
                <a:gd name="connsiteY2" fmla="*/ 103414 h 537274"/>
                <a:gd name="connsiteX0" fmla="*/ 0 w 1197429"/>
                <a:gd name="connsiteY0" fmla="*/ 0 h 537274"/>
                <a:gd name="connsiteX1" fmla="*/ 295729 w 1197429"/>
                <a:gd name="connsiteY1" fmla="*/ 522514 h 537274"/>
                <a:gd name="connsiteX2" fmla="*/ 1197429 w 1197429"/>
                <a:gd name="connsiteY2" fmla="*/ 103414 h 537274"/>
                <a:gd name="connsiteX0" fmla="*/ 0 w 1197429"/>
                <a:gd name="connsiteY0" fmla="*/ 0 h 373613"/>
                <a:gd name="connsiteX1" fmla="*/ 600529 w 1197429"/>
                <a:gd name="connsiteY1" fmla="*/ 341086 h 373613"/>
                <a:gd name="connsiteX2" fmla="*/ 1197429 w 1197429"/>
                <a:gd name="connsiteY2" fmla="*/ 103414 h 373613"/>
                <a:gd name="connsiteX0" fmla="*/ 0 w 1197429"/>
                <a:gd name="connsiteY0" fmla="*/ 0 h 343173"/>
                <a:gd name="connsiteX1" fmla="*/ 600529 w 1197429"/>
                <a:gd name="connsiteY1" fmla="*/ 341086 h 343173"/>
                <a:gd name="connsiteX2" fmla="*/ 1197429 w 1197429"/>
                <a:gd name="connsiteY2" fmla="*/ 103414 h 343173"/>
                <a:gd name="connsiteX0" fmla="*/ 0 w 1197429"/>
                <a:gd name="connsiteY0" fmla="*/ 0 h 343173"/>
                <a:gd name="connsiteX1" fmla="*/ 600529 w 1197429"/>
                <a:gd name="connsiteY1" fmla="*/ 341086 h 343173"/>
                <a:gd name="connsiteX2" fmla="*/ 1197429 w 1197429"/>
                <a:gd name="connsiteY2" fmla="*/ 103414 h 343173"/>
                <a:gd name="connsiteX0" fmla="*/ 0 w 1197429"/>
                <a:gd name="connsiteY0" fmla="*/ 0 h 343173"/>
                <a:gd name="connsiteX1" fmla="*/ 600529 w 1197429"/>
                <a:gd name="connsiteY1" fmla="*/ 341086 h 343173"/>
                <a:gd name="connsiteX2" fmla="*/ 1197429 w 1197429"/>
                <a:gd name="connsiteY2" fmla="*/ 103414 h 343173"/>
                <a:gd name="connsiteX0" fmla="*/ 0 w 1197429"/>
                <a:gd name="connsiteY0" fmla="*/ 0 h 345980"/>
                <a:gd name="connsiteX1" fmla="*/ 600529 w 1197429"/>
                <a:gd name="connsiteY1" fmla="*/ 341086 h 345980"/>
                <a:gd name="connsiteX2" fmla="*/ 1197429 w 1197429"/>
                <a:gd name="connsiteY2" fmla="*/ 103414 h 345980"/>
                <a:gd name="connsiteX0" fmla="*/ 0 w 1197429"/>
                <a:gd name="connsiteY0" fmla="*/ 0 h 342258"/>
                <a:gd name="connsiteX1" fmla="*/ 600529 w 1197429"/>
                <a:gd name="connsiteY1" fmla="*/ 341086 h 342258"/>
                <a:gd name="connsiteX2" fmla="*/ 1197429 w 1197429"/>
                <a:gd name="connsiteY2" fmla="*/ 103414 h 342258"/>
              </a:gdLst>
              <a:ahLst/>
              <a:cxnLst>
                <a:cxn ang="0">
                  <a:pos x="connsiteX0" y="connsiteY0"/>
                </a:cxn>
                <a:cxn ang="0">
                  <a:pos x="connsiteX1" y="connsiteY1"/>
                </a:cxn>
                <a:cxn ang="0">
                  <a:pos x="connsiteX2" y="connsiteY2"/>
                </a:cxn>
              </a:cxnLst>
              <a:rect l="l" t="t" r="r" b="b"/>
              <a:pathLst>
                <a:path w="1197429" h="342258">
                  <a:moveTo>
                    <a:pt x="0" y="0"/>
                  </a:moveTo>
                  <a:cubicBezTo>
                    <a:pt x="260198" y="253093"/>
                    <a:pt x="382512" y="330200"/>
                    <a:pt x="600529" y="341086"/>
                  </a:cubicBezTo>
                  <a:cubicBezTo>
                    <a:pt x="775002" y="351971"/>
                    <a:pt x="1019024" y="288168"/>
                    <a:pt x="1197429" y="103414"/>
                  </a:cubicBezTo>
                </a:path>
              </a:pathLst>
            </a:custGeom>
            <a:noFill/>
            <a:ln w="28575">
              <a:solidFill>
                <a:schemeClr val="accent3"/>
              </a:solidFill>
              <a:headEnd type="none" w="med" len="med"/>
              <a:tailEnd type="arrow" w="med" len="me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BE"/>
            </a:p>
          </p:txBody>
        </p:sp>
        <p:sp>
          <p:nvSpPr>
            <p:cNvPr id="144" name="Rounded Rectangle 143">
              <a:extLst>
                <a:ext uri="{FF2B5EF4-FFF2-40B4-BE49-F238E27FC236}">
                  <a16:creationId xmlns:a16="http://schemas.microsoft.com/office/drawing/2014/main" id="{B4BFA2CB-C1D8-1524-B99A-DADF7C9417ED}"/>
                </a:ext>
              </a:extLst>
            </p:cNvPr>
            <p:cNvSpPr/>
            <p:nvPr/>
          </p:nvSpPr>
          <p:spPr>
            <a:xfrm>
              <a:off x="6681796" y="2215330"/>
              <a:ext cx="4112352" cy="2509455"/>
            </a:xfrm>
            <a:prstGeom prst="roundRect">
              <a:avLst>
                <a:gd name="adj" fmla="val 8396"/>
              </a:avLst>
            </a:prstGeom>
            <a:noFill/>
            <a:ln>
              <a:solidFill>
                <a:schemeClr val="accent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BE"/>
            </a:p>
          </p:txBody>
        </p:sp>
      </p:grpSp>
      <p:sp>
        <p:nvSpPr>
          <p:cNvPr id="26" name="Slide Number Placeholder 25">
            <a:extLst>
              <a:ext uri="{FF2B5EF4-FFF2-40B4-BE49-F238E27FC236}">
                <a16:creationId xmlns:a16="http://schemas.microsoft.com/office/drawing/2014/main" id="{82709260-D742-98AE-5AE1-8D91963E8BC3}"/>
              </a:ext>
            </a:extLst>
          </p:cNvPr>
          <p:cNvSpPr>
            <a:spLocks noGrp="1"/>
          </p:cNvSpPr>
          <p:nvPr>
            <p:ph type="sldNum" sz="quarter" idx="11"/>
          </p:nvPr>
        </p:nvSpPr>
        <p:spPr/>
        <p:txBody>
          <a:bodyPr/>
          <a:lstStyle/>
          <a:p>
            <a:pPr>
              <a:defRPr/>
            </a:pPr>
            <a:fld id="{968663A2-1950-48E6-8399-8A0176E7D7D3}" type="slidenum">
              <a:rPr lang="en-US" smtClean="0"/>
              <a:pPr>
                <a:defRPr/>
              </a:pPr>
              <a:t>18</a:t>
            </a:fld>
            <a:endParaRPr lang="en-US"/>
          </a:p>
        </p:txBody>
      </p:sp>
      <p:sp>
        <p:nvSpPr>
          <p:cNvPr id="27" name="TextBox 26">
            <a:extLst>
              <a:ext uri="{FF2B5EF4-FFF2-40B4-BE49-F238E27FC236}">
                <a16:creationId xmlns:a16="http://schemas.microsoft.com/office/drawing/2014/main" id="{8C079D89-592C-15C9-38D4-232FE62A451A}"/>
              </a:ext>
            </a:extLst>
          </p:cNvPr>
          <p:cNvSpPr txBox="1"/>
          <p:nvPr/>
        </p:nvSpPr>
        <p:spPr>
          <a:xfrm>
            <a:off x="7945154" y="5873031"/>
            <a:ext cx="1428687" cy="431179"/>
          </a:xfrm>
          <a:prstGeom prst="rect">
            <a:avLst/>
          </a:prstGeom>
          <a:solidFill>
            <a:srgbClr val="FFFFFF"/>
          </a:solidFill>
        </p:spPr>
        <p:txBody>
          <a:bodyPr wrap="none" rtlCol="0">
            <a:noAutofit/>
          </a:bodyPr>
          <a:lstStyle/>
          <a:p>
            <a:pPr algn="ctr"/>
            <a:r>
              <a:rPr lang="en-BE" sz="1800" dirty="0">
                <a:latin typeface="+mn-lt"/>
              </a:rPr>
              <a:t>Battery state-of-charge</a:t>
            </a:r>
          </a:p>
        </p:txBody>
      </p:sp>
    </p:spTree>
    <p:extLst>
      <p:ext uri="{BB962C8B-B14F-4D97-AF65-F5344CB8AC3E}">
        <p14:creationId xmlns:p14="http://schemas.microsoft.com/office/powerpoint/2010/main" val="83794191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86"/>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46"/>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nodeType="clickEffect">
                                  <p:stCondLst>
                                    <p:cond delay="0"/>
                                  </p:stCondLst>
                                  <p:childTnLst>
                                    <p:set>
                                      <p:cBhvr>
                                        <p:cTn id="14" dur="1" fill="hold">
                                          <p:stCondLst>
                                            <p:cond delay="0"/>
                                          </p:stCondLst>
                                        </p:cTn>
                                        <p:tgtEl>
                                          <p:spTgt spid="85"/>
                                        </p:tgtEl>
                                        <p:attrNameLst>
                                          <p:attrName>style.visibility</p:attrName>
                                        </p:attrNameLst>
                                      </p:cBhvr>
                                      <p:to>
                                        <p:strVal val="visible"/>
                                      </p:to>
                                    </p:set>
                                    <p:animEffect transition="in" filter="fade">
                                      <p:cBhvr>
                                        <p:cTn id="15" dur="500"/>
                                        <p:tgtEl>
                                          <p:spTgt spid="85"/>
                                        </p:tgtEl>
                                      </p:cBhvr>
                                    </p:animEffect>
                                  </p:childTnLst>
                                </p:cTn>
                              </p:par>
                              <p:par>
                                <p:cTn id="16" presetID="10" presetClass="entr" presetSubtype="0" fill="hold" nodeType="withEffect">
                                  <p:stCondLst>
                                    <p:cond delay="0"/>
                                  </p:stCondLst>
                                  <p:childTnLst>
                                    <p:set>
                                      <p:cBhvr>
                                        <p:cTn id="17" dur="1" fill="hold">
                                          <p:stCondLst>
                                            <p:cond delay="0"/>
                                          </p:stCondLst>
                                        </p:cTn>
                                        <p:tgtEl>
                                          <p:spTgt spid="226"/>
                                        </p:tgtEl>
                                        <p:attrNameLst>
                                          <p:attrName>style.visibility</p:attrName>
                                        </p:attrNameLst>
                                      </p:cBhvr>
                                      <p:to>
                                        <p:strVal val="visible"/>
                                      </p:to>
                                    </p:set>
                                    <p:animEffect transition="in" filter="fade">
                                      <p:cBhvr>
                                        <p:cTn id="18" dur="500"/>
                                        <p:tgtEl>
                                          <p:spTgt spid="226"/>
                                        </p:tgtEl>
                                      </p:cBhvr>
                                    </p:animEffect>
                                  </p:childTnLst>
                                </p:cTn>
                              </p:par>
                              <p:par>
                                <p:cTn id="19" presetID="10" presetClass="entr" presetSubtype="0" fill="hold" nodeType="withEffect">
                                  <p:stCondLst>
                                    <p:cond delay="0"/>
                                  </p:stCondLst>
                                  <p:childTnLst>
                                    <p:set>
                                      <p:cBhvr>
                                        <p:cTn id="20" dur="1" fill="hold">
                                          <p:stCondLst>
                                            <p:cond delay="0"/>
                                          </p:stCondLst>
                                        </p:cTn>
                                        <p:tgtEl>
                                          <p:spTgt spid="221"/>
                                        </p:tgtEl>
                                        <p:attrNameLst>
                                          <p:attrName>style.visibility</p:attrName>
                                        </p:attrNameLst>
                                      </p:cBhvr>
                                      <p:to>
                                        <p:strVal val="visible"/>
                                      </p:to>
                                    </p:set>
                                    <p:animEffect transition="in" filter="fade">
                                      <p:cBhvr>
                                        <p:cTn id="21" dur="500"/>
                                        <p:tgtEl>
                                          <p:spTgt spid="221"/>
                                        </p:tgtEl>
                                      </p:cBhvr>
                                    </p:animEffect>
                                  </p:childTnLst>
                                </p:cTn>
                              </p:par>
                              <p:par>
                                <p:cTn id="22" presetID="10" presetClass="entr" presetSubtype="0" fill="hold" grpId="0" nodeType="withEffect">
                                  <p:stCondLst>
                                    <p:cond delay="0"/>
                                  </p:stCondLst>
                                  <p:childTnLst>
                                    <p:set>
                                      <p:cBhvr>
                                        <p:cTn id="23" dur="1" fill="hold">
                                          <p:stCondLst>
                                            <p:cond delay="0"/>
                                          </p:stCondLst>
                                        </p:cTn>
                                        <p:tgtEl>
                                          <p:spTgt spid="27"/>
                                        </p:tgtEl>
                                        <p:attrNameLst>
                                          <p:attrName>style.visibility</p:attrName>
                                        </p:attrNameLst>
                                      </p:cBhvr>
                                      <p:to>
                                        <p:strVal val="visible"/>
                                      </p:to>
                                    </p:set>
                                    <p:animEffect transition="in" filter="fade">
                                      <p:cBhvr>
                                        <p:cTn id="24" dur="500"/>
                                        <p:tgtEl>
                                          <p:spTgt spid="27"/>
                                        </p:tgtEl>
                                      </p:cBhvr>
                                    </p:animEffect>
                                  </p:childTnLst>
                                </p:cTn>
                              </p:par>
                              <p:par>
                                <p:cTn id="25" presetID="10" presetClass="entr" presetSubtype="0" fill="hold" nodeType="withEffect">
                                  <p:stCondLst>
                                    <p:cond delay="0"/>
                                  </p:stCondLst>
                                  <p:childTnLst>
                                    <p:set>
                                      <p:cBhvr>
                                        <p:cTn id="26" dur="1" fill="hold">
                                          <p:stCondLst>
                                            <p:cond delay="0"/>
                                          </p:stCondLst>
                                        </p:cTn>
                                        <p:tgtEl>
                                          <p:spTgt spid="187"/>
                                        </p:tgtEl>
                                        <p:attrNameLst>
                                          <p:attrName>style.visibility</p:attrName>
                                        </p:attrNameLst>
                                      </p:cBhvr>
                                      <p:to>
                                        <p:strVal val="visible"/>
                                      </p:to>
                                    </p:set>
                                    <p:animEffect transition="in" filter="fade">
                                      <p:cBhvr>
                                        <p:cTn id="27" dur="500"/>
                                        <p:tgtEl>
                                          <p:spTgt spid="187"/>
                                        </p:tgtEl>
                                      </p:cBhvr>
                                    </p:animEffect>
                                  </p:childTnLst>
                                </p:cTn>
                              </p:par>
                              <p:par>
                                <p:cTn id="28" presetID="10" presetClass="entr" presetSubtype="0" fill="hold" nodeType="withEffect">
                                  <p:stCondLst>
                                    <p:cond delay="0"/>
                                  </p:stCondLst>
                                  <p:childTnLst>
                                    <p:set>
                                      <p:cBhvr>
                                        <p:cTn id="29" dur="1" fill="hold">
                                          <p:stCondLst>
                                            <p:cond delay="0"/>
                                          </p:stCondLst>
                                        </p:cTn>
                                        <p:tgtEl>
                                          <p:spTgt spid="25"/>
                                        </p:tgtEl>
                                        <p:attrNameLst>
                                          <p:attrName>style.visibility</p:attrName>
                                        </p:attrNameLst>
                                      </p:cBhvr>
                                      <p:to>
                                        <p:strVal val="visible"/>
                                      </p:to>
                                    </p:set>
                                    <p:animEffect transition="in" filter="fade">
                                      <p:cBhvr>
                                        <p:cTn id="30" dur="500"/>
                                        <p:tgtEl>
                                          <p:spTgt spid="25"/>
                                        </p:tgtEl>
                                      </p:cBhvr>
                                    </p:animEffec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14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7" grpId="0" animBg="1"/>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92BE9D77-0ACF-44E0-2B28-49BA7DE384FF}"/>
              </a:ext>
            </a:extLst>
          </p:cNvPr>
          <p:cNvSpPr>
            <a:spLocks noGrp="1"/>
          </p:cNvSpPr>
          <p:nvPr>
            <p:ph idx="1"/>
          </p:nvPr>
        </p:nvSpPr>
        <p:spPr/>
        <p:txBody>
          <a:bodyPr/>
          <a:lstStyle/>
          <a:p>
            <a:r>
              <a:rPr lang="en-BE" dirty="0"/>
              <a:t>Same idea applied to space heating with a heat pump (= minimization of cost while maintaining comfort)</a:t>
            </a:r>
          </a:p>
          <a:p>
            <a:r>
              <a:rPr lang="en-BE" dirty="0"/>
              <a:t>Extended methodology to allow </a:t>
            </a:r>
            <a:r>
              <a:rPr lang="en-BE" b="1" dirty="0">
                <a:solidFill>
                  <a:srgbClr val="00BA38"/>
                </a:solidFill>
              </a:rPr>
              <a:t>asymmetric trees</a:t>
            </a:r>
            <a:r>
              <a:rPr lang="en-BE" b="1" dirty="0">
                <a:solidFill>
                  <a:srgbClr val="00BA37"/>
                </a:solidFill>
              </a:rPr>
              <a:t> </a:t>
            </a:r>
            <a:r>
              <a:rPr lang="en-BE" dirty="0"/>
              <a:t>(= branches can have different depths)</a:t>
            </a:r>
          </a:p>
          <a:p>
            <a:endParaRPr lang="en-BE" dirty="0"/>
          </a:p>
        </p:txBody>
      </p:sp>
      <p:sp>
        <p:nvSpPr>
          <p:cNvPr id="2" name="Title 1">
            <a:extLst>
              <a:ext uri="{FF2B5EF4-FFF2-40B4-BE49-F238E27FC236}">
                <a16:creationId xmlns:a16="http://schemas.microsoft.com/office/drawing/2014/main" id="{A02E96C7-13D2-6341-6082-CF811B908E4F}"/>
              </a:ext>
            </a:extLst>
          </p:cNvPr>
          <p:cNvSpPr>
            <a:spLocks noGrp="1"/>
          </p:cNvSpPr>
          <p:nvPr>
            <p:ph type="title"/>
          </p:nvPr>
        </p:nvSpPr>
        <p:spPr/>
        <p:txBody>
          <a:bodyPr/>
          <a:lstStyle/>
          <a:p>
            <a:r>
              <a:rPr lang="en-BE" dirty="0"/>
              <a:t>Sample result: Heat-pump control </a:t>
            </a:r>
          </a:p>
        </p:txBody>
      </p:sp>
      <p:sp>
        <p:nvSpPr>
          <p:cNvPr id="4" name="Footer Placeholder 3">
            <a:extLst>
              <a:ext uri="{FF2B5EF4-FFF2-40B4-BE49-F238E27FC236}">
                <a16:creationId xmlns:a16="http://schemas.microsoft.com/office/drawing/2014/main" id="{307C2E4D-050A-6EA5-27E7-1E54620788EE}"/>
              </a:ext>
            </a:extLst>
          </p:cNvPr>
          <p:cNvSpPr>
            <a:spLocks noGrp="1"/>
          </p:cNvSpPr>
          <p:nvPr>
            <p:ph type="ftr" sz="quarter" idx="10"/>
          </p:nvPr>
        </p:nvSpPr>
        <p:spPr/>
        <p:txBody>
          <a:bodyPr/>
          <a:lstStyle/>
          <a:p>
            <a:pPr>
              <a:defRPr/>
            </a:pPr>
            <a:r>
              <a:rPr lang="en-US"/>
              <a:t>C. Develder, "AI4E: Data-efficient and scalable algorithmss to exploit energy flexibility"</a:t>
            </a:r>
            <a:endParaRPr lang="en-US" dirty="0"/>
          </a:p>
        </p:txBody>
      </p:sp>
      <p:pic>
        <p:nvPicPr>
          <p:cNvPr id="6" name="Picture 5">
            <a:extLst>
              <a:ext uri="{FF2B5EF4-FFF2-40B4-BE49-F238E27FC236}">
                <a16:creationId xmlns:a16="http://schemas.microsoft.com/office/drawing/2014/main" id="{B755BF01-DDE9-1CCE-8412-5B41582AA528}"/>
              </a:ext>
            </a:extLst>
          </p:cNvPr>
          <p:cNvPicPr>
            <a:picLocks noChangeAspect="1"/>
          </p:cNvPicPr>
          <p:nvPr/>
        </p:nvPicPr>
        <p:blipFill>
          <a:blip r:embed="rId3">
            <a:extLst>
              <a:ext uri="{28A0092B-C50C-407E-A947-70E740481C1C}">
                <a14:useLocalDpi xmlns:a14="http://schemas.microsoft.com/office/drawing/2010/main" val="0"/>
              </a:ext>
            </a:extLst>
          </a:blip>
          <a:srcRect t="19416"/>
          <a:stretch>
            <a:fillRect/>
          </a:stretch>
        </p:blipFill>
        <p:spPr>
          <a:xfrm>
            <a:off x="995588" y="3255992"/>
            <a:ext cx="7772400" cy="2161119"/>
          </a:xfrm>
          <a:prstGeom prst="rect">
            <a:avLst/>
          </a:prstGeom>
        </p:spPr>
      </p:pic>
      <p:sp>
        <p:nvSpPr>
          <p:cNvPr id="7" name="TextBox 6">
            <a:extLst>
              <a:ext uri="{FF2B5EF4-FFF2-40B4-BE49-F238E27FC236}">
                <a16:creationId xmlns:a16="http://schemas.microsoft.com/office/drawing/2014/main" id="{D3D40CA6-7240-D822-BE86-76B85038E082}"/>
              </a:ext>
            </a:extLst>
          </p:cNvPr>
          <p:cNvSpPr txBox="1"/>
          <p:nvPr/>
        </p:nvSpPr>
        <p:spPr>
          <a:xfrm>
            <a:off x="7963405" y="3733764"/>
            <a:ext cx="3250790" cy="941989"/>
          </a:xfrm>
          <a:prstGeom prst="rect">
            <a:avLst/>
          </a:prstGeom>
          <a:noFill/>
        </p:spPr>
        <p:txBody>
          <a:bodyPr wrap="square" rtlCol="0">
            <a:spAutoFit/>
          </a:bodyPr>
          <a:lstStyle/>
          <a:p>
            <a:pPr>
              <a:lnSpc>
                <a:spcPct val="75000"/>
              </a:lnSpc>
            </a:pPr>
            <a:r>
              <a:rPr lang="en-BE" sz="2400" b="1" dirty="0">
                <a:solidFill>
                  <a:schemeClr val="accent2">
                    <a:lumMod val="40000"/>
                    <a:lumOff val="60000"/>
                  </a:schemeClr>
                </a:solidFill>
                <a:latin typeface="Caveat" pitchFamily="2" charset="77"/>
              </a:rPr>
              <a:t>Performance approaches teacher model (DQN) for larger decision trees </a:t>
            </a:r>
          </a:p>
        </p:txBody>
      </p:sp>
      <p:sp>
        <p:nvSpPr>
          <p:cNvPr id="8" name="Freeform 7">
            <a:extLst>
              <a:ext uri="{FF2B5EF4-FFF2-40B4-BE49-F238E27FC236}">
                <a16:creationId xmlns:a16="http://schemas.microsoft.com/office/drawing/2014/main" id="{22408120-8076-C558-141D-9E0E86DCE5BB}"/>
              </a:ext>
            </a:extLst>
          </p:cNvPr>
          <p:cNvSpPr/>
          <p:nvPr/>
        </p:nvSpPr>
        <p:spPr>
          <a:xfrm>
            <a:off x="4751696" y="3972328"/>
            <a:ext cx="2964601" cy="735523"/>
          </a:xfrm>
          <a:custGeom>
            <a:avLst/>
            <a:gdLst>
              <a:gd name="csX0" fmla="*/ 0 w 3737113"/>
              <a:gd name="csY0" fmla="*/ 1027043 h 1027043"/>
              <a:gd name="csX1" fmla="*/ 3737113 w 3737113"/>
              <a:gd name="csY1" fmla="*/ 0 h 1027043"/>
            </a:gdLst>
            <a:ahLst/>
            <a:cxnLst>
              <a:cxn ang="0">
                <a:pos x="csX0" y="csY0"/>
              </a:cxn>
              <a:cxn ang="0">
                <a:pos x="csX1" y="csY1"/>
              </a:cxn>
            </a:cxnLst>
            <a:rect l="l" t="t" r="r" b="b"/>
            <a:pathLst>
              <a:path w="3737113" h="1027043">
                <a:moveTo>
                  <a:pt x="0" y="1027043"/>
                </a:moveTo>
                <a:cubicBezTo>
                  <a:pt x="1324896" y="908868"/>
                  <a:pt x="2570600" y="547030"/>
                  <a:pt x="3737113" y="0"/>
                </a:cubicBezTo>
              </a:path>
            </a:pathLst>
          </a:custGeom>
          <a:noFill/>
          <a:ln w="38100">
            <a:solidFill>
              <a:schemeClr val="accent2">
                <a:lumMod val="40000"/>
                <a:lumOff val="60000"/>
              </a:schemeClr>
            </a:solidFill>
            <a:headEnd type="none" w="med" len="med"/>
            <a:tailEnd type="arrow" w="med" len="me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BE"/>
          </a:p>
        </p:txBody>
      </p:sp>
      <p:cxnSp>
        <p:nvCxnSpPr>
          <p:cNvPr id="11" name="Straight Connector 10">
            <a:extLst>
              <a:ext uri="{FF2B5EF4-FFF2-40B4-BE49-F238E27FC236}">
                <a16:creationId xmlns:a16="http://schemas.microsoft.com/office/drawing/2014/main" id="{EBE21ACB-874D-24D0-E6D6-CB704898DCDE}"/>
              </a:ext>
            </a:extLst>
          </p:cNvPr>
          <p:cNvCxnSpPr>
            <a:cxnSpLocks/>
          </p:cNvCxnSpPr>
          <p:nvPr/>
        </p:nvCxnSpPr>
        <p:spPr>
          <a:xfrm>
            <a:off x="7357498" y="2533691"/>
            <a:ext cx="0" cy="3461246"/>
          </a:xfrm>
          <a:prstGeom prst="line">
            <a:avLst/>
          </a:prstGeom>
          <a:ln w="12700">
            <a:solidFill>
              <a:schemeClr val="tx1"/>
            </a:solidFill>
            <a:prstDash val="dash"/>
          </a:ln>
        </p:spPr>
        <p:style>
          <a:lnRef idx="1">
            <a:schemeClr val="accent1"/>
          </a:lnRef>
          <a:fillRef idx="0">
            <a:schemeClr val="accent1"/>
          </a:fillRef>
          <a:effectRef idx="0">
            <a:schemeClr val="accent1"/>
          </a:effectRef>
          <a:fontRef idx="minor">
            <a:schemeClr val="tx1"/>
          </a:fontRef>
        </p:style>
      </p:cxnSp>
      <p:grpSp>
        <p:nvGrpSpPr>
          <p:cNvPr id="27" name="Group 26">
            <a:extLst>
              <a:ext uri="{FF2B5EF4-FFF2-40B4-BE49-F238E27FC236}">
                <a16:creationId xmlns:a16="http://schemas.microsoft.com/office/drawing/2014/main" id="{4823226D-1687-4BE7-6B66-34B6022C3D78}"/>
              </a:ext>
            </a:extLst>
          </p:cNvPr>
          <p:cNvGrpSpPr>
            <a:grpSpLocks noChangeAspect="1"/>
          </p:cNvGrpSpPr>
          <p:nvPr/>
        </p:nvGrpSpPr>
        <p:grpSpPr>
          <a:xfrm>
            <a:off x="7645161" y="5385712"/>
            <a:ext cx="450000" cy="414895"/>
            <a:chOff x="8119062" y="2903708"/>
            <a:chExt cx="2085112" cy="1922448"/>
          </a:xfrm>
        </p:grpSpPr>
        <p:sp>
          <p:nvSpPr>
            <p:cNvPr id="31" name="Rounded Rectangle 30">
              <a:extLst>
                <a:ext uri="{FF2B5EF4-FFF2-40B4-BE49-F238E27FC236}">
                  <a16:creationId xmlns:a16="http://schemas.microsoft.com/office/drawing/2014/main" id="{B616D69E-A777-58BF-9330-6FFED2B08238}"/>
                </a:ext>
              </a:extLst>
            </p:cNvPr>
            <p:cNvSpPr/>
            <p:nvPr/>
          </p:nvSpPr>
          <p:spPr>
            <a:xfrm>
              <a:off x="8119062" y="2903708"/>
              <a:ext cx="2085112" cy="1922448"/>
            </a:xfrm>
            <a:prstGeom prst="roundRect">
              <a:avLst/>
            </a:prstGeom>
            <a:solidFill>
              <a:schemeClr val="bg1">
                <a:lumMod val="95000"/>
              </a:schemeClr>
            </a:solid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BE" dirty="0"/>
            </a:p>
          </p:txBody>
        </p:sp>
        <p:grpSp>
          <p:nvGrpSpPr>
            <p:cNvPr id="32" name="Group 31">
              <a:extLst>
                <a:ext uri="{FF2B5EF4-FFF2-40B4-BE49-F238E27FC236}">
                  <a16:creationId xmlns:a16="http://schemas.microsoft.com/office/drawing/2014/main" id="{E9783731-A74F-1844-A3A9-6066A64E0F5C}"/>
                </a:ext>
              </a:extLst>
            </p:cNvPr>
            <p:cNvGrpSpPr/>
            <p:nvPr/>
          </p:nvGrpSpPr>
          <p:grpSpPr>
            <a:xfrm>
              <a:off x="8339159" y="3138112"/>
              <a:ext cx="1772251" cy="1473558"/>
              <a:chOff x="6383257" y="1250651"/>
              <a:chExt cx="1974694" cy="1641880"/>
            </a:xfrm>
          </p:grpSpPr>
          <p:sp>
            <p:nvSpPr>
              <p:cNvPr id="33" name="Freeform: Shape 77">
                <a:extLst>
                  <a:ext uri="{FF2B5EF4-FFF2-40B4-BE49-F238E27FC236}">
                    <a16:creationId xmlns:a16="http://schemas.microsoft.com/office/drawing/2014/main" id="{0F049942-B2B2-6ADA-8FA4-B3F2EF4D988F}"/>
                  </a:ext>
                </a:extLst>
              </p:cNvPr>
              <p:cNvSpPr/>
              <p:nvPr/>
            </p:nvSpPr>
            <p:spPr>
              <a:xfrm>
                <a:off x="6505288" y="1372684"/>
                <a:ext cx="576876" cy="232968"/>
              </a:xfrm>
              <a:custGeom>
                <a:avLst/>
                <a:gdLst>
                  <a:gd name="connsiteX0" fmla="*/ -1 w 309562"/>
                  <a:gd name="connsiteY0" fmla="*/ 125016 h 125015"/>
                  <a:gd name="connsiteX1" fmla="*/ 309562 w 309562"/>
                  <a:gd name="connsiteY1" fmla="*/ 0 h 125015"/>
                </a:gdLst>
                <a:ahLst/>
                <a:cxnLst>
                  <a:cxn ang="0">
                    <a:pos x="connsiteX0" y="connsiteY0"/>
                  </a:cxn>
                  <a:cxn ang="0">
                    <a:pos x="connsiteX1" y="connsiteY1"/>
                  </a:cxn>
                </a:cxnLst>
                <a:rect l="l" t="t" r="r" b="b"/>
                <a:pathLst>
                  <a:path w="309562" h="125015">
                    <a:moveTo>
                      <a:pt x="-1" y="125016"/>
                    </a:moveTo>
                    <a:lnTo>
                      <a:pt x="309562" y="0"/>
                    </a:lnTo>
                  </a:path>
                </a:pathLst>
              </a:custGeom>
              <a:noFill/>
              <a:ln w="12700" cap="flat">
                <a:solidFill>
                  <a:srgbClr val="C6C6FF"/>
                </a:solidFill>
                <a:prstDash val="solid"/>
                <a:miter/>
              </a:ln>
            </p:spPr>
            <p:txBody>
              <a:bodyPr rtlCol="0" anchor="ctr"/>
              <a:lstStyle/>
              <a:p>
                <a:endParaRPr lang="en-US"/>
              </a:p>
            </p:txBody>
          </p:sp>
          <p:sp>
            <p:nvSpPr>
              <p:cNvPr id="34" name="Freeform: Shape 78">
                <a:extLst>
                  <a:ext uri="{FF2B5EF4-FFF2-40B4-BE49-F238E27FC236}">
                    <a16:creationId xmlns:a16="http://schemas.microsoft.com/office/drawing/2014/main" id="{CD0907C2-943F-2AC7-D625-5A7C3C30C65B}"/>
                  </a:ext>
                </a:extLst>
              </p:cNvPr>
              <p:cNvSpPr/>
              <p:nvPr/>
            </p:nvSpPr>
            <p:spPr>
              <a:xfrm>
                <a:off x="6505288" y="1605652"/>
                <a:ext cx="576876" cy="698907"/>
              </a:xfrm>
              <a:custGeom>
                <a:avLst/>
                <a:gdLst>
                  <a:gd name="connsiteX0" fmla="*/ -1 w 309562"/>
                  <a:gd name="connsiteY0" fmla="*/ 0 h 375046"/>
                  <a:gd name="connsiteX1" fmla="*/ 309562 w 309562"/>
                  <a:gd name="connsiteY1" fmla="*/ 375047 h 375046"/>
                </a:gdLst>
                <a:ahLst/>
                <a:cxnLst>
                  <a:cxn ang="0">
                    <a:pos x="connsiteX0" y="connsiteY0"/>
                  </a:cxn>
                  <a:cxn ang="0">
                    <a:pos x="connsiteX1" y="connsiteY1"/>
                  </a:cxn>
                </a:cxnLst>
                <a:rect l="l" t="t" r="r" b="b"/>
                <a:pathLst>
                  <a:path w="309562" h="375046">
                    <a:moveTo>
                      <a:pt x="-1" y="0"/>
                    </a:moveTo>
                    <a:lnTo>
                      <a:pt x="309562" y="375047"/>
                    </a:lnTo>
                  </a:path>
                </a:pathLst>
              </a:custGeom>
              <a:noFill/>
              <a:ln w="12700" cap="flat">
                <a:solidFill>
                  <a:srgbClr val="7F7FFF"/>
                </a:solidFill>
                <a:prstDash val="solid"/>
                <a:miter/>
              </a:ln>
            </p:spPr>
            <p:txBody>
              <a:bodyPr rtlCol="0" anchor="ctr"/>
              <a:lstStyle/>
              <a:p>
                <a:endParaRPr lang="en-US"/>
              </a:p>
            </p:txBody>
          </p:sp>
          <p:sp>
            <p:nvSpPr>
              <p:cNvPr id="35" name="Freeform: Shape 81">
                <a:extLst>
                  <a:ext uri="{FF2B5EF4-FFF2-40B4-BE49-F238E27FC236}">
                    <a16:creationId xmlns:a16="http://schemas.microsoft.com/office/drawing/2014/main" id="{3DDAEC70-5FB4-3BA3-4C1E-EF60D26975A8}"/>
                  </a:ext>
                </a:extLst>
              </p:cNvPr>
              <p:cNvSpPr/>
              <p:nvPr/>
            </p:nvSpPr>
            <p:spPr>
              <a:xfrm>
                <a:off x="6505288" y="1838623"/>
                <a:ext cx="576876" cy="232968"/>
              </a:xfrm>
              <a:custGeom>
                <a:avLst/>
                <a:gdLst>
                  <a:gd name="connsiteX0" fmla="*/ -1 w 309562"/>
                  <a:gd name="connsiteY0" fmla="*/ 125016 h 125015"/>
                  <a:gd name="connsiteX1" fmla="*/ 309562 w 309562"/>
                  <a:gd name="connsiteY1" fmla="*/ 0 h 125015"/>
                </a:gdLst>
                <a:ahLst/>
                <a:cxnLst>
                  <a:cxn ang="0">
                    <a:pos x="connsiteX0" y="connsiteY0"/>
                  </a:cxn>
                  <a:cxn ang="0">
                    <a:pos x="connsiteX1" y="connsiteY1"/>
                  </a:cxn>
                </a:cxnLst>
                <a:rect l="l" t="t" r="r" b="b"/>
                <a:pathLst>
                  <a:path w="309562" h="125015">
                    <a:moveTo>
                      <a:pt x="-1" y="125016"/>
                    </a:moveTo>
                    <a:lnTo>
                      <a:pt x="309562" y="0"/>
                    </a:lnTo>
                  </a:path>
                </a:pathLst>
              </a:custGeom>
              <a:noFill/>
              <a:ln w="12700" cap="flat">
                <a:solidFill>
                  <a:srgbClr val="8A8AFF"/>
                </a:solidFill>
                <a:prstDash val="solid"/>
                <a:miter/>
              </a:ln>
            </p:spPr>
            <p:txBody>
              <a:bodyPr rtlCol="0" anchor="ctr"/>
              <a:lstStyle/>
              <a:p>
                <a:endParaRPr lang="en-US"/>
              </a:p>
            </p:txBody>
          </p:sp>
          <p:sp>
            <p:nvSpPr>
              <p:cNvPr id="36" name="Freeform: Shape 82">
                <a:extLst>
                  <a:ext uri="{FF2B5EF4-FFF2-40B4-BE49-F238E27FC236}">
                    <a16:creationId xmlns:a16="http://schemas.microsoft.com/office/drawing/2014/main" id="{38FE8D54-9892-C761-6B8F-DF18B3DF6E9C}"/>
                  </a:ext>
                </a:extLst>
              </p:cNvPr>
              <p:cNvSpPr/>
              <p:nvPr/>
            </p:nvSpPr>
            <p:spPr>
              <a:xfrm>
                <a:off x="6505288" y="2071593"/>
                <a:ext cx="576876" cy="232968"/>
              </a:xfrm>
              <a:custGeom>
                <a:avLst/>
                <a:gdLst>
                  <a:gd name="connsiteX0" fmla="*/ -1 w 309562"/>
                  <a:gd name="connsiteY0" fmla="*/ 0 h 125015"/>
                  <a:gd name="connsiteX1" fmla="*/ 309562 w 309562"/>
                  <a:gd name="connsiteY1" fmla="*/ 125016 h 125015"/>
                </a:gdLst>
                <a:ahLst/>
                <a:cxnLst>
                  <a:cxn ang="0">
                    <a:pos x="connsiteX0" y="connsiteY0"/>
                  </a:cxn>
                  <a:cxn ang="0">
                    <a:pos x="connsiteX1" y="connsiteY1"/>
                  </a:cxn>
                </a:cxnLst>
                <a:rect l="l" t="t" r="r" b="b"/>
                <a:pathLst>
                  <a:path w="309562" h="125015">
                    <a:moveTo>
                      <a:pt x="-1" y="0"/>
                    </a:moveTo>
                    <a:lnTo>
                      <a:pt x="309562" y="125016"/>
                    </a:lnTo>
                  </a:path>
                </a:pathLst>
              </a:custGeom>
              <a:noFill/>
              <a:ln w="12700" cap="flat">
                <a:solidFill>
                  <a:srgbClr val="2828FF"/>
                </a:solidFill>
                <a:prstDash val="solid"/>
                <a:miter/>
              </a:ln>
            </p:spPr>
            <p:txBody>
              <a:bodyPr rtlCol="0" anchor="ctr"/>
              <a:lstStyle/>
              <a:p>
                <a:endParaRPr lang="en-US"/>
              </a:p>
            </p:txBody>
          </p:sp>
          <p:sp>
            <p:nvSpPr>
              <p:cNvPr id="37" name="Freeform: Shape 83">
                <a:extLst>
                  <a:ext uri="{FF2B5EF4-FFF2-40B4-BE49-F238E27FC236}">
                    <a16:creationId xmlns:a16="http://schemas.microsoft.com/office/drawing/2014/main" id="{34EAD324-B58F-3912-19F4-A4064A2F3F8B}"/>
                  </a:ext>
                </a:extLst>
              </p:cNvPr>
              <p:cNvSpPr/>
              <p:nvPr/>
            </p:nvSpPr>
            <p:spPr>
              <a:xfrm>
                <a:off x="6505288" y="2071593"/>
                <a:ext cx="576876" cy="698907"/>
              </a:xfrm>
              <a:custGeom>
                <a:avLst/>
                <a:gdLst>
                  <a:gd name="connsiteX0" fmla="*/ -1 w 309562"/>
                  <a:gd name="connsiteY0" fmla="*/ 0 h 375046"/>
                  <a:gd name="connsiteX1" fmla="*/ 309562 w 309562"/>
                  <a:gd name="connsiteY1" fmla="*/ 375047 h 375046"/>
                </a:gdLst>
                <a:ahLst/>
                <a:cxnLst>
                  <a:cxn ang="0">
                    <a:pos x="connsiteX0" y="connsiteY0"/>
                  </a:cxn>
                  <a:cxn ang="0">
                    <a:pos x="connsiteX1" y="connsiteY1"/>
                  </a:cxn>
                </a:cxnLst>
                <a:rect l="l" t="t" r="r" b="b"/>
                <a:pathLst>
                  <a:path w="309562" h="375046">
                    <a:moveTo>
                      <a:pt x="-1" y="0"/>
                    </a:moveTo>
                    <a:lnTo>
                      <a:pt x="309562" y="375047"/>
                    </a:lnTo>
                  </a:path>
                </a:pathLst>
              </a:custGeom>
              <a:noFill/>
              <a:ln w="12700" cap="flat">
                <a:solidFill>
                  <a:srgbClr val="FFA2A2"/>
                </a:solidFill>
                <a:prstDash val="solid"/>
                <a:miter/>
              </a:ln>
            </p:spPr>
            <p:txBody>
              <a:bodyPr rtlCol="0" anchor="ctr"/>
              <a:lstStyle/>
              <a:p>
                <a:endParaRPr lang="en-US"/>
              </a:p>
            </p:txBody>
          </p:sp>
          <p:sp>
            <p:nvSpPr>
              <p:cNvPr id="38" name="Freeform: Shape 84">
                <a:extLst>
                  <a:ext uri="{FF2B5EF4-FFF2-40B4-BE49-F238E27FC236}">
                    <a16:creationId xmlns:a16="http://schemas.microsoft.com/office/drawing/2014/main" id="{A29F6262-7AC2-495D-10AA-4830EF1BA4B2}"/>
                  </a:ext>
                </a:extLst>
              </p:cNvPr>
              <p:cNvSpPr/>
              <p:nvPr/>
            </p:nvSpPr>
            <p:spPr>
              <a:xfrm>
                <a:off x="6505288" y="2304561"/>
                <a:ext cx="576876" cy="232968"/>
              </a:xfrm>
              <a:custGeom>
                <a:avLst/>
                <a:gdLst>
                  <a:gd name="connsiteX0" fmla="*/ -1 w 309562"/>
                  <a:gd name="connsiteY0" fmla="*/ 125016 h 125015"/>
                  <a:gd name="connsiteX1" fmla="*/ 309562 w 309562"/>
                  <a:gd name="connsiteY1" fmla="*/ 0 h 125015"/>
                </a:gdLst>
                <a:ahLst/>
                <a:cxnLst>
                  <a:cxn ang="0">
                    <a:pos x="connsiteX0" y="connsiteY0"/>
                  </a:cxn>
                  <a:cxn ang="0">
                    <a:pos x="connsiteX1" y="connsiteY1"/>
                  </a:cxn>
                </a:cxnLst>
                <a:rect l="l" t="t" r="r" b="b"/>
                <a:pathLst>
                  <a:path w="309562" h="125015">
                    <a:moveTo>
                      <a:pt x="-1" y="125016"/>
                    </a:moveTo>
                    <a:lnTo>
                      <a:pt x="309562" y="0"/>
                    </a:lnTo>
                  </a:path>
                </a:pathLst>
              </a:custGeom>
              <a:noFill/>
              <a:ln w="12700" cap="flat">
                <a:solidFill>
                  <a:srgbClr val="ACACFF"/>
                </a:solidFill>
                <a:prstDash val="solid"/>
                <a:miter/>
              </a:ln>
            </p:spPr>
            <p:txBody>
              <a:bodyPr rtlCol="0" anchor="ctr"/>
              <a:lstStyle/>
              <a:p>
                <a:endParaRPr lang="en-US"/>
              </a:p>
            </p:txBody>
          </p:sp>
          <p:sp>
            <p:nvSpPr>
              <p:cNvPr id="39" name="Freeform: Shape 85">
                <a:extLst>
                  <a:ext uri="{FF2B5EF4-FFF2-40B4-BE49-F238E27FC236}">
                    <a16:creationId xmlns:a16="http://schemas.microsoft.com/office/drawing/2014/main" id="{A3495883-EF0A-7863-1178-6B5B44CCF3E4}"/>
                  </a:ext>
                </a:extLst>
              </p:cNvPr>
              <p:cNvSpPr/>
              <p:nvPr/>
            </p:nvSpPr>
            <p:spPr>
              <a:xfrm>
                <a:off x="6505288" y="2537532"/>
                <a:ext cx="576876" cy="232968"/>
              </a:xfrm>
              <a:custGeom>
                <a:avLst/>
                <a:gdLst>
                  <a:gd name="connsiteX0" fmla="*/ -1 w 309562"/>
                  <a:gd name="connsiteY0" fmla="*/ 0 h 125015"/>
                  <a:gd name="connsiteX1" fmla="*/ 309562 w 309562"/>
                  <a:gd name="connsiteY1" fmla="*/ 125016 h 125015"/>
                </a:gdLst>
                <a:ahLst/>
                <a:cxnLst>
                  <a:cxn ang="0">
                    <a:pos x="connsiteX0" y="connsiteY0"/>
                  </a:cxn>
                  <a:cxn ang="0">
                    <a:pos x="connsiteX1" y="connsiteY1"/>
                  </a:cxn>
                </a:cxnLst>
                <a:rect l="l" t="t" r="r" b="b"/>
                <a:pathLst>
                  <a:path w="309562" h="125015">
                    <a:moveTo>
                      <a:pt x="-1" y="0"/>
                    </a:moveTo>
                    <a:lnTo>
                      <a:pt x="309562" y="125016"/>
                    </a:lnTo>
                  </a:path>
                </a:pathLst>
              </a:custGeom>
              <a:noFill/>
              <a:ln w="12700" cap="flat">
                <a:solidFill>
                  <a:srgbClr val="FF8D8D"/>
                </a:solidFill>
                <a:prstDash val="solid"/>
                <a:miter/>
              </a:ln>
            </p:spPr>
            <p:txBody>
              <a:bodyPr rtlCol="0" anchor="ctr"/>
              <a:lstStyle/>
              <a:p>
                <a:endParaRPr lang="en-US"/>
              </a:p>
            </p:txBody>
          </p:sp>
          <p:sp>
            <p:nvSpPr>
              <p:cNvPr id="40" name="Freeform: Shape 86">
                <a:extLst>
                  <a:ext uri="{FF2B5EF4-FFF2-40B4-BE49-F238E27FC236}">
                    <a16:creationId xmlns:a16="http://schemas.microsoft.com/office/drawing/2014/main" id="{26E0843B-9EC9-F722-B1EF-596C6877F94F}"/>
                  </a:ext>
                </a:extLst>
              </p:cNvPr>
              <p:cNvSpPr/>
              <p:nvPr/>
            </p:nvSpPr>
            <p:spPr>
              <a:xfrm>
                <a:off x="7082166" y="1372684"/>
                <a:ext cx="576876" cy="232968"/>
              </a:xfrm>
              <a:custGeom>
                <a:avLst/>
                <a:gdLst>
                  <a:gd name="connsiteX0" fmla="*/ -1 w 309562"/>
                  <a:gd name="connsiteY0" fmla="*/ 0 h 125015"/>
                  <a:gd name="connsiteX1" fmla="*/ 309562 w 309562"/>
                  <a:gd name="connsiteY1" fmla="*/ 125016 h 125015"/>
                </a:gdLst>
                <a:ahLst/>
                <a:cxnLst>
                  <a:cxn ang="0">
                    <a:pos x="connsiteX0" y="connsiteY0"/>
                  </a:cxn>
                  <a:cxn ang="0">
                    <a:pos x="connsiteX1" y="connsiteY1"/>
                  </a:cxn>
                </a:cxnLst>
                <a:rect l="l" t="t" r="r" b="b"/>
                <a:pathLst>
                  <a:path w="309562" h="125015">
                    <a:moveTo>
                      <a:pt x="-1" y="0"/>
                    </a:moveTo>
                    <a:lnTo>
                      <a:pt x="309562" y="125016"/>
                    </a:lnTo>
                  </a:path>
                </a:pathLst>
              </a:custGeom>
              <a:noFill/>
              <a:ln w="12700" cap="flat">
                <a:solidFill>
                  <a:srgbClr val="FF4747"/>
                </a:solidFill>
                <a:prstDash val="solid"/>
                <a:miter/>
              </a:ln>
            </p:spPr>
            <p:txBody>
              <a:bodyPr rtlCol="0" anchor="ctr"/>
              <a:lstStyle/>
              <a:p>
                <a:endParaRPr lang="en-US"/>
              </a:p>
            </p:txBody>
          </p:sp>
          <p:sp>
            <p:nvSpPr>
              <p:cNvPr id="41" name="Freeform: Shape 87">
                <a:extLst>
                  <a:ext uri="{FF2B5EF4-FFF2-40B4-BE49-F238E27FC236}">
                    <a16:creationId xmlns:a16="http://schemas.microsoft.com/office/drawing/2014/main" id="{BA669F93-7988-3F9F-1940-0B1661C6F19E}"/>
                  </a:ext>
                </a:extLst>
              </p:cNvPr>
              <p:cNvSpPr/>
              <p:nvPr/>
            </p:nvSpPr>
            <p:spPr>
              <a:xfrm>
                <a:off x="7082166" y="1372684"/>
                <a:ext cx="576876" cy="698907"/>
              </a:xfrm>
              <a:custGeom>
                <a:avLst/>
                <a:gdLst>
                  <a:gd name="connsiteX0" fmla="*/ -1 w 309562"/>
                  <a:gd name="connsiteY0" fmla="*/ 0 h 375046"/>
                  <a:gd name="connsiteX1" fmla="*/ 309562 w 309562"/>
                  <a:gd name="connsiteY1" fmla="*/ 375047 h 375046"/>
                </a:gdLst>
                <a:ahLst/>
                <a:cxnLst>
                  <a:cxn ang="0">
                    <a:pos x="connsiteX0" y="connsiteY0"/>
                  </a:cxn>
                  <a:cxn ang="0">
                    <a:pos x="connsiteX1" y="connsiteY1"/>
                  </a:cxn>
                </a:cxnLst>
                <a:rect l="l" t="t" r="r" b="b"/>
                <a:pathLst>
                  <a:path w="309562" h="375046">
                    <a:moveTo>
                      <a:pt x="-1" y="0"/>
                    </a:moveTo>
                    <a:lnTo>
                      <a:pt x="309562" y="375047"/>
                    </a:lnTo>
                  </a:path>
                </a:pathLst>
              </a:custGeom>
              <a:noFill/>
              <a:ln w="12700" cap="flat">
                <a:solidFill>
                  <a:srgbClr val="FF0C0C"/>
                </a:solidFill>
                <a:prstDash val="solid"/>
                <a:miter/>
              </a:ln>
            </p:spPr>
            <p:txBody>
              <a:bodyPr rtlCol="0" anchor="ctr"/>
              <a:lstStyle/>
              <a:p>
                <a:endParaRPr lang="en-US"/>
              </a:p>
            </p:txBody>
          </p:sp>
          <p:sp>
            <p:nvSpPr>
              <p:cNvPr id="42" name="Freeform: Shape 88">
                <a:extLst>
                  <a:ext uri="{FF2B5EF4-FFF2-40B4-BE49-F238E27FC236}">
                    <a16:creationId xmlns:a16="http://schemas.microsoft.com/office/drawing/2014/main" id="{29F997D2-F476-0441-1124-9772FE2CCF97}"/>
                  </a:ext>
                </a:extLst>
              </p:cNvPr>
              <p:cNvSpPr/>
              <p:nvPr/>
            </p:nvSpPr>
            <p:spPr>
              <a:xfrm>
                <a:off x="7082166" y="1605652"/>
                <a:ext cx="576876" cy="232968"/>
              </a:xfrm>
              <a:custGeom>
                <a:avLst/>
                <a:gdLst>
                  <a:gd name="connsiteX0" fmla="*/ -1 w 309562"/>
                  <a:gd name="connsiteY0" fmla="*/ 125016 h 125015"/>
                  <a:gd name="connsiteX1" fmla="*/ 309562 w 309562"/>
                  <a:gd name="connsiteY1" fmla="*/ 0 h 125015"/>
                </a:gdLst>
                <a:ahLst/>
                <a:cxnLst>
                  <a:cxn ang="0">
                    <a:pos x="connsiteX0" y="connsiteY0"/>
                  </a:cxn>
                  <a:cxn ang="0">
                    <a:pos x="connsiteX1" y="connsiteY1"/>
                  </a:cxn>
                </a:cxnLst>
                <a:rect l="l" t="t" r="r" b="b"/>
                <a:pathLst>
                  <a:path w="309562" h="125015">
                    <a:moveTo>
                      <a:pt x="-1" y="125016"/>
                    </a:moveTo>
                    <a:lnTo>
                      <a:pt x="309562" y="0"/>
                    </a:lnTo>
                  </a:path>
                </a:pathLst>
              </a:custGeom>
              <a:noFill/>
              <a:ln w="12700" cap="flat">
                <a:solidFill>
                  <a:srgbClr val="9393FF"/>
                </a:solidFill>
                <a:prstDash val="solid"/>
                <a:miter/>
              </a:ln>
            </p:spPr>
            <p:txBody>
              <a:bodyPr rtlCol="0" anchor="ctr"/>
              <a:lstStyle/>
              <a:p>
                <a:endParaRPr lang="en-US"/>
              </a:p>
            </p:txBody>
          </p:sp>
          <p:sp>
            <p:nvSpPr>
              <p:cNvPr id="43" name="Freeform: Shape 89">
                <a:extLst>
                  <a:ext uri="{FF2B5EF4-FFF2-40B4-BE49-F238E27FC236}">
                    <a16:creationId xmlns:a16="http://schemas.microsoft.com/office/drawing/2014/main" id="{FFF8F217-1C1C-272D-6AC8-81809B488FF4}"/>
                  </a:ext>
                </a:extLst>
              </p:cNvPr>
              <p:cNvSpPr/>
              <p:nvPr/>
            </p:nvSpPr>
            <p:spPr>
              <a:xfrm>
                <a:off x="7082166" y="1838623"/>
                <a:ext cx="576876" cy="232968"/>
              </a:xfrm>
              <a:custGeom>
                <a:avLst/>
                <a:gdLst>
                  <a:gd name="connsiteX0" fmla="*/ -1 w 309562"/>
                  <a:gd name="connsiteY0" fmla="*/ 0 h 125015"/>
                  <a:gd name="connsiteX1" fmla="*/ 309562 w 309562"/>
                  <a:gd name="connsiteY1" fmla="*/ 125016 h 125015"/>
                </a:gdLst>
                <a:ahLst/>
                <a:cxnLst>
                  <a:cxn ang="0">
                    <a:pos x="connsiteX0" y="connsiteY0"/>
                  </a:cxn>
                  <a:cxn ang="0">
                    <a:pos x="connsiteX1" y="connsiteY1"/>
                  </a:cxn>
                </a:cxnLst>
                <a:rect l="l" t="t" r="r" b="b"/>
                <a:pathLst>
                  <a:path w="309562" h="125015">
                    <a:moveTo>
                      <a:pt x="-1" y="0"/>
                    </a:moveTo>
                    <a:lnTo>
                      <a:pt x="309562" y="125016"/>
                    </a:lnTo>
                  </a:path>
                </a:pathLst>
              </a:custGeom>
              <a:noFill/>
              <a:ln w="12700" cap="flat">
                <a:solidFill>
                  <a:srgbClr val="FFBDBD"/>
                </a:solidFill>
                <a:prstDash val="solid"/>
                <a:miter/>
              </a:ln>
            </p:spPr>
            <p:txBody>
              <a:bodyPr rtlCol="0" anchor="ctr"/>
              <a:lstStyle/>
              <a:p>
                <a:endParaRPr lang="en-US"/>
              </a:p>
            </p:txBody>
          </p:sp>
          <p:sp>
            <p:nvSpPr>
              <p:cNvPr id="44" name="Freeform: Shape 90">
                <a:extLst>
                  <a:ext uri="{FF2B5EF4-FFF2-40B4-BE49-F238E27FC236}">
                    <a16:creationId xmlns:a16="http://schemas.microsoft.com/office/drawing/2014/main" id="{CB1A773A-002D-6DC2-8724-1A4B6B45DC5C}"/>
                  </a:ext>
                </a:extLst>
              </p:cNvPr>
              <p:cNvSpPr/>
              <p:nvPr/>
            </p:nvSpPr>
            <p:spPr>
              <a:xfrm>
                <a:off x="7082166" y="1605652"/>
                <a:ext cx="576876" cy="698907"/>
              </a:xfrm>
              <a:custGeom>
                <a:avLst/>
                <a:gdLst>
                  <a:gd name="connsiteX0" fmla="*/ -1 w 309562"/>
                  <a:gd name="connsiteY0" fmla="*/ 375047 h 375046"/>
                  <a:gd name="connsiteX1" fmla="*/ 309562 w 309562"/>
                  <a:gd name="connsiteY1" fmla="*/ 0 h 375046"/>
                </a:gdLst>
                <a:ahLst/>
                <a:cxnLst>
                  <a:cxn ang="0">
                    <a:pos x="connsiteX0" y="connsiteY0"/>
                  </a:cxn>
                  <a:cxn ang="0">
                    <a:pos x="connsiteX1" y="connsiteY1"/>
                  </a:cxn>
                </a:cxnLst>
                <a:rect l="l" t="t" r="r" b="b"/>
                <a:pathLst>
                  <a:path w="309562" h="375046">
                    <a:moveTo>
                      <a:pt x="-1" y="375047"/>
                    </a:moveTo>
                    <a:lnTo>
                      <a:pt x="309562" y="0"/>
                    </a:lnTo>
                  </a:path>
                </a:pathLst>
              </a:custGeom>
              <a:noFill/>
              <a:ln w="12700" cap="flat">
                <a:solidFill>
                  <a:srgbClr val="3131FF"/>
                </a:solidFill>
                <a:prstDash val="solid"/>
                <a:miter/>
              </a:ln>
            </p:spPr>
            <p:txBody>
              <a:bodyPr rtlCol="0" anchor="ctr"/>
              <a:lstStyle/>
              <a:p>
                <a:endParaRPr lang="en-US"/>
              </a:p>
            </p:txBody>
          </p:sp>
          <p:sp>
            <p:nvSpPr>
              <p:cNvPr id="45" name="Freeform: Shape 91">
                <a:extLst>
                  <a:ext uri="{FF2B5EF4-FFF2-40B4-BE49-F238E27FC236}">
                    <a16:creationId xmlns:a16="http://schemas.microsoft.com/office/drawing/2014/main" id="{377CFF28-3FBE-CCC5-C192-05B61CC92C61}"/>
                  </a:ext>
                </a:extLst>
              </p:cNvPr>
              <p:cNvSpPr/>
              <p:nvPr/>
            </p:nvSpPr>
            <p:spPr>
              <a:xfrm>
                <a:off x="7082166" y="2071593"/>
                <a:ext cx="576876" cy="232968"/>
              </a:xfrm>
              <a:custGeom>
                <a:avLst/>
                <a:gdLst>
                  <a:gd name="connsiteX0" fmla="*/ -1 w 309562"/>
                  <a:gd name="connsiteY0" fmla="*/ 125016 h 125015"/>
                  <a:gd name="connsiteX1" fmla="*/ 309562 w 309562"/>
                  <a:gd name="connsiteY1" fmla="*/ 0 h 125015"/>
                </a:gdLst>
                <a:ahLst/>
                <a:cxnLst>
                  <a:cxn ang="0">
                    <a:pos x="connsiteX0" y="connsiteY0"/>
                  </a:cxn>
                  <a:cxn ang="0">
                    <a:pos x="connsiteX1" y="connsiteY1"/>
                  </a:cxn>
                </a:cxnLst>
                <a:rect l="l" t="t" r="r" b="b"/>
                <a:pathLst>
                  <a:path w="309562" h="125015">
                    <a:moveTo>
                      <a:pt x="-1" y="125016"/>
                    </a:moveTo>
                    <a:lnTo>
                      <a:pt x="309562" y="0"/>
                    </a:lnTo>
                  </a:path>
                </a:pathLst>
              </a:custGeom>
              <a:noFill/>
              <a:ln w="12700" cap="flat">
                <a:solidFill>
                  <a:srgbClr val="9C9CFF"/>
                </a:solidFill>
                <a:prstDash val="solid"/>
                <a:miter/>
              </a:ln>
            </p:spPr>
            <p:txBody>
              <a:bodyPr rtlCol="0" anchor="ctr"/>
              <a:lstStyle/>
              <a:p>
                <a:endParaRPr lang="en-US"/>
              </a:p>
            </p:txBody>
          </p:sp>
          <p:sp>
            <p:nvSpPr>
              <p:cNvPr id="46" name="Freeform: Shape 92">
                <a:extLst>
                  <a:ext uri="{FF2B5EF4-FFF2-40B4-BE49-F238E27FC236}">
                    <a16:creationId xmlns:a16="http://schemas.microsoft.com/office/drawing/2014/main" id="{E08C3F4E-F981-0E1B-AA43-1108C912C3F4}"/>
                  </a:ext>
                </a:extLst>
              </p:cNvPr>
              <p:cNvSpPr/>
              <p:nvPr/>
            </p:nvSpPr>
            <p:spPr>
              <a:xfrm>
                <a:off x="7659042" y="1605652"/>
                <a:ext cx="576876" cy="465939"/>
              </a:xfrm>
              <a:custGeom>
                <a:avLst/>
                <a:gdLst>
                  <a:gd name="connsiteX0" fmla="*/ -1 w 309562"/>
                  <a:gd name="connsiteY0" fmla="*/ 0 h 250031"/>
                  <a:gd name="connsiteX1" fmla="*/ 309562 w 309562"/>
                  <a:gd name="connsiteY1" fmla="*/ 250031 h 250031"/>
                </a:gdLst>
                <a:ahLst/>
                <a:cxnLst>
                  <a:cxn ang="0">
                    <a:pos x="connsiteX0" y="connsiteY0"/>
                  </a:cxn>
                  <a:cxn ang="0">
                    <a:pos x="connsiteX1" y="connsiteY1"/>
                  </a:cxn>
                </a:cxnLst>
                <a:rect l="l" t="t" r="r" b="b"/>
                <a:pathLst>
                  <a:path w="309562" h="250031">
                    <a:moveTo>
                      <a:pt x="-1" y="0"/>
                    </a:moveTo>
                    <a:lnTo>
                      <a:pt x="309562" y="250031"/>
                    </a:lnTo>
                  </a:path>
                </a:pathLst>
              </a:custGeom>
              <a:noFill/>
              <a:ln w="12700" cap="flat">
                <a:solidFill>
                  <a:srgbClr val="FF7474"/>
                </a:solidFill>
                <a:prstDash val="solid"/>
                <a:miter/>
              </a:ln>
            </p:spPr>
            <p:txBody>
              <a:bodyPr rtlCol="0" anchor="ctr"/>
              <a:lstStyle/>
              <a:p>
                <a:endParaRPr lang="en-US"/>
              </a:p>
            </p:txBody>
          </p:sp>
          <p:sp>
            <p:nvSpPr>
              <p:cNvPr id="47" name="Freeform: Shape 93">
                <a:extLst>
                  <a:ext uri="{FF2B5EF4-FFF2-40B4-BE49-F238E27FC236}">
                    <a16:creationId xmlns:a16="http://schemas.microsoft.com/office/drawing/2014/main" id="{DCF406AF-7397-411B-A3CF-ACD89649D8FD}"/>
                  </a:ext>
                </a:extLst>
              </p:cNvPr>
              <p:cNvSpPr/>
              <p:nvPr/>
            </p:nvSpPr>
            <p:spPr>
              <a:xfrm>
                <a:off x="7659042" y="2071593"/>
                <a:ext cx="576876" cy="11094"/>
              </a:xfrm>
              <a:custGeom>
                <a:avLst/>
                <a:gdLst>
                  <a:gd name="connsiteX0" fmla="*/ -1 w 309562"/>
                  <a:gd name="connsiteY0" fmla="*/ 0 h 5953"/>
                  <a:gd name="connsiteX1" fmla="*/ 309562 w 309562"/>
                  <a:gd name="connsiteY1" fmla="*/ 0 h 5953"/>
                </a:gdLst>
                <a:ahLst/>
                <a:cxnLst>
                  <a:cxn ang="0">
                    <a:pos x="connsiteX0" y="connsiteY0"/>
                  </a:cxn>
                  <a:cxn ang="0">
                    <a:pos x="connsiteX1" y="connsiteY1"/>
                  </a:cxn>
                </a:cxnLst>
                <a:rect l="l" t="t" r="r" b="b"/>
                <a:pathLst>
                  <a:path w="309562" h="5953">
                    <a:moveTo>
                      <a:pt x="-1" y="0"/>
                    </a:moveTo>
                    <a:lnTo>
                      <a:pt x="309562" y="0"/>
                    </a:lnTo>
                  </a:path>
                </a:pathLst>
              </a:custGeom>
              <a:noFill/>
              <a:ln w="12700" cap="flat">
                <a:solidFill>
                  <a:srgbClr val="FFCECE"/>
                </a:solidFill>
                <a:prstDash val="solid"/>
                <a:miter/>
              </a:ln>
            </p:spPr>
            <p:txBody>
              <a:bodyPr rtlCol="0" anchor="ctr"/>
              <a:lstStyle/>
              <a:p>
                <a:endParaRPr lang="en-US"/>
              </a:p>
            </p:txBody>
          </p:sp>
          <p:sp>
            <p:nvSpPr>
              <p:cNvPr id="48" name="Freeform: Shape 94">
                <a:extLst>
                  <a:ext uri="{FF2B5EF4-FFF2-40B4-BE49-F238E27FC236}">
                    <a16:creationId xmlns:a16="http://schemas.microsoft.com/office/drawing/2014/main" id="{1A0BE454-2163-8C5C-7E4B-96AC3D82933B}"/>
                  </a:ext>
                </a:extLst>
              </p:cNvPr>
              <p:cNvSpPr/>
              <p:nvPr/>
            </p:nvSpPr>
            <p:spPr>
              <a:xfrm>
                <a:off x="7082166" y="2304561"/>
                <a:ext cx="576876" cy="232968"/>
              </a:xfrm>
              <a:custGeom>
                <a:avLst/>
                <a:gdLst>
                  <a:gd name="connsiteX0" fmla="*/ -1 w 309562"/>
                  <a:gd name="connsiteY0" fmla="*/ 0 h 125015"/>
                  <a:gd name="connsiteX1" fmla="*/ 309562 w 309562"/>
                  <a:gd name="connsiteY1" fmla="*/ 125016 h 125015"/>
                </a:gdLst>
                <a:ahLst/>
                <a:cxnLst>
                  <a:cxn ang="0">
                    <a:pos x="connsiteX0" y="connsiteY0"/>
                  </a:cxn>
                  <a:cxn ang="0">
                    <a:pos x="connsiteX1" y="connsiteY1"/>
                  </a:cxn>
                </a:cxnLst>
                <a:rect l="l" t="t" r="r" b="b"/>
                <a:pathLst>
                  <a:path w="309562" h="125015">
                    <a:moveTo>
                      <a:pt x="-1" y="0"/>
                    </a:moveTo>
                    <a:lnTo>
                      <a:pt x="309562" y="125016"/>
                    </a:lnTo>
                  </a:path>
                </a:pathLst>
              </a:custGeom>
              <a:noFill/>
              <a:ln w="12700" cap="flat">
                <a:solidFill>
                  <a:srgbClr val="1F1FFF"/>
                </a:solidFill>
                <a:prstDash val="solid"/>
                <a:miter/>
              </a:ln>
            </p:spPr>
            <p:txBody>
              <a:bodyPr rtlCol="0" anchor="ctr"/>
              <a:lstStyle/>
              <a:p>
                <a:endParaRPr lang="en-US"/>
              </a:p>
            </p:txBody>
          </p:sp>
          <p:sp>
            <p:nvSpPr>
              <p:cNvPr id="49" name="Freeform: Shape 95">
                <a:extLst>
                  <a:ext uri="{FF2B5EF4-FFF2-40B4-BE49-F238E27FC236}">
                    <a16:creationId xmlns:a16="http://schemas.microsoft.com/office/drawing/2014/main" id="{69315110-C7F9-84F3-5D24-27A8750E18B9}"/>
                  </a:ext>
                </a:extLst>
              </p:cNvPr>
              <p:cNvSpPr/>
              <p:nvPr/>
            </p:nvSpPr>
            <p:spPr>
              <a:xfrm>
                <a:off x="7082166" y="2537532"/>
                <a:ext cx="576876" cy="232968"/>
              </a:xfrm>
              <a:custGeom>
                <a:avLst/>
                <a:gdLst>
                  <a:gd name="connsiteX0" fmla="*/ -1 w 309562"/>
                  <a:gd name="connsiteY0" fmla="*/ 125016 h 125015"/>
                  <a:gd name="connsiteX1" fmla="*/ 309562 w 309562"/>
                  <a:gd name="connsiteY1" fmla="*/ 0 h 125015"/>
                </a:gdLst>
                <a:ahLst/>
                <a:cxnLst>
                  <a:cxn ang="0">
                    <a:pos x="connsiteX0" y="connsiteY0"/>
                  </a:cxn>
                  <a:cxn ang="0">
                    <a:pos x="connsiteX1" y="connsiteY1"/>
                  </a:cxn>
                </a:cxnLst>
                <a:rect l="l" t="t" r="r" b="b"/>
                <a:pathLst>
                  <a:path w="309562" h="125015">
                    <a:moveTo>
                      <a:pt x="-1" y="125016"/>
                    </a:moveTo>
                    <a:lnTo>
                      <a:pt x="309562" y="0"/>
                    </a:lnTo>
                  </a:path>
                </a:pathLst>
              </a:custGeom>
              <a:noFill/>
              <a:ln w="12700" cap="flat">
                <a:solidFill>
                  <a:srgbClr val="B5B5FF"/>
                </a:solidFill>
                <a:prstDash val="solid"/>
                <a:miter/>
              </a:ln>
            </p:spPr>
            <p:txBody>
              <a:bodyPr rtlCol="0" anchor="ctr"/>
              <a:lstStyle/>
              <a:p>
                <a:endParaRPr lang="en-US"/>
              </a:p>
            </p:txBody>
          </p:sp>
          <p:sp>
            <p:nvSpPr>
              <p:cNvPr id="50" name="Freeform: Shape 96">
                <a:extLst>
                  <a:ext uri="{FF2B5EF4-FFF2-40B4-BE49-F238E27FC236}">
                    <a16:creationId xmlns:a16="http://schemas.microsoft.com/office/drawing/2014/main" id="{9ADD3A3C-83F0-79A6-7210-A1D4DC4E44CF}"/>
                  </a:ext>
                </a:extLst>
              </p:cNvPr>
              <p:cNvSpPr/>
              <p:nvPr/>
            </p:nvSpPr>
            <p:spPr>
              <a:xfrm>
                <a:off x="7659042" y="2071593"/>
                <a:ext cx="576876" cy="465939"/>
              </a:xfrm>
              <a:custGeom>
                <a:avLst/>
                <a:gdLst>
                  <a:gd name="connsiteX0" fmla="*/ -1 w 309562"/>
                  <a:gd name="connsiteY0" fmla="*/ 250031 h 250031"/>
                  <a:gd name="connsiteX1" fmla="*/ 309562 w 309562"/>
                  <a:gd name="connsiteY1" fmla="*/ 0 h 250031"/>
                </a:gdLst>
                <a:ahLst/>
                <a:cxnLst>
                  <a:cxn ang="0">
                    <a:pos x="connsiteX0" y="connsiteY0"/>
                  </a:cxn>
                  <a:cxn ang="0">
                    <a:pos x="connsiteX1" y="connsiteY1"/>
                  </a:cxn>
                </a:cxnLst>
                <a:rect l="l" t="t" r="r" b="b"/>
                <a:pathLst>
                  <a:path w="309562" h="250031">
                    <a:moveTo>
                      <a:pt x="-1" y="250031"/>
                    </a:moveTo>
                    <a:lnTo>
                      <a:pt x="309562" y="0"/>
                    </a:lnTo>
                  </a:path>
                </a:pathLst>
              </a:custGeom>
              <a:noFill/>
              <a:ln w="12700" cap="flat">
                <a:solidFill>
                  <a:srgbClr val="FF6C6C"/>
                </a:solidFill>
                <a:prstDash val="solid"/>
                <a:miter/>
              </a:ln>
            </p:spPr>
            <p:txBody>
              <a:bodyPr rtlCol="0" anchor="ctr"/>
              <a:lstStyle/>
              <a:p>
                <a:endParaRPr lang="en-US"/>
              </a:p>
            </p:txBody>
          </p:sp>
          <p:sp>
            <p:nvSpPr>
              <p:cNvPr id="51" name="Freeform: Shape 97">
                <a:extLst>
                  <a:ext uri="{FF2B5EF4-FFF2-40B4-BE49-F238E27FC236}">
                    <a16:creationId xmlns:a16="http://schemas.microsoft.com/office/drawing/2014/main" id="{272854A2-96C0-BDA5-A8A9-116BCB9AED60}"/>
                  </a:ext>
                </a:extLst>
              </p:cNvPr>
              <p:cNvSpPr/>
              <p:nvPr/>
            </p:nvSpPr>
            <p:spPr>
              <a:xfrm>
                <a:off x="6383257" y="1483621"/>
                <a:ext cx="244062" cy="244062"/>
              </a:xfrm>
              <a:custGeom>
                <a:avLst/>
                <a:gdLst>
                  <a:gd name="connsiteX0" fmla="*/ 130968 w 130968"/>
                  <a:gd name="connsiteY0" fmla="*/ 65484 h 130968"/>
                  <a:gd name="connsiteX1" fmla="*/ 65483 w 130968"/>
                  <a:gd name="connsiteY1" fmla="*/ 130969 h 130968"/>
                  <a:gd name="connsiteX2" fmla="*/ -1 w 130968"/>
                  <a:gd name="connsiteY2" fmla="*/ 65484 h 130968"/>
                  <a:gd name="connsiteX3" fmla="*/ 65483 w 130968"/>
                  <a:gd name="connsiteY3" fmla="*/ 0 h 130968"/>
                  <a:gd name="connsiteX4" fmla="*/ 130968 w 130968"/>
                  <a:gd name="connsiteY4" fmla="*/ 65484 h 13096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0968" h="130968">
                    <a:moveTo>
                      <a:pt x="130968" y="65484"/>
                    </a:moveTo>
                    <a:cubicBezTo>
                      <a:pt x="130968" y="101650"/>
                      <a:pt x="101649" y="130969"/>
                      <a:pt x="65483" y="130969"/>
                    </a:cubicBezTo>
                    <a:cubicBezTo>
                      <a:pt x="29317" y="130969"/>
                      <a:pt x="-1" y="101650"/>
                      <a:pt x="-1" y="65484"/>
                    </a:cubicBezTo>
                    <a:cubicBezTo>
                      <a:pt x="-1" y="29318"/>
                      <a:pt x="29317" y="0"/>
                      <a:pt x="65483" y="0"/>
                    </a:cubicBezTo>
                    <a:cubicBezTo>
                      <a:pt x="101649" y="0"/>
                      <a:pt x="130968" y="29318"/>
                      <a:pt x="130968" y="65484"/>
                    </a:cubicBezTo>
                    <a:close/>
                  </a:path>
                </a:pathLst>
              </a:custGeom>
              <a:solidFill>
                <a:srgbClr val="FFFFFF"/>
              </a:solidFill>
              <a:ln w="12700" cap="flat">
                <a:solidFill>
                  <a:srgbClr val="333333"/>
                </a:solidFill>
                <a:prstDash val="solid"/>
                <a:miter/>
              </a:ln>
            </p:spPr>
            <p:txBody>
              <a:bodyPr rtlCol="0" anchor="ctr"/>
              <a:lstStyle/>
              <a:p>
                <a:endParaRPr lang="en-US"/>
              </a:p>
            </p:txBody>
          </p:sp>
          <p:sp>
            <p:nvSpPr>
              <p:cNvPr id="52" name="Freeform: Shape 98">
                <a:extLst>
                  <a:ext uri="{FF2B5EF4-FFF2-40B4-BE49-F238E27FC236}">
                    <a16:creationId xmlns:a16="http://schemas.microsoft.com/office/drawing/2014/main" id="{A5F748BC-4789-1923-EB8B-A7D233CA8A77}"/>
                  </a:ext>
                </a:extLst>
              </p:cNvPr>
              <p:cNvSpPr/>
              <p:nvPr/>
            </p:nvSpPr>
            <p:spPr>
              <a:xfrm>
                <a:off x="6383257" y="1949560"/>
                <a:ext cx="244062" cy="244062"/>
              </a:xfrm>
              <a:custGeom>
                <a:avLst/>
                <a:gdLst>
                  <a:gd name="connsiteX0" fmla="*/ 130968 w 130968"/>
                  <a:gd name="connsiteY0" fmla="*/ 65484 h 130968"/>
                  <a:gd name="connsiteX1" fmla="*/ 65483 w 130968"/>
                  <a:gd name="connsiteY1" fmla="*/ 130969 h 130968"/>
                  <a:gd name="connsiteX2" fmla="*/ -1 w 130968"/>
                  <a:gd name="connsiteY2" fmla="*/ 65484 h 130968"/>
                  <a:gd name="connsiteX3" fmla="*/ 65483 w 130968"/>
                  <a:gd name="connsiteY3" fmla="*/ 0 h 130968"/>
                  <a:gd name="connsiteX4" fmla="*/ 130968 w 130968"/>
                  <a:gd name="connsiteY4" fmla="*/ 65484 h 13096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0968" h="130968">
                    <a:moveTo>
                      <a:pt x="130968" y="65484"/>
                    </a:moveTo>
                    <a:cubicBezTo>
                      <a:pt x="130968" y="101650"/>
                      <a:pt x="101649" y="130969"/>
                      <a:pt x="65483" y="130969"/>
                    </a:cubicBezTo>
                    <a:cubicBezTo>
                      <a:pt x="29317" y="130969"/>
                      <a:pt x="-1" y="101650"/>
                      <a:pt x="-1" y="65484"/>
                    </a:cubicBezTo>
                    <a:cubicBezTo>
                      <a:pt x="-1" y="29318"/>
                      <a:pt x="29317" y="0"/>
                      <a:pt x="65483" y="0"/>
                    </a:cubicBezTo>
                    <a:cubicBezTo>
                      <a:pt x="101649" y="0"/>
                      <a:pt x="130968" y="29318"/>
                      <a:pt x="130968" y="65484"/>
                    </a:cubicBezTo>
                    <a:close/>
                  </a:path>
                </a:pathLst>
              </a:custGeom>
              <a:solidFill>
                <a:srgbClr val="FFFFFF"/>
              </a:solidFill>
              <a:ln w="12700" cap="flat">
                <a:solidFill>
                  <a:srgbClr val="333333"/>
                </a:solidFill>
                <a:prstDash val="solid"/>
                <a:miter/>
              </a:ln>
            </p:spPr>
            <p:txBody>
              <a:bodyPr rtlCol="0" anchor="ctr"/>
              <a:lstStyle/>
              <a:p>
                <a:endParaRPr lang="en-US"/>
              </a:p>
            </p:txBody>
          </p:sp>
          <p:sp>
            <p:nvSpPr>
              <p:cNvPr id="53" name="Freeform: Shape 99">
                <a:extLst>
                  <a:ext uri="{FF2B5EF4-FFF2-40B4-BE49-F238E27FC236}">
                    <a16:creationId xmlns:a16="http://schemas.microsoft.com/office/drawing/2014/main" id="{D5AE4090-5574-829B-5D39-E2A94E136FD8}"/>
                  </a:ext>
                </a:extLst>
              </p:cNvPr>
              <p:cNvSpPr/>
              <p:nvPr/>
            </p:nvSpPr>
            <p:spPr>
              <a:xfrm>
                <a:off x="6383257" y="2415501"/>
                <a:ext cx="244062" cy="244062"/>
              </a:xfrm>
              <a:custGeom>
                <a:avLst/>
                <a:gdLst>
                  <a:gd name="connsiteX0" fmla="*/ 130968 w 130968"/>
                  <a:gd name="connsiteY0" fmla="*/ 65484 h 130968"/>
                  <a:gd name="connsiteX1" fmla="*/ 65483 w 130968"/>
                  <a:gd name="connsiteY1" fmla="*/ 130969 h 130968"/>
                  <a:gd name="connsiteX2" fmla="*/ -1 w 130968"/>
                  <a:gd name="connsiteY2" fmla="*/ 65484 h 130968"/>
                  <a:gd name="connsiteX3" fmla="*/ 65483 w 130968"/>
                  <a:gd name="connsiteY3" fmla="*/ 0 h 130968"/>
                  <a:gd name="connsiteX4" fmla="*/ 130968 w 130968"/>
                  <a:gd name="connsiteY4" fmla="*/ 65484 h 13096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0968" h="130968">
                    <a:moveTo>
                      <a:pt x="130968" y="65484"/>
                    </a:moveTo>
                    <a:cubicBezTo>
                      <a:pt x="130968" y="101650"/>
                      <a:pt x="101649" y="130969"/>
                      <a:pt x="65483" y="130969"/>
                    </a:cubicBezTo>
                    <a:cubicBezTo>
                      <a:pt x="29317" y="130969"/>
                      <a:pt x="-1" y="101650"/>
                      <a:pt x="-1" y="65484"/>
                    </a:cubicBezTo>
                    <a:cubicBezTo>
                      <a:pt x="-1" y="29318"/>
                      <a:pt x="29317" y="0"/>
                      <a:pt x="65483" y="0"/>
                    </a:cubicBezTo>
                    <a:cubicBezTo>
                      <a:pt x="101649" y="0"/>
                      <a:pt x="130968" y="29318"/>
                      <a:pt x="130968" y="65484"/>
                    </a:cubicBezTo>
                    <a:close/>
                  </a:path>
                </a:pathLst>
              </a:custGeom>
              <a:solidFill>
                <a:srgbClr val="FFFFFF"/>
              </a:solidFill>
              <a:ln w="12700" cap="flat">
                <a:solidFill>
                  <a:srgbClr val="333333"/>
                </a:solidFill>
                <a:prstDash val="solid"/>
                <a:miter/>
              </a:ln>
            </p:spPr>
            <p:txBody>
              <a:bodyPr rtlCol="0" anchor="ctr"/>
              <a:lstStyle/>
              <a:p>
                <a:endParaRPr lang="en-US"/>
              </a:p>
            </p:txBody>
          </p:sp>
          <p:sp>
            <p:nvSpPr>
              <p:cNvPr id="54" name="Freeform: Shape 100">
                <a:extLst>
                  <a:ext uri="{FF2B5EF4-FFF2-40B4-BE49-F238E27FC236}">
                    <a16:creationId xmlns:a16="http://schemas.microsoft.com/office/drawing/2014/main" id="{5F52FA3F-A3EB-5AA2-9BAD-0C9143AA1995}"/>
                  </a:ext>
                </a:extLst>
              </p:cNvPr>
              <p:cNvSpPr/>
              <p:nvPr/>
            </p:nvSpPr>
            <p:spPr>
              <a:xfrm>
                <a:off x="6960135" y="1250651"/>
                <a:ext cx="244062" cy="244062"/>
              </a:xfrm>
              <a:custGeom>
                <a:avLst/>
                <a:gdLst>
                  <a:gd name="connsiteX0" fmla="*/ 130968 w 130968"/>
                  <a:gd name="connsiteY0" fmla="*/ 65484 h 130968"/>
                  <a:gd name="connsiteX1" fmla="*/ 65483 w 130968"/>
                  <a:gd name="connsiteY1" fmla="*/ 130969 h 130968"/>
                  <a:gd name="connsiteX2" fmla="*/ -1 w 130968"/>
                  <a:gd name="connsiteY2" fmla="*/ 65484 h 130968"/>
                  <a:gd name="connsiteX3" fmla="*/ 65483 w 130968"/>
                  <a:gd name="connsiteY3" fmla="*/ 0 h 130968"/>
                  <a:gd name="connsiteX4" fmla="*/ 130968 w 130968"/>
                  <a:gd name="connsiteY4" fmla="*/ 65484 h 13096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0968" h="130968">
                    <a:moveTo>
                      <a:pt x="130968" y="65484"/>
                    </a:moveTo>
                    <a:cubicBezTo>
                      <a:pt x="130968" y="101650"/>
                      <a:pt x="101649" y="130969"/>
                      <a:pt x="65483" y="130969"/>
                    </a:cubicBezTo>
                    <a:cubicBezTo>
                      <a:pt x="29317" y="130969"/>
                      <a:pt x="-1" y="101650"/>
                      <a:pt x="-1" y="65484"/>
                    </a:cubicBezTo>
                    <a:cubicBezTo>
                      <a:pt x="-1" y="29318"/>
                      <a:pt x="29317" y="0"/>
                      <a:pt x="65483" y="0"/>
                    </a:cubicBezTo>
                    <a:cubicBezTo>
                      <a:pt x="101649" y="0"/>
                      <a:pt x="130968" y="29318"/>
                      <a:pt x="130968" y="65484"/>
                    </a:cubicBezTo>
                    <a:close/>
                  </a:path>
                </a:pathLst>
              </a:custGeom>
              <a:solidFill>
                <a:srgbClr val="FFFFFF"/>
              </a:solidFill>
              <a:ln w="12700" cap="flat">
                <a:solidFill>
                  <a:srgbClr val="333333"/>
                </a:solidFill>
                <a:prstDash val="solid"/>
                <a:miter/>
              </a:ln>
            </p:spPr>
            <p:txBody>
              <a:bodyPr rtlCol="0" anchor="ctr"/>
              <a:lstStyle/>
              <a:p>
                <a:endParaRPr lang="en-US"/>
              </a:p>
            </p:txBody>
          </p:sp>
          <p:sp>
            <p:nvSpPr>
              <p:cNvPr id="55" name="Freeform: Shape 101">
                <a:extLst>
                  <a:ext uri="{FF2B5EF4-FFF2-40B4-BE49-F238E27FC236}">
                    <a16:creationId xmlns:a16="http://schemas.microsoft.com/office/drawing/2014/main" id="{DDFE3A0C-8813-C628-5C6D-B5C1B047CD3E}"/>
                  </a:ext>
                </a:extLst>
              </p:cNvPr>
              <p:cNvSpPr/>
              <p:nvPr/>
            </p:nvSpPr>
            <p:spPr>
              <a:xfrm>
                <a:off x="6960135" y="1716592"/>
                <a:ext cx="244062" cy="244062"/>
              </a:xfrm>
              <a:custGeom>
                <a:avLst/>
                <a:gdLst>
                  <a:gd name="connsiteX0" fmla="*/ 130968 w 130968"/>
                  <a:gd name="connsiteY0" fmla="*/ 65484 h 130968"/>
                  <a:gd name="connsiteX1" fmla="*/ 65483 w 130968"/>
                  <a:gd name="connsiteY1" fmla="*/ 130969 h 130968"/>
                  <a:gd name="connsiteX2" fmla="*/ -1 w 130968"/>
                  <a:gd name="connsiteY2" fmla="*/ 65484 h 130968"/>
                  <a:gd name="connsiteX3" fmla="*/ 65483 w 130968"/>
                  <a:gd name="connsiteY3" fmla="*/ 0 h 130968"/>
                  <a:gd name="connsiteX4" fmla="*/ 130968 w 130968"/>
                  <a:gd name="connsiteY4" fmla="*/ 65484 h 13096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0968" h="130968">
                    <a:moveTo>
                      <a:pt x="130968" y="65484"/>
                    </a:moveTo>
                    <a:cubicBezTo>
                      <a:pt x="130968" y="101650"/>
                      <a:pt x="101649" y="130969"/>
                      <a:pt x="65483" y="130969"/>
                    </a:cubicBezTo>
                    <a:cubicBezTo>
                      <a:pt x="29317" y="130969"/>
                      <a:pt x="-1" y="101650"/>
                      <a:pt x="-1" y="65484"/>
                    </a:cubicBezTo>
                    <a:cubicBezTo>
                      <a:pt x="-1" y="29318"/>
                      <a:pt x="29317" y="0"/>
                      <a:pt x="65483" y="0"/>
                    </a:cubicBezTo>
                    <a:cubicBezTo>
                      <a:pt x="101649" y="0"/>
                      <a:pt x="130968" y="29318"/>
                      <a:pt x="130968" y="65484"/>
                    </a:cubicBezTo>
                    <a:close/>
                  </a:path>
                </a:pathLst>
              </a:custGeom>
              <a:solidFill>
                <a:srgbClr val="FFFFFF"/>
              </a:solidFill>
              <a:ln w="12700" cap="flat">
                <a:solidFill>
                  <a:srgbClr val="333333"/>
                </a:solidFill>
                <a:prstDash val="solid"/>
                <a:miter/>
              </a:ln>
            </p:spPr>
            <p:txBody>
              <a:bodyPr rtlCol="0" anchor="ctr"/>
              <a:lstStyle/>
              <a:p>
                <a:endParaRPr lang="en-US"/>
              </a:p>
            </p:txBody>
          </p:sp>
          <p:sp>
            <p:nvSpPr>
              <p:cNvPr id="56" name="Freeform: Shape 102">
                <a:extLst>
                  <a:ext uri="{FF2B5EF4-FFF2-40B4-BE49-F238E27FC236}">
                    <a16:creationId xmlns:a16="http://schemas.microsoft.com/office/drawing/2014/main" id="{FD19D126-6282-DD80-EF6E-82CBDBA77BAC}"/>
                  </a:ext>
                </a:extLst>
              </p:cNvPr>
              <p:cNvSpPr/>
              <p:nvPr/>
            </p:nvSpPr>
            <p:spPr>
              <a:xfrm>
                <a:off x="6960135" y="2182530"/>
                <a:ext cx="244062" cy="244062"/>
              </a:xfrm>
              <a:custGeom>
                <a:avLst/>
                <a:gdLst>
                  <a:gd name="connsiteX0" fmla="*/ 130968 w 130968"/>
                  <a:gd name="connsiteY0" fmla="*/ 65484 h 130968"/>
                  <a:gd name="connsiteX1" fmla="*/ 65483 w 130968"/>
                  <a:gd name="connsiteY1" fmla="*/ 130969 h 130968"/>
                  <a:gd name="connsiteX2" fmla="*/ -1 w 130968"/>
                  <a:gd name="connsiteY2" fmla="*/ 65484 h 130968"/>
                  <a:gd name="connsiteX3" fmla="*/ 65483 w 130968"/>
                  <a:gd name="connsiteY3" fmla="*/ 0 h 130968"/>
                  <a:gd name="connsiteX4" fmla="*/ 130968 w 130968"/>
                  <a:gd name="connsiteY4" fmla="*/ 65484 h 13096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0968" h="130968">
                    <a:moveTo>
                      <a:pt x="130968" y="65484"/>
                    </a:moveTo>
                    <a:cubicBezTo>
                      <a:pt x="130968" y="101650"/>
                      <a:pt x="101649" y="130969"/>
                      <a:pt x="65483" y="130969"/>
                    </a:cubicBezTo>
                    <a:cubicBezTo>
                      <a:pt x="29317" y="130969"/>
                      <a:pt x="-1" y="101650"/>
                      <a:pt x="-1" y="65484"/>
                    </a:cubicBezTo>
                    <a:cubicBezTo>
                      <a:pt x="-1" y="29318"/>
                      <a:pt x="29317" y="0"/>
                      <a:pt x="65483" y="0"/>
                    </a:cubicBezTo>
                    <a:cubicBezTo>
                      <a:pt x="101649" y="0"/>
                      <a:pt x="130968" y="29318"/>
                      <a:pt x="130968" y="65484"/>
                    </a:cubicBezTo>
                    <a:close/>
                  </a:path>
                </a:pathLst>
              </a:custGeom>
              <a:solidFill>
                <a:srgbClr val="FFFFFF"/>
              </a:solidFill>
              <a:ln w="12700" cap="flat">
                <a:solidFill>
                  <a:srgbClr val="333333"/>
                </a:solidFill>
                <a:prstDash val="solid"/>
                <a:miter/>
              </a:ln>
            </p:spPr>
            <p:txBody>
              <a:bodyPr rtlCol="0" anchor="ctr"/>
              <a:lstStyle/>
              <a:p>
                <a:endParaRPr lang="en-US" dirty="0"/>
              </a:p>
            </p:txBody>
          </p:sp>
          <p:sp>
            <p:nvSpPr>
              <p:cNvPr id="57" name="Freeform: Shape 103">
                <a:extLst>
                  <a:ext uri="{FF2B5EF4-FFF2-40B4-BE49-F238E27FC236}">
                    <a16:creationId xmlns:a16="http://schemas.microsoft.com/office/drawing/2014/main" id="{22F0D45E-5F7A-5387-6803-7EA4A991CC46}"/>
                  </a:ext>
                </a:extLst>
              </p:cNvPr>
              <p:cNvSpPr/>
              <p:nvPr/>
            </p:nvSpPr>
            <p:spPr>
              <a:xfrm>
                <a:off x="6960135" y="2648469"/>
                <a:ext cx="244062" cy="244062"/>
              </a:xfrm>
              <a:custGeom>
                <a:avLst/>
                <a:gdLst>
                  <a:gd name="connsiteX0" fmla="*/ 130968 w 130968"/>
                  <a:gd name="connsiteY0" fmla="*/ 65484 h 130968"/>
                  <a:gd name="connsiteX1" fmla="*/ 65483 w 130968"/>
                  <a:gd name="connsiteY1" fmla="*/ 130969 h 130968"/>
                  <a:gd name="connsiteX2" fmla="*/ -1 w 130968"/>
                  <a:gd name="connsiteY2" fmla="*/ 65484 h 130968"/>
                  <a:gd name="connsiteX3" fmla="*/ 65483 w 130968"/>
                  <a:gd name="connsiteY3" fmla="*/ 0 h 130968"/>
                  <a:gd name="connsiteX4" fmla="*/ 130968 w 130968"/>
                  <a:gd name="connsiteY4" fmla="*/ 65484 h 13096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0968" h="130968">
                    <a:moveTo>
                      <a:pt x="130968" y="65484"/>
                    </a:moveTo>
                    <a:cubicBezTo>
                      <a:pt x="130968" y="101650"/>
                      <a:pt x="101649" y="130969"/>
                      <a:pt x="65483" y="130969"/>
                    </a:cubicBezTo>
                    <a:cubicBezTo>
                      <a:pt x="29317" y="130969"/>
                      <a:pt x="-1" y="101650"/>
                      <a:pt x="-1" y="65484"/>
                    </a:cubicBezTo>
                    <a:cubicBezTo>
                      <a:pt x="-1" y="29318"/>
                      <a:pt x="29317" y="0"/>
                      <a:pt x="65483" y="0"/>
                    </a:cubicBezTo>
                    <a:cubicBezTo>
                      <a:pt x="101649" y="0"/>
                      <a:pt x="130968" y="29318"/>
                      <a:pt x="130968" y="65484"/>
                    </a:cubicBezTo>
                    <a:close/>
                  </a:path>
                </a:pathLst>
              </a:custGeom>
              <a:solidFill>
                <a:srgbClr val="FFFFFF"/>
              </a:solidFill>
              <a:ln w="12700" cap="flat">
                <a:solidFill>
                  <a:srgbClr val="333333"/>
                </a:solidFill>
                <a:prstDash val="solid"/>
                <a:miter/>
              </a:ln>
            </p:spPr>
            <p:txBody>
              <a:bodyPr rtlCol="0" anchor="ctr"/>
              <a:lstStyle/>
              <a:p>
                <a:endParaRPr lang="en-US"/>
              </a:p>
            </p:txBody>
          </p:sp>
          <p:sp>
            <p:nvSpPr>
              <p:cNvPr id="58" name="Freeform: Shape 104">
                <a:extLst>
                  <a:ext uri="{FF2B5EF4-FFF2-40B4-BE49-F238E27FC236}">
                    <a16:creationId xmlns:a16="http://schemas.microsoft.com/office/drawing/2014/main" id="{FC8607CB-107B-C451-2E57-BCA1BDA69AAB}"/>
                  </a:ext>
                </a:extLst>
              </p:cNvPr>
              <p:cNvSpPr/>
              <p:nvPr/>
            </p:nvSpPr>
            <p:spPr>
              <a:xfrm>
                <a:off x="7537011" y="1483621"/>
                <a:ext cx="244062" cy="244062"/>
              </a:xfrm>
              <a:custGeom>
                <a:avLst/>
                <a:gdLst>
                  <a:gd name="connsiteX0" fmla="*/ 130968 w 130968"/>
                  <a:gd name="connsiteY0" fmla="*/ 65484 h 130968"/>
                  <a:gd name="connsiteX1" fmla="*/ 65483 w 130968"/>
                  <a:gd name="connsiteY1" fmla="*/ 130969 h 130968"/>
                  <a:gd name="connsiteX2" fmla="*/ -1 w 130968"/>
                  <a:gd name="connsiteY2" fmla="*/ 65484 h 130968"/>
                  <a:gd name="connsiteX3" fmla="*/ 65483 w 130968"/>
                  <a:gd name="connsiteY3" fmla="*/ 0 h 130968"/>
                  <a:gd name="connsiteX4" fmla="*/ 130968 w 130968"/>
                  <a:gd name="connsiteY4" fmla="*/ 65484 h 13096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0968" h="130968">
                    <a:moveTo>
                      <a:pt x="130968" y="65484"/>
                    </a:moveTo>
                    <a:cubicBezTo>
                      <a:pt x="130968" y="101650"/>
                      <a:pt x="101649" y="130969"/>
                      <a:pt x="65483" y="130969"/>
                    </a:cubicBezTo>
                    <a:cubicBezTo>
                      <a:pt x="29317" y="130969"/>
                      <a:pt x="-1" y="101650"/>
                      <a:pt x="-1" y="65484"/>
                    </a:cubicBezTo>
                    <a:cubicBezTo>
                      <a:pt x="-1" y="29318"/>
                      <a:pt x="29317" y="0"/>
                      <a:pt x="65483" y="0"/>
                    </a:cubicBezTo>
                    <a:cubicBezTo>
                      <a:pt x="101649" y="0"/>
                      <a:pt x="130968" y="29318"/>
                      <a:pt x="130968" y="65484"/>
                    </a:cubicBezTo>
                    <a:close/>
                  </a:path>
                </a:pathLst>
              </a:custGeom>
              <a:solidFill>
                <a:srgbClr val="FFFFFF"/>
              </a:solidFill>
              <a:ln w="12700" cap="flat">
                <a:solidFill>
                  <a:srgbClr val="333333"/>
                </a:solidFill>
                <a:prstDash val="solid"/>
                <a:miter/>
              </a:ln>
            </p:spPr>
            <p:txBody>
              <a:bodyPr rtlCol="0" anchor="ctr"/>
              <a:lstStyle/>
              <a:p>
                <a:endParaRPr lang="en-US"/>
              </a:p>
            </p:txBody>
          </p:sp>
          <p:sp>
            <p:nvSpPr>
              <p:cNvPr id="59" name="Freeform: Shape 105">
                <a:extLst>
                  <a:ext uri="{FF2B5EF4-FFF2-40B4-BE49-F238E27FC236}">
                    <a16:creationId xmlns:a16="http://schemas.microsoft.com/office/drawing/2014/main" id="{7CA586A7-A4B7-F5B4-EA5D-BA9556F93E48}"/>
                  </a:ext>
                </a:extLst>
              </p:cNvPr>
              <p:cNvSpPr/>
              <p:nvPr/>
            </p:nvSpPr>
            <p:spPr>
              <a:xfrm>
                <a:off x="7537011" y="1949560"/>
                <a:ext cx="244062" cy="244062"/>
              </a:xfrm>
              <a:custGeom>
                <a:avLst/>
                <a:gdLst>
                  <a:gd name="connsiteX0" fmla="*/ 130968 w 130968"/>
                  <a:gd name="connsiteY0" fmla="*/ 65484 h 130968"/>
                  <a:gd name="connsiteX1" fmla="*/ 65483 w 130968"/>
                  <a:gd name="connsiteY1" fmla="*/ 130969 h 130968"/>
                  <a:gd name="connsiteX2" fmla="*/ -1 w 130968"/>
                  <a:gd name="connsiteY2" fmla="*/ 65484 h 130968"/>
                  <a:gd name="connsiteX3" fmla="*/ 65483 w 130968"/>
                  <a:gd name="connsiteY3" fmla="*/ 0 h 130968"/>
                  <a:gd name="connsiteX4" fmla="*/ 130968 w 130968"/>
                  <a:gd name="connsiteY4" fmla="*/ 65484 h 13096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0968" h="130968">
                    <a:moveTo>
                      <a:pt x="130968" y="65484"/>
                    </a:moveTo>
                    <a:cubicBezTo>
                      <a:pt x="130968" y="101650"/>
                      <a:pt x="101649" y="130969"/>
                      <a:pt x="65483" y="130969"/>
                    </a:cubicBezTo>
                    <a:cubicBezTo>
                      <a:pt x="29317" y="130969"/>
                      <a:pt x="-1" y="101650"/>
                      <a:pt x="-1" y="65484"/>
                    </a:cubicBezTo>
                    <a:cubicBezTo>
                      <a:pt x="-1" y="29318"/>
                      <a:pt x="29317" y="0"/>
                      <a:pt x="65483" y="0"/>
                    </a:cubicBezTo>
                    <a:cubicBezTo>
                      <a:pt x="101649" y="0"/>
                      <a:pt x="130968" y="29318"/>
                      <a:pt x="130968" y="65484"/>
                    </a:cubicBezTo>
                    <a:close/>
                  </a:path>
                </a:pathLst>
              </a:custGeom>
              <a:solidFill>
                <a:srgbClr val="FFFFFF"/>
              </a:solidFill>
              <a:ln w="12700" cap="flat">
                <a:solidFill>
                  <a:srgbClr val="333333"/>
                </a:solidFill>
                <a:prstDash val="solid"/>
                <a:miter/>
              </a:ln>
            </p:spPr>
            <p:txBody>
              <a:bodyPr rtlCol="0" anchor="ctr"/>
              <a:lstStyle/>
              <a:p>
                <a:endParaRPr lang="en-US"/>
              </a:p>
            </p:txBody>
          </p:sp>
          <p:sp>
            <p:nvSpPr>
              <p:cNvPr id="60" name="Freeform: Shape 106">
                <a:extLst>
                  <a:ext uri="{FF2B5EF4-FFF2-40B4-BE49-F238E27FC236}">
                    <a16:creationId xmlns:a16="http://schemas.microsoft.com/office/drawing/2014/main" id="{8399F49B-80DB-5E10-D84F-6BEE46B5F2AB}"/>
                  </a:ext>
                </a:extLst>
              </p:cNvPr>
              <p:cNvSpPr/>
              <p:nvPr/>
            </p:nvSpPr>
            <p:spPr>
              <a:xfrm>
                <a:off x="7537011" y="2415501"/>
                <a:ext cx="244062" cy="244062"/>
              </a:xfrm>
              <a:custGeom>
                <a:avLst/>
                <a:gdLst>
                  <a:gd name="connsiteX0" fmla="*/ 130968 w 130968"/>
                  <a:gd name="connsiteY0" fmla="*/ 65484 h 130968"/>
                  <a:gd name="connsiteX1" fmla="*/ 65483 w 130968"/>
                  <a:gd name="connsiteY1" fmla="*/ 130969 h 130968"/>
                  <a:gd name="connsiteX2" fmla="*/ -1 w 130968"/>
                  <a:gd name="connsiteY2" fmla="*/ 65484 h 130968"/>
                  <a:gd name="connsiteX3" fmla="*/ 65483 w 130968"/>
                  <a:gd name="connsiteY3" fmla="*/ 0 h 130968"/>
                  <a:gd name="connsiteX4" fmla="*/ 130968 w 130968"/>
                  <a:gd name="connsiteY4" fmla="*/ 65484 h 13096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0968" h="130968">
                    <a:moveTo>
                      <a:pt x="130968" y="65484"/>
                    </a:moveTo>
                    <a:cubicBezTo>
                      <a:pt x="130968" y="101650"/>
                      <a:pt x="101649" y="130969"/>
                      <a:pt x="65483" y="130969"/>
                    </a:cubicBezTo>
                    <a:cubicBezTo>
                      <a:pt x="29317" y="130969"/>
                      <a:pt x="-1" y="101650"/>
                      <a:pt x="-1" y="65484"/>
                    </a:cubicBezTo>
                    <a:cubicBezTo>
                      <a:pt x="-1" y="29318"/>
                      <a:pt x="29317" y="0"/>
                      <a:pt x="65483" y="0"/>
                    </a:cubicBezTo>
                    <a:cubicBezTo>
                      <a:pt x="101649" y="0"/>
                      <a:pt x="130968" y="29318"/>
                      <a:pt x="130968" y="65484"/>
                    </a:cubicBezTo>
                    <a:close/>
                  </a:path>
                </a:pathLst>
              </a:custGeom>
              <a:solidFill>
                <a:srgbClr val="FFFFFF"/>
              </a:solidFill>
              <a:ln w="12700" cap="flat">
                <a:solidFill>
                  <a:srgbClr val="333333"/>
                </a:solidFill>
                <a:prstDash val="solid"/>
                <a:miter/>
              </a:ln>
            </p:spPr>
            <p:txBody>
              <a:bodyPr rtlCol="0" anchor="ctr"/>
              <a:lstStyle/>
              <a:p>
                <a:endParaRPr lang="en-US"/>
              </a:p>
            </p:txBody>
          </p:sp>
          <p:sp>
            <p:nvSpPr>
              <p:cNvPr id="61" name="Freeform: Shape 107">
                <a:extLst>
                  <a:ext uri="{FF2B5EF4-FFF2-40B4-BE49-F238E27FC236}">
                    <a16:creationId xmlns:a16="http://schemas.microsoft.com/office/drawing/2014/main" id="{6B506F5E-64E9-5979-3ED2-106B4F164677}"/>
                  </a:ext>
                </a:extLst>
              </p:cNvPr>
              <p:cNvSpPr/>
              <p:nvPr/>
            </p:nvSpPr>
            <p:spPr>
              <a:xfrm>
                <a:off x="8113889" y="1949560"/>
                <a:ext cx="244062" cy="244062"/>
              </a:xfrm>
              <a:custGeom>
                <a:avLst/>
                <a:gdLst>
                  <a:gd name="connsiteX0" fmla="*/ 130968 w 130968"/>
                  <a:gd name="connsiteY0" fmla="*/ 65484 h 130968"/>
                  <a:gd name="connsiteX1" fmla="*/ 65483 w 130968"/>
                  <a:gd name="connsiteY1" fmla="*/ 130969 h 130968"/>
                  <a:gd name="connsiteX2" fmla="*/ -1 w 130968"/>
                  <a:gd name="connsiteY2" fmla="*/ 65484 h 130968"/>
                  <a:gd name="connsiteX3" fmla="*/ 65483 w 130968"/>
                  <a:gd name="connsiteY3" fmla="*/ 0 h 130968"/>
                  <a:gd name="connsiteX4" fmla="*/ 130968 w 130968"/>
                  <a:gd name="connsiteY4" fmla="*/ 65484 h 13096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0968" h="130968">
                    <a:moveTo>
                      <a:pt x="130968" y="65484"/>
                    </a:moveTo>
                    <a:cubicBezTo>
                      <a:pt x="130968" y="101650"/>
                      <a:pt x="101649" y="130969"/>
                      <a:pt x="65483" y="130969"/>
                    </a:cubicBezTo>
                    <a:cubicBezTo>
                      <a:pt x="29317" y="130969"/>
                      <a:pt x="-1" y="101650"/>
                      <a:pt x="-1" y="65484"/>
                    </a:cubicBezTo>
                    <a:cubicBezTo>
                      <a:pt x="-1" y="29318"/>
                      <a:pt x="29317" y="0"/>
                      <a:pt x="65483" y="0"/>
                    </a:cubicBezTo>
                    <a:cubicBezTo>
                      <a:pt x="101649" y="0"/>
                      <a:pt x="130968" y="29318"/>
                      <a:pt x="130968" y="65484"/>
                    </a:cubicBezTo>
                    <a:close/>
                  </a:path>
                </a:pathLst>
              </a:custGeom>
              <a:solidFill>
                <a:srgbClr val="FFFFFF"/>
              </a:solidFill>
              <a:ln w="12700" cap="flat">
                <a:solidFill>
                  <a:srgbClr val="333333"/>
                </a:solidFill>
                <a:prstDash val="solid"/>
                <a:miter/>
              </a:ln>
            </p:spPr>
            <p:txBody>
              <a:bodyPr rtlCol="0" anchor="ctr"/>
              <a:lstStyle/>
              <a:p>
                <a:endParaRPr lang="en-US"/>
              </a:p>
            </p:txBody>
          </p:sp>
        </p:grpSp>
      </p:grpSp>
      <p:grpSp>
        <p:nvGrpSpPr>
          <p:cNvPr id="66" name="Group 65">
            <a:extLst>
              <a:ext uri="{FF2B5EF4-FFF2-40B4-BE49-F238E27FC236}">
                <a16:creationId xmlns:a16="http://schemas.microsoft.com/office/drawing/2014/main" id="{899FF7E2-7D37-D236-142A-F42C08625D6D}"/>
              </a:ext>
            </a:extLst>
          </p:cNvPr>
          <p:cNvGrpSpPr/>
          <p:nvPr/>
        </p:nvGrpSpPr>
        <p:grpSpPr>
          <a:xfrm>
            <a:off x="4822893" y="5384379"/>
            <a:ext cx="451446" cy="416228"/>
            <a:chOff x="10942710" y="5568186"/>
            <a:chExt cx="451446" cy="416228"/>
          </a:xfrm>
        </p:grpSpPr>
        <p:sp>
          <p:nvSpPr>
            <p:cNvPr id="64" name="Rounded Rectangle 63">
              <a:extLst>
                <a:ext uri="{FF2B5EF4-FFF2-40B4-BE49-F238E27FC236}">
                  <a16:creationId xmlns:a16="http://schemas.microsoft.com/office/drawing/2014/main" id="{8103283B-E01E-B047-077E-DB7F662365E5}"/>
                </a:ext>
              </a:extLst>
            </p:cNvPr>
            <p:cNvSpPr/>
            <p:nvPr/>
          </p:nvSpPr>
          <p:spPr>
            <a:xfrm>
              <a:off x="10942710" y="5568186"/>
              <a:ext cx="451446" cy="416228"/>
            </a:xfrm>
            <a:prstGeom prst="roundRect">
              <a:avLst/>
            </a:prstGeom>
            <a:solidFill>
              <a:schemeClr val="bg1">
                <a:lumMod val="95000"/>
              </a:schemeClr>
            </a:solid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BE" dirty="0"/>
            </a:p>
          </p:txBody>
        </p:sp>
        <p:pic>
          <p:nvPicPr>
            <p:cNvPr id="65" name="Graphic 64" descr="Decision chart outline">
              <a:extLst>
                <a:ext uri="{FF2B5EF4-FFF2-40B4-BE49-F238E27FC236}">
                  <a16:creationId xmlns:a16="http://schemas.microsoft.com/office/drawing/2014/main" id="{C9E46D6B-20A7-62E3-78B3-99F7149B4407}"/>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10974516" y="5582383"/>
              <a:ext cx="387833" cy="387834"/>
            </a:xfrm>
            <a:prstGeom prst="rect">
              <a:avLst/>
            </a:prstGeom>
          </p:spPr>
        </p:pic>
      </p:grpSp>
      <p:sp>
        <p:nvSpPr>
          <p:cNvPr id="67" name="Freeform 66">
            <a:extLst>
              <a:ext uri="{FF2B5EF4-FFF2-40B4-BE49-F238E27FC236}">
                <a16:creationId xmlns:a16="http://schemas.microsoft.com/office/drawing/2014/main" id="{D059E74C-7938-68A4-F811-5465A5AC77AD}"/>
              </a:ext>
            </a:extLst>
          </p:cNvPr>
          <p:cNvSpPr/>
          <p:nvPr/>
        </p:nvSpPr>
        <p:spPr>
          <a:xfrm>
            <a:off x="3626787" y="4209030"/>
            <a:ext cx="430921" cy="352141"/>
          </a:xfrm>
          <a:custGeom>
            <a:avLst/>
            <a:gdLst>
              <a:gd name="csX0" fmla="*/ 0 w 356461"/>
              <a:gd name="csY0" fmla="*/ 247973 h 247973"/>
              <a:gd name="csX1" fmla="*/ 356461 w 356461"/>
              <a:gd name="csY1" fmla="*/ 0 h 247973"/>
            </a:gdLst>
            <a:ahLst/>
            <a:cxnLst>
              <a:cxn ang="0">
                <a:pos x="csX0" y="csY0"/>
              </a:cxn>
              <a:cxn ang="0">
                <a:pos x="csX1" y="csY1"/>
              </a:cxn>
            </a:cxnLst>
            <a:rect l="l" t="t" r="r" b="b"/>
            <a:pathLst>
              <a:path w="356461" h="247973">
                <a:moveTo>
                  <a:pt x="0" y="247973"/>
                </a:moveTo>
                <a:cubicBezTo>
                  <a:pt x="186999" y="241515"/>
                  <a:pt x="269726" y="158858"/>
                  <a:pt x="356461" y="0"/>
                </a:cubicBezTo>
              </a:path>
            </a:pathLst>
          </a:custGeom>
          <a:noFill/>
          <a:ln w="57150">
            <a:solidFill>
              <a:srgbClr val="00BA37"/>
            </a:solidFill>
            <a:headEnd type="none" w="med" len="med"/>
            <a:tailEnd type="arrow" w="med" len="me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BE"/>
          </a:p>
        </p:txBody>
      </p:sp>
      <p:pic>
        <p:nvPicPr>
          <p:cNvPr id="69" name="Picture 68">
            <a:extLst>
              <a:ext uri="{FF2B5EF4-FFF2-40B4-BE49-F238E27FC236}">
                <a16:creationId xmlns:a16="http://schemas.microsoft.com/office/drawing/2014/main" id="{0ADD0B4C-7392-0C8A-416A-DD7644CA9222}"/>
              </a:ext>
            </a:extLst>
          </p:cNvPr>
          <p:cNvPicPr>
            <a:picLocks noChangeAspect="1"/>
          </p:cNvPicPr>
          <p:nvPr/>
        </p:nvPicPr>
        <p:blipFill>
          <a:blip r:embed="rId3">
            <a:extLst>
              <a:ext uri="{28A0092B-C50C-407E-A947-70E740481C1C}">
                <a14:useLocalDpi xmlns:a14="http://schemas.microsoft.com/office/drawing/2010/main" val="0"/>
              </a:ext>
            </a:extLst>
          </a:blip>
          <a:srcRect l="28733" t="5704" r="38996" b="82443"/>
          <a:stretch>
            <a:fillRect/>
          </a:stretch>
        </p:blipFill>
        <p:spPr>
          <a:xfrm>
            <a:off x="1638474" y="5344029"/>
            <a:ext cx="2508206" cy="317892"/>
          </a:xfrm>
          <a:prstGeom prst="rect">
            <a:avLst/>
          </a:prstGeom>
        </p:spPr>
      </p:pic>
      <p:sp>
        <p:nvSpPr>
          <p:cNvPr id="70" name="Freeform 69">
            <a:extLst>
              <a:ext uri="{FF2B5EF4-FFF2-40B4-BE49-F238E27FC236}">
                <a16:creationId xmlns:a16="http://schemas.microsoft.com/office/drawing/2014/main" id="{96E891EC-FDD3-1B43-CABE-BCB3BE81E276}"/>
              </a:ext>
            </a:extLst>
          </p:cNvPr>
          <p:cNvSpPr/>
          <p:nvPr/>
        </p:nvSpPr>
        <p:spPr>
          <a:xfrm>
            <a:off x="4881788" y="3796258"/>
            <a:ext cx="430921" cy="352141"/>
          </a:xfrm>
          <a:custGeom>
            <a:avLst/>
            <a:gdLst>
              <a:gd name="csX0" fmla="*/ 0 w 356461"/>
              <a:gd name="csY0" fmla="*/ 247973 h 247973"/>
              <a:gd name="csX1" fmla="*/ 356461 w 356461"/>
              <a:gd name="csY1" fmla="*/ 0 h 247973"/>
            </a:gdLst>
            <a:ahLst/>
            <a:cxnLst>
              <a:cxn ang="0">
                <a:pos x="csX0" y="csY0"/>
              </a:cxn>
              <a:cxn ang="0">
                <a:pos x="csX1" y="csY1"/>
              </a:cxn>
            </a:cxnLst>
            <a:rect l="l" t="t" r="r" b="b"/>
            <a:pathLst>
              <a:path w="356461" h="247973">
                <a:moveTo>
                  <a:pt x="0" y="247973"/>
                </a:moveTo>
                <a:cubicBezTo>
                  <a:pt x="186999" y="241515"/>
                  <a:pt x="269726" y="158858"/>
                  <a:pt x="356461" y="0"/>
                </a:cubicBezTo>
              </a:path>
            </a:pathLst>
          </a:custGeom>
          <a:noFill/>
          <a:ln w="57150">
            <a:solidFill>
              <a:srgbClr val="00BA37"/>
            </a:solidFill>
            <a:headEnd type="none" w="med" len="med"/>
            <a:tailEnd type="arrow" w="med" len="me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BE"/>
          </a:p>
        </p:txBody>
      </p:sp>
      <p:sp>
        <p:nvSpPr>
          <p:cNvPr id="71" name="Freeform 70">
            <a:extLst>
              <a:ext uri="{FF2B5EF4-FFF2-40B4-BE49-F238E27FC236}">
                <a16:creationId xmlns:a16="http://schemas.microsoft.com/office/drawing/2014/main" id="{E7A63F37-494B-FB95-C984-08C4117D1335}"/>
              </a:ext>
            </a:extLst>
          </p:cNvPr>
          <p:cNvSpPr/>
          <p:nvPr/>
        </p:nvSpPr>
        <p:spPr>
          <a:xfrm>
            <a:off x="6251115" y="3620187"/>
            <a:ext cx="430921" cy="352141"/>
          </a:xfrm>
          <a:custGeom>
            <a:avLst/>
            <a:gdLst>
              <a:gd name="csX0" fmla="*/ 0 w 356461"/>
              <a:gd name="csY0" fmla="*/ 247973 h 247973"/>
              <a:gd name="csX1" fmla="*/ 356461 w 356461"/>
              <a:gd name="csY1" fmla="*/ 0 h 247973"/>
            </a:gdLst>
            <a:ahLst/>
            <a:cxnLst>
              <a:cxn ang="0">
                <a:pos x="csX0" y="csY0"/>
              </a:cxn>
              <a:cxn ang="0">
                <a:pos x="csX1" y="csY1"/>
              </a:cxn>
            </a:cxnLst>
            <a:rect l="l" t="t" r="r" b="b"/>
            <a:pathLst>
              <a:path w="356461" h="247973">
                <a:moveTo>
                  <a:pt x="0" y="247973"/>
                </a:moveTo>
                <a:cubicBezTo>
                  <a:pt x="186999" y="241515"/>
                  <a:pt x="269726" y="158858"/>
                  <a:pt x="356461" y="0"/>
                </a:cubicBezTo>
              </a:path>
            </a:pathLst>
          </a:custGeom>
          <a:noFill/>
          <a:ln w="57150">
            <a:solidFill>
              <a:srgbClr val="00BA37"/>
            </a:solidFill>
            <a:headEnd type="none" w="med" len="med"/>
            <a:tailEnd type="arrow" w="med" len="me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BE"/>
          </a:p>
        </p:txBody>
      </p:sp>
      <p:grpSp>
        <p:nvGrpSpPr>
          <p:cNvPr id="79" name="Group 78">
            <a:extLst>
              <a:ext uri="{FF2B5EF4-FFF2-40B4-BE49-F238E27FC236}">
                <a16:creationId xmlns:a16="http://schemas.microsoft.com/office/drawing/2014/main" id="{D2B4A9A9-B0BF-D1BC-3CE3-F264C4653552}"/>
              </a:ext>
            </a:extLst>
          </p:cNvPr>
          <p:cNvGrpSpPr/>
          <p:nvPr/>
        </p:nvGrpSpPr>
        <p:grpSpPr>
          <a:xfrm>
            <a:off x="1725127" y="2349581"/>
            <a:ext cx="5234242" cy="899902"/>
            <a:chOff x="1725127" y="2466621"/>
            <a:chExt cx="5234242" cy="899902"/>
          </a:xfrm>
        </p:grpSpPr>
        <p:sp>
          <p:nvSpPr>
            <p:cNvPr id="77" name="Rounded Rectangle 76">
              <a:extLst>
                <a:ext uri="{FF2B5EF4-FFF2-40B4-BE49-F238E27FC236}">
                  <a16:creationId xmlns:a16="http://schemas.microsoft.com/office/drawing/2014/main" id="{7AB775A1-471F-C37C-8FE8-385BDAD4F666}"/>
                </a:ext>
              </a:extLst>
            </p:cNvPr>
            <p:cNvSpPr/>
            <p:nvPr/>
          </p:nvSpPr>
          <p:spPr>
            <a:xfrm>
              <a:off x="1725127" y="2466621"/>
              <a:ext cx="5047482" cy="899833"/>
            </a:xfrm>
            <a:prstGeom prst="roundRect">
              <a:avLst>
                <a:gd name="adj" fmla="val 16334"/>
              </a:avLst>
            </a:prstGeom>
            <a:solidFill>
              <a:srgbClr val="00BA38">
                <a:alpha val="20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BE" dirty="0"/>
            </a:p>
          </p:txBody>
        </p:sp>
        <p:sp>
          <p:nvSpPr>
            <p:cNvPr id="68" name="TextBox 67">
              <a:extLst>
                <a:ext uri="{FF2B5EF4-FFF2-40B4-BE49-F238E27FC236}">
                  <a16:creationId xmlns:a16="http://schemas.microsoft.com/office/drawing/2014/main" id="{D98C8992-FE6F-0F55-6853-073240F75D12}"/>
                </a:ext>
              </a:extLst>
            </p:cNvPr>
            <p:cNvSpPr txBox="1"/>
            <p:nvPr/>
          </p:nvSpPr>
          <p:spPr>
            <a:xfrm>
              <a:off x="1776805" y="2510583"/>
              <a:ext cx="5182564" cy="855940"/>
            </a:xfrm>
            <a:prstGeom prst="rect">
              <a:avLst/>
            </a:prstGeom>
            <a:noFill/>
          </p:spPr>
          <p:txBody>
            <a:bodyPr wrap="square" rtlCol="0">
              <a:spAutoFit/>
            </a:bodyPr>
            <a:lstStyle/>
            <a:p>
              <a:pPr>
                <a:lnSpc>
                  <a:spcPct val="75000"/>
                </a:lnSpc>
              </a:pPr>
              <a:r>
                <a:rPr lang="en-BE" sz="3200" b="1" dirty="0">
                  <a:solidFill>
                    <a:srgbClr val="00BA37"/>
                  </a:solidFill>
                  <a:latin typeface="Caveat" pitchFamily="2" charset="77"/>
                </a:rPr>
                <a:t>Assymmetric trees =</a:t>
              </a:r>
            </a:p>
            <a:p>
              <a:pPr>
                <a:lnSpc>
                  <a:spcPct val="75000"/>
                </a:lnSpc>
              </a:pPr>
              <a:r>
                <a:rPr lang="en-BE" sz="3200" b="1" dirty="0">
                  <a:solidFill>
                    <a:srgbClr val="00BA37"/>
                  </a:solidFill>
                  <a:latin typeface="Caveat" pitchFamily="2" charset="77"/>
                </a:rPr>
                <a:t>Better performance for same size!</a:t>
              </a:r>
            </a:p>
          </p:txBody>
        </p:sp>
      </p:grpSp>
      <p:sp>
        <p:nvSpPr>
          <p:cNvPr id="5" name="Slide Number Placeholder 4">
            <a:extLst>
              <a:ext uri="{FF2B5EF4-FFF2-40B4-BE49-F238E27FC236}">
                <a16:creationId xmlns:a16="http://schemas.microsoft.com/office/drawing/2014/main" id="{0C187DF7-5A68-83CF-1998-8CD07A9782E2}"/>
              </a:ext>
            </a:extLst>
          </p:cNvPr>
          <p:cNvSpPr>
            <a:spLocks noGrp="1"/>
          </p:cNvSpPr>
          <p:nvPr>
            <p:ph type="sldNum" sz="quarter" idx="11"/>
          </p:nvPr>
        </p:nvSpPr>
        <p:spPr/>
        <p:txBody>
          <a:bodyPr/>
          <a:lstStyle/>
          <a:p>
            <a:pPr>
              <a:defRPr/>
            </a:pPr>
            <a:fld id="{968663A2-1950-48E6-8399-8A0176E7D7D3}" type="slidenum">
              <a:rPr lang="en-US" smtClean="0"/>
              <a:pPr>
                <a:defRPr/>
              </a:pPr>
              <a:t>19</a:t>
            </a:fld>
            <a:endParaRPr lang="en-US"/>
          </a:p>
        </p:txBody>
      </p:sp>
    </p:spTree>
    <p:extLst>
      <p:ext uri="{BB962C8B-B14F-4D97-AF65-F5344CB8AC3E}">
        <p14:creationId xmlns:p14="http://schemas.microsoft.com/office/powerpoint/2010/main" val="1317297490"/>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50D11DF-F1CD-0FDA-C1BC-03154FBD5541}"/>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B9BD6B88-B83F-0E96-0C06-56CCDECDCE0E}"/>
              </a:ext>
            </a:extLst>
          </p:cNvPr>
          <p:cNvSpPr>
            <a:spLocks noGrp="1"/>
          </p:cNvSpPr>
          <p:nvPr>
            <p:ph type="title"/>
          </p:nvPr>
        </p:nvSpPr>
        <p:spPr>
          <a:xfrm>
            <a:off x="914400" y="2070578"/>
            <a:ext cx="10363200" cy="1238250"/>
          </a:xfrm>
        </p:spPr>
        <p:txBody>
          <a:bodyPr anchor="ctr"/>
          <a:lstStyle/>
          <a:p>
            <a:r>
              <a:rPr lang="en-US" u="sng" dirty="0"/>
              <a:t>Scalable</a:t>
            </a:r>
            <a:r>
              <a:rPr lang="en-US" dirty="0"/>
              <a:t> Attention-based</a:t>
            </a:r>
            <a:br>
              <a:rPr lang="en-US" dirty="0"/>
            </a:br>
            <a:r>
              <a:rPr lang="en-US" dirty="0"/>
              <a:t>RL for Multi-asset Control</a:t>
            </a:r>
            <a:endParaRPr lang="nl-BE" sz="3200" u="none" dirty="0"/>
          </a:p>
        </p:txBody>
      </p:sp>
      <p:sp>
        <p:nvSpPr>
          <p:cNvPr id="21" name="Footer Placeholder 20">
            <a:extLst>
              <a:ext uri="{FF2B5EF4-FFF2-40B4-BE49-F238E27FC236}">
                <a16:creationId xmlns:a16="http://schemas.microsoft.com/office/drawing/2014/main" id="{B3EED372-B0E4-277F-96E2-391018E5EDAF}"/>
              </a:ext>
            </a:extLst>
          </p:cNvPr>
          <p:cNvSpPr>
            <a:spLocks noGrp="1"/>
          </p:cNvSpPr>
          <p:nvPr>
            <p:ph type="ftr" sz="quarter" idx="10"/>
          </p:nvPr>
        </p:nvSpPr>
        <p:spPr/>
        <p:txBody>
          <a:bodyPr/>
          <a:lstStyle/>
          <a:p>
            <a:pPr>
              <a:defRPr/>
            </a:pPr>
            <a:r>
              <a:rPr lang="en-US"/>
              <a:t>C. Develder, "AI4E: Data-efficient and scalable algorithmss to exploit energy flexibility"</a:t>
            </a:r>
          </a:p>
        </p:txBody>
      </p:sp>
      <p:sp>
        <p:nvSpPr>
          <p:cNvPr id="5" name="TextBox 4">
            <a:extLst>
              <a:ext uri="{FF2B5EF4-FFF2-40B4-BE49-F238E27FC236}">
                <a16:creationId xmlns:a16="http://schemas.microsoft.com/office/drawing/2014/main" id="{5BCA12EA-04FC-20B7-971D-B359D56A6CC3}"/>
              </a:ext>
            </a:extLst>
          </p:cNvPr>
          <p:cNvSpPr txBox="1"/>
          <p:nvPr/>
        </p:nvSpPr>
        <p:spPr>
          <a:xfrm>
            <a:off x="5357186" y="764900"/>
            <a:ext cx="2016899" cy="1077218"/>
          </a:xfrm>
          <a:prstGeom prst="rect">
            <a:avLst/>
          </a:prstGeom>
          <a:noFill/>
        </p:spPr>
        <p:txBody>
          <a:bodyPr wrap="none" rtlCol="0">
            <a:spAutoFit/>
          </a:bodyPr>
          <a:lstStyle/>
          <a:p>
            <a:r>
              <a:rPr lang="en-BE" sz="3200" dirty="0">
                <a:solidFill>
                  <a:schemeClr val="bg1"/>
                </a:solidFill>
                <a:latin typeface="+mj-lt"/>
              </a:rPr>
              <a:t>Flexibiity</a:t>
            </a:r>
            <a:br>
              <a:rPr lang="en-BE" sz="3200" dirty="0">
                <a:solidFill>
                  <a:schemeClr val="bg1"/>
                </a:solidFill>
                <a:latin typeface="+mj-lt"/>
              </a:rPr>
            </a:br>
            <a:r>
              <a:rPr lang="en-BE" sz="3200" dirty="0">
                <a:solidFill>
                  <a:schemeClr val="bg1"/>
                </a:solidFill>
                <a:latin typeface="+mj-lt"/>
              </a:rPr>
              <a:t>Optimization</a:t>
            </a:r>
          </a:p>
        </p:txBody>
      </p:sp>
      <p:sp>
        <p:nvSpPr>
          <p:cNvPr id="10" name="TextBox 9">
            <a:extLst>
              <a:ext uri="{FF2B5EF4-FFF2-40B4-BE49-F238E27FC236}">
                <a16:creationId xmlns:a16="http://schemas.microsoft.com/office/drawing/2014/main" id="{C4DE61B1-9246-070E-23AE-BD6F2360E790}"/>
              </a:ext>
            </a:extLst>
          </p:cNvPr>
          <p:cNvSpPr txBox="1"/>
          <p:nvPr/>
        </p:nvSpPr>
        <p:spPr>
          <a:xfrm rot="19968531">
            <a:off x="8464735" y="5361032"/>
            <a:ext cx="1085554" cy="758093"/>
          </a:xfrm>
          <a:prstGeom prst="rect">
            <a:avLst/>
          </a:prstGeom>
          <a:noFill/>
        </p:spPr>
        <p:txBody>
          <a:bodyPr wrap="none" rtlCol="0">
            <a:spAutoFit/>
          </a:bodyPr>
          <a:lstStyle/>
          <a:p>
            <a:pPr>
              <a:lnSpc>
                <a:spcPct val="70000"/>
              </a:lnSpc>
            </a:pPr>
            <a:r>
              <a:rPr lang="en-US" sz="2000" dirty="0">
                <a:solidFill>
                  <a:schemeClr val="accent4"/>
                </a:solidFill>
                <a:latin typeface="Caveat" charset="0"/>
                <a:ea typeface="Caveat" charset="0"/>
                <a:cs typeface="Caveat" charset="0"/>
              </a:rPr>
              <a:t>Thanks</a:t>
            </a:r>
          </a:p>
          <a:p>
            <a:pPr>
              <a:lnSpc>
                <a:spcPct val="70000"/>
              </a:lnSpc>
            </a:pPr>
            <a:r>
              <a:rPr lang="en-US" sz="2000" dirty="0">
                <a:solidFill>
                  <a:schemeClr val="accent4"/>
                </a:solidFill>
                <a:latin typeface="Caveat" charset="0"/>
                <a:ea typeface="Caveat" charset="0"/>
                <a:cs typeface="Caveat" charset="0"/>
              </a:rPr>
              <a:t>Soroush &amp;</a:t>
            </a:r>
            <a:br>
              <a:rPr lang="en-US" sz="2000" dirty="0">
                <a:solidFill>
                  <a:schemeClr val="accent4"/>
                </a:solidFill>
                <a:latin typeface="Caveat" charset="0"/>
                <a:ea typeface="Caveat" charset="0"/>
                <a:cs typeface="Caveat" charset="0"/>
              </a:rPr>
            </a:br>
            <a:r>
              <a:rPr lang="en-US" sz="2000" dirty="0">
                <a:solidFill>
                  <a:schemeClr val="accent4"/>
                </a:solidFill>
                <a:latin typeface="Caveat" charset="0"/>
                <a:ea typeface="Caveat" charset="0"/>
                <a:cs typeface="Caveat" charset="0"/>
              </a:rPr>
              <a:t>Giuseppe!</a:t>
            </a:r>
          </a:p>
        </p:txBody>
      </p:sp>
      <p:sp>
        <p:nvSpPr>
          <p:cNvPr id="11" name="Freeform 10">
            <a:extLst>
              <a:ext uri="{FF2B5EF4-FFF2-40B4-BE49-F238E27FC236}">
                <a16:creationId xmlns:a16="http://schemas.microsoft.com/office/drawing/2014/main" id="{76D5D7F1-6940-622E-FF26-E2E6AEEA0B70}"/>
              </a:ext>
            </a:extLst>
          </p:cNvPr>
          <p:cNvSpPr/>
          <p:nvPr/>
        </p:nvSpPr>
        <p:spPr>
          <a:xfrm rot="679189">
            <a:off x="9472081" y="5487066"/>
            <a:ext cx="607162" cy="152644"/>
          </a:xfrm>
          <a:custGeom>
            <a:avLst/>
            <a:gdLst>
              <a:gd name="connsiteX0" fmla="*/ 0 w 607162"/>
              <a:gd name="connsiteY0" fmla="*/ 234087 h 234087"/>
              <a:gd name="connsiteX1" fmla="*/ 256032 w 607162"/>
              <a:gd name="connsiteY1" fmla="*/ 14631 h 234087"/>
              <a:gd name="connsiteX2" fmla="*/ 607162 w 607162"/>
              <a:gd name="connsiteY2" fmla="*/ 0 h 234087"/>
              <a:gd name="connsiteX0" fmla="*/ 0 w 607162"/>
              <a:gd name="connsiteY0" fmla="*/ 240072 h 240072"/>
              <a:gd name="connsiteX1" fmla="*/ 256032 w 607162"/>
              <a:gd name="connsiteY1" fmla="*/ 20616 h 240072"/>
              <a:gd name="connsiteX2" fmla="*/ 607162 w 607162"/>
              <a:gd name="connsiteY2" fmla="*/ 5985 h 240072"/>
              <a:gd name="connsiteX0" fmla="*/ 0 w 607162"/>
              <a:gd name="connsiteY0" fmla="*/ 249592 h 249592"/>
              <a:gd name="connsiteX1" fmla="*/ 256032 w 607162"/>
              <a:gd name="connsiteY1" fmla="*/ 30136 h 249592"/>
              <a:gd name="connsiteX2" fmla="*/ 607162 w 607162"/>
              <a:gd name="connsiteY2" fmla="*/ 15505 h 249592"/>
              <a:gd name="connsiteX0" fmla="*/ 0 w 607162"/>
              <a:gd name="connsiteY0" fmla="*/ 249592 h 249592"/>
              <a:gd name="connsiteX1" fmla="*/ 256032 w 607162"/>
              <a:gd name="connsiteY1" fmla="*/ 30136 h 249592"/>
              <a:gd name="connsiteX2" fmla="*/ 607162 w 607162"/>
              <a:gd name="connsiteY2" fmla="*/ 15505 h 249592"/>
              <a:gd name="connsiteX0" fmla="*/ 0 w 607162"/>
              <a:gd name="connsiteY0" fmla="*/ 249592 h 249592"/>
              <a:gd name="connsiteX1" fmla="*/ 256032 w 607162"/>
              <a:gd name="connsiteY1" fmla="*/ 30136 h 249592"/>
              <a:gd name="connsiteX2" fmla="*/ 607162 w 607162"/>
              <a:gd name="connsiteY2" fmla="*/ 15505 h 249592"/>
              <a:gd name="connsiteX0" fmla="*/ 0 w 607162"/>
              <a:gd name="connsiteY0" fmla="*/ 258833 h 258833"/>
              <a:gd name="connsiteX1" fmla="*/ 256032 w 607162"/>
              <a:gd name="connsiteY1" fmla="*/ 39377 h 258833"/>
              <a:gd name="connsiteX2" fmla="*/ 607162 w 607162"/>
              <a:gd name="connsiteY2" fmla="*/ 24746 h 258833"/>
              <a:gd name="connsiteX0" fmla="*/ 0 w 607162"/>
              <a:gd name="connsiteY0" fmla="*/ 258833 h 258833"/>
              <a:gd name="connsiteX1" fmla="*/ 256032 w 607162"/>
              <a:gd name="connsiteY1" fmla="*/ 39377 h 258833"/>
              <a:gd name="connsiteX2" fmla="*/ 607162 w 607162"/>
              <a:gd name="connsiteY2" fmla="*/ 24746 h 258833"/>
              <a:gd name="connsiteX0" fmla="*/ 0 w 607162"/>
              <a:gd name="connsiteY0" fmla="*/ 257095 h 257095"/>
              <a:gd name="connsiteX1" fmla="*/ 235862 w 607162"/>
              <a:gd name="connsiteY1" fmla="*/ 41001 h 257095"/>
              <a:gd name="connsiteX2" fmla="*/ 607162 w 607162"/>
              <a:gd name="connsiteY2" fmla="*/ 23008 h 257095"/>
              <a:gd name="connsiteX0" fmla="*/ 0 w 607162"/>
              <a:gd name="connsiteY0" fmla="*/ 257095 h 257095"/>
              <a:gd name="connsiteX1" fmla="*/ 235862 w 607162"/>
              <a:gd name="connsiteY1" fmla="*/ 41001 h 257095"/>
              <a:gd name="connsiteX2" fmla="*/ 607162 w 607162"/>
              <a:gd name="connsiteY2" fmla="*/ 23008 h 257095"/>
              <a:gd name="connsiteX0" fmla="*/ 0 w 607162"/>
              <a:gd name="connsiteY0" fmla="*/ 253450 h 253450"/>
              <a:gd name="connsiteX1" fmla="*/ 235862 w 607162"/>
              <a:gd name="connsiteY1" fmla="*/ 37356 h 253450"/>
              <a:gd name="connsiteX2" fmla="*/ 607162 w 607162"/>
              <a:gd name="connsiteY2" fmla="*/ 19363 h 253450"/>
              <a:gd name="connsiteX0" fmla="*/ 0 w 607162"/>
              <a:gd name="connsiteY0" fmla="*/ 253450 h 253450"/>
              <a:gd name="connsiteX1" fmla="*/ 235862 w 607162"/>
              <a:gd name="connsiteY1" fmla="*/ 37356 h 253450"/>
              <a:gd name="connsiteX2" fmla="*/ 607162 w 607162"/>
              <a:gd name="connsiteY2" fmla="*/ 19363 h 253450"/>
            </a:gdLst>
            <a:ahLst/>
            <a:cxnLst>
              <a:cxn ang="0">
                <a:pos x="connsiteX0" y="connsiteY0"/>
              </a:cxn>
              <a:cxn ang="0">
                <a:pos x="connsiteX1" y="connsiteY1"/>
              </a:cxn>
              <a:cxn ang="0">
                <a:pos x="connsiteX2" y="connsiteY2"/>
              </a:cxn>
            </a:cxnLst>
            <a:rect l="l" t="t" r="r" b="b"/>
            <a:pathLst>
              <a:path w="607162" h="253450">
                <a:moveTo>
                  <a:pt x="0" y="253450"/>
                </a:moveTo>
                <a:cubicBezTo>
                  <a:pt x="20286" y="217088"/>
                  <a:pt x="96317" y="98316"/>
                  <a:pt x="235862" y="37356"/>
                </a:cubicBezTo>
                <a:cubicBezTo>
                  <a:pt x="375407" y="-23604"/>
                  <a:pt x="523145" y="5065"/>
                  <a:pt x="607162" y="19363"/>
                </a:cubicBezTo>
              </a:path>
            </a:pathLst>
          </a:custGeom>
          <a:noFill/>
          <a:ln w="12700">
            <a:solidFill>
              <a:schemeClr val="accent4"/>
            </a:solidFill>
            <a:headEnd type="none" w="med" len="med"/>
            <a:tailEnd type="triangl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2" name="Picture 11">
            <a:extLst>
              <a:ext uri="{FF2B5EF4-FFF2-40B4-BE49-F238E27FC236}">
                <a16:creationId xmlns:a16="http://schemas.microsoft.com/office/drawing/2014/main" id="{E6743F0D-860F-F37A-7215-80AD1BBFF2D2}"/>
              </a:ext>
            </a:extLst>
          </p:cNvPr>
          <p:cNvPicPr>
            <a:picLocks noChangeAspect="1"/>
          </p:cNvPicPr>
          <p:nvPr/>
        </p:nvPicPr>
        <p:blipFill>
          <a:blip r:embed="rId3">
            <a:extLst>
              <a:ext uri="{28A0092B-C50C-407E-A947-70E740481C1C}">
                <a14:useLocalDpi xmlns:a14="http://schemas.microsoft.com/office/drawing/2010/main" val="0"/>
              </a:ext>
            </a:extLst>
          </a:blip>
          <a:srcRect l="1467" r="1467"/>
          <a:stretch/>
        </p:blipFill>
        <p:spPr>
          <a:xfrm rot="20700000">
            <a:off x="10097629" y="4787743"/>
            <a:ext cx="802912" cy="827190"/>
          </a:xfrm>
          <a:prstGeom prst="rect">
            <a:avLst/>
          </a:prstGeom>
          <a:ln>
            <a:noFill/>
          </a:ln>
          <a:effectLst>
            <a:outerShdw blurRad="292100" dist="139700" dir="2700000" algn="tl" rotWithShape="0">
              <a:srgbClr val="333333">
                <a:alpha val="65000"/>
              </a:srgbClr>
            </a:outerShdw>
          </a:effectLst>
        </p:spPr>
      </p:pic>
      <p:sp>
        <p:nvSpPr>
          <p:cNvPr id="13" name="Horizontal Scroll 12">
            <a:extLst>
              <a:ext uri="{FF2B5EF4-FFF2-40B4-BE49-F238E27FC236}">
                <a16:creationId xmlns:a16="http://schemas.microsoft.com/office/drawing/2014/main" id="{B6FC8777-2182-61A3-4230-0E1211EA0589}"/>
              </a:ext>
            </a:extLst>
          </p:cNvPr>
          <p:cNvSpPr/>
          <p:nvPr/>
        </p:nvSpPr>
        <p:spPr>
          <a:xfrm>
            <a:off x="2998816" y="4309903"/>
            <a:ext cx="6270495" cy="962972"/>
          </a:xfrm>
          <a:prstGeom prst="horizontalScroll">
            <a:avLst>
              <a:gd name="adj" fmla="val 14424"/>
            </a:avLst>
          </a:prstGeom>
          <a:solidFill>
            <a:srgbClr val="FFD34C"/>
          </a:solidFill>
          <a:ln>
            <a:noFill/>
          </a:ln>
        </p:spPr>
        <p:style>
          <a:lnRef idx="1">
            <a:schemeClr val="accent1"/>
          </a:lnRef>
          <a:fillRef idx="3">
            <a:schemeClr val="accent1"/>
          </a:fillRef>
          <a:effectRef idx="2">
            <a:schemeClr val="accent1"/>
          </a:effectRef>
          <a:fontRef idx="minor">
            <a:schemeClr val="lt1"/>
          </a:fontRef>
        </p:style>
        <p:txBody>
          <a:bodyPr tIns="46800" rIns="90000" rtlCol="0" anchor="ctr"/>
          <a:lstStyle/>
          <a:p>
            <a:r>
              <a:rPr lang="en-GB" sz="1200" dirty="0">
                <a:solidFill>
                  <a:schemeClr val="accent4">
                    <a:lumMod val="50000"/>
                  </a:schemeClr>
                </a:solidFill>
              </a:rPr>
              <a:t>G. Gabriele, F. </a:t>
            </a:r>
            <a:r>
              <a:rPr lang="en-GB" sz="1200" dirty="0" err="1">
                <a:solidFill>
                  <a:schemeClr val="accent4">
                    <a:lumMod val="50000"/>
                  </a:schemeClr>
                </a:solidFill>
              </a:rPr>
              <a:t>Pavirani</a:t>
            </a:r>
            <a:r>
              <a:rPr lang="en-GB" sz="1200" dirty="0">
                <a:solidFill>
                  <a:schemeClr val="accent4">
                    <a:lumMod val="50000"/>
                  </a:schemeClr>
                </a:solidFill>
              </a:rPr>
              <a:t>, S.S.K. </a:t>
            </a:r>
            <a:r>
              <a:rPr lang="en-GB" sz="1200" dirty="0" err="1">
                <a:solidFill>
                  <a:schemeClr val="accent4">
                    <a:lumMod val="50000"/>
                  </a:schemeClr>
                </a:solidFill>
              </a:rPr>
              <a:t>Madahi</a:t>
            </a:r>
            <a:r>
              <a:rPr lang="en-GB" sz="1200" dirty="0">
                <a:solidFill>
                  <a:schemeClr val="accent4">
                    <a:lumMod val="50000"/>
                  </a:schemeClr>
                </a:solidFill>
              </a:rPr>
              <a:t>, and C. Develder, </a:t>
            </a:r>
            <a:r>
              <a:rPr lang="en-GB" sz="1200" b="1" dirty="0">
                <a:solidFill>
                  <a:schemeClr val="accent4">
                    <a:lumMod val="50000"/>
                  </a:schemeClr>
                </a:solidFill>
              </a:rPr>
              <a:t>"Forecasting what matters: Decision‑focused RL for controlled EV charging with unknown departure times"</a:t>
            </a:r>
            <a:r>
              <a:rPr lang="en-GB" sz="1200" dirty="0">
                <a:solidFill>
                  <a:schemeClr val="accent4">
                    <a:lumMod val="50000"/>
                  </a:schemeClr>
                </a:solidFill>
              </a:rPr>
              <a:t>, in Proc. 17th ACM Int. Conf. Future Energy Sys. (e-Energy 2026), Banff, Canada, 23-25 Jun. 2026, pp. 235-239. </a:t>
            </a:r>
            <a:r>
              <a:rPr lang="en-GB" sz="1200" dirty="0">
                <a:solidFill>
                  <a:schemeClr val="accent4">
                    <a:lumMod val="50000"/>
                  </a:schemeClr>
                </a:solidFill>
                <a:hlinkClick r:id="rId4"/>
              </a:rPr>
              <a:t>doi:10.1145/3744255.3811736</a:t>
            </a:r>
            <a:endParaRPr lang="en-US" sz="1200" dirty="0">
              <a:solidFill>
                <a:schemeClr val="accent4">
                  <a:lumMod val="50000"/>
                </a:schemeClr>
              </a:solidFill>
              <a:latin typeface="UGent Panno Text" charset="0"/>
              <a:ea typeface="UGent Panno Text" charset="0"/>
              <a:cs typeface="UGent Panno Text" charset="0"/>
            </a:endParaRPr>
          </a:p>
        </p:txBody>
      </p:sp>
      <p:pic>
        <p:nvPicPr>
          <p:cNvPr id="14" name="Picture 13">
            <a:extLst>
              <a:ext uri="{FF2B5EF4-FFF2-40B4-BE49-F238E27FC236}">
                <a16:creationId xmlns:a16="http://schemas.microsoft.com/office/drawing/2014/main" id="{1A695F38-86BB-1FF1-9789-798462416DEA}"/>
              </a:ext>
            </a:extLst>
          </p:cNvPr>
          <p:cNvPicPr>
            <a:picLocks noChangeAspect="1"/>
          </p:cNvPicPr>
          <p:nvPr/>
        </p:nvPicPr>
        <p:blipFill>
          <a:blip r:embed="rId5">
            <a:extLst>
              <a:ext uri="{28A0092B-C50C-407E-A947-70E740481C1C}">
                <a14:useLocalDpi xmlns:a14="http://schemas.microsoft.com/office/drawing/2010/main" val="0"/>
              </a:ext>
            </a:extLst>
          </a:blip>
          <a:srcRect l="1467" r="1467"/>
          <a:stretch/>
        </p:blipFill>
        <p:spPr>
          <a:xfrm rot="1001010">
            <a:off x="10806982" y="5069342"/>
            <a:ext cx="802912" cy="827190"/>
          </a:xfrm>
          <a:prstGeom prst="rect">
            <a:avLst/>
          </a:prstGeom>
          <a:ln>
            <a:noFill/>
          </a:ln>
          <a:effectLst>
            <a:outerShdw blurRad="292100" dist="139700" dir="2700000" algn="tl" rotWithShape="0">
              <a:srgbClr val="333333">
                <a:alpha val="65000"/>
              </a:srgbClr>
            </a:outerShdw>
          </a:effectLst>
        </p:spPr>
      </p:pic>
      <p:sp>
        <p:nvSpPr>
          <p:cNvPr id="15" name="Horizontal Scroll 14">
            <a:extLst>
              <a:ext uri="{FF2B5EF4-FFF2-40B4-BE49-F238E27FC236}">
                <a16:creationId xmlns:a16="http://schemas.microsoft.com/office/drawing/2014/main" id="{64B4A3F1-1416-2C80-AD46-F0963F025FC7}"/>
              </a:ext>
            </a:extLst>
          </p:cNvPr>
          <p:cNvSpPr/>
          <p:nvPr/>
        </p:nvSpPr>
        <p:spPr>
          <a:xfrm>
            <a:off x="2998816" y="3530636"/>
            <a:ext cx="6270495" cy="962972"/>
          </a:xfrm>
          <a:prstGeom prst="horizontalScroll">
            <a:avLst>
              <a:gd name="adj" fmla="val 14424"/>
            </a:avLst>
          </a:prstGeom>
          <a:solidFill>
            <a:srgbClr val="FFD34C"/>
          </a:solidFill>
          <a:ln>
            <a:noFill/>
          </a:ln>
        </p:spPr>
        <p:style>
          <a:lnRef idx="1">
            <a:schemeClr val="accent1"/>
          </a:lnRef>
          <a:fillRef idx="3">
            <a:schemeClr val="accent1"/>
          </a:fillRef>
          <a:effectRef idx="2">
            <a:schemeClr val="accent1"/>
          </a:effectRef>
          <a:fontRef idx="minor">
            <a:schemeClr val="lt1"/>
          </a:fontRef>
        </p:style>
        <p:txBody>
          <a:bodyPr tIns="46800" rIns="90000" rtlCol="0" anchor="ctr"/>
          <a:lstStyle/>
          <a:p>
            <a:r>
              <a:rPr lang="en-US" sz="1200" dirty="0">
                <a:solidFill>
                  <a:schemeClr val="accent4">
                    <a:lumMod val="50000"/>
                  </a:schemeClr>
                </a:solidFill>
                <a:latin typeface="UGent Panno Text" charset="0"/>
                <a:ea typeface="UGent Panno Text" charset="0"/>
                <a:cs typeface="UGent Panno Text" charset="0"/>
              </a:rPr>
              <a:t>S.S. Karimi </a:t>
            </a:r>
            <a:r>
              <a:rPr lang="en-US" sz="1200" dirty="0" err="1">
                <a:solidFill>
                  <a:schemeClr val="accent4">
                    <a:lumMod val="50000"/>
                  </a:schemeClr>
                </a:solidFill>
                <a:latin typeface="UGent Panno Text" charset="0"/>
                <a:ea typeface="UGent Panno Text" charset="0"/>
                <a:cs typeface="UGent Panno Text" charset="0"/>
              </a:rPr>
              <a:t>Madahi</a:t>
            </a:r>
            <a:r>
              <a:rPr lang="en-US" sz="1200" dirty="0">
                <a:solidFill>
                  <a:schemeClr val="accent4">
                    <a:lumMod val="50000"/>
                  </a:schemeClr>
                </a:solidFill>
                <a:latin typeface="UGent Panno Text" charset="0"/>
                <a:ea typeface="UGent Panno Text" charset="0"/>
                <a:cs typeface="UGent Panno Text" charset="0"/>
              </a:rPr>
              <a:t>, G. Gabriele, B. Claessens and C. Develder, </a:t>
            </a:r>
            <a:r>
              <a:rPr lang="en-US" sz="1200" b="1" dirty="0">
                <a:solidFill>
                  <a:schemeClr val="accent4">
                    <a:lumMod val="50000"/>
                  </a:schemeClr>
                </a:solidFill>
                <a:latin typeface="UGent Panno Text" charset="0"/>
                <a:ea typeface="UGent Panno Text" charset="0"/>
                <a:cs typeface="UGent Panno Text" charset="0"/>
              </a:rPr>
              <a:t>"Scalable attention-based reinforcement learning method for multi-asset control"</a:t>
            </a:r>
            <a:r>
              <a:rPr lang="en-US" sz="1200" dirty="0">
                <a:solidFill>
                  <a:schemeClr val="accent4">
                    <a:lumMod val="50000"/>
                  </a:schemeClr>
                </a:solidFill>
                <a:latin typeface="UGent Panno Text" charset="0"/>
                <a:ea typeface="UGent Panno Text" charset="0"/>
                <a:cs typeface="UGent Panno Text" charset="0"/>
              </a:rPr>
              <a:t>, in Proc. Workshop </a:t>
            </a:r>
            <a:r>
              <a:rPr lang="en-US" sz="1200" dirty="0" err="1">
                <a:solidFill>
                  <a:schemeClr val="accent4">
                    <a:lumMod val="50000"/>
                  </a:schemeClr>
                </a:solidFill>
                <a:latin typeface="UGent Panno Text" charset="0"/>
                <a:ea typeface="UGent Panno Text" charset="0"/>
                <a:cs typeface="UGent Panno Text" charset="0"/>
              </a:rPr>
              <a:t>Comput</a:t>
            </a:r>
            <a:r>
              <a:rPr lang="en-US" sz="1200" dirty="0">
                <a:solidFill>
                  <a:schemeClr val="accent4">
                    <a:lumMod val="50000"/>
                  </a:schemeClr>
                </a:solidFill>
                <a:latin typeface="UGent Panno Text" charset="0"/>
                <a:ea typeface="UGent Panno Text" charset="0"/>
                <a:cs typeface="UGent Panno Text" charset="0"/>
              </a:rPr>
              <a:t>. </a:t>
            </a:r>
            <a:r>
              <a:rPr lang="en-US" sz="1200" dirty="0" err="1">
                <a:solidFill>
                  <a:schemeClr val="accent4">
                    <a:lumMod val="50000"/>
                  </a:schemeClr>
                </a:solidFill>
                <a:latin typeface="UGent Panno Text" charset="0"/>
                <a:ea typeface="UGent Panno Text" charset="0"/>
                <a:cs typeface="UGent Panno Text" charset="0"/>
              </a:rPr>
              <a:t>Optim</a:t>
            </a:r>
            <a:r>
              <a:rPr lang="en-US" sz="1200" dirty="0">
                <a:solidFill>
                  <a:schemeClr val="accent4">
                    <a:lumMod val="50000"/>
                  </a:schemeClr>
                </a:solidFill>
                <a:latin typeface="UGent Panno Text" charset="0"/>
                <a:ea typeface="UGent Panno Text" charset="0"/>
                <a:cs typeface="UGent Panno Text" charset="0"/>
              </a:rPr>
              <a:t>. Buildings (CO-BUILD) at ICML 2025, Vancouver, Canada, 18 Jul. 2025, pp. 1-8.. </a:t>
            </a:r>
            <a:r>
              <a:rPr lang="en-US" sz="1200" dirty="0">
                <a:solidFill>
                  <a:schemeClr val="accent4">
                    <a:lumMod val="50000"/>
                  </a:schemeClr>
                </a:solidFill>
                <a:latin typeface="UGent Panno Text" charset="0"/>
                <a:ea typeface="UGent Panno Text" charset="0"/>
                <a:cs typeface="UGent Panno Text" charset="0"/>
                <a:hlinkClick r:id="rId6"/>
              </a:rPr>
              <a:t>https://openreview.net/attachment?id=3h0v1Ht73L&amp;name=pdf</a:t>
            </a:r>
            <a:endParaRPr lang="en-US" sz="1200" dirty="0">
              <a:solidFill>
                <a:schemeClr val="accent4">
                  <a:lumMod val="50000"/>
                </a:schemeClr>
              </a:solidFill>
              <a:latin typeface="UGent Panno Text" charset="0"/>
              <a:ea typeface="UGent Panno Text" charset="0"/>
              <a:cs typeface="UGent Panno Text" charset="0"/>
            </a:endParaRPr>
          </a:p>
        </p:txBody>
      </p:sp>
      <p:pic>
        <p:nvPicPr>
          <p:cNvPr id="3" name="Picture 2">
            <a:extLst>
              <a:ext uri="{FF2B5EF4-FFF2-40B4-BE49-F238E27FC236}">
                <a16:creationId xmlns:a16="http://schemas.microsoft.com/office/drawing/2014/main" id="{983D4359-D2D4-F267-EC3B-BCF38DBEF626}"/>
              </a:ext>
            </a:extLst>
          </p:cNvPr>
          <p:cNvPicPr>
            <a:picLocks noChangeAspect="1"/>
          </p:cNvPicPr>
          <p:nvPr/>
        </p:nvPicPr>
        <p:blipFill>
          <a:blip r:embed="rId7"/>
          <a:stretch>
            <a:fillRect/>
          </a:stretch>
        </p:blipFill>
        <p:spPr>
          <a:xfrm>
            <a:off x="4295275" y="764900"/>
            <a:ext cx="1162800" cy="1020996"/>
          </a:xfrm>
          <a:prstGeom prst="rect">
            <a:avLst/>
          </a:prstGeom>
        </p:spPr>
      </p:pic>
      <p:sp>
        <p:nvSpPr>
          <p:cNvPr id="4" name="Slide Number Placeholder 3">
            <a:extLst>
              <a:ext uri="{FF2B5EF4-FFF2-40B4-BE49-F238E27FC236}">
                <a16:creationId xmlns:a16="http://schemas.microsoft.com/office/drawing/2014/main" id="{37764A50-CE99-1459-2FB5-299685DDB638}"/>
              </a:ext>
            </a:extLst>
          </p:cNvPr>
          <p:cNvSpPr>
            <a:spLocks noGrp="1"/>
          </p:cNvSpPr>
          <p:nvPr>
            <p:ph type="sldNum" sz="quarter" idx="11"/>
          </p:nvPr>
        </p:nvSpPr>
        <p:spPr/>
        <p:txBody>
          <a:bodyPr/>
          <a:lstStyle/>
          <a:p>
            <a:pPr>
              <a:defRPr/>
            </a:pPr>
            <a:fld id="{837B71E7-1BA8-4BCA-B4F0-4746BEDF418B}" type="slidenum">
              <a:rPr lang="en-US" smtClean="0"/>
              <a:pPr>
                <a:defRPr/>
              </a:pPr>
              <a:t>20</a:t>
            </a:fld>
            <a:endParaRPr lang="en-US"/>
          </a:p>
        </p:txBody>
      </p:sp>
    </p:spTree>
    <p:extLst>
      <p:ext uri="{BB962C8B-B14F-4D97-AF65-F5344CB8AC3E}">
        <p14:creationId xmlns:p14="http://schemas.microsoft.com/office/powerpoint/2010/main" val="33389362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grpId="0" nodeType="afterEffect">
                                  <p:stCondLst>
                                    <p:cond delay="0"/>
                                  </p:stCondLst>
                                  <p:childTnLst>
                                    <p:set>
                                      <p:cBhvr>
                                        <p:cTn id="6" dur="1" fill="hold">
                                          <p:stCondLst>
                                            <p:cond delay="0"/>
                                          </p:stCondLst>
                                        </p:cTn>
                                        <p:tgtEl>
                                          <p:spTgt spid="11"/>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0"/>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12"/>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1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p:bldP spid="11" grpId="0" animBg="1"/>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Controlling EV charging</a:t>
            </a:r>
            <a:endParaRPr lang="en-US" dirty="0">
              <a:solidFill>
                <a:schemeClr val="accent2">
                  <a:lumMod val="40000"/>
                  <a:lumOff val="60000"/>
                </a:schemeClr>
              </a:solidFill>
            </a:endParaRPr>
          </a:p>
        </p:txBody>
      </p:sp>
      <p:sp>
        <p:nvSpPr>
          <p:cNvPr id="14" name="Content Placeholder 13">
            <a:extLst>
              <a:ext uri="{FF2B5EF4-FFF2-40B4-BE49-F238E27FC236}">
                <a16:creationId xmlns:a16="http://schemas.microsoft.com/office/drawing/2014/main" id="{B528557F-6811-2AB3-E29F-11A2AB8A9C5A}"/>
              </a:ext>
            </a:extLst>
          </p:cNvPr>
          <p:cNvSpPr>
            <a:spLocks noGrp="1"/>
          </p:cNvSpPr>
          <p:nvPr>
            <p:ph idx="1"/>
          </p:nvPr>
        </p:nvSpPr>
        <p:spPr>
          <a:xfrm>
            <a:off x="476212" y="1359878"/>
            <a:ext cx="4790732" cy="4731847"/>
          </a:xfrm>
        </p:spPr>
        <p:txBody>
          <a:bodyPr/>
          <a:lstStyle/>
          <a:p>
            <a:r>
              <a:rPr lang="en-BE" dirty="0"/>
              <a:t>Why?</a:t>
            </a:r>
          </a:p>
          <a:p>
            <a:pPr lvl="1"/>
            <a:r>
              <a:rPr lang="en-BE" dirty="0"/>
              <a:t>Limit peak load</a:t>
            </a:r>
          </a:p>
          <a:p>
            <a:pPr lvl="1"/>
            <a:r>
              <a:rPr lang="en-BE" dirty="0"/>
              <a:t>Limit charging costs </a:t>
            </a:r>
          </a:p>
          <a:p>
            <a:pPr lvl="1"/>
            <a:r>
              <a:rPr lang="en-BE" dirty="0"/>
              <a:t>Balancing </a:t>
            </a:r>
          </a:p>
          <a:p>
            <a:pPr lvl="1"/>
            <a:r>
              <a:rPr lang="en-BE" dirty="0"/>
              <a:t>. . .</a:t>
            </a:r>
          </a:p>
          <a:p>
            <a:pPr lvl="1"/>
            <a:endParaRPr lang="en-BE" dirty="0"/>
          </a:p>
          <a:p>
            <a:r>
              <a:rPr lang="en-BE" dirty="0"/>
              <a:t>How?</a:t>
            </a:r>
          </a:p>
          <a:p>
            <a:pPr lvl="1"/>
            <a:r>
              <a:rPr lang="en-BE" dirty="0"/>
              <a:t>Identify EV requirements (timing + energy)</a:t>
            </a:r>
          </a:p>
          <a:p>
            <a:pPr lvl="1"/>
            <a:r>
              <a:rPr lang="en-BE" dirty="0"/>
              <a:t>Automatic control algorithm</a:t>
            </a:r>
          </a:p>
          <a:p>
            <a:pPr lvl="1"/>
            <a:endParaRPr lang="en-BE" dirty="0"/>
          </a:p>
        </p:txBody>
      </p:sp>
      <p:sp>
        <p:nvSpPr>
          <p:cNvPr id="4" name="Footer Placeholder 3"/>
          <p:cNvSpPr>
            <a:spLocks noGrp="1"/>
          </p:cNvSpPr>
          <p:nvPr>
            <p:ph type="ftr" sz="quarter" idx="10"/>
          </p:nvPr>
        </p:nvSpPr>
        <p:spPr/>
        <p:txBody>
          <a:bodyPr/>
          <a:lstStyle/>
          <a:p>
            <a:pPr>
              <a:defRPr/>
            </a:pPr>
            <a:r>
              <a:rPr lang="en-US"/>
              <a:t>C. Develder, "AI4E: Data-efficient and scalable algorithmss to exploit energy flexibility"</a:t>
            </a:r>
          </a:p>
        </p:txBody>
      </p:sp>
      <p:grpSp>
        <p:nvGrpSpPr>
          <p:cNvPr id="13" name="Group 12">
            <a:extLst>
              <a:ext uri="{FF2B5EF4-FFF2-40B4-BE49-F238E27FC236}">
                <a16:creationId xmlns:a16="http://schemas.microsoft.com/office/drawing/2014/main" id="{9281A86E-58E8-02D9-61CC-933B61328582}"/>
              </a:ext>
            </a:extLst>
          </p:cNvPr>
          <p:cNvGrpSpPr/>
          <p:nvPr/>
        </p:nvGrpSpPr>
        <p:grpSpPr>
          <a:xfrm>
            <a:off x="5741524" y="1461297"/>
            <a:ext cx="5228023" cy="3935406"/>
            <a:chOff x="591623" y="1716881"/>
            <a:chExt cx="5228023" cy="3935406"/>
          </a:xfrm>
        </p:grpSpPr>
        <p:pic>
          <p:nvPicPr>
            <p:cNvPr id="8" name="Picture 7"/>
            <p:cNvPicPr>
              <a:picLocks noChangeAspect="1"/>
            </p:cNvPicPr>
            <p:nvPr/>
          </p:nvPicPr>
          <p:blipFill>
            <a:blip r:embed="rId3">
              <a:extLst>
                <a:ext uri="{28A0092B-C50C-407E-A947-70E740481C1C}">
                  <a14:useLocalDpi xmlns:a14="http://schemas.microsoft.com/office/drawing/2010/main" val="0"/>
                </a:ext>
              </a:extLst>
            </a:blip>
            <a:srcRect r="50856"/>
            <a:stretch>
              <a:fillRect/>
            </a:stretch>
          </p:blipFill>
          <p:spPr>
            <a:xfrm>
              <a:off x="591623" y="1716881"/>
              <a:ext cx="5228023" cy="3935406"/>
            </a:xfrm>
            <a:prstGeom prst="rect">
              <a:avLst/>
            </a:prstGeom>
          </p:spPr>
        </p:pic>
        <p:sp>
          <p:nvSpPr>
            <p:cNvPr id="5" name="Rectangle 4">
              <a:extLst>
                <a:ext uri="{FF2B5EF4-FFF2-40B4-BE49-F238E27FC236}">
                  <a16:creationId xmlns:a16="http://schemas.microsoft.com/office/drawing/2014/main" id="{A9F4327C-AAB8-5641-8B5D-52E2ADEBFAAF}"/>
                </a:ext>
              </a:extLst>
            </p:cNvPr>
            <p:cNvSpPr/>
            <p:nvPr/>
          </p:nvSpPr>
          <p:spPr>
            <a:xfrm>
              <a:off x="778288" y="2526362"/>
              <a:ext cx="143479" cy="197491"/>
            </a:xfrm>
            <a:custGeom>
              <a:avLst/>
              <a:gdLst>
                <a:gd name="connsiteX0" fmla="*/ 0 w 59960"/>
                <a:gd name="connsiteY0" fmla="*/ 0 h 134912"/>
                <a:gd name="connsiteX1" fmla="*/ 59960 w 59960"/>
                <a:gd name="connsiteY1" fmla="*/ 0 h 134912"/>
                <a:gd name="connsiteX2" fmla="*/ 59960 w 59960"/>
                <a:gd name="connsiteY2" fmla="*/ 134912 h 134912"/>
                <a:gd name="connsiteX3" fmla="*/ 0 w 59960"/>
                <a:gd name="connsiteY3" fmla="*/ 134912 h 134912"/>
                <a:gd name="connsiteX4" fmla="*/ 0 w 59960"/>
                <a:gd name="connsiteY4" fmla="*/ 0 h 134912"/>
                <a:gd name="connsiteX0" fmla="*/ 0 w 136160"/>
                <a:gd name="connsiteY0" fmla="*/ 0 h 134912"/>
                <a:gd name="connsiteX1" fmla="*/ 59960 w 136160"/>
                <a:gd name="connsiteY1" fmla="*/ 0 h 134912"/>
                <a:gd name="connsiteX2" fmla="*/ 136160 w 136160"/>
                <a:gd name="connsiteY2" fmla="*/ 103162 h 134912"/>
                <a:gd name="connsiteX3" fmla="*/ 0 w 136160"/>
                <a:gd name="connsiteY3" fmla="*/ 134912 h 134912"/>
                <a:gd name="connsiteX4" fmla="*/ 0 w 136160"/>
                <a:gd name="connsiteY4" fmla="*/ 0 h 134912"/>
                <a:gd name="connsiteX0" fmla="*/ 0 w 180610"/>
                <a:gd name="connsiteY0" fmla="*/ 0 h 179362"/>
                <a:gd name="connsiteX1" fmla="*/ 59960 w 180610"/>
                <a:gd name="connsiteY1" fmla="*/ 0 h 179362"/>
                <a:gd name="connsiteX2" fmla="*/ 180610 w 180610"/>
                <a:gd name="connsiteY2" fmla="*/ 179362 h 179362"/>
                <a:gd name="connsiteX3" fmla="*/ 0 w 180610"/>
                <a:gd name="connsiteY3" fmla="*/ 134912 h 179362"/>
                <a:gd name="connsiteX4" fmla="*/ 0 w 180610"/>
                <a:gd name="connsiteY4" fmla="*/ 0 h 179362"/>
                <a:gd name="connsiteX0" fmla="*/ 0 w 180610"/>
                <a:gd name="connsiteY0" fmla="*/ 0 h 217462"/>
                <a:gd name="connsiteX1" fmla="*/ 59960 w 180610"/>
                <a:gd name="connsiteY1" fmla="*/ 38100 h 217462"/>
                <a:gd name="connsiteX2" fmla="*/ 180610 w 180610"/>
                <a:gd name="connsiteY2" fmla="*/ 217462 h 217462"/>
                <a:gd name="connsiteX3" fmla="*/ 0 w 180610"/>
                <a:gd name="connsiteY3" fmla="*/ 173012 h 217462"/>
                <a:gd name="connsiteX4" fmla="*/ 0 w 180610"/>
                <a:gd name="connsiteY4" fmla="*/ 0 h 217462"/>
                <a:gd name="connsiteX0" fmla="*/ 0 w 180610"/>
                <a:gd name="connsiteY0" fmla="*/ 0 h 217462"/>
                <a:gd name="connsiteX1" fmla="*/ 59960 w 180610"/>
                <a:gd name="connsiteY1" fmla="*/ 38100 h 217462"/>
                <a:gd name="connsiteX2" fmla="*/ 107221 w 180610"/>
                <a:gd name="connsiteY2" fmla="*/ 115237 h 217462"/>
                <a:gd name="connsiteX3" fmla="*/ 180610 w 180610"/>
                <a:gd name="connsiteY3" fmla="*/ 217462 h 217462"/>
                <a:gd name="connsiteX4" fmla="*/ 0 w 180610"/>
                <a:gd name="connsiteY4" fmla="*/ 173012 h 217462"/>
                <a:gd name="connsiteX5" fmla="*/ 0 w 180610"/>
                <a:gd name="connsiteY5" fmla="*/ 0 h 217462"/>
                <a:gd name="connsiteX0" fmla="*/ 0 w 180610"/>
                <a:gd name="connsiteY0" fmla="*/ 0 h 217462"/>
                <a:gd name="connsiteX1" fmla="*/ 59960 w 180610"/>
                <a:gd name="connsiteY1" fmla="*/ 38100 h 217462"/>
                <a:gd name="connsiteX2" fmla="*/ 81821 w 180610"/>
                <a:gd name="connsiteY2" fmla="*/ 121587 h 217462"/>
                <a:gd name="connsiteX3" fmla="*/ 180610 w 180610"/>
                <a:gd name="connsiteY3" fmla="*/ 217462 h 217462"/>
                <a:gd name="connsiteX4" fmla="*/ 0 w 180610"/>
                <a:gd name="connsiteY4" fmla="*/ 173012 h 217462"/>
                <a:gd name="connsiteX5" fmla="*/ 0 w 180610"/>
                <a:gd name="connsiteY5" fmla="*/ 0 h 217462"/>
                <a:gd name="connsiteX0" fmla="*/ 0 w 180610"/>
                <a:gd name="connsiteY0" fmla="*/ 0 h 217462"/>
                <a:gd name="connsiteX1" fmla="*/ 53610 w 180610"/>
                <a:gd name="connsiteY1" fmla="*/ 6350 h 217462"/>
                <a:gd name="connsiteX2" fmla="*/ 81821 w 180610"/>
                <a:gd name="connsiteY2" fmla="*/ 121587 h 217462"/>
                <a:gd name="connsiteX3" fmla="*/ 180610 w 180610"/>
                <a:gd name="connsiteY3" fmla="*/ 217462 h 217462"/>
                <a:gd name="connsiteX4" fmla="*/ 0 w 180610"/>
                <a:gd name="connsiteY4" fmla="*/ 173012 h 217462"/>
                <a:gd name="connsiteX5" fmla="*/ 0 w 180610"/>
                <a:gd name="connsiteY5" fmla="*/ 0 h 217462"/>
                <a:gd name="connsiteX0" fmla="*/ 0 w 186960"/>
                <a:gd name="connsiteY0" fmla="*/ 0 h 198412"/>
                <a:gd name="connsiteX1" fmla="*/ 53610 w 186960"/>
                <a:gd name="connsiteY1" fmla="*/ 6350 h 198412"/>
                <a:gd name="connsiteX2" fmla="*/ 81821 w 186960"/>
                <a:gd name="connsiteY2" fmla="*/ 121587 h 198412"/>
                <a:gd name="connsiteX3" fmla="*/ 186960 w 186960"/>
                <a:gd name="connsiteY3" fmla="*/ 198412 h 198412"/>
                <a:gd name="connsiteX4" fmla="*/ 0 w 186960"/>
                <a:gd name="connsiteY4" fmla="*/ 173012 h 198412"/>
                <a:gd name="connsiteX5" fmla="*/ 0 w 186960"/>
                <a:gd name="connsiteY5" fmla="*/ 0 h 198412"/>
                <a:gd name="connsiteX0" fmla="*/ 0 w 186960"/>
                <a:gd name="connsiteY0" fmla="*/ 0 h 198412"/>
                <a:gd name="connsiteX1" fmla="*/ 53610 w 186960"/>
                <a:gd name="connsiteY1" fmla="*/ 6350 h 198412"/>
                <a:gd name="connsiteX2" fmla="*/ 62771 w 186960"/>
                <a:gd name="connsiteY2" fmla="*/ 96187 h 198412"/>
                <a:gd name="connsiteX3" fmla="*/ 186960 w 186960"/>
                <a:gd name="connsiteY3" fmla="*/ 198412 h 198412"/>
                <a:gd name="connsiteX4" fmla="*/ 0 w 186960"/>
                <a:gd name="connsiteY4" fmla="*/ 173012 h 198412"/>
                <a:gd name="connsiteX5" fmla="*/ 0 w 186960"/>
                <a:gd name="connsiteY5" fmla="*/ 0 h 198412"/>
                <a:gd name="connsiteX0" fmla="*/ 0 w 186960"/>
                <a:gd name="connsiteY0" fmla="*/ 0 h 407962"/>
                <a:gd name="connsiteX1" fmla="*/ 53610 w 186960"/>
                <a:gd name="connsiteY1" fmla="*/ 6350 h 407962"/>
                <a:gd name="connsiteX2" fmla="*/ 62771 w 186960"/>
                <a:gd name="connsiteY2" fmla="*/ 96187 h 407962"/>
                <a:gd name="connsiteX3" fmla="*/ 186960 w 186960"/>
                <a:gd name="connsiteY3" fmla="*/ 407962 h 407962"/>
                <a:gd name="connsiteX4" fmla="*/ 0 w 186960"/>
                <a:gd name="connsiteY4" fmla="*/ 173012 h 407962"/>
                <a:gd name="connsiteX5" fmla="*/ 0 w 186960"/>
                <a:gd name="connsiteY5" fmla="*/ 0 h 407962"/>
                <a:gd name="connsiteX0" fmla="*/ 0 w 186960"/>
                <a:gd name="connsiteY0" fmla="*/ 0 h 407962"/>
                <a:gd name="connsiteX1" fmla="*/ 53610 w 186960"/>
                <a:gd name="connsiteY1" fmla="*/ 6350 h 407962"/>
                <a:gd name="connsiteX2" fmla="*/ 62771 w 186960"/>
                <a:gd name="connsiteY2" fmla="*/ 96187 h 407962"/>
                <a:gd name="connsiteX3" fmla="*/ 107221 w 186960"/>
                <a:gd name="connsiteY3" fmla="*/ 229537 h 407962"/>
                <a:gd name="connsiteX4" fmla="*/ 186960 w 186960"/>
                <a:gd name="connsiteY4" fmla="*/ 407962 h 407962"/>
                <a:gd name="connsiteX5" fmla="*/ 0 w 186960"/>
                <a:gd name="connsiteY5" fmla="*/ 173012 h 407962"/>
                <a:gd name="connsiteX6" fmla="*/ 0 w 186960"/>
                <a:gd name="connsiteY6" fmla="*/ 0 h 407962"/>
                <a:gd name="connsiteX0" fmla="*/ 0 w 186960"/>
                <a:gd name="connsiteY0" fmla="*/ 0 h 407962"/>
                <a:gd name="connsiteX1" fmla="*/ 53610 w 186960"/>
                <a:gd name="connsiteY1" fmla="*/ 6350 h 407962"/>
                <a:gd name="connsiteX2" fmla="*/ 62771 w 186960"/>
                <a:gd name="connsiteY2" fmla="*/ 96187 h 407962"/>
                <a:gd name="connsiteX3" fmla="*/ 132621 w 186960"/>
                <a:gd name="connsiteY3" fmla="*/ 102537 h 407962"/>
                <a:gd name="connsiteX4" fmla="*/ 186960 w 186960"/>
                <a:gd name="connsiteY4" fmla="*/ 407962 h 407962"/>
                <a:gd name="connsiteX5" fmla="*/ 0 w 186960"/>
                <a:gd name="connsiteY5" fmla="*/ 173012 h 407962"/>
                <a:gd name="connsiteX6" fmla="*/ 0 w 186960"/>
                <a:gd name="connsiteY6" fmla="*/ 0 h 407962"/>
                <a:gd name="connsiteX0" fmla="*/ 0 w 167910"/>
                <a:gd name="connsiteY0" fmla="*/ 0 h 242862"/>
                <a:gd name="connsiteX1" fmla="*/ 53610 w 167910"/>
                <a:gd name="connsiteY1" fmla="*/ 6350 h 242862"/>
                <a:gd name="connsiteX2" fmla="*/ 62771 w 167910"/>
                <a:gd name="connsiteY2" fmla="*/ 96187 h 242862"/>
                <a:gd name="connsiteX3" fmla="*/ 132621 w 167910"/>
                <a:gd name="connsiteY3" fmla="*/ 102537 h 242862"/>
                <a:gd name="connsiteX4" fmla="*/ 167910 w 167910"/>
                <a:gd name="connsiteY4" fmla="*/ 242862 h 242862"/>
                <a:gd name="connsiteX5" fmla="*/ 0 w 167910"/>
                <a:gd name="connsiteY5" fmla="*/ 173012 h 242862"/>
                <a:gd name="connsiteX6" fmla="*/ 0 w 167910"/>
                <a:gd name="connsiteY6" fmla="*/ 0 h 242862"/>
                <a:gd name="connsiteX0" fmla="*/ 0 w 167910"/>
                <a:gd name="connsiteY0" fmla="*/ 0 h 242862"/>
                <a:gd name="connsiteX1" fmla="*/ 53610 w 167910"/>
                <a:gd name="connsiteY1" fmla="*/ 6350 h 242862"/>
                <a:gd name="connsiteX2" fmla="*/ 83711 w 167910"/>
                <a:gd name="connsiteY2" fmla="*/ 89207 h 242862"/>
                <a:gd name="connsiteX3" fmla="*/ 132621 w 167910"/>
                <a:gd name="connsiteY3" fmla="*/ 102537 h 242862"/>
                <a:gd name="connsiteX4" fmla="*/ 167910 w 167910"/>
                <a:gd name="connsiteY4" fmla="*/ 242862 h 242862"/>
                <a:gd name="connsiteX5" fmla="*/ 0 w 167910"/>
                <a:gd name="connsiteY5" fmla="*/ 173012 h 242862"/>
                <a:gd name="connsiteX6" fmla="*/ 0 w 167910"/>
                <a:gd name="connsiteY6" fmla="*/ 0 h 242862"/>
                <a:gd name="connsiteX0" fmla="*/ 0 w 139989"/>
                <a:gd name="connsiteY0" fmla="*/ 0 h 197491"/>
                <a:gd name="connsiteX1" fmla="*/ 53610 w 139989"/>
                <a:gd name="connsiteY1" fmla="*/ 6350 h 197491"/>
                <a:gd name="connsiteX2" fmla="*/ 83711 w 139989"/>
                <a:gd name="connsiteY2" fmla="*/ 89207 h 197491"/>
                <a:gd name="connsiteX3" fmla="*/ 132621 w 139989"/>
                <a:gd name="connsiteY3" fmla="*/ 102537 h 197491"/>
                <a:gd name="connsiteX4" fmla="*/ 139989 w 139989"/>
                <a:gd name="connsiteY4" fmla="*/ 197491 h 197491"/>
                <a:gd name="connsiteX5" fmla="*/ 0 w 139989"/>
                <a:gd name="connsiteY5" fmla="*/ 173012 h 197491"/>
                <a:gd name="connsiteX6" fmla="*/ 0 w 139989"/>
                <a:gd name="connsiteY6" fmla="*/ 0 h 197491"/>
                <a:gd name="connsiteX0" fmla="*/ 3490 w 143479"/>
                <a:gd name="connsiteY0" fmla="*/ 0 h 197491"/>
                <a:gd name="connsiteX1" fmla="*/ 57100 w 143479"/>
                <a:gd name="connsiteY1" fmla="*/ 6350 h 197491"/>
                <a:gd name="connsiteX2" fmla="*/ 87201 w 143479"/>
                <a:gd name="connsiteY2" fmla="*/ 89207 h 197491"/>
                <a:gd name="connsiteX3" fmla="*/ 136111 w 143479"/>
                <a:gd name="connsiteY3" fmla="*/ 102537 h 197491"/>
                <a:gd name="connsiteX4" fmla="*/ 143479 w 143479"/>
                <a:gd name="connsiteY4" fmla="*/ 197491 h 197491"/>
                <a:gd name="connsiteX5" fmla="*/ 0 w 143479"/>
                <a:gd name="connsiteY5" fmla="*/ 193953 h 197491"/>
                <a:gd name="connsiteX6" fmla="*/ 3490 w 143479"/>
                <a:gd name="connsiteY6" fmla="*/ 0 h 1974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43479" h="197491">
                  <a:moveTo>
                    <a:pt x="3490" y="0"/>
                  </a:moveTo>
                  <a:lnTo>
                    <a:pt x="57100" y="6350"/>
                  </a:lnTo>
                  <a:lnTo>
                    <a:pt x="87201" y="89207"/>
                  </a:lnTo>
                  <a:lnTo>
                    <a:pt x="136111" y="102537"/>
                  </a:lnTo>
                  <a:lnTo>
                    <a:pt x="143479" y="197491"/>
                  </a:lnTo>
                  <a:lnTo>
                    <a:pt x="0" y="193953"/>
                  </a:lnTo>
                  <a:cubicBezTo>
                    <a:pt x="1163" y="129302"/>
                    <a:pt x="2327" y="64651"/>
                    <a:pt x="3490"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BE"/>
            </a:p>
          </p:txBody>
        </p:sp>
        <p:sp>
          <p:nvSpPr>
            <p:cNvPr id="3" name="TextBox 2">
              <a:extLst>
                <a:ext uri="{FF2B5EF4-FFF2-40B4-BE49-F238E27FC236}">
                  <a16:creationId xmlns:a16="http://schemas.microsoft.com/office/drawing/2014/main" id="{CE5D0231-67EA-D74E-B671-0332B7EB6506}"/>
                </a:ext>
              </a:extLst>
            </p:cNvPr>
            <p:cNvSpPr txBox="1"/>
            <p:nvPr/>
          </p:nvSpPr>
          <p:spPr>
            <a:xfrm>
              <a:off x="702674" y="2463524"/>
              <a:ext cx="325730" cy="323165"/>
            </a:xfrm>
            <a:prstGeom prst="rect">
              <a:avLst/>
            </a:prstGeom>
            <a:noFill/>
          </p:spPr>
          <p:txBody>
            <a:bodyPr wrap="none" rtlCol="0">
              <a:spAutoFit/>
            </a:bodyPr>
            <a:lstStyle/>
            <a:p>
              <a:r>
                <a:rPr lang="en-BE" sz="1500" b="1" dirty="0">
                  <a:solidFill>
                    <a:srgbClr val="286AA5"/>
                  </a:solidFill>
                  <a:latin typeface="Myriad Pro" panose="020B0503030403020204" pitchFamily="34" charset="0"/>
                </a:rPr>
                <a:t>t</a:t>
              </a:r>
              <a:r>
                <a:rPr lang="en-BE" sz="1500" b="1" baseline="-25000" dirty="0">
                  <a:solidFill>
                    <a:srgbClr val="286AA5"/>
                  </a:solidFill>
                  <a:latin typeface="Myriad Pro" panose="020B0503030403020204" pitchFamily="34" charset="0"/>
                </a:rPr>
                <a:t>2</a:t>
              </a:r>
            </a:p>
          </p:txBody>
        </p:sp>
        <p:sp>
          <p:nvSpPr>
            <p:cNvPr id="10" name="Rectangle 4">
              <a:extLst>
                <a:ext uri="{FF2B5EF4-FFF2-40B4-BE49-F238E27FC236}">
                  <a16:creationId xmlns:a16="http://schemas.microsoft.com/office/drawing/2014/main" id="{3D857431-8D10-324C-A3BE-F037A0A0A132}"/>
                </a:ext>
              </a:extLst>
            </p:cNvPr>
            <p:cNvSpPr/>
            <p:nvPr/>
          </p:nvSpPr>
          <p:spPr>
            <a:xfrm>
              <a:off x="3216688" y="2526362"/>
              <a:ext cx="143479" cy="197491"/>
            </a:xfrm>
            <a:custGeom>
              <a:avLst/>
              <a:gdLst>
                <a:gd name="connsiteX0" fmla="*/ 0 w 59960"/>
                <a:gd name="connsiteY0" fmla="*/ 0 h 134912"/>
                <a:gd name="connsiteX1" fmla="*/ 59960 w 59960"/>
                <a:gd name="connsiteY1" fmla="*/ 0 h 134912"/>
                <a:gd name="connsiteX2" fmla="*/ 59960 w 59960"/>
                <a:gd name="connsiteY2" fmla="*/ 134912 h 134912"/>
                <a:gd name="connsiteX3" fmla="*/ 0 w 59960"/>
                <a:gd name="connsiteY3" fmla="*/ 134912 h 134912"/>
                <a:gd name="connsiteX4" fmla="*/ 0 w 59960"/>
                <a:gd name="connsiteY4" fmla="*/ 0 h 134912"/>
                <a:gd name="connsiteX0" fmla="*/ 0 w 136160"/>
                <a:gd name="connsiteY0" fmla="*/ 0 h 134912"/>
                <a:gd name="connsiteX1" fmla="*/ 59960 w 136160"/>
                <a:gd name="connsiteY1" fmla="*/ 0 h 134912"/>
                <a:gd name="connsiteX2" fmla="*/ 136160 w 136160"/>
                <a:gd name="connsiteY2" fmla="*/ 103162 h 134912"/>
                <a:gd name="connsiteX3" fmla="*/ 0 w 136160"/>
                <a:gd name="connsiteY3" fmla="*/ 134912 h 134912"/>
                <a:gd name="connsiteX4" fmla="*/ 0 w 136160"/>
                <a:gd name="connsiteY4" fmla="*/ 0 h 134912"/>
                <a:gd name="connsiteX0" fmla="*/ 0 w 180610"/>
                <a:gd name="connsiteY0" fmla="*/ 0 h 179362"/>
                <a:gd name="connsiteX1" fmla="*/ 59960 w 180610"/>
                <a:gd name="connsiteY1" fmla="*/ 0 h 179362"/>
                <a:gd name="connsiteX2" fmla="*/ 180610 w 180610"/>
                <a:gd name="connsiteY2" fmla="*/ 179362 h 179362"/>
                <a:gd name="connsiteX3" fmla="*/ 0 w 180610"/>
                <a:gd name="connsiteY3" fmla="*/ 134912 h 179362"/>
                <a:gd name="connsiteX4" fmla="*/ 0 w 180610"/>
                <a:gd name="connsiteY4" fmla="*/ 0 h 179362"/>
                <a:gd name="connsiteX0" fmla="*/ 0 w 180610"/>
                <a:gd name="connsiteY0" fmla="*/ 0 h 217462"/>
                <a:gd name="connsiteX1" fmla="*/ 59960 w 180610"/>
                <a:gd name="connsiteY1" fmla="*/ 38100 h 217462"/>
                <a:gd name="connsiteX2" fmla="*/ 180610 w 180610"/>
                <a:gd name="connsiteY2" fmla="*/ 217462 h 217462"/>
                <a:gd name="connsiteX3" fmla="*/ 0 w 180610"/>
                <a:gd name="connsiteY3" fmla="*/ 173012 h 217462"/>
                <a:gd name="connsiteX4" fmla="*/ 0 w 180610"/>
                <a:gd name="connsiteY4" fmla="*/ 0 h 217462"/>
                <a:gd name="connsiteX0" fmla="*/ 0 w 180610"/>
                <a:gd name="connsiteY0" fmla="*/ 0 h 217462"/>
                <a:gd name="connsiteX1" fmla="*/ 59960 w 180610"/>
                <a:gd name="connsiteY1" fmla="*/ 38100 h 217462"/>
                <a:gd name="connsiteX2" fmla="*/ 107221 w 180610"/>
                <a:gd name="connsiteY2" fmla="*/ 115237 h 217462"/>
                <a:gd name="connsiteX3" fmla="*/ 180610 w 180610"/>
                <a:gd name="connsiteY3" fmla="*/ 217462 h 217462"/>
                <a:gd name="connsiteX4" fmla="*/ 0 w 180610"/>
                <a:gd name="connsiteY4" fmla="*/ 173012 h 217462"/>
                <a:gd name="connsiteX5" fmla="*/ 0 w 180610"/>
                <a:gd name="connsiteY5" fmla="*/ 0 h 217462"/>
                <a:gd name="connsiteX0" fmla="*/ 0 w 180610"/>
                <a:gd name="connsiteY0" fmla="*/ 0 h 217462"/>
                <a:gd name="connsiteX1" fmla="*/ 59960 w 180610"/>
                <a:gd name="connsiteY1" fmla="*/ 38100 h 217462"/>
                <a:gd name="connsiteX2" fmla="*/ 81821 w 180610"/>
                <a:gd name="connsiteY2" fmla="*/ 121587 h 217462"/>
                <a:gd name="connsiteX3" fmla="*/ 180610 w 180610"/>
                <a:gd name="connsiteY3" fmla="*/ 217462 h 217462"/>
                <a:gd name="connsiteX4" fmla="*/ 0 w 180610"/>
                <a:gd name="connsiteY4" fmla="*/ 173012 h 217462"/>
                <a:gd name="connsiteX5" fmla="*/ 0 w 180610"/>
                <a:gd name="connsiteY5" fmla="*/ 0 h 217462"/>
                <a:gd name="connsiteX0" fmla="*/ 0 w 180610"/>
                <a:gd name="connsiteY0" fmla="*/ 0 h 217462"/>
                <a:gd name="connsiteX1" fmla="*/ 53610 w 180610"/>
                <a:gd name="connsiteY1" fmla="*/ 6350 h 217462"/>
                <a:gd name="connsiteX2" fmla="*/ 81821 w 180610"/>
                <a:gd name="connsiteY2" fmla="*/ 121587 h 217462"/>
                <a:gd name="connsiteX3" fmla="*/ 180610 w 180610"/>
                <a:gd name="connsiteY3" fmla="*/ 217462 h 217462"/>
                <a:gd name="connsiteX4" fmla="*/ 0 w 180610"/>
                <a:gd name="connsiteY4" fmla="*/ 173012 h 217462"/>
                <a:gd name="connsiteX5" fmla="*/ 0 w 180610"/>
                <a:gd name="connsiteY5" fmla="*/ 0 h 217462"/>
                <a:gd name="connsiteX0" fmla="*/ 0 w 186960"/>
                <a:gd name="connsiteY0" fmla="*/ 0 h 198412"/>
                <a:gd name="connsiteX1" fmla="*/ 53610 w 186960"/>
                <a:gd name="connsiteY1" fmla="*/ 6350 h 198412"/>
                <a:gd name="connsiteX2" fmla="*/ 81821 w 186960"/>
                <a:gd name="connsiteY2" fmla="*/ 121587 h 198412"/>
                <a:gd name="connsiteX3" fmla="*/ 186960 w 186960"/>
                <a:gd name="connsiteY3" fmla="*/ 198412 h 198412"/>
                <a:gd name="connsiteX4" fmla="*/ 0 w 186960"/>
                <a:gd name="connsiteY4" fmla="*/ 173012 h 198412"/>
                <a:gd name="connsiteX5" fmla="*/ 0 w 186960"/>
                <a:gd name="connsiteY5" fmla="*/ 0 h 198412"/>
                <a:gd name="connsiteX0" fmla="*/ 0 w 186960"/>
                <a:gd name="connsiteY0" fmla="*/ 0 h 198412"/>
                <a:gd name="connsiteX1" fmla="*/ 53610 w 186960"/>
                <a:gd name="connsiteY1" fmla="*/ 6350 h 198412"/>
                <a:gd name="connsiteX2" fmla="*/ 62771 w 186960"/>
                <a:gd name="connsiteY2" fmla="*/ 96187 h 198412"/>
                <a:gd name="connsiteX3" fmla="*/ 186960 w 186960"/>
                <a:gd name="connsiteY3" fmla="*/ 198412 h 198412"/>
                <a:gd name="connsiteX4" fmla="*/ 0 w 186960"/>
                <a:gd name="connsiteY4" fmla="*/ 173012 h 198412"/>
                <a:gd name="connsiteX5" fmla="*/ 0 w 186960"/>
                <a:gd name="connsiteY5" fmla="*/ 0 h 198412"/>
                <a:gd name="connsiteX0" fmla="*/ 0 w 186960"/>
                <a:gd name="connsiteY0" fmla="*/ 0 h 407962"/>
                <a:gd name="connsiteX1" fmla="*/ 53610 w 186960"/>
                <a:gd name="connsiteY1" fmla="*/ 6350 h 407962"/>
                <a:gd name="connsiteX2" fmla="*/ 62771 w 186960"/>
                <a:gd name="connsiteY2" fmla="*/ 96187 h 407962"/>
                <a:gd name="connsiteX3" fmla="*/ 186960 w 186960"/>
                <a:gd name="connsiteY3" fmla="*/ 407962 h 407962"/>
                <a:gd name="connsiteX4" fmla="*/ 0 w 186960"/>
                <a:gd name="connsiteY4" fmla="*/ 173012 h 407962"/>
                <a:gd name="connsiteX5" fmla="*/ 0 w 186960"/>
                <a:gd name="connsiteY5" fmla="*/ 0 h 407962"/>
                <a:gd name="connsiteX0" fmla="*/ 0 w 186960"/>
                <a:gd name="connsiteY0" fmla="*/ 0 h 407962"/>
                <a:gd name="connsiteX1" fmla="*/ 53610 w 186960"/>
                <a:gd name="connsiteY1" fmla="*/ 6350 h 407962"/>
                <a:gd name="connsiteX2" fmla="*/ 62771 w 186960"/>
                <a:gd name="connsiteY2" fmla="*/ 96187 h 407962"/>
                <a:gd name="connsiteX3" fmla="*/ 107221 w 186960"/>
                <a:gd name="connsiteY3" fmla="*/ 229537 h 407962"/>
                <a:gd name="connsiteX4" fmla="*/ 186960 w 186960"/>
                <a:gd name="connsiteY4" fmla="*/ 407962 h 407962"/>
                <a:gd name="connsiteX5" fmla="*/ 0 w 186960"/>
                <a:gd name="connsiteY5" fmla="*/ 173012 h 407962"/>
                <a:gd name="connsiteX6" fmla="*/ 0 w 186960"/>
                <a:gd name="connsiteY6" fmla="*/ 0 h 407962"/>
                <a:gd name="connsiteX0" fmla="*/ 0 w 186960"/>
                <a:gd name="connsiteY0" fmla="*/ 0 h 407962"/>
                <a:gd name="connsiteX1" fmla="*/ 53610 w 186960"/>
                <a:gd name="connsiteY1" fmla="*/ 6350 h 407962"/>
                <a:gd name="connsiteX2" fmla="*/ 62771 w 186960"/>
                <a:gd name="connsiteY2" fmla="*/ 96187 h 407962"/>
                <a:gd name="connsiteX3" fmla="*/ 132621 w 186960"/>
                <a:gd name="connsiteY3" fmla="*/ 102537 h 407962"/>
                <a:gd name="connsiteX4" fmla="*/ 186960 w 186960"/>
                <a:gd name="connsiteY4" fmla="*/ 407962 h 407962"/>
                <a:gd name="connsiteX5" fmla="*/ 0 w 186960"/>
                <a:gd name="connsiteY5" fmla="*/ 173012 h 407962"/>
                <a:gd name="connsiteX6" fmla="*/ 0 w 186960"/>
                <a:gd name="connsiteY6" fmla="*/ 0 h 407962"/>
                <a:gd name="connsiteX0" fmla="*/ 0 w 167910"/>
                <a:gd name="connsiteY0" fmla="*/ 0 h 242862"/>
                <a:gd name="connsiteX1" fmla="*/ 53610 w 167910"/>
                <a:gd name="connsiteY1" fmla="*/ 6350 h 242862"/>
                <a:gd name="connsiteX2" fmla="*/ 62771 w 167910"/>
                <a:gd name="connsiteY2" fmla="*/ 96187 h 242862"/>
                <a:gd name="connsiteX3" fmla="*/ 132621 w 167910"/>
                <a:gd name="connsiteY3" fmla="*/ 102537 h 242862"/>
                <a:gd name="connsiteX4" fmla="*/ 167910 w 167910"/>
                <a:gd name="connsiteY4" fmla="*/ 242862 h 242862"/>
                <a:gd name="connsiteX5" fmla="*/ 0 w 167910"/>
                <a:gd name="connsiteY5" fmla="*/ 173012 h 242862"/>
                <a:gd name="connsiteX6" fmla="*/ 0 w 167910"/>
                <a:gd name="connsiteY6" fmla="*/ 0 h 242862"/>
                <a:gd name="connsiteX0" fmla="*/ 0 w 167910"/>
                <a:gd name="connsiteY0" fmla="*/ 0 h 242862"/>
                <a:gd name="connsiteX1" fmla="*/ 53610 w 167910"/>
                <a:gd name="connsiteY1" fmla="*/ 6350 h 242862"/>
                <a:gd name="connsiteX2" fmla="*/ 83711 w 167910"/>
                <a:gd name="connsiteY2" fmla="*/ 89207 h 242862"/>
                <a:gd name="connsiteX3" fmla="*/ 132621 w 167910"/>
                <a:gd name="connsiteY3" fmla="*/ 102537 h 242862"/>
                <a:gd name="connsiteX4" fmla="*/ 167910 w 167910"/>
                <a:gd name="connsiteY4" fmla="*/ 242862 h 242862"/>
                <a:gd name="connsiteX5" fmla="*/ 0 w 167910"/>
                <a:gd name="connsiteY5" fmla="*/ 173012 h 242862"/>
                <a:gd name="connsiteX6" fmla="*/ 0 w 167910"/>
                <a:gd name="connsiteY6" fmla="*/ 0 h 242862"/>
                <a:gd name="connsiteX0" fmla="*/ 0 w 139989"/>
                <a:gd name="connsiteY0" fmla="*/ 0 h 197491"/>
                <a:gd name="connsiteX1" fmla="*/ 53610 w 139989"/>
                <a:gd name="connsiteY1" fmla="*/ 6350 h 197491"/>
                <a:gd name="connsiteX2" fmla="*/ 83711 w 139989"/>
                <a:gd name="connsiteY2" fmla="*/ 89207 h 197491"/>
                <a:gd name="connsiteX3" fmla="*/ 132621 w 139989"/>
                <a:gd name="connsiteY3" fmla="*/ 102537 h 197491"/>
                <a:gd name="connsiteX4" fmla="*/ 139989 w 139989"/>
                <a:gd name="connsiteY4" fmla="*/ 197491 h 197491"/>
                <a:gd name="connsiteX5" fmla="*/ 0 w 139989"/>
                <a:gd name="connsiteY5" fmla="*/ 173012 h 197491"/>
                <a:gd name="connsiteX6" fmla="*/ 0 w 139989"/>
                <a:gd name="connsiteY6" fmla="*/ 0 h 197491"/>
                <a:gd name="connsiteX0" fmla="*/ 3490 w 143479"/>
                <a:gd name="connsiteY0" fmla="*/ 0 h 197491"/>
                <a:gd name="connsiteX1" fmla="*/ 57100 w 143479"/>
                <a:gd name="connsiteY1" fmla="*/ 6350 h 197491"/>
                <a:gd name="connsiteX2" fmla="*/ 87201 w 143479"/>
                <a:gd name="connsiteY2" fmla="*/ 89207 h 197491"/>
                <a:gd name="connsiteX3" fmla="*/ 136111 w 143479"/>
                <a:gd name="connsiteY3" fmla="*/ 102537 h 197491"/>
                <a:gd name="connsiteX4" fmla="*/ 143479 w 143479"/>
                <a:gd name="connsiteY4" fmla="*/ 197491 h 197491"/>
                <a:gd name="connsiteX5" fmla="*/ 0 w 143479"/>
                <a:gd name="connsiteY5" fmla="*/ 193953 h 197491"/>
                <a:gd name="connsiteX6" fmla="*/ 3490 w 143479"/>
                <a:gd name="connsiteY6" fmla="*/ 0 h 1974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43479" h="197491">
                  <a:moveTo>
                    <a:pt x="3490" y="0"/>
                  </a:moveTo>
                  <a:lnTo>
                    <a:pt x="57100" y="6350"/>
                  </a:lnTo>
                  <a:lnTo>
                    <a:pt x="87201" y="89207"/>
                  </a:lnTo>
                  <a:lnTo>
                    <a:pt x="136111" y="102537"/>
                  </a:lnTo>
                  <a:lnTo>
                    <a:pt x="143479" y="197491"/>
                  </a:lnTo>
                  <a:lnTo>
                    <a:pt x="0" y="193953"/>
                  </a:lnTo>
                  <a:cubicBezTo>
                    <a:pt x="1163" y="129302"/>
                    <a:pt x="2327" y="64651"/>
                    <a:pt x="3490"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BE"/>
            </a:p>
          </p:txBody>
        </p:sp>
        <p:sp>
          <p:nvSpPr>
            <p:cNvPr id="9" name="TextBox 8">
              <a:extLst>
                <a:ext uri="{FF2B5EF4-FFF2-40B4-BE49-F238E27FC236}">
                  <a16:creationId xmlns:a16="http://schemas.microsoft.com/office/drawing/2014/main" id="{75A997EB-4903-2843-BE70-628485493AC7}"/>
                </a:ext>
              </a:extLst>
            </p:cNvPr>
            <p:cNvSpPr txBox="1"/>
            <p:nvPr/>
          </p:nvSpPr>
          <p:spPr>
            <a:xfrm>
              <a:off x="3129052" y="2460033"/>
              <a:ext cx="325730" cy="323165"/>
            </a:xfrm>
            <a:prstGeom prst="rect">
              <a:avLst/>
            </a:prstGeom>
            <a:noFill/>
          </p:spPr>
          <p:txBody>
            <a:bodyPr wrap="none" rtlCol="0">
              <a:spAutoFit/>
            </a:bodyPr>
            <a:lstStyle/>
            <a:p>
              <a:r>
                <a:rPr lang="en-BE" sz="1500" b="1" dirty="0">
                  <a:solidFill>
                    <a:srgbClr val="DF542F"/>
                  </a:solidFill>
                  <a:latin typeface="Myriad Pro" panose="020B0503030403020204" pitchFamily="34" charset="0"/>
                </a:rPr>
                <a:t>t</a:t>
              </a:r>
              <a:r>
                <a:rPr lang="en-BE" sz="1500" b="1" baseline="-25000" dirty="0">
                  <a:solidFill>
                    <a:srgbClr val="DF542F"/>
                  </a:solidFill>
                  <a:latin typeface="Myriad Pro" panose="020B0503030403020204" pitchFamily="34" charset="0"/>
                </a:rPr>
                <a:t>3</a:t>
              </a:r>
            </a:p>
          </p:txBody>
        </p:sp>
      </p:grpSp>
      <p:sp>
        <p:nvSpPr>
          <p:cNvPr id="11" name="TextBox 10">
            <a:extLst>
              <a:ext uri="{FF2B5EF4-FFF2-40B4-BE49-F238E27FC236}">
                <a16:creationId xmlns:a16="http://schemas.microsoft.com/office/drawing/2014/main" id="{03D82CA6-E493-DA09-E7FA-12DB27CCC02A}"/>
              </a:ext>
            </a:extLst>
          </p:cNvPr>
          <p:cNvSpPr txBox="1"/>
          <p:nvPr/>
        </p:nvSpPr>
        <p:spPr>
          <a:xfrm rot="21109871">
            <a:off x="834270" y="3757008"/>
            <a:ext cx="4818218" cy="1597292"/>
          </a:xfrm>
          <a:prstGeom prst="rect">
            <a:avLst/>
          </a:prstGeom>
          <a:solidFill>
            <a:schemeClr val="accent4">
              <a:lumMod val="40000"/>
              <a:lumOff val="60000"/>
            </a:schemeClr>
          </a:solidFill>
        </p:spPr>
        <p:txBody>
          <a:bodyPr wrap="square" rtlCol="0" anchor="ctr">
            <a:noAutofit/>
          </a:bodyPr>
          <a:lstStyle/>
          <a:p>
            <a:pPr algn="ctr"/>
            <a:r>
              <a:rPr lang="en-US" sz="3200" b="1" dirty="0">
                <a:solidFill>
                  <a:schemeClr val="accent4">
                    <a:lumMod val="50000"/>
                  </a:schemeClr>
                </a:solidFill>
                <a:latin typeface="Caveat" pitchFamily="2" charset="77"/>
              </a:rPr>
              <a:t>AI for EV charging = </a:t>
            </a:r>
          </a:p>
          <a:p>
            <a:pPr algn="ctr"/>
            <a:r>
              <a:rPr lang="en-US" sz="3200" b="1" dirty="0">
                <a:solidFill>
                  <a:schemeClr val="accent4">
                    <a:lumMod val="50000"/>
                  </a:schemeClr>
                </a:solidFill>
                <a:latin typeface="Caveat" pitchFamily="2" charset="77"/>
              </a:rPr>
              <a:t>(1) </a:t>
            </a:r>
            <a:r>
              <a:rPr lang="en-US" sz="3200" b="1" u="sng" dirty="0">
                <a:solidFill>
                  <a:schemeClr val="accent4">
                    <a:lumMod val="50000"/>
                  </a:schemeClr>
                </a:solidFill>
                <a:latin typeface="Caveat" pitchFamily="2" charset="77"/>
              </a:rPr>
              <a:t>KNOWING</a:t>
            </a:r>
            <a:r>
              <a:rPr lang="en-US" sz="3200" b="1" dirty="0">
                <a:solidFill>
                  <a:schemeClr val="accent4">
                    <a:lumMod val="50000"/>
                  </a:schemeClr>
                </a:solidFill>
                <a:latin typeface="Caveat" pitchFamily="2" charset="77"/>
              </a:rPr>
              <a:t> and (2) </a:t>
            </a:r>
            <a:r>
              <a:rPr lang="en-US" sz="3200" b="1" u="sng" dirty="0">
                <a:solidFill>
                  <a:schemeClr val="accent4">
                    <a:lumMod val="50000"/>
                  </a:schemeClr>
                </a:solidFill>
                <a:latin typeface="Caveat" pitchFamily="2" charset="77"/>
              </a:rPr>
              <a:t>CONTROLLING</a:t>
            </a:r>
            <a:r>
              <a:rPr lang="en-US" sz="3200" b="1" dirty="0">
                <a:solidFill>
                  <a:schemeClr val="accent4">
                    <a:lumMod val="50000"/>
                  </a:schemeClr>
                </a:solidFill>
                <a:latin typeface="Caveat" pitchFamily="2" charset="77"/>
              </a:rPr>
              <a:t> EV sessions</a:t>
            </a:r>
          </a:p>
        </p:txBody>
      </p:sp>
      <p:sp>
        <p:nvSpPr>
          <p:cNvPr id="12" name="Slide Number Placeholder 11">
            <a:extLst>
              <a:ext uri="{FF2B5EF4-FFF2-40B4-BE49-F238E27FC236}">
                <a16:creationId xmlns:a16="http://schemas.microsoft.com/office/drawing/2014/main" id="{DF65F250-0D1F-2B86-D40E-23752866C563}"/>
              </a:ext>
            </a:extLst>
          </p:cNvPr>
          <p:cNvSpPr>
            <a:spLocks noGrp="1"/>
          </p:cNvSpPr>
          <p:nvPr>
            <p:ph type="sldNum" sz="quarter" idx="11"/>
          </p:nvPr>
        </p:nvSpPr>
        <p:spPr/>
        <p:txBody>
          <a:bodyPr/>
          <a:lstStyle/>
          <a:p>
            <a:pPr>
              <a:defRPr/>
            </a:pPr>
            <a:fld id="{968663A2-1950-48E6-8399-8A0176E7D7D3}" type="slidenum">
              <a:rPr lang="en-US" smtClean="0"/>
              <a:pPr>
                <a:defRPr/>
              </a:pPr>
              <a:t>21</a:t>
            </a:fld>
            <a:endParaRPr lang="en-US"/>
          </a:p>
        </p:txBody>
      </p:sp>
    </p:spTree>
    <p:extLst>
      <p:ext uri="{BB962C8B-B14F-4D97-AF65-F5344CB8AC3E}">
        <p14:creationId xmlns:p14="http://schemas.microsoft.com/office/powerpoint/2010/main" val="31506628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1"/>
                                        </p:tgtEl>
                                        <p:attrNameLst>
                                          <p:attrName>style.visibility</p:attrName>
                                        </p:attrNameLst>
                                      </p:cBhvr>
                                      <p:to>
                                        <p:strVal val="visible"/>
                                      </p:to>
                                    </p:set>
                                    <p:animEffect transition="in" filter="fade">
                                      <p:cBhvr>
                                        <p:cTn id="7" dur="500"/>
                                        <p:tgtEl>
                                          <p:spTgt spid="1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animBg="1"/>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8D77441-21BF-39CD-B9D3-FA52510143F6}"/>
              </a:ext>
            </a:extLst>
          </p:cNvPr>
          <p:cNvSpPr>
            <a:spLocks noGrp="1"/>
          </p:cNvSpPr>
          <p:nvPr>
            <p:ph type="title"/>
          </p:nvPr>
        </p:nvSpPr>
        <p:spPr/>
        <p:txBody>
          <a:bodyPr/>
          <a:lstStyle/>
          <a:p>
            <a:r>
              <a:rPr lang="en-BE" dirty="0"/>
              <a:t>Step 1: Charging session characterization</a:t>
            </a:r>
          </a:p>
        </p:txBody>
      </p:sp>
      <p:sp>
        <p:nvSpPr>
          <p:cNvPr id="4" name="Footer Placeholder 3">
            <a:extLst>
              <a:ext uri="{FF2B5EF4-FFF2-40B4-BE49-F238E27FC236}">
                <a16:creationId xmlns:a16="http://schemas.microsoft.com/office/drawing/2014/main" id="{74865991-C1C5-8829-C35E-C0BA61987865}"/>
              </a:ext>
            </a:extLst>
          </p:cNvPr>
          <p:cNvSpPr>
            <a:spLocks noGrp="1"/>
          </p:cNvSpPr>
          <p:nvPr>
            <p:ph type="ftr" sz="quarter" idx="10"/>
          </p:nvPr>
        </p:nvSpPr>
        <p:spPr/>
        <p:txBody>
          <a:bodyPr/>
          <a:lstStyle/>
          <a:p>
            <a:pPr>
              <a:defRPr/>
            </a:pPr>
            <a:r>
              <a:rPr lang="en-US"/>
              <a:t>C. Develder, "AI4E: Data-efficient and scalable algorithmss to exploit energy flexibility"</a:t>
            </a:r>
            <a:endParaRPr lang="en-US" dirty="0"/>
          </a:p>
        </p:txBody>
      </p:sp>
      <p:pic>
        <p:nvPicPr>
          <p:cNvPr id="5" name="Content Placeholder 4" descr="arrival-vs-departure-clusters.pdf">
            <a:extLst>
              <a:ext uri="{FF2B5EF4-FFF2-40B4-BE49-F238E27FC236}">
                <a16:creationId xmlns:a16="http://schemas.microsoft.com/office/drawing/2014/main" id="{63038E48-79AA-6B29-E89F-FC0EB541D4CF}"/>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bwMode="auto">
          <a:xfrm>
            <a:off x="1205879" y="2271961"/>
            <a:ext cx="7543800" cy="3759200"/>
          </a:xfrm>
          <a:prstGeom prst="rect">
            <a:avLst/>
          </a:prstGeom>
          <a:noFill/>
          <a:ln w="9525">
            <a:noFill/>
            <a:miter lim="800000"/>
            <a:headEnd/>
            <a:tailEnd/>
          </a:ln>
        </p:spPr>
      </p:pic>
      <p:sp>
        <p:nvSpPr>
          <p:cNvPr id="6" name="Rectangular Callout 5">
            <a:extLst>
              <a:ext uri="{FF2B5EF4-FFF2-40B4-BE49-F238E27FC236}">
                <a16:creationId xmlns:a16="http://schemas.microsoft.com/office/drawing/2014/main" id="{CCAD740D-6C23-5BCD-9BB6-858AE6A98B51}"/>
              </a:ext>
            </a:extLst>
          </p:cNvPr>
          <p:cNvSpPr/>
          <p:nvPr/>
        </p:nvSpPr>
        <p:spPr>
          <a:xfrm>
            <a:off x="476213" y="2271961"/>
            <a:ext cx="2196635" cy="813239"/>
          </a:xfrm>
          <a:prstGeom prst="wedgeRectCallout">
            <a:avLst>
              <a:gd name="adj1" fmla="val 57726"/>
              <a:gd name="adj2" fmla="val 85525"/>
            </a:avLst>
          </a:prstGeom>
          <a:solidFill>
            <a:schemeClr val="accent4">
              <a:lumMod val="20000"/>
              <a:lumOff val="80000"/>
            </a:schemeClr>
          </a:solidFill>
          <a:ln w="28575" cmpd="sng">
            <a:solidFill>
              <a:schemeClr val="accent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2400" dirty="0">
                <a:solidFill>
                  <a:schemeClr val="tx1"/>
                </a:solidFill>
                <a:latin typeface="UGent Panno Text"/>
                <a:cs typeface="UGent Panno Text"/>
              </a:rPr>
              <a:t>Daytime charging</a:t>
            </a:r>
          </a:p>
          <a:p>
            <a:pPr algn="ctr"/>
            <a:r>
              <a:rPr lang="en-US" sz="2400" dirty="0">
                <a:solidFill>
                  <a:schemeClr val="tx1"/>
                </a:solidFill>
                <a:latin typeface="UGent Panno Text"/>
                <a:cs typeface="UGent Panno Text"/>
              </a:rPr>
              <a:t>(9.4%)</a:t>
            </a:r>
          </a:p>
        </p:txBody>
      </p:sp>
      <p:sp>
        <p:nvSpPr>
          <p:cNvPr id="7" name="Rectangular Callout 6">
            <a:extLst>
              <a:ext uri="{FF2B5EF4-FFF2-40B4-BE49-F238E27FC236}">
                <a16:creationId xmlns:a16="http://schemas.microsoft.com/office/drawing/2014/main" id="{0073B303-74ED-4CC3-8943-05BAD3953B4E}"/>
              </a:ext>
            </a:extLst>
          </p:cNvPr>
          <p:cNvSpPr/>
          <p:nvPr/>
        </p:nvSpPr>
        <p:spPr>
          <a:xfrm>
            <a:off x="2219644" y="1169492"/>
            <a:ext cx="2585377" cy="813239"/>
          </a:xfrm>
          <a:prstGeom prst="wedgeRectCallout">
            <a:avLst>
              <a:gd name="adj1" fmla="val 18211"/>
              <a:gd name="adj2" fmla="val 160601"/>
            </a:avLst>
          </a:prstGeom>
          <a:solidFill>
            <a:srgbClr val="C4D1E0"/>
          </a:solidFill>
          <a:ln w="28575" cmpd="sng">
            <a:solidFill>
              <a:srgbClr val="0B5CA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2400" dirty="0">
                <a:solidFill>
                  <a:schemeClr val="tx1"/>
                </a:solidFill>
                <a:latin typeface="UGent Panno Text"/>
                <a:cs typeface="UGent Panno Text"/>
              </a:rPr>
              <a:t>Anytime charging,</a:t>
            </a:r>
            <a:br>
              <a:rPr lang="en-US" sz="2400" dirty="0">
                <a:solidFill>
                  <a:schemeClr val="tx1"/>
                </a:solidFill>
                <a:latin typeface="UGent Panno Text"/>
                <a:cs typeface="UGent Panno Text"/>
              </a:rPr>
            </a:br>
            <a:r>
              <a:rPr lang="en-US" sz="2400" u="sng" dirty="0">
                <a:solidFill>
                  <a:schemeClr val="tx1"/>
                </a:solidFill>
                <a:latin typeface="UGent Panno Text"/>
                <a:cs typeface="UGent Panno Text"/>
              </a:rPr>
              <a:t>short</a:t>
            </a:r>
            <a:r>
              <a:rPr lang="en-US" sz="2400" dirty="0">
                <a:solidFill>
                  <a:schemeClr val="tx1"/>
                </a:solidFill>
                <a:latin typeface="UGent Panno Text"/>
                <a:cs typeface="UGent Panno Text"/>
              </a:rPr>
              <a:t> sojourn (61.5%)</a:t>
            </a:r>
          </a:p>
        </p:txBody>
      </p:sp>
      <p:sp>
        <p:nvSpPr>
          <p:cNvPr id="8" name="Rectangular Callout 7">
            <a:extLst>
              <a:ext uri="{FF2B5EF4-FFF2-40B4-BE49-F238E27FC236}">
                <a16:creationId xmlns:a16="http://schemas.microsoft.com/office/drawing/2014/main" id="{30300E0A-2298-CC3E-B0F4-43BEA9CD8A54}"/>
              </a:ext>
            </a:extLst>
          </p:cNvPr>
          <p:cNvSpPr/>
          <p:nvPr/>
        </p:nvSpPr>
        <p:spPr>
          <a:xfrm>
            <a:off x="4362997" y="4499271"/>
            <a:ext cx="2368101" cy="813239"/>
          </a:xfrm>
          <a:prstGeom prst="wedgeRectCallout">
            <a:avLst>
              <a:gd name="adj1" fmla="val -45607"/>
              <a:gd name="adj2" fmla="val -92007"/>
            </a:avLst>
          </a:prstGeom>
          <a:solidFill>
            <a:srgbClr val="DFCAC4"/>
          </a:solidFill>
          <a:ln w="28575" cmpd="sng">
            <a:solidFill>
              <a:srgbClr val="CE3D1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2400" dirty="0">
                <a:solidFill>
                  <a:schemeClr val="tx1"/>
                </a:solidFill>
                <a:latin typeface="UGent Panno Text"/>
                <a:cs typeface="UGent Panno Text"/>
              </a:rPr>
              <a:t>Nighttime charging (29.1%)</a:t>
            </a:r>
          </a:p>
        </p:txBody>
      </p:sp>
      <p:sp>
        <p:nvSpPr>
          <p:cNvPr id="3" name="Horizontal Scroll 2">
            <a:extLst>
              <a:ext uri="{FF2B5EF4-FFF2-40B4-BE49-F238E27FC236}">
                <a16:creationId xmlns:a16="http://schemas.microsoft.com/office/drawing/2014/main" id="{907CC686-1E16-A2D0-8952-A7348D4E0978}"/>
              </a:ext>
            </a:extLst>
          </p:cNvPr>
          <p:cNvSpPr/>
          <p:nvPr/>
        </p:nvSpPr>
        <p:spPr>
          <a:xfrm>
            <a:off x="7207451" y="1303596"/>
            <a:ext cx="5087147" cy="836614"/>
          </a:xfrm>
          <a:prstGeom prst="horizontalScroll">
            <a:avLst>
              <a:gd name="adj" fmla="val 14424"/>
            </a:avLst>
          </a:prstGeom>
          <a:solidFill>
            <a:schemeClr val="accent4">
              <a:lumMod val="20000"/>
              <a:lumOff val="80000"/>
            </a:schemeClr>
          </a:solidFill>
          <a:ln>
            <a:noFill/>
          </a:ln>
        </p:spPr>
        <p:style>
          <a:lnRef idx="1">
            <a:schemeClr val="accent1"/>
          </a:lnRef>
          <a:fillRef idx="3">
            <a:schemeClr val="accent1"/>
          </a:fillRef>
          <a:effectRef idx="2">
            <a:schemeClr val="accent1"/>
          </a:effectRef>
          <a:fontRef idx="minor">
            <a:schemeClr val="lt1"/>
          </a:fontRef>
        </p:style>
        <p:txBody>
          <a:bodyPr tIns="46800" rIns="90000" rtlCol="0" anchor="ctr"/>
          <a:lstStyle/>
          <a:p>
            <a:r>
              <a:rPr lang="en-US" sz="1050" dirty="0">
                <a:solidFill>
                  <a:schemeClr val="accent4">
                    <a:lumMod val="75000"/>
                  </a:schemeClr>
                </a:solidFill>
                <a:latin typeface="UGent Panno Text" charset="0"/>
                <a:ea typeface="UGent Panno Text" charset="0"/>
                <a:cs typeface="UGent Panno Text" charset="0"/>
              </a:rPr>
              <a:t>C. </a:t>
            </a:r>
            <a:r>
              <a:rPr lang="en-US" sz="1050" dirty="0" err="1">
                <a:solidFill>
                  <a:schemeClr val="accent4">
                    <a:lumMod val="75000"/>
                  </a:schemeClr>
                </a:solidFill>
                <a:latin typeface="UGent Panno Text" charset="0"/>
                <a:ea typeface="UGent Panno Text" charset="0"/>
                <a:cs typeface="UGent Panno Text" charset="0"/>
              </a:rPr>
              <a:t>Develder</a:t>
            </a:r>
            <a:r>
              <a:rPr lang="en-US" sz="1050" dirty="0">
                <a:solidFill>
                  <a:schemeClr val="accent4">
                    <a:lumMod val="75000"/>
                  </a:schemeClr>
                </a:solidFill>
                <a:latin typeface="UGent Panno Text" charset="0"/>
                <a:ea typeface="UGent Panno Text" charset="0"/>
                <a:cs typeface="UGent Panno Text" charset="0"/>
              </a:rPr>
              <a:t>, N. </a:t>
            </a:r>
            <a:r>
              <a:rPr lang="en-US" sz="1050" dirty="0" err="1">
                <a:solidFill>
                  <a:schemeClr val="accent4">
                    <a:lumMod val="75000"/>
                  </a:schemeClr>
                </a:solidFill>
                <a:latin typeface="UGent Panno Text" charset="0"/>
                <a:ea typeface="UGent Panno Text" charset="0"/>
                <a:cs typeface="UGent Panno Text" charset="0"/>
              </a:rPr>
              <a:t>Sadeghianpourhamami</a:t>
            </a:r>
            <a:r>
              <a:rPr lang="en-US" sz="1050" dirty="0">
                <a:solidFill>
                  <a:schemeClr val="accent4">
                    <a:lumMod val="75000"/>
                  </a:schemeClr>
                </a:solidFill>
                <a:latin typeface="UGent Panno Text" charset="0"/>
                <a:ea typeface="UGent Panno Text" charset="0"/>
                <a:cs typeface="UGent Panno Text" charset="0"/>
              </a:rPr>
              <a:t>, M. </a:t>
            </a:r>
            <a:r>
              <a:rPr lang="en-US" sz="1050" dirty="0" err="1">
                <a:solidFill>
                  <a:schemeClr val="accent4">
                    <a:lumMod val="75000"/>
                  </a:schemeClr>
                </a:solidFill>
                <a:latin typeface="UGent Panno Text" charset="0"/>
                <a:ea typeface="UGent Panno Text" charset="0"/>
                <a:cs typeface="UGent Panno Text" charset="0"/>
              </a:rPr>
              <a:t>Strobbe</a:t>
            </a:r>
            <a:r>
              <a:rPr lang="en-US" sz="1050" dirty="0">
                <a:solidFill>
                  <a:schemeClr val="accent4">
                    <a:lumMod val="75000"/>
                  </a:schemeClr>
                </a:solidFill>
                <a:latin typeface="UGent Panno Text" charset="0"/>
                <a:ea typeface="UGent Panno Text" charset="0"/>
                <a:cs typeface="UGent Panno Text" charset="0"/>
              </a:rPr>
              <a:t> and N. </a:t>
            </a:r>
            <a:r>
              <a:rPr lang="en-US" sz="1050" dirty="0" err="1">
                <a:solidFill>
                  <a:schemeClr val="accent4">
                    <a:lumMod val="75000"/>
                  </a:schemeClr>
                </a:solidFill>
                <a:latin typeface="UGent Panno Text" charset="0"/>
                <a:ea typeface="UGent Panno Text" charset="0"/>
                <a:cs typeface="UGent Panno Text" charset="0"/>
              </a:rPr>
              <a:t>Refa</a:t>
            </a:r>
            <a:r>
              <a:rPr lang="en-US" sz="1050" dirty="0">
                <a:solidFill>
                  <a:schemeClr val="accent4">
                    <a:lumMod val="75000"/>
                  </a:schemeClr>
                </a:solidFill>
                <a:latin typeface="UGent Panno Text" charset="0"/>
                <a:ea typeface="UGent Panno Text" charset="0"/>
                <a:cs typeface="UGent Panno Text" charset="0"/>
              </a:rPr>
              <a:t>, </a:t>
            </a:r>
            <a:r>
              <a:rPr lang="en-US" sz="1050" b="1" dirty="0">
                <a:solidFill>
                  <a:schemeClr val="accent4">
                    <a:lumMod val="75000"/>
                  </a:schemeClr>
                </a:solidFill>
                <a:latin typeface="UGent Panno Text" charset="0"/>
                <a:ea typeface="UGent Panno Text" charset="0"/>
                <a:cs typeface="UGent Panno Text" charset="0"/>
              </a:rPr>
              <a:t>"Quantifying flexibility in EV charging as DR potential: Analysis of two real-world data sets"</a:t>
            </a:r>
            <a:r>
              <a:rPr lang="en-US" sz="1050" dirty="0">
                <a:solidFill>
                  <a:schemeClr val="accent4">
                    <a:lumMod val="75000"/>
                  </a:schemeClr>
                </a:solidFill>
                <a:latin typeface="UGent Panno Text" charset="0"/>
                <a:ea typeface="UGent Panno Text" charset="0"/>
                <a:cs typeface="UGent Panno Text" charset="0"/>
              </a:rPr>
              <a:t>, in Proc. 7th IEEE Int. Conf. Smart Grid Communications (</a:t>
            </a:r>
            <a:r>
              <a:rPr lang="en-US" sz="1050" dirty="0" err="1">
                <a:solidFill>
                  <a:schemeClr val="accent4">
                    <a:lumMod val="75000"/>
                  </a:schemeClr>
                </a:solidFill>
                <a:latin typeface="UGent Panno Text" charset="0"/>
                <a:ea typeface="UGent Panno Text" charset="0"/>
                <a:cs typeface="UGent Panno Text" charset="0"/>
              </a:rPr>
              <a:t>SmartGridComm</a:t>
            </a:r>
            <a:r>
              <a:rPr lang="en-US" sz="1050" dirty="0">
                <a:solidFill>
                  <a:schemeClr val="accent4">
                    <a:lumMod val="75000"/>
                  </a:schemeClr>
                </a:solidFill>
                <a:latin typeface="UGent Panno Text" charset="0"/>
                <a:ea typeface="UGent Panno Text" charset="0"/>
                <a:cs typeface="UGent Panno Text" charset="0"/>
              </a:rPr>
              <a:t> 2016), Sydney, Australia, 6-9 Nov. 2016, pp. 600-605.</a:t>
            </a:r>
          </a:p>
        </p:txBody>
      </p:sp>
      <p:sp>
        <p:nvSpPr>
          <p:cNvPr id="9" name="Horizontal Scroll 8">
            <a:extLst>
              <a:ext uri="{FF2B5EF4-FFF2-40B4-BE49-F238E27FC236}">
                <a16:creationId xmlns:a16="http://schemas.microsoft.com/office/drawing/2014/main" id="{1D2DEBF0-C0F4-1F76-4B7E-AF5D94569860}"/>
              </a:ext>
            </a:extLst>
          </p:cNvPr>
          <p:cNvSpPr/>
          <p:nvPr/>
        </p:nvSpPr>
        <p:spPr>
          <a:xfrm>
            <a:off x="7207452" y="654324"/>
            <a:ext cx="5087146" cy="836614"/>
          </a:xfrm>
          <a:prstGeom prst="horizontalScroll">
            <a:avLst>
              <a:gd name="adj" fmla="val 14424"/>
            </a:avLst>
          </a:prstGeom>
          <a:solidFill>
            <a:schemeClr val="accent4">
              <a:lumMod val="20000"/>
              <a:lumOff val="80000"/>
            </a:schemeClr>
          </a:solidFill>
          <a:ln>
            <a:noFill/>
          </a:ln>
        </p:spPr>
        <p:style>
          <a:lnRef idx="1">
            <a:schemeClr val="accent1"/>
          </a:lnRef>
          <a:fillRef idx="3">
            <a:schemeClr val="accent1"/>
          </a:fillRef>
          <a:effectRef idx="2">
            <a:schemeClr val="accent1"/>
          </a:effectRef>
          <a:fontRef idx="minor">
            <a:schemeClr val="lt1"/>
          </a:fontRef>
        </p:style>
        <p:txBody>
          <a:bodyPr tIns="46800" rIns="90000" rtlCol="0" anchor="ctr"/>
          <a:lstStyle/>
          <a:p>
            <a:r>
              <a:rPr lang="en-US" sz="1050" dirty="0">
                <a:solidFill>
                  <a:schemeClr val="accent4">
                    <a:lumMod val="75000"/>
                  </a:schemeClr>
                </a:solidFill>
                <a:latin typeface="UGent Panno Text" charset="0"/>
                <a:ea typeface="UGent Panno Text" charset="0"/>
                <a:cs typeface="UGent Panno Text" charset="0"/>
              </a:rPr>
              <a:t>N. </a:t>
            </a:r>
            <a:r>
              <a:rPr lang="en-US" sz="1050" dirty="0" err="1">
                <a:solidFill>
                  <a:schemeClr val="accent4">
                    <a:lumMod val="75000"/>
                  </a:schemeClr>
                </a:solidFill>
                <a:latin typeface="UGent Panno Text" charset="0"/>
                <a:ea typeface="UGent Panno Text" charset="0"/>
                <a:cs typeface="UGent Panno Text" charset="0"/>
              </a:rPr>
              <a:t>Sadeghianpourhamami</a:t>
            </a:r>
            <a:r>
              <a:rPr lang="en-US" sz="1050" dirty="0">
                <a:solidFill>
                  <a:schemeClr val="accent4">
                    <a:lumMod val="75000"/>
                  </a:schemeClr>
                </a:solidFill>
                <a:latin typeface="UGent Panno Text" charset="0"/>
                <a:ea typeface="UGent Panno Text" charset="0"/>
                <a:cs typeface="UGent Panno Text" charset="0"/>
              </a:rPr>
              <a:t>, N. </a:t>
            </a:r>
            <a:r>
              <a:rPr lang="en-US" sz="1050" dirty="0" err="1">
                <a:solidFill>
                  <a:schemeClr val="accent4">
                    <a:lumMod val="75000"/>
                  </a:schemeClr>
                </a:solidFill>
                <a:latin typeface="UGent Panno Text" charset="0"/>
                <a:ea typeface="UGent Panno Text" charset="0"/>
                <a:cs typeface="UGent Panno Text" charset="0"/>
              </a:rPr>
              <a:t>Refa</a:t>
            </a:r>
            <a:r>
              <a:rPr lang="en-US" sz="1050" dirty="0">
                <a:solidFill>
                  <a:schemeClr val="accent4">
                    <a:lumMod val="75000"/>
                  </a:schemeClr>
                </a:solidFill>
                <a:latin typeface="UGent Panno Text" charset="0"/>
                <a:ea typeface="UGent Panno Text" charset="0"/>
                <a:cs typeface="UGent Panno Text" charset="0"/>
              </a:rPr>
              <a:t>, M. </a:t>
            </a:r>
            <a:r>
              <a:rPr lang="en-US" sz="1050" dirty="0" err="1">
                <a:solidFill>
                  <a:schemeClr val="accent4">
                    <a:lumMod val="75000"/>
                  </a:schemeClr>
                </a:solidFill>
                <a:latin typeface="UGent Panno Text" charset="0"/>
                <a:ea typeface="UGent Panno Text" charset="0"/>
                <a:cs typeface="UGent Panno Text" charset="0"/>
              </a:rPr>
              <a:t>Strobbe</a:t>
            </a:r>
            <a:r>
              <a:rPr lang="en-US" sz="1050" dirty="0">
                <a:solidFill>
                  <a:schemeClr val="accent4">
                    <a:lumMod val="75000"/>
                  </a:schemeClr>
                </a:solidFill>
                <a:latin typeface="UGent Panno Text" charset="0"/>
                <a:ea typeface="UGent Panno Text" charset="0"/>
                <a:cs typeface="UGent Panno Text" charset="0"/>
              </a:rPr>
              <a:t> and C. Develder, </a:t>
            </a:r>
            <a:r>
              <a:rPr lang="en-US" sz="1050" b="1" dirty="0">
                <a:solidFill>
                  <a:schemeClr val="accent4">
                    <a:lumMod val="75000"/>
                  </a:schemeClr>
                </a:solidFill>
                <a:latin typeface="UGent Panno Text" charset="0"/>
                <a:ea typeface="UGent Panno Text" charset="0"/>
                <a:cs typeface="UGent Panno Text" charset="0"/>
              </a:rPr>
              <a:t>“Quantitative analysis of electric vehicle flexibility: A data-driven approach”</a:t>
            </a:r>
            <a:r>
              <a:rPr lang="en-US" sz="1050" dirty="0">
                <a:solidFill>
                  <a:schemeClr val="accent4">
                    <a:lumMod val="75000"/>
                  </a:schemeClr>
                </a:solidFill>
                <a:latin typeface="UGent Panno Text" charset="0"/>
                <a:ea typeface="UGent Panno Text" charset="0"/>
                <a:cs typeface="UGent Panno Text" charset="0"/>
              </a:rPr>
              <a:t>, Int. J. </a:t>
            </a:r>
            <a:r>
              <a:rPr lang="en-US" sz="1050" dirty="0" err="1">
                <a:solidFill>
                  <a:schemeClr val="accent4">
                    <a:lumMod val="75000"/>
                  </a:schemeClr>
                </a:solidFill>
                <a:latin typeface="UGent Panno Text" charset="0"/>
                <a:ea typeface="UGent Panno Text" charset="0"/>
                <a:cs typeface="UGent Panno Text" charset="0"/>
              </a:rPr>
              <a:t>Electr</a:t>
            </a:r>
            <a:r>
              <a:rPr lang="en-US" sz="1050" dirty="0">
                <a:solidFill>
                  <a:schemeClr val="accent4">
                    <a:lumMod val="75000"/>
                  </a:schemeClr>
                </a:solidFill>
                <a:latin typeface="UGent Panno Text" charset="0"/>
                <a:ea typeface="UGent Panno Text" charset="0"/>
                <a:cs typeface="UGent Panno Text" charset="0"/>
              </a:rPr>
              <a:t>. Power Energy Syst., Vol. 95, Feb. 2018, pp. 451-462.</a:t>
            </a:r>
          </a:p>
        </p:txBody>
      </p:sp>
      <p:sp>
        <p:nvSpPr>
          <p:cNvPr id="10" name="Horizontal Scroll 9">
            <a:extLst>
              <a:ext uri="{FF2B5EF4-FFF2-40B4-BE49-F238E27FC236}">
                <a16:creationId xmlns:a16="http://schemas.microsoft.com/office/drawing/2014/main" id="{CFFE051B-2AA9-CC6B-A8EA-B8DEB71FD6A4}"/>
              </a:ext>
            </a:extLst>
          </p:cNvPr>
          <p:cNvSpPr/>
          <p:nvPr/>
        </p:nvSpPr>
        <p:spPr>
          <a:xfrm>
            <a:off x="7207452" y="5052"/>
            <a:ext cx="5089641" cy="836614"/>
          </a:xfrm>
          <a:prstGeom prst="horizontalScroll">
            <a:avLst>
              <a:gd name="adj" fmla="val 14424"/>
            </a:avLst>
          </a:prstGeom>
          <a:solidFill>
            <a:schemeClr val="accent4">
              <a:lumMod val="20000"/>
              <a:lumOff val="80000"/>
            </a:schemeClr>
          </a:solidFill>
          <a:ln>
            <a:noFill/>
          </a:ln>
        </p:spPr>
        <p:style>
          <a:lnRef idx="1">
            <a:schemeClr val="accent1"/>
          </a:lnRef>
          <a:fillRef idx="3">
            <a:schemeClr val="accent1"/>
          </a:fillRef>
          <a:effectRef idx="2">
            <a:schemeClr val="accent1"/>
          </a:effectRef>
          <a:fontRef idx="minor">
            <a:schemeClr val="lt1"/>
          </a:fontRef>
        </p:style>
        <p:txBody>
          <a:bodyPr tIns="46800" rIns="90000" rtlCol="0" anchor="ctr"/>
          <a:lstStyle/>
          <a:p>
            <a:r>
              <a:rPr lang="en-US" sz="1050" dirty="0">
                <a:solidFill>
                  <a:schemeClr val="accent4">
                    <a:lumMod val="75000"/>
                  </a:schemeClr>
                </a:solidFill>
                <a:latin typeface="UGent Panno Text" charset="0"/>
                <a:ea typeface="UGent Panno Text" charset="0"/>
                <a:cs typeface="UGent Panno Text" charset="0"/>
              </a:rPr>
              <a:t>M. </a:t>
            </a:r>
            <a:r>
              <a:rPr lang="en-US" sz="1050" dirty="0" err="1">
                <a:solidFill>
                  <a:schemeClr val="accent4">
                    <a:lumMod val="75000"/>
                  </a:schemeClr>
                </a:solidFill>
                <a:latin typeface="UGent Panno Text" charset="0"/>
                <a:ea typeface="UGent Panno Text" charset="0"/>
                <a:cs typeface="UGent Panno Text" charset="0"/>
              </a:rPr>
              <a:t>Lahariya</a:t>
            </a:r>
            <a:r>
              <a:rPr lang="en-US" sz="1050" dirty="0">
                <a:solidFill>
                  <a:schemeClr val="accent4">
                    <a:lumMod val="75000"/>
                  </a:schemeClr>
                </a:solidFill>
                <a:latin typeface="UGent Panno Text" charset="0"/>
                <a:ea typeface="UGent Panno Text" charset="0"/>
                <a:cs typeface="UGent Panno Text" charset="0"/>
              </a:rPr>
              <a:t>, D.F. Benoit and C. Develder, </a:t>
            </a:r>
            <a:r>
              <a:rPr lang="en-US" sz="1050" b="1" dirty="0">
                <a:solidFill>
                  <a:schemeClr val="accent4">
                    <a:lumMod val="75000"/>
                  </a:schemeClr>
                </a:solidFill>
                <a:latin typeface="UGent Panno Text" charset="0"/>
                <a:ea typeface="UGent Panno Text" charset="0"/>
                <a:cs typeface="UGent Panno Text" charset="0"/>
              </a:rPr>
              <a:t>“Synthetic data generator for electric vehicle charging sessions: Modeling and evaluation using real-world data"</a:t>
            </a:r>
            <a:r>
              <a:rPr lang="en-US" sz="1050" dirty="0">
                <a:solidFill>
                  <a:schemeClr val="accent4">
                    <a:lumMod val="75000"/>
                  </a:schemeClr>
                </a:solidFill>
                <a:latin typeface="UGent Panno Text" charset="0"/>
                <a:ea typeface="UGent Panno Text" charset="0"/>
                <a:cs typeface="UGent Panno Text" charset="0"/>
              </a:rPr>
              <a:t>, Energies, Vol. 13, Issue 16, Paper no. 4211, 2020.</a:t>
            </a:r>
          </a:p>
        </p:txBody>
      </p:sp>
      <p:sp>
        <p:nvSpPr>
          <p:cNvPr id="11" name="TextBox 10">
            <a:extLst>
              <a:ext uri="{FF2B5EF4-FFF2-40B4-BE49-F238E27FC236}">
                <a16:creationId xmlns:a16="http://schemas.microsoft.com/office/drawing/2014/main" id="{11D937A6-DF4A-570D-6E32-3FCA079271C0}"/>
              </a:ext>
            </a:extLst>
          </p:cNvPr>
          <p:cNvSpPr txBox="1"/>
          <p:nvPr/>
        </p:nvSpPr>
        <p:spPr>
          <a:xfrm rot="20347833">
            <a:off x="8601690" y="5402013"/>
            <a:ext cx="1015021" cy="758093"/>
          </a:xfrm>
          <a:prstGeom prst="rect">
            <a:avLst/>
          </a:prstGeom>
          <a:noFill/>
        </p:spPr>
        <p:txBody>
          <a:bodyPr wrap="none" rtlCol="0">
            <a:spAutoFit/>
          </a:bodyPr>
          <a:lstStyle/>
          <a:p>
            <a:pPr algn="ctr">
              <a:lnSpc>
                <a:spcPct val="70000"/>
              </a:lnSpc>
            </a:pPr>
            <a:r>
              <a:rPr lang="en-US" sz="2000" dirty="0">
                <a:solidFill>
                  <a:schemeClr val="accent2"/>
                </a:solidFill>
                <a:latin typeface="Caveat" charset="0"/>
                <a:ea typeface="Caveat" charset="0"/>
                <a:cs typeface="Caveat" charset="0"/>
              </a:rPr>
              <a:t>Thanks</a:t>
            </a:r>
          </a:p>
          <a:p>
            <a:pPr algn="ctr">
              <a:lnSpc>
                <a:spcPct val="70000"/>
              </a:lnSpc>
            </a:pPr>
            <a:r>
              <a:rPr lang="en-US" sz="2000" dirty="0">
                <a:solidFill>
                  <a:schemeClr val="accent2"/>
                </a:solidFill>
                <a:latin typeface="Caveat" charset="0"/>
                <a:ea typeface="Caveat" charset="0"/>
                <a:cs typeface="Caveat" charset="0"/>
              </a:rPr>
              <a:t>Nasrin</a:t>
            </a:r>
            <a:br>
              <a:rPr lang="en-US" sz="2000" dirty="0">
                <a:solidFill>
                  <a:schemeClr val="accent2"/>
                </a:solidFill>
                <a:latin typeface="Caveat" charset="0"/>
                <a:ea typeface="Caveat" charset="0"/>
                <a:cs typeface="Caveat" charset="0"/>
              </a:rPr>
            </a:br>
            <a:r>
              <a:rPr lang="en-US" sz="2000" dirty="0">
                <a:solidFill>
                  <a:schemeClr val="accent2"/>
                </a:solidFill>
                <a:latin typeface="Caveat" charset="0"/>
                <a:ea typeface="Caveat" charset="0"/>
                <a:cs typeface="Caveat" charset="0"/>
              </a:rPr>
              <a:t>&amp;  Manu!</a:t>
            </a:r>
          </a:p>
        </p:txBody>
      </p:sp>
      <p:sp>
        <p:nvSpPr>
          <p:cNvPr id="12" name="Freeform 11">
            <a:extLst>
              <a:ext uri="{FF2B5EF4-FFF2-40B4-BE49-F238E27FC236}">
                <a16:creationId xmlns:a16="http://schemas.microsoft.com/office/drawing/2014/main" id="{DB126717-AFB0-8F1C-AF15-1ABA057643FE}"/>
              </a:ext>
            </a:extLst>
          </p:cNvPr>
          <p:cNvSpPr/>
          <p:nvPr/>
        </p:nvSpPr>
        <p:spPr>
          <a:xfrm rot="679189">
            <a:off x="9761349" y="5533673"/>
            <a:ext cx="607162" cy="152644"/>
          </a:xfrm>
          <a:custGeom>
            <a:avLst/>
            <a:gdLst>
              <a:gd name="connsiteX0" fmla="*/ 0 w 607162"/>
              <a:gd name="connsiteY0" fmla="*/ 234087 h 234087"/>
              <a:gd name="connsiteX1" fmla="*/ 256032 w 607162"/>
              <a:gd name="connsiteY1" fmla="*/ 14631 h 234087"/>
              <a:gd name="connsiteX2" fmla="*/ 607162 w 607162"/>
              <a:gd name="connsiteY2" fmla="*/ 0 h 234087"/>
              <a:gd name="connsiteX0" fmla="*/ 0 w 607162"/>
              <a:gd name="connsiteY0" fmla="*/ 240072 h 240072"/>
              <a:gd name="connsiteX1" fmla="*/ 256032 w 607162"/>
              <a:gd name="connsiteY1" fmla="*/ 20616 h 240072"/>
              <a:gd name="connsiteX2" fmla="*/ 607162 w 607162"/>
              <a:gd name="connsiteY2" fmla="*/ 5985 h 240072"/>
              <a:gd name="connsiteX0" fmla="*/ 0 w 607162"/>
              <a:gd name="connsiteY0" fmla="*/ 249592 h 249592"/>
              <a:gd name="connsiteX1" fmla="*/ 256032 w 607162"/>
              <a:gd name="connsiteY1" fmla="*/ 30136 h 249592"/>
              <a:gd name="connsiteX2" fmla="*/ 607162 w 607162"/>
              <a:gd name="connsiteY2" fmla="*/ 15505 h 249592"/>
              <a:gd name="connsiteX0" fmla="*/ 0 w 607162"/>
              <a:gd name="connsiteY0" fmla="*/ 249592 h 249592"/>
              <a:gd name="connsiteX1" fmla="*/ 256032 w 607162"/>
              <a:gd name="connsiteY1" fmla="*/ 30136 h 249592"/>
              <a:gd name="connsiteX2" fmla="*/ 607162 w 607162"/>
              <a:gd name="connsiteY2" fmla="*/ 15505 h 249592"/>
              <a:gd name="connsiteX0" fmla="*/ 0 w 607162"/>
              <a:gd name="connsiteY0" fmla="*/ 249592 h 249592"/>
              <a:gd name="connsiteX1" fmla="*/ 256032 w 607162"/>
              <a:gd name="connsiteY1" fmla="*/ 30136 h 249592"/>
              <a:gd name="connsiteX2" fmla="*/ 607162 w 607162"/>
              <a:gd name="connsiteY2" fmla="*/ 15505 h 249592"/>
              <a:gd name="connsiteX0" fmla="*/ 0 w 607162"/>
              <a:gd name="connsiteY0" fmla="*/ 258833 h 258833"/>
              <a:gd name="connsiteX1" fmla="*/ 256032 w 607162"/>
              <a:gd name="connsiteY1" fmla="*/ 39377 h 258833"/>
              <a:gd name="connsiteX2" fmla="*/ 607162 w 607162"/>
              <a:gd name="connsiteY2" fmla="*/ 24746 h 258833"/>
              <a:gd name="connsiteX0" fmla="*/ 0 w 607162"/>
              <a:gd name="connsiteY0" fmla="*/ 258833 h 258833"/>
              <a:gd name="connsiteX1" fmla="*/ 256032 w 607162"/>
              <a:gd name="connsiteY1" fmla="*/ 39377 h 258833"/>
              <a:gd name="connsiteX2" fmla="*/ 607162 w 607162"/>
              <a:gd name="connsiteY2" fmla="*/ 24746 h 258833"/>
              <a:gd name="connsiteX0" fmla="*/ 0 w 607162"/>
              <a:gd name="connsiteY0" fmla="*/ 257095 h 257095"/>
              <a:gd name="connsiteX1" fmla="*/ 235862 w 607162"/>
              <a:gd name="connsiteY1" fmla="*/ 41001 h 257095"/>
              <a:gd name="connsiteX2" fmla="*/ 607162 w 607162"/>
              <a:gd name="connsiteY2" fmla="*/ 23008 h 257095"/>
              <a:gd name="connsiteX0" fmla="*/ 0 w 607162"/>
              <a:gd name="connsiteY0" fmla="*/ 257095 h 257095"/>
              <a:gd name="connsiteX1" fmla="*/ 235862 w 607162"/>
              <a:gd name="connsiteY1" fmla="*/ 41001 h 257095"/>
              <a:gd name="connsiteX2" fmla="*/ 607162 w 607162"/>
              <a:gd name="connsiteY2" fmla="*/ 23008 h 257095"/>
              <a:gd name="connsiteX0" fmla="*/ 0 w 607162"/>
              <a:gd name="connsiteY0" fmla="*/ 253450 h 253450"/>
              <a:gd name="connsiteX1" fmla="*/ 235862 w 607162"/>
              <a:gd name="connsiteY1" fmla="*/ 37356 h 253450"/>
              <a:gd name="connsiteX2" fmla="*/ 607162 w 607162"/>
              <a:gd name="connsiteY2" fmla="*/ 19363 h 253450"/>
              <a:gd name="connsiteX0" fmla="*/ 0 w 607162"/>
              <a:gd name="connsiteY0" fmla="*/ 253450 h 253450"/>
              <a:gd name="connsiteX1" fmla="*/ 235862 w 607162"/>
              <a:gd name="connsiteY1" fmla="*/ 37356 h 253450"/>
              <a:gd name="connsiteX2" fmla="*/ 607162 w 607162"/>
              <a:gd name="connsiteY2" fmla="*/ 19363 h 253450"/>
            </a:gdLst>
            <a:ahLst/>
            <a:cxnLst>
              <a:cxn ang="0">
                <a:pos x="connsiteX0" y="connsiteY0"/>
              </a:cxn>
              <a:cxn ang="0">
                <a:pos x="connsiteX1" y="connsiteY1"/>
              </a:cxn>
              <a:cxn ang="0">
                <a:pos x="connsiteX2" y="connsiteY2"/>
              </a:cxn>
            </a:cxnLst>
            <a:rect l="l" t="t" r="r" b="b"/>
            <a:pathLst>
              <a:path w="607162" h="253450">
                <a:moveTo>
                  <a:pt x="0" y="253450"/>
                </a:moveTo>
                <a:cubicBezTo>
                  <a:pt x="20286" y="217088"/>
                  <a:pt x="96317" y="98316"/>
                  <a:pt x="235862" y="37356"/>
                </a:cubicBezTo>
                <a:cubicBezTo>
                  <a:pt x="375407" y="-23604"/>
                  <a:pt x="523145" y="5065"/>
                  <a:pt x="607162" y="19363"/>
                </a:cubicBezTo>
              </a:path>
            </a:pathLst>
          </a:custGeom>
          <a:noFill/>
          <a:ln w="12700">
            <a:solidFill>
              <a:schemeClr val="accent2"/>
            </a:solidFill>
            <a:headEnd type="none" w="med" len="med"/>
            <a:tailEnd type="triangl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3" name="Picture 12">
            <a:extLst>
              <a:ext uri="{FF2B5EF4-FFF2-40B4-BE49-F238E27FC236}">
                <a16:creationId xmlns:a16="http://schemas.microsoft.com/office/drawing/2014/main" id="{40644DAE-D234-7D59-8847-8E57D76A3C0E}"/>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rot="20617525">
            <a:off x="10042365" y="3994052"/>
            <a:ext cx="1085040" cy="1085040"/>
          </a:xfrm>
          <a:prstGeom prst="rect">
            <a:avLst/>
          </a:prstGeom>
          <a:effectLst>
            <a:outerShdw blurRad="50800" dist="76200" dir="2700000" algn="tl" rotWithShape="0">
              <a:prstClr val="black">
                <a:alpha val="40000"/>
              </a:prstClr>
            </a:outerShdw>
          </a:effectLst>
        </p:spPr>
      </p:pic>
      <p:pic>
        <p:nvPicPr>
          <p:cNvPr id="14" name="Picture 13">
            <a:extLst>
              <a:ext uri="{FF2B5EF4-FFF2-40B4-BE49-F238E27FC236}">
                <a16:creationId xmlns:a16="http://schemas.microsoft.com/office/drawing/2014/main" id="{0931AC89-2E6D-F6A1-085F-FC3651D87952}"/>
              </a:ext>
            </a:extLst>
          </p:cNvPr>
          <p:cNvPicPr>
            <a:picLocks noChangeAspect="1"/>
          </p:cNvPicPr>
          <p:nvPr/>
        </p:nvPicPr>
        <p:blipFill>
          <a:blip r:embed="rId4">
            <a:extLst>
              <a:ext uri="{28A0092B-C50C-407E-A947-70E740481C1C}">
                <a14:useLocalDpi xmlns:a14="http://schemas.microsoft.com/office/drawing/2010/main" val="0"/>
              </a:ext>
            </a:extLst>
          </a:blip>
          <a:srcRect/>
          <a:stretch/>
        </p:blipFill>
        <p:spPr>
          <a:xfrm rot="587725">
            <a:off x="10522560" y="4903305"/>
            <a:ext cx="1044000" cy="1044000"/>
          </a:xfrm>
          <a:prstGeom prst="rect">
            <a:avLst/>
          </a:prstGeom>
          <a:effectLst>
            <a:outerShdw blurRad="50800" dist="76200" dir="2700000" algn="tl" rotWithShape="0">
              <a:prstClr val="black">
                <a:alpha val="40000"/>
              </a:prstClr>
            </a:outerShdw>
          </a:effectLst>
        </p:spPr>
      </p:pic>
      <p:sp>
        <p:nvSpPr>
          <p:cNvPr id="15" name="Freeform 14">
            <a:extLst>
              <a:ext uri="{FF2B5EF4-FFF2-40B4-BE49-F238E27FC236}">
                <a16:creationId xmlns:a16="http://schemas.microsoft.com/office/drawing/2014/main" id="{F174FCAD-2A29-C710-1DD4-EC6CFE6EAC14}"/>
              </a:ext>
            </a:extLst>
          </p:cNvPr>
          <p:cNvSpPr/>
          <p:nvPr/>
        </p:nvSpPr>
        <p:spPr>
          <a:xfrm rot="19277990">
            <a:off x="9561880" y="5131577"/>
            <a:ext cx="607162" cy="152644"/>
          </a:xfrm>
          <a:custGeom>
            <a:avLst/>
            <a:gdLst>
              <a:gd name="connsiteX0" fmla="*/ 0 w 607162"/>
              <a:gd name="connsiteY0" fmla="*/ 234087 h 234087"/>
              <a:gd name="connsiteX1" fmla="*/ 256032 w 607162"/>
              <a:gd name="connsiteY1" fmla="*/ 14631 h 234087"/>
              <a:gd name="connsiteX2" fmla="*/ 607162 w 607162"/>
              <a:gd name="connsiteY2" fmla="*/ 0 h 234087"/>
              <a:gd name="connsiteX0" fmla="*/ 0 w 607162"/>
              <a:gd name="connsiteY0" fmla="*/ 240072 h 240072"/>
              <a:gd name="connsiteX1" fmla="*/ 256032 w 607162"/>
              <a:gd name="connsiteY1" fmla="*/ 20616 h 240072"/>
              <a:gd name="connsiteX2" fmla="*/ 607162 w 607162"/>
              <a:gd name="connsiteY2" fmla="*/ 5985 h 240072"/>
              <a:gd name="connsiteX0" fmla="*/ 0 w 607162"/>
              <a:gd name="connsiteY0" fmla="*/ 249592 h 249592"/>
              <a:gd name="connsiteX1" fmla="*/ 256032 w 607162"/>
              <a:gd name="connsiteY1" fmla="*/ 30136 h 249592"/>
              <a:gd name="connsiteX2" fmla="*/ 607162 w 607162"/>
              <a:gd name="connsiteY2" fmla="*/ 15505 h 249592"/>
              <a:gd name="connsiteX0" fmla="*/ 0 w 607162"/>
              <a:gd name="connsiteY0" fmla="*/ 249592 h 249592"/>
              <a:gd name="connsiteX1" fmla="*/ 256032 w 607162"/>
              <a:gd name="connsiteY1" fmla="*/ 30136 h 249592"/>
              <a:gd name="connsiteX2" fmla="*/ 607162 w 607162"/>
              <a:gd name="connsiteY2" fmla="*/ 15505 h 249592"/>
              <a:gd name="connsiteX0" fmla="*/ 0 w 607162"/>
              <a:gd name="connsiteY0" fmla="*/ 249592 h 249592"/>
              <a:gd name="connsiteX1" fmla="*/ 256032 w 607162"/>
              <a:gd name="connsiteY1" fmla="*/ 30136 h 249592"/>
              <a:gd name="connsiteX2" fmla="*/ 607162 w 607162"/>
              <a:gd name="connsiteY2" fmla="*/ 15505 h 249592"/>
              <a:gd name="connsiteX0" fmla="*/ 0 w 607162"/>
              <a:gd name="connsiteY0" fmla="*/ 258833 h 258833"/>
              <a:gd name="connsiteX1" fmla="*/ 256032 w 607162"/>
              <a:gd name="connsiteY1" fmla="*/ 39377 h 258833"/>
              <a:gd name="connsiteX2" fmla="*/ 607162 w 607162"/>
              <a:gd name="connsiteY2" fmla="*/ 24746 h 258833"/>
              <a:gd name="connsiteX0" fmla="*/ 0 w 607162"/>
              <a:gd name="connsiteY0" fmla="*/ 258833 h 258833"/>
              <a:gd name="connsiteX1" fmla="*/ 256032 w 607162"/>
              <a:gd name="connsiteY1" fmla="*/ 39377 h 258833"/>
              <a:gd name="connsiteX2" fmla="*/ 607162 w 607162"/>
              <a:gd name="connsiteY2" fmla="*/ 24746 h 258833"/>
              <a:gd name="connsiteX0" fmla="*/ 0 w 607162"/>
              <a:gd name="connsiteY0" fmla="*/ 257095 h 257095"/>
              <a:gd name="connsiteX1" fmla="*/ 235862 w 607162"/>
              <a:gd name="connsiteY1" fmla="*/ 41001 h 257095"/>
              <a:gd name="connsiteX2" fmla="*/ 607162 w 607162"/>
              <a:gd name="connsiteY2" fmla="*/ 23008 h 257095"/>
              <a:gd name="connsiteX0" fmla="*/ 0 w 607162"/>
              <a:gd name="connsiteY0" fmla="*/ 257095 h 257095"/>
              <a:gd name="connsiteX1" fmla="*/ 235862 w 607162"/>
              <a:gd name="connsiteY1" fmla="*/ 41001 h 257095"/>
              <a:gd name="connsiteX2" fmla="*/ 607162 w 607162"/>
              <a:gd name="connsiteY2" fmla="*/ 23008 h 257095"/>
              <a:gd name="connsiteX0" fmla="*/ 0 w 607162"/>
              <a:gd name="connsiteY0" fmla="*/ 253450 h 253450"/>
              <a:gd name="connsiteX1" fmla="*/ 235862 w 607162"/>
              <a:gd name="connsiteY1" fmla="*/ 37356 h 253450"/>
              <a:gd name="connsiteX2" fmla="*/ 607162 w 607162"/>
              <a:gd name="connsiteY2" fmla="*/ 19363 h 253450"/>
              <a:gd name="connsiteX0" fmla="*/ 0 w 607162"/>
              <a:gd name="connsiteY0" fmla="*/ 253450 h 253450"/>
              <a:gd name="connsiteX1" fmla="*/ 235862 w 607162"/>
              <a:gd name="connsiteY1" fmla="*/ 37356 h 253450"/>
              <a:gd name="connsiteX2" fmla="*/ 607162 w 607162"/>
              <a:gd name="connsiteY2" fmla="*/ 19363 h 253450"/>
            </a:gdLst>
            <a:ahLst/>
            <a:cxnLst>
              <a:cxn ang="0">
                <a:pos x="connsiteX0" y="connsiteY0"/>
              </a:cxn>
              <a:cxn ang="0">
                <a:pos x="connsiteX1" y="connsiteY1"/>
              </a:cxn>
              <a:cxn ang="0">
                <a:pos x="connsiteX2" y="connsiteY2"/>
              </a:cxn>
            </a:cxnLst>
            <a:rect l="l" t="t" r="r" b="b"/>
            <a:pathLst>
              <a:path w="607162" h="253450">
                <a:moveTo>
                  <a:pt x="0" y="253450"/>
                </a:moveTo>
                <a:cubicBezTo>
                  <a:pt x="20286" y="217088"/>
                  <a:pt x="96317" y="98316"/>
                  <a:pt x="235862" y="37356"/>
                </a:cubicBezTo>
                <a:cubicBezTo>
                  <a:pt x="375407" y="-23604"/>
                  <a:pt x="523145" y="5065"/>
                  <a:pt x="607162" y="19363"/>
                </a:cubicBezTo>
              </a:path>
            </a:pathLst>
          </a:custGeom>
          <a:noFill/>
          <a:ln w="12700">
            <a:solidFill>
              <a:schemeClr val="accent2"/>
            </a:solidFill>
            <a:headEnd type="none" w="med" len="med"/>
            <a:tailEnd type="triangl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Slide Number Placeholder 15">
            <a:extLst>
              <a:ext uri="{FF2B5EF4-FFF2-40B4-BE49-F238E27FC236}">
                <a16:creationId xmlns:a16="http://schemas.microsoft.com/office/drawing/2014/main" id="{4025FE11-FB61-201B-E9D0-ECE26191CB87}"/>
              </a:ext>
            </a:extLst>
          </p:cNvPr>
          <p:cNvSpPr>
            <a:spLocks noGrp="1"/>
          </p:cNvSpPr>
          <p:nvPr>
            <p:ph type="sldNum" sz="quarter" idx="11"/>
          </p:nvPr>
        </p:nvSpPr>
        <p:spPr/>
        <p:txBody>
          <a:bodyPr/>
          <a:lstStyle/>
          <a:p>
            <a:pPr>
              <a:defRPr/>
            </a:pPr>
            <a:fld id="{968663A2-1950-48E6-8399-8A0176E7D7D3}" type="slidenum">
              <a:rPr lang="en-US" smtClean="0"/>
              <a:pPr>
                <a:defRPr/>
              </a:pPr>
              <a:t>22</a:t>
            </a:fld>
            <a:endParaRPr lang="en-US"/>
          </a:p>
        </p:txBody>
      </p:sp>
    </p:spTree>
    <p:extLst>
      <p:ext uri="{BB962C8B-B14F-4D97-AF65-F5344CB8AC3E}">
        <p14:creationId xmlns:p14="http://schemas.microsoft.com/office/powerpoint/2010/main" val="63391960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2" fill="hold" grpId="0" nodeType="after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wipe(right)">
                                      <p:cBhvr>
                                        <p:cTn id="7" dur="500"/>
                                        <p:tgtEl>
                                          <p:spTgt spid="10"/>
                                        </p:tgtEl>
                                      </p:cBhvr>
                                    </p:animEffect>
                                  </p:childTnLst>
                                </p:cTn>
                              </p:par>
                              <p:par>
                                <p:cTn id="8" presetID="22" presetClass="entr" presetSubtype="2" fill="hold" grpId="0" nodeType="withEffect">
                                  <p:stCondLst>
                                    <p:cond delay="0"/>
                                  </p:stCondLst>
                                  <p:childTnLst>
                                    <p:set>
                                      <p:cBhvr>
                                        <p:cTn id="9" dur="1" fill="hold">
                                          <p:stCondLst>
                                            <p:cond delay="0"/>
                                          </p:stCondLst>
                                        </p:cTn>
                                        <p:tgtEl>
                                          <p:spTgt spid="9"/>
                                        </p:tgtEl>
                                        <p:attrNameLst>
                                          <p:attrName>style.visibility</p:attrName>
                                        </p:attrNameLst>
                                      </p:cBhvr>
                                      <p:to>
                                        <p:strVal val="visible"/>
                                      </p:to>
                                    </p:set>
                                    <p:animEffect transition="in" filter="wipe(right)">
                                      <p:cBhvr>
                                        <p:cTn id="10" dur="500"/>
                                        <p:tgtEl>
                                          <p:spTgt spid="9"/>
                                        </p:tgtEl>
                                      </p:cBhvr>
                                    </p:animEffect>
                                  </p:childTnLst>
                                </p:cTn>
                              </p:par>
                              <p:par>
                                <p:cTn id="11" presetID="22" presetClass="entr" presetSubtype="2" fill="hold" grpId="0" nodeType="withEffect">
                                  <p:stCondLst>
                                    <p:cond delay="0"/>
                                  </p:stCondLst>
                                  <p:childTnLst>
                                    <p:set>
                                      <p:cBhvr>
                                        <p:cTn id="12" dur="1" fill="hold">
                                          <p:stCondLst>
                                            <p:cond delay="0"/>
                                          </p:stCondLst>
                                        </p:cTn>
                                        <p:tgtEl>
                                          <p:spTgt spid="3"/>
                                        </p:tgtEl>
                                        <p:attrNameLst>
                                          <p:attrName>style.visibility</p:attrName>
                                        </p:attrNameLst>
                                      </p:cBhvr>
                                      <p:to>
                                        <p:strVal val="visible"/>
                                      </p:to>
                                    </p:set>
                                    <p:animEffect transition="in" filter="wipe(right)">
                                      <p:cBhvr>
                                        <p:cTn id="13"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9" grpId="0" animBg="1"/>
      <p:bldP spid="10" grpId="0" animBg="1"/>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1343EF1-C6BE-41C6-0B75-9A9BE045EDDD}"/>
            </a:ext>
          </a:extLst>
        </p:cNvPr>
        <p:cNvGrpSpPr/>
        <p:nvPr/>
      </p:nvGrpSpPr>
      <p:grpSpPr>
        <a:xfrm>
          <a:off x="0" y="0"/>
          <a:ext cx="0" cy="0"/>
          <a:chOff x="0" y="0"/>
          <a:chExt cx="0" cy="0"/>
        </a:xfrm>
      </p:grpSpPr>
      <p:sp>
        <p:nvSpPr>
          <p:cNvPr id="28" name="Content Placeholder 27">
            <a:extLst>
              <a:ext uri="{FF2B5EF4-FFF2-40B4-BE49-F238E27FC236}">
                <a16:creationId xmlns:a16="http://schemas.microsoft.com/office/drawing/2014/main" id="{FC0BFDA8-9C72-E2E2-FFFB-6ED405E966D0}"/>
              </a:ext>
            </a:extLst>
          </p:cNvPr>
          <p:cNvSpPr>
            <a:spLocks noGrp="1"/>
          </p:cNvSpPr>
          <p:nvPr>
            <p:ph idx="1"/>
          </p:nvPr>
        </p:nvSpPr>
        <p:spPr>
          <a:xfrm>
            <a:off x="476211" y="1185184"/>
            <a:ext cx="6440155" cy="2123266"/>
          </a:xfrm>
          <a:prstGeom prst="rect">
            <a:avLst/>
          </a:prstGeom>
        </p:spPr>
        <p:txBody>
          <a:bodyPr/>
          <a:lstStyle/>
          <a:p>
            <a:r>
              <a:rPr lang="en-BE" dirty="0"/>
              <a:t>At each timestep </a:t>
            </a:r>
            <a:r>
              <a:rPr lang="en-BE" i="1" dirty="0"/>
              <a:t>t </a:t>
            </a:r>
            <a:r>
              <a:rPr lang="en-BE" dirty="0"/>
              <a:t> the agent</a:t>
            </a:r>
          </a:p>
          <a:p>
            <a:pPr lvl="1"/>
            <a:endParaRPr lang="en-BE" sz="400" dirty="0"/>
          </a:p>
          <a:p>
            <a:pPr lvl="1"/>
            <a:r>
              <a:rPr lang="en-BE" dirty="0"/>
              <a:t>Gets </a:t>
            </a:r>
            <a:r>
              <a:rPr lang="en-BE" b="1" dirty="0">
                <a:solidFill>
                  <a:schemeClr val="accent3"/>
                </a:solidFill>
              </a:rPr>
              <a:t>state</a:t>
            </a:r>
            <a:r>
              <a:rPr lang="en-BE" dirty="0"/>
              <a:t> observation </a:t>
            </a:r>
            <a:endParaRPr lang="en-US" dirty="0"/>
          </a:p>
          <a:p>
            <a:pPr marL="457200" lvl="1" indent="0">
              <a:buNone/>
            </a:pPr>
            <a:endParaRPr lang="en-US" i="1" baseline="-25000" dirty="0"/>
          </a:p>
          <a:p>
            <a:pPr marL="457200" lvl="1" indent="0">
              <a:buNone/>
            </a:pPr>
            <a:endParaRPr lang="en-BE" i="1" baseline="-25000" dirty="0"/>
          </a:p>
          <a:p>
            <a:pPr lvl="1"/>
            <a:r>
              <a:rPr lang="en-BE" dirty="0"/>
              <a:t>Decides to take </a:t>
            </a:r>
            <a:r>
              <a:rPr lang="en-BE" b="1" dirty="0">
                <a:solidFill>
                  <a:schemeClr val="accent2"/>
                </a:solidFill>
              </a:rPr>
              <a:t>action</a:t>
            </a:r>
          </a:p>
          <a:p>
            <a:pPr marL="457200" lvl="1" indent="0">
              <a:buNone/>
            </a:pPr>
            <a:r>
              <a:rPr lang="en-BE" sz="1200" dirty="0"/>
              <a:t> </a:t>
            </a:r>
            <a:endParaRPr lang="en-BE" sz="1200" i="1" baseline="-25000" dirty="0"/>
          </a:p>
        </p:txBody>
      </p:sp>
      <p:sp>
        <p:nvSpPr>
          <p:cNvPr id="9" name="Content Placeholder 27">
            <a:extLst>
              <a:ext uri="{FF2B5EF4-FFF2-40B4-BE49-F238E27FC236}">
                <a16:creationId xmlns:a16="http://schemas.microsoft.com/office/drawing/2014/main" id="{C10C9F1C-32B4-A305-E5FD-CD8B76498102}"/>
              </a:ext>
            </a:extLst>
          </p:cNvPr>
          <p:cNvSpPr txBox="1">
            <a:spLocks/>
          </p:cNvSpPr>
          <p:nvPr/>
        </p:nvSpPr>
        <p:spPr bwMode="auto">
          <a:xfrm>
            <a:off x="476211" y="3865827"/>
            <a:ext cx="7397090" cy="2100999"/>
          </a:xfrm>
          <a:prstGeom prst="rect">
            <a:avLst/>
          </a:prstGeom>
          <a:noFill/>
          <a:ln w="9525">
            <a:noFill/>
            <a:miter lim="800000"/>
            <a:headEnd/>
            <a:tailEnd/>
          </a:ln>
        </p:spPr>
        <p:txBody>
          <a:bodyPr vert="horz" wrap="square" lIns="0" tIns="0" rIns="0" bIns="0" numCol="1" anchor="t" anchorCtr="0" compatLnSpc="1">
            <a:prstTxWarp prst="textNoShape">
              <a:avLst/>
            </a:prstTxWarp>
          </a:bodyPr>
          <a:lstStyle>
            <a:lvl1pPr marL="228600" indent="-228600" algn="l" rtl="0" eaLnBrk="0" fontAlgn="base" hangingPunct="0">
              <a:spcBef>
                <a:spcPct val="20000"/>
              </a:spcBef>
              <a:spcAft>
                <a:spcPct val="0"/>
              </a:spcAft>
              <a:buClr>
                <a:schemeClr val="accent6"/>
              </a:buClr>
              <a:buFont typeface="Wingdings" pitchFamily="2" charset="2"/>
              <a:buChar char="§"/>
              <a:defRPr sz="2400">
                <a:solidFill>
                  <a:schemeClr val="tx1"/>
                </a:solidFill>
                <a:latin typeface="UGent Panno Text" charset="0"/>
                <a:ea typeface="UGent Panno Text" charset="0"/>
                <a:cs typeface="UGent Panno Text" charset="0"/>
              </a:defRPr>
            </a:lvl1pPr>
            <a:lvl2pPr marL="685800" indent="-228600" algn="l" rtl="0" eaLnBrk="0" fontAlgn="base" hangingPunct="0">
              <a:spcBef>
                <a:spcPct val="20000"/>
              </a:spcBef>
              <a:spcAft>
                <a:spcPct val="0"/>
              </a:spcAft>
              <a:buClr>
                <a:schemeClr val="accent2"/>
              </a:buClr>
              <a:buSzPct val="110000"/>
              <a:buFont typeface="Calibri" pitchFamily="34" charset="0"/>
              <a:buChar char="•"/>
              <a:defRPr sz="2000">
                <a:solidFill>
                  <a:schemeClr val="tx1"/>
                </a:solidFill>
                <a:latin typeface="UGent Panno Text" charset="0"/>
                <a:ea typeface="UGent Panno Text" charset="0"/>
                <a:cs typeface="UGent Panno Text" charset="0"/>
              </a:defRPr>
            </a:lvl2pPr>
            <a:lvl3pPr marL="1104900" indent="-190500" algn="l" rtl="0" eaLnBrk="0" fontAlgn="base" hangingPunct="0">
              <a:spcBef>
                <a:spcPct val="20000"/>
              </a:spcBef>
              <a:spcAft>
                <a:spcPct val="0"/>
              </a:spcAft>
              <a:buClr>
                <a:schemeClr val="accent6"/>
              </a:buClr>
              <a:buFont typeface="Wingdings" pitchFamily="2" charset="2"/>
              <a:buChar char="§"/>
              <a:defRPr sz="2000">
                <a:solidFill>
                  <a:schemeClr val="tx1"/>
                </a:solidFill>
                <a:latin typeface="UGent Panno Text" charset="0"/>
                <a:ea typeface="UGent Panno Text" charset="0"/>
                <a:cs typeface="UGent Panno Text" charset="0"/>
              </a:defRPr>
            </a:lvl3pPr>
            <a:lvl4pPr marL="1562100" indent="-190500" algn="l" rtl="0" eaLnBrk="0" fontAlgn="base" hangingPunct="0">
              <a:spcBef>
                <a:spcPct val="20000"/>
              </a:spcBef>
              <a:spcAft>
                <a:spcPct val="0"/>
              </a:spcAft>
              <a:buClr>
                <a:schemeClr val="accent2"/>
              </a:buClr>
              <a:buFont typeface="Arial" pitchFamily="34" charset="0"/>
              <a:buChar char="•"/>
              <a:defRPr sz="1800">
                <a:solidFill>
                  <a:schemeClr val="tx1"/>
                </a:solidFill>
                <a:latin typeface="UGent Panno Text" charset="0"/>
                <a:ea typeface="UGent Panno Text" charset="0"/>
                <a:cs typeface="UGent Panno Text" charset="0"/>
              </a:defRPr>
            </a:lvl4pPr>
            <a:lvl5pPr marL="2019300" indent="-190500" algn="l" rtl="0" eaLnBrk="0" fontAlgn="base" hangingPunct="0">
              <a:spcBef>
                <a:spcPct val="20000"/>
              </a:spcBef>
              <a:spcAft>
                <a:spcPct val="0"/>
              </a:spcAft>
              <a:buClr>
                <a:schemeClr val="accent6"/>
              </a:buClr>
              <a:buFont typeface="Calibri" pitchFamily="34" charset="0"/>
              <a:buChar char="–"/>
              <a:defRPr sz="1800">
                <a:solidFill>
                  <a:schemeClr val="tx1"/>
                </a:solidFill>
                <a:latin typeface="UGent Panno Text" charset="0"/>
                <a:ea typeface="UGent Panno Text" charset="0"/>
                <a:cs typeface="UGent Panno Text" charset="0"/>
              </a:defRPr>
            </a:lvl5pPr>
            <a:lvl6pPr marL="2476500" indent="-190500" algn="l" rtl="0" fontAlgn="base">
              <a:spcBef>
                <a:spcPct val="20000"/>
              </a:spcBef>
              <a:spcAft>
                <a:spcPct val="0"/>
              </a:spcAft>
              <a:buClr>
                <a:srgbClr val="CC0066"/>
              </a:buClr>
              <a:buFont typeface="Wingdings" pitchFamily="2" charset="2"/>
              <a:buChar char="§"/>
              <a:defRPr sz="2000">
                <a:solidFill>
                  <a:schemeClr val="tx1"/>
                </a:solidFill>
                <a:latin typeface="+mn-lt"/>
                <a:cs typeface="+mn-cs"/>
              </a:defRPr>
            </a:lvl6pPr>
            <a:lvl7pPr marL="2933700" indent="-190500" algn="l" rtl="0" fontAlgn="base">
              <a:spcBef>
                <a:spcPct val="20000"/>
              </a:spcBef>
              <a:spcAft>
                <a:spcPct val="0"/>
              </a:spcAft>
              <a:buClr>
                <a:srgbClr val="CC0066"/>
              </a:buClr>
              <a:buFont typeface="Wingdings" pitchFamily="2" charset="2"/>
              <a:buChar char="§"/>
              <a:defRPr sz="2000">
                <a:solidFill>
                  <a:schemeClr val="tx1"/>
                </a:solidFill>
                <a:latin typeface="+mn-lt"/>
                <a:cs typeface="+mn-cs"/>
              </a:defRPr>
            </a:lvl7pPr>
            <a:lvl8pPr marL="3390900" indent="-190500" algn="l" rtl="0" fontAlgn="base">
              <a:spcBef>
                <a:spcPct val="20000"/>
              </a:spcBef>
              <a:spcAft>
                <a:spcPct val="0"/>
              </a:spcAft>
              <a:buClr>
                <a:srgbClr val="CC0066"/>
              </a:buClr>
              <a:buFont typeface="Wingdings" pitchFamily="2" charset="2"/>
              <a:buChar char="§"/>
              <a:defRPr sz="2000">
                <a:solidFill>
                  <a:schemeClr val="tx1"/>
                </a:solidFill>
                <a:latin typeface="+mn-lt"/>
                <a:cs typeface="+mn-cs"/>
              </a:defRPr>
            </a:lvl8pPr>
            <a:lvl9pPr marL="3848100" indent="-190500" algn="l" rtl="0" fontAlgn="base">
              <a:spcBef>
                <a:spcPct val="20000"/>
              </a:spcBef>
              <a:spcAft>
                <a:spcPct val="0"/>
              </a:spcAft>
              <a:buClr>
                <a:srgbClr val="CC0066"/>
              </a:buClr>
              <a:buFont typeface="Wingdings" pitchFamily="2" charset="2"/>
              <a:buChar char="§"/>
              <a:defRPr sz="2000">
                <a:solidFill>
                  <a:schemeClr val="tx1"/>
                </a:solidFill>
                <a:latin typeface="+mn-lt"/>
                <a:cs typeface="+mn-cs"/>
              </a:defRPr>
            </a:lvl9pPr>
          </a:lstStyle>
          <a:p>
            <a:r>
              <a:rPr lang="en-BE" kern="0" dirty="0"/>
              <a:t>The environment</a:t>
            </a:r>
          </a:p>
          <a:p>
            <a:pPr lvl="1"/>
            <a:r>
              <a:rPr lang="en-BE" kern="0" dirty="0"/>
              <a:t>Receives action </a:t>
            </a:r>
            <a:r>
              <a:rPr lang="en-BE" i="1" kern="0" dirty="0"/>
              <a:t>a</a:t>
            </a:r>
            <a:r>
              <a:rPr lang="en-BE" i="1" kern="0" baseline="-25000" dirty="0"/>
              <a:t>t</a:t>
            </a:r>
          </a:p>
          <a:p>
            <a:pPr lvl="1"/>
            <a:r>
              <a:rPr lang="en-BE" kern="0" dirty="0"/>
              <a:t>Transitions to </a:t>
            </a:r>
            <a:r>
              <a:rPr lang="en-BE" b="1" kern="0" dirty="0"/>
              <a:t>state</a:t>
            </a:r>
            <a:r>
              <a:rPr lang="en-BE" kern="0" dirty="0"/>
              <a:t> </a:t>
            </a:r>
            <a:r>
              <a:rPr lang="en-BE" i="1" kern="0" dirty="0"/>
              <a:t>s</a:t>
            </a:r>
            <a:r>
              <a:rPr lang="en-BE" i="1" kern="0" baseline="-25000" dirty="0"/>
              <a:t>t </a:t>
            </a:r>
            <a:r>
              <a:rPr lang="en-BE" kern="0" baseline="-25000" dirty="0"/>
              <a:t>+1</a:t>
            </a:r>
            <a:r>
              <a:rPr lang="en-BE" kern="0" dirty="0"/>
              <a:t> </a:t>
            </a:r>
            <a:endParaRPr lang="en-BE" kern="0" baseline="-25000" dirty="0">
              <a:solidFill>
                <a:schemeClr val="bg2">
                  <a:lumMod val="60000"/>
                  <a:lumOff val="40000"/>
                </a:schemeClr>
              </a:solidFill>
            </a:endParaRPr>
          </a:p>
          <a:p>
            <a:pPr lvl="1"/>
            <a:r>
              <a:rPr lang="en-BE" kern="0" dirty="0"/>
              <a:t>Returns scalar </a:t>
            </a:r>
            <a:r>
              <a:rPr lang="en-BE" b="1" kern="0" dirty="0"/>
              <a:t>reward</a:t>
            </a:r>
            <a:endParaRPr lang="en-BE" i="1" kern="0" baseline="-25000" dirty="0"/>
          </a:p>
          <a:p>
            <a:pPr marL="0" indent="0">
              <a:buFont typeface="Wingdings" pitchFamily="2" charset="2"/>
              <a:buNone/>
            </a:pPr>
            <a:br>
              <a:rPr lang="en-US" sz="3200" b="1" kern="0" dirty="0"/>
            </a:br>
            <a:endParaRPr lang="en-BE" kern="0" dirty="0"/>
          </a:p>
        </p:txBody>
      </p:sp>
      <p:pic>
        <p:nvPicPr>
          <p:cNvPr id="30" name="Picture 29">
            <a:extLst>
              <a:ext uri="{FF2B5EF4-FFF2-40B4-BE49-F238E27FC236}">
                <a16:creationId xmlns:a16="http://schemas.microsoft.com/office/drawing/2014/main" id="{BCDE2B4B-41E2-3100-E629-12E56FA7963A}"/>
              </a:ext>
            </a:extLst>
          </p:cNvPr>
          <p:cNvPicPr>
            <a:picLocks noChangeAspect="1"/>
          </p:cNvPicPr>
          <p:nvPr/>
        </p:nvPicPr>
        <p:blipFill>
          <a:blip r:embed="rId2">
            <a:clrChange>
              <a:clrFrom>
                <a:srgbClr val="FFFFFF"/>
              </a:clrFrom>
              <a:clrTo>
                <a:srgbClr val="FFFFFF">
                  <a:alpha val="0"/>
                </a:srgbClr>
              </a:clrTo>
            </a:clrChange>
          </a:blip>
          <a:stretch>
            <a:fillRect/>
          </a:stretch>
        </p:blipFill>
        <p:spPr>
          <a:xfrm>
            <a:off x="3253982" y="1490451"/>
            <a:ext cx="2873026" cy="783166"/>
          </a:xfrm>
          <a:prstGeom prst="rect">
            <a:avLst/>
          </a:prstGeom>
        </p:spPr>
      </p:pic>
      <p:sp>
        <p:nvSpPr>
          <p:cNvPr id="5" name="Title 4">
            <a:extLst>
              <a:ext uri="{FF2B5EF4-FFF2-40B4-BE49-F238E27FC236}">
                <a16:creationId xmlns:a16="http://schemas.microsoft.com/office/drawing/2014/main" id="{7AFA039B-EF5C-0BD2-0AA2-A35C5BDE4B41}"/>
              </a:ext>
            </a:extLst>
          </p:cNvPr>
          <p:cNvSpPr>
            <a:spLocks noGrp="1"/>
          </p:cNvSpPr>
          <p:nvPr>
            <p:ph type="title"/>
          </p:nvPr>
        </p:nvSpPr>
        <p:spPr/>
        <p:txBody>
          <a:bodyPr/>
          <a:lstStyle/>
          <a:p>
            <a:r>
              <a:rPr lang="en-US" dirty="0"/>
              <a:t>Step 2: Scalable RL controller</a:t>
            </a:r>
            <a:endParaRPr lang="en-BE" dirty="0"/>
          </a:p>
        </p:txBody>
      </p:sp>
      <p:sp>
        <p:nvSpPr>
          <p:cNvPr id="35" name="Arc 34">
            <a:extLst>
              <a:ext uri="{FF2B5EF4-FFF2-40B4-BE49-F238E27FC236}">
                <a16:creationId xmlns:a16="http://schemas.microsoft.com/office/drawing/2014/main" id="{D6A2C538-8535-8008-A8FB-DF8323E74769}"/>
              </a:ext>
            </a:extLst>
          </p:cNvPr>
          <p:cNvSpPr/>
          <p:nvPr/>
        </p:nvSpPr>
        <p:spPr>
          <a:xfrm rot="2700000">
            <a:off x="8308533" y="1851916"/>
            <a:ext cx="2483427" cy="2483427"/>
          </a:xfrm>
          <a:prstGeom prst="arc">
            <a:avLst/>
          </a:prstGeom>
          <a:ln w="57150">
            <a:solidFill>
              <a:schemeClr val="accent2"/>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BE" dirty="0"/>
          </a:p>
        </p:txBody>
      </p:sp>
      <p:sp>
        <p:nvSpPr>
          <p:cNvPr id="36" name="Arc 35">
            <a:extLst>
              <a:ext uri="{FF2B5EF4-FFF2-40B4-BE49-F238E27FC236}">
                <a16:creationId xmlns:a16="http://schemas.microsoft.com/office/drawing/2014/main" id="{516EF1B7-5261-0CA5-1B5A-F38AEC2FC1EB}"/>
              </a:ext>
            </a:extLst>
          </p:cNvPr>
          <p:cNvSpPr/>
          <p:nvPr/>
        </p:nvSpPr>
        <p:spPr>
          <a:xfrm rot="13500000">
            <a:off x="8985197" y="1843346"/>
            <a:ext cx="2483427" cy="2483427"/>
          </a:xfrm>
          <a:prstGeom prst="arc">
            <a:avLst/>
          </a:prstGeom>
          <a:ln w="57150">
            <a:solidFill>
              <a:schemeClr val="accent3"/>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BE"/>
          </a:p>
        </p:txBody>
      </p:sp>
      <p:sp>
        <p:nvSpPr>
          <p:cNvPr id="38" name="Arc 37">
            <a:extLst>
              <a:ext uri="{FF2B5EF4-FFF2-40B4-BE49-F238E27FC236}">
                <a16:creationId xmlns:a16="http://schemas.microsoft.com/office/drawing/2014/main" id="{0F888D96-C491-01D1-3922-80EC98CA8550}"/>
              </a:ext>
            </a:extLst>
          </p:cNvPr>
          <p:cNvSpPr/>
          <p:nvPr/>
        </p:nvSpPr>
        <p:spPr>
          <a:xfrm rot="13500000">
            <a:off x="8344994" y="1843348"/>
            <a:ext cx="2483427" cy="2483427"/>
          </a:xfrm>
          <a:prstGeom prst="arc">
            <a:avLst/>
          </a:prstGeom>
          <a:ln w="57150">
            <a:solidFill>
              <a:schemeClr val="accent3"/>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BE"/>
          </a:p>
        </p:txBody>
      </p:sp>
      <p:sp>
        <p:nvSpPr>
          <p:cNvPr id="39" name="TextBox 38">
            <a:extLst>
              <a:ext uri="{FF2B5EF4-FFF2-40B4-BE49-F238E27FC236}">
                <a16:creationId xmlns:a16="http://schemas.microsoft.com/office/drawing/2014/main" id="{CBF74D7E-97F4-F053-A38C-DD4C7B1A0F50}"/>
              </a:ext>
            </a:extLst>
          </p:cNvPr>
          <p:cNvSpPr txBox="1"/>
          <p:nvPr/>
        </p:nvSpPr>
        <p:spPr>
          <a:xfrm>
            <a:off x="8171540" y="3921710"/>
            <a:ext cx="766557" cy="461665"/>
          </a:xfrm>
          <a:prstGeom prst="rect">
            <a:avLst/>
          </a:prstGeom>
          <a:noFill/>
        </p:spPr>
        <p:txBody>
          <a:bodyPr wrap="none" rtlCol="0">
            <a:spAutoFit/>
          </a:bodyPr>
          <a:lstStyle/>
          <a:p>
            <a:r>
              <a:rPr lang="en-BE" sz="2400" b="1" dirty="0">
                <a:solidFill>
                  <a:schemeClr val="accent3"/>
                </a:solidFill>
                <a:latin typeface="UGent Panno Text" panose="02000506040000040003" pitchFamily="2" charset="0"/>
              </a:rPr>
              <a:t>State</a:t>
            </a:r>
          </a:p>
        </p:txBody>
      </p:sp>
      <p:sp>
        <p:nvSpPr>
          <p:cNvPr id="40" name="TextBox 39">
            <a:extLst>
              <a:ext uri="{FF2B5EF4-FFF2-40B4-BE49-F238E27FC236}">
                <a16:creationId xmlns:a16="http://schemas.microsoft.com/office/drawing/2014/main" id="{B4F79B93-CEB1-E0D5-8ABC-1D2992272D4F}"/>
              </a:ext>
            </a:extLst>
          </p:cNvPr>
          <p:cNvSpPr txBox="1"/>
          <p:nvPr/>
        </p:nvSpPr>
        <p:spPr>
          <a:xfrm>
            <a:off x="8906824" y="3921710"/>
            <a:ext cx="1037463" cy="461665"/>
          </a:xfrm>
          <a:prstGeom prst="rect">
            <a:avLst/>
          </a:prstGeom>
          <a:noFill/>
        </p:spPr>
        <p:txBody>
          <a:bodyPr wrap="none" rtlCol="0">
            <a:spAutoFit/>
          </a:bodyPr>
          <a:lstStyle/>
          <a:p>
            <a:r>
              <a:rPr lang="en-BE" sz="2400" b="1" dirty="0">
                <a:solidFill>
                  <a:schemeClr val="accent3"/>
                </a:solidFill>
                <a:latin typeface="UGent Panno Text" panose="02000506040000040003" pitchFamily="2" charset="0"/>
              </a:rPr>
              <a:t>Reward</a:t>
            </a:r>
          </a:p>
        </p:txBody>
      </p:sp>
      <p:sp>
        <p:nvSpPr>
          <p:cNvPr id="41" name="Cloud Callout 40">
            <a:extLst>
              <a:ext uri="{FF2B5EF4-FFF2-40B4-BE49-F238E27FC236}">
                <a16:creationId xmlns:a16="http://schemas.microsoft.com/office/drawing/2014/main" id="{56093C90-4C35-120D-5319-D3CAABDAA5B1}"/>
              </a:ext>
            </a:extLst>
          </p:cNvPr>
          <p:cNvSpPr/>
          <p:nvPr/>
        </p:nvSpPr>
        <p:spPr>
          <a:xfrm>
            <a:off x="9905820" y="1074618"/>
            <a:ext cx="1305613" cy="639899"/>
          </a:xfrm>
          <a:prstGeom prst="cloudCallout">
            <a:avLst>
              <a:gd name="adj1" fmla="val -75498"/>
              <a:gd name="adj2" fmla="val 8914"/>
            </a:avLst>
          </a:prstGeom>
          <a:solidFill>
            <a:schemeClr val="bg1"/>
          </a:solid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BE"/>
          </a:p>
        </p:txBody>
      </p:sp>
      <p:sp>
        <p:nvSpPr>
          <p:cNvPr id="42" name="TextBox 41">
            <a:extLst>
              <a:ext uri="{FF2B5EF4-FFF2-40B4-BE49-F238E27FC236}">
                <a16:creationId xmlns:a16="http://schemas.microsoft.com/office/drawing/2014/main" id="{38FACFEC-A477-4178-46ED-E5ECA3146D17}"/>
              </a:ext>
            </a:extLst>
          </p:cNvPr>
          <p:cNvSpPr txBox="1"/>
          <p:nvPr/>
        </p:nvSpPr>
        <p:spPr>
          <a:xfrm>
            <a:off x="10053494" y="1136731"/>
            <a:ext cx="946093" cy="461665"/>
          </a:xfrm>
          <a:prstGeom prst="rect">
            <a:avLst/>
          </a:prstGeom>
          <a:noFill/>
        </p:spPr>
        <p:txBody>
          <a:bodyPr wrap="none" rtlCol="0">
            <a:spAutoFit/>
          </a:bodyPr>
          <a:lstStyle/>
          <a:p>
            <a:r>
              <a:rPr lang="en-US" sz="2400" b="1" dirty="0" err="1">
                <a:solidFill>
                  <a:schemeClr val="accent2"/>
                </a:solidFill>
                <a:latin typeface="UGent Panno Text" panose="02000506040000040003" pitchFamily="2" charset="0"/>
              </a:rPr>
              <a:t>DistSAC</a:t>
            </a:r>
            <a:endParaRPr lang="en-BE" sz="2400" b="1" dirty="0">
              <a:solidFill>
                <a:schemeClr val="accent2"/>
              </a:solidFill>
              <a:latin typeface="UGent Panno Text" panose="02000506040000040003" pitchFamily="2" charset="0"/>
            </a:endParaRPr>
          </a:p>
        </p:txBody>
      </p:sp>
      <p:sp>
        <p:nvSpPr>
          <p:cNvPr id="44" name="TextBox 43">
            <a:extLst>
              <a:ext uri="{FF2B5EF4-FFF2-40B4-BE49-F238E27FC236}">
                <a16:creationId xmlns:a16="http://schemas.microsoft.com/office/drawing/2014/main" id="{2D7DE81E-CA26-87A9-F37D-1E22D4AABF83}"/>
              </a:ext>
            </a:extLst>
          </p:cNvPr>
          <p:cNvSpPr txBox="1"/>
          <p:nvPr/>
        </p:nvSpPr>
        <p:spPr>
          <a:xfrm>
            <a:off x="7940961" y="2811378"/>
            <a:ext cx="396063" cy="369332"/>
          </a:xfrm>
          <a:prstGeom prst="rect">
            <a:avLst/>
          </a:prstGeom>
          <a:noFill/>
        </p:spPr>
        <p:txBody>
          <a:bodyPr wrap="square">
            <a:spAutoFit/>
          </a:bodyPr>
          <a:lstStyle/>
          <a:p>
            <a:r>
              <a:rPr lang="en-BE" sz="1800" i="1" dirty="0">
                <a:solidFill>
                  <a:schemeClr val="accent3"/>
                </a:solidFill>
                <a:latin typeface="+mn-lt"/>
              </a:rPr>
              <a:t>s</a:t>
            </a:r>
            <a:r>
              <a:rPr lang="en-BE" sz="1800" i="1" baseline="-25000" dirty="0">
                <a:solidFill>
                  <a:schemeClr val="accent3"/>
                </a:solidFill>
                <a:latin typeface="+mn-lt"/>
              </a:rPr>
              <a:t>t</a:t>
            </a:r>
            <a:endParaRPr lang="en-BE" sz="1800" dirty="0">
              <a:solidFill>
                <a:schemeClr val="accent3"/>
              </a:solidFill>
              <a:latin typeface="+mn-lt"/>
            </a:endParaRPr>
          </a:p>
        </p:txBody>
      </p:sp>
      <p:sp>
        <p:nvSpPr>
          <p:cNvPr id="45" name="TextBox 44">
            <a:extLst>
              <a:ext uri="{FF2B5EF4-FFF2-40B4-BE49-F238E27FC236}">
                <a16:creationId xmlns:a16="http://schemas.microsoft.com/office/drawing/2014/main" id="{73DC970C-0FDB-A33D-154C-2EC137715302}"/>
              </a:ext>
            </a:extLst>
          </p:cNvPr>
          <p:cNvSpPr txBox="1"/>
          <p:nvPr/>
        </p:nvSpPr>
        <p:spPr>
          <a:xfrm>
            <a:off x="8602648" y="2811378"/>
            <a:ext cx="396063" cy="369332"/>
          </a:xfrm>
          <a:prstGeom prst="rect">
            <a:avLst/>
          </a:prstGeom>
          <a:noFill/>
        </p:spPr>
        <p:txBody>
          <a:bodyPr wrap="square">
            <a:spAutoFit/>
          </a:bodyPr>
          <a:lstStyle/>
          <a:p>
            <a:r>
              <a:rPr lang="en-BE" sz="1800" i="1" dirty="0">
                <a:solidFill>
                  <a:schemeClr val="accent3"/>
                </a:solidFill>
                <a:latin typeface="+mn-lt"/>
              </a:rPr>
              <a:t>r</a:t>
            </a:r>
            <a:r>
              <a:rPr lang="en-BE" sz="1800" i="1" baseline="-25000" dirty="0">
                <a:solidFill>
                  <a:schemeClr val="accent3"/>
                </a:solidFill>
                <a:latin typeface="+mn-lt"/>
              </a:rPr>
              <a:t>t</a:t>
            </a:r>
            <a:endParaRPr lang="en-BE" sz="1800" dirty="0">
              <a:solidFill>
                <a:schemeClr val="accent3"/>
              </a:solidFill>
              <a:latin typeface="+mn-lt"/>
            </a:endParaRPr>
          </a:p>
        </p:txBody>
      </p:sp>
      <p:sp>
        <p:nvSpPr>
          <p:cNvPr id="46" name="TextBox 45">
            <a:extLst>
              <a:ext uri="{FF2B5EF4-FFF2-40B4-BE49-F238E27FC236}">
                <a16:creationId xmlns:a16="http://schemas.microsoft.com/office/drawing/2014/main" id="{5700FC34-4D02-3BE0-AF78-91AA5DD67E45}"/>
              </a:ext>
            </a:extLst>
          </p:cNvPr>
          <p:cNvSpPr txBox="1"/>
          <p:nvPr/>
        </p:nvSpPr>
        <p:spPr>
          <a:xfrm>
            <a:off x="10815371" y="2844471"/>
            <a:ext cx="396063" cy="369332"/>
          </a:xfrm>
          <a:prstGeom prst="rect">
            <a:avLst/>
          </a:prstGeom>
          <a:noFill/>
        </p:spPr>
        <p:txBody>
          <a:bodyPr wrap="square">
            <a:spAutoFit/>
          </a:bodyPr>
          <a:lstStyle/>
          <a:p>
            <a:r>
              <a:rPr lang="en-BE" sz="1800" i="1" dirty="0">
                <a:solidFill>
                  <a:schemeClr val="accent2"/>
                </a:solidFill>
                <a:latin typeface="+mn-lt"/>
              </a:rPr>
              <a:t>a</a:t>
            </a:r>
            <a:r>
              <a:rPr lang="en-BE" sz="1800" i="1" baseline="-25000" dirty="0">
                <a:solidFill>
                  <a:schemeClr val="accent2"/>
                </a:solidFill>
                <a:latin typeface="+mn-lt"/>
              </a:rPr>
              <a:t>t</a:t>
            </a:r>
            <a:endParaRPr lang="en-BE" sz="1800" dirty="0">
              <a:solidFill>
                <a:schemeClr val="accent2"/>
              </a:solidFill>
              <a:latin typeface="+mn-lt"/>
            </a:endParaRPr>
          </a:p>
        </p:txBody>
      </p:sp>
      <p:sp>
        <p:nvSpPr>
          <p:cNvPr id="49" name="Oval 48">
            <a:extLst>
              <a:ext uri="{FF2B5EF4-FFF2-40B4-BE49-F238E27FC236}">
                <a16:creationId xmlns:a16="http://schemas.microsoft.com/office/drawing/2014/main" id="{9CE7437F-489A-0248-F495-50990FC5DE6D}"/>
              </a:ext>
            </a:extLst>
          </p:cNvPr>
          <p:cNvSpPr/>
          <p:nvPr/>
        </p:nvSpPr>
        <p:spPr>
          <a:xfrm>
            <a:off x="8947267" y="1219428"/>
            <a:ext cx="393306" cy="784741"/>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BE"/>
          </a:p>
        </p:txBody>
      </p:sp>
      <p:pic>
        <p:nvPicPr>
          <p:cNvPr id="19" name="Picture 18">
            <a:extLst>
              <a:ext uri="{FF2B5EF4-FFF2-40B4-BE49-F238E27FC236}">
                <a16:creationId xmlns:a16="http://schemas.microsoft.com/office/drawing/2014/main" id="{4010FE56-B1B3-1A6F-618F-F78770B0C350}"/>
              </a:ext>
            </a:extLst>
          </p:cNvPr>
          <p:cNvPicPr>
            <a:picLocks noChangeAspect="1"/>
          </p:cNvPicPr>
          <p:nvPr/>
        </p:nvPicPr>
        <p:blipFill>
          <a:blip r:embed="rId3"/>
          <a:stretch>
            <a:fillRect/>
          </a:stretch>
        </p:blipFill>
        <p:spPr>
          <a:xfrm>
            <a:off x="3212743" y="4808540"/>
            <a:ext cx="4193017" cy="985904"/>
          </a:xfrm>
          <a:prstGeom prst="rect">
            <a:avLst/>
          </a:prstGeom>
        </p:spPr>
      </p:pic>
      <p:pic>
        <p:nvPicPr>
          <p:cNvPr id="25" name="Picture 24" descr="A brain with a lightning bolt&#10;&#10;AI-generated content may be incorrect.">
            <a:extLst>
              <a:ext uri="{FF2B5EF4-FFF2-40B4-BE49-F238E27FC236}">
                <a16:creationId xmlns:a16="http://schemas.microsoft.com/office/drawing/2014/main" id="{FD02F995-3349-0758-68D7-F3F7F03E28A5}"/>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8461440" y="1077703"/>
            <a:ext cx="1040437" cy="1097280"/>
          </a:xfrm>
          <a:prstGeom prst="rect">
            <a:avLst/>
          </a:prstGeom>
        </p:spPr>
      </p:pic>
      <p:pic>
        <p:nvPicPr>
          <p:cNvPr id="27" name="Picture 26">
            <a:extLst>
              <a:ext uri="{FF2B5EF4-FFF2-40B4-BE49-F238E27FC236}">
                <a16:creationId xmlns:a16="http://schemas.microsoft.com/office/drawing/2014/main" id="{952A5491-1875-90D4-0BD5-F07496D12371}"/>
              </a:ext>
            </a:extLst>
          </p:cNvPr>
          <p:cNvPicPr>
            <a:picLocks noChangeAspect="1"/>
          </p:cNvPicPr>
          <p:nvPr/>
        </p:nvPicPr>
        <p:blipFill>
          <a:blip r:embed="rId5">
            <a:clrChange>
              <a:clrFrom>
                <a:srgbClr val="FFFFFF"/>
              </a:clrFrom>
              <a:clrTo>
                <a:srgbClr val="FFFFFF">
                  <a:alpha val="0"/>
                </a:srgbClr>
              </a:clrTo>
            </a:clrChange>
          </a:blip>
          <a:stretch>
            <a:fillRect/>
          </a:stretch>
        </p:blipFill>
        <p:spPr>
          <a:xfrm>
            <a:off x="3214454" y="2323464"/>
            <a:ext cx="2975847" cy="715600"/>
          </a:xfrm>
          <a:prstGeom prst="rect">
            <a:avLst/>
          </a:prstGeom>
        </p:spPr>
      </p:pic>
      <p:pic>
        <p:nvPicPr>
          <p:cNvPr id="4" name="Picture 3">
            <a:extLst>
              <a:ext uri="{FF2B5EF4-FFF2-40B4-BE49-F238E27FC236}">
                <a16:creationId xmlns:a16="http://schemas.microsoft.com/office/drawing/2014/main" id="{A65F800A-2BEA-1993-7DAF-21CE1692679C}"/>
              </a:ext>
            </a:extLst>
          </p:cNvPr>
          <p:cNvPicPr>
            <a:picLocks noChangeAspect="1"/>
          </p:cNvPicPr>
          <p:nvPr/>
        </p:nvPicPr>
        <p:blipFill rotWithShape="1">
          <a:blip r:embed="rId6">
            <a:grayscl/>
            <a:extLst>
              <a:ext uri="{28A0092B-C50C-407E-A947-70E740481C1C}">
                <a14:useLocalDpi xmlns:a14="http://schemas.microsoft.com/office/drawing/2010/main" val="0"/>
              </a:ext>
            </a:extLst>
          </a:blip>
          <a:srcRect l="1" r="38313"/>
          <a:stretch/>
        </p:blipFill>
        <p:spPr>
          <a:xfrm>
            <a:off x="8490800" y="4428688"/>
            <a:ext cx="1097421" cy="423082"/>
          </a:xfrm>
          <a:prstGeom prst="rect">
            <a:avLst/>
          </a:prstGeom>
        </p:spPr>
      </p:pic>
      <p:pic>
        <p:nvPicPr>
          <p:cNvPr id="7" name="Picture 6">
            <a:extLst>
              <a:ext uri="{FF2B5EF4-FFF2-40B4-BE49-F238E27FC236}">
                <a16:creationId xmlns:a16="http://schemas.microsoft.com/office/drawing/2014/main" id="{A6EFD3FA-022A-C1BA-7466-C1563FF56C66}"/>
              </a:ext>
            </a:extLst>
          </p:cNvPr>
          <p:cNvPicPr>
            <a:picLocks noChangeAspect="1"/>
          </p:cNvPicPr>
          <p:nvPr/>
        </p:nvPicPr>
        <p:blipFill rotWithShape="1">
          <a:blip r:embed="rId6">
            <a:grayscl/>
            <a:extLst>
              <a:ext uri="{28A0092B-C50C-407E-A947-70E740481C1C}">
                <a14:useLocalDpi xmlns:a14="http://schemas.microsoft.com/office/drawing/2010/main" val="0"/>
              </a:ext>
            </a:extLst>
          </a:blip>
          <a:srcRect l="1" r="38313"/>
          <a:stretch/>
        </p:blipFill>
        <p:spPr>
          <a:xfrm>
            <a:off x="9788299" y="4575932"/>
            <a:ext cx="1097421" cy="423082"/>
          </a:xfrm>
          <a:prstGeom prst="rect">
            <a:avLst/>
          </a:prstGeom>
        </p:spPr>
      </p:pic>
      <p:pic>
        <p:nvPicPr>
          <p:cNvPr id="11" name="Picture 10">
            <a:extLst>
              <a:ext uri="{FF2B5EF4-FFF2-40B4-BE49-F238E27FC236}">
                <a16:creationId xmlns:a16="http://schemas.microsoft.com/office/drawing/2014/main" id="{87532633-2987-41DA-8D36-5EB6A1A34DE0}"/>
              </a:ext>
            </a:extLst>
          </p:cNvPr>
          <p:cNvPicPr>
            <a:picLocks noChangeAspect="1"/>
          </p:cNvPicPr>
          <p:nvPr/>
        </p:nvPicPr>
        <p:blipFill rotWithShape="1">
          <a:blip r:embed="rId6">
            <a:grayscl/>
            <a:extLst>
              <a:ext uri="{28A0092B-C50C-407E-A947-70E740481C1C}">
                <a14:useLocalDpi xmlns:a14="http://schemas.microsoft.com/office/drawing/2010/main" val="0"/>
              </a:ext>
            </a:extLst>
          </a:blip>
          <a:srcRect l="1" r="38313"/>
          <a:stretch/>
        </p:blipFill>
        <p:spPr>
          <a:xfrm>
            <a:off x="8716664" y="4869741"/>
            <a:ext cx="1097421" cy="423082"/>
          </a:xfrm>
          <a:prstGeom prst="rect">
            <a:avLst/>
          </a:prstGeom>
        </p:spPr>
      </p:pic>
      <p:pic>
        <p:nvPicPr>
          <p:cNvPr id="12" name="Picture 11">
            <a:extLst>
              <a:ext uri="{FF2B5EF4-FFF2-40B4-BE49-F238E27FC236}">
                <a16:creationId xmlns:a16="http://schemas.microsoft.com/office/drawing/2014/main" id="{6C88A766-019A-540F-BC78-2EE8C5EAAA90}"/>
              </a:ext>
            </a:extLst>
          </p:cNvPr>
          <p:cNvPicPr>
            <a:picLocks noChangeAspect="1"/>
          </p:cNvPicPr>
          <p:nvPr/>
        </p:nvPicPr>
        <p:blipFill rotWithShape="1">
          <a:blip r:embed="rId6">
            <a:grayscl/>
            <a:extLst>
              <a:ext uri="{28A0092B-C50C-407E-A947-70E740481C1C}">
                <a14:useLocalDpi xmlns:a14="http://schemas.microsoft.com/office/drawing/2010/main" val="0"/>
              </a:ext>
            </a:extLst>
          </a:blip>
          <a:srcRect l="1" r="38313"/>
          <a:stretch/>
        </p:blipFill>
        <p:spPr>
          <a:xfrm>
            <a:off x="10014164" y="5016985"/>
            <a:ext cx="1097421" cy="423082"/>
          </a:xfrm>
          <a:prstGeom prst="rect">
            <a:avLst/>
          </a:prstGeom>
        </p:spPr>
      </p:pic>
      <p:pic>
        <p:nvPicPr>
          <p:cNvPr id="13" name="Picture 12">
            <a:extLst>
              <a:ext uri="{FF2B5EF4-FFF2-40B4-BE49-F238E27FC236}">
                <a16:creationId xmlns:a16="http://schemas.microsoft.com/office/drawing/2014/main" id="{E5FB5263-07BE-27C9-30CC-08D1AA7E2D2A}"/>
              </a:ext>
            </a:extLst>
          </p:cNvPr>
          <p:cNvPicPr>
            <a:picLocks noChangeAspect="1"/>
          </p:cNvPicPr>
          <p:nvPr/>
        </p:nvPicPr>
        <p:blipFill rotWithShape="1">
          <a:blip r:embed="rId6">
            <a:grayscl/>
            <a:extLst>
              <a:ext uri="{28A0092B-C50C-407E-A947-70E740481C1C}">
                <a14:useLocalDpi xmlns:a14="http://schemas.microsoft.com/office/drawing/2010/main" val="0"/>
              </a:ext>
            </a:extLst>
          </a:blip>
          <a:srcRect l="1" r="38313"/>
          <a:stretch/>
        </p:blipFill>
        <p:spPr>
          <a:xfrm>
            <a:off x="8371183" y="5249735"/>
            <a:ext cx="1097421" cy="423082"/>
          </a:xfrm>
          <a:prstGeom prst="rect">
            <a:avLst/>
          </a:prstGeom>
        </p:spPr>
      </p:pic>
      <p:pic>
        <p:nvPicPr>
          <p:cNvPr id="14" name="Picture 13">
            <a:extLst>
              <a:ext uri="{FF2B5EF4-FFF2-40B4-BE49-F238E27FC236}">
                <a16:creationId xmlns:a16="http://schemas.microsoft.com/office/drawing/2014/main" id="{1C7F1953-C3BC-C490-0AEF-DDCA83E36F6E}"/>
              </a:ext>
            </a:extLst>
          </p:cNvPr>
          <p:cNvPicPr>
            <a:picLocks noChangeAspect="1"/>
          </p:cNvPicPr>
          <p:nvPr/>
        </p:nvPicPr>
        <p:blipFill rotWithShape="1">
          <a:blip r:embed="rId6">
            <a:grayscl/>
            <a:extLst>
              <a:ext uri="{28A0092B-C50C-407E-A947-70E740481C1C}">
                <a14:useLocalDpi xmlns:a14="http://schemas.microsoft.com/office/drawing/2010/main" val="0"/>
              </a:ext>
            </a:extLst>
          </a:blip>
          <a:srcRect l="1" r="38313"/>
          <a:stretch/>
        </p:blipFill>
        <p:spPr>
          <a:xfrm>
            <a:off x="9668682" y="5396979"/>
            <a:ext cx="1097421" cy="423082"/>
          </a:xfrm>
          <a:prstGeom prst="rect">
            <a:avLst/>
          </a:prstGeom>
        </p:spPr>
      </p:pic>
      <p:sp>
        <p:nvSpPr>
          <p:cNvPr id="16" name="TextBox 15">
            <a:extLst>
              <a:ext uri="{FF2B5EF4-FFF2-40B4-BE49-F238E27FC236}">
                <a16:creationId xmlns:a16="http://schemas.microsoft.com/office/drawing/2014/main" id="{E6F14155-D49C-4E14-3D4A-241A979E6452}"/>
              </a:ext>
            </a:extLst>
          </p:cNvPr>
          <p:cNvSpPr txBox="1"/>
          <p:nvPr/>
        </p:nvSpPr>
        <p:spPr>
          <a:xfrm>
            <a:off x="9989545" y="3921710"/>
            <a:ext cx="889987" cy="461665"/>
          </a:xfrm>
          <a:prstGeom prst="rect">
            <a:avLst/>
          </a:prstGeom>
          <a:noFill/>
        </p:spPr>
        <p:txBody>
          <a:bodyPr wrap="none" rtlCol="0">
            <a:spAutoFit/>
          </a:bodyPr>
          <a:lstStyle/>
          <a:p>
            <a:r>
              <a:rPr lang="en-BE" sz="2400" b="1" dirty="0">
                <a:solidFill>
                  <a:schemeClr val="accent2"/>
                </a:solidFill>
                <a:latin typeface="UGent Panno Text" panose="02000506040000040003" pitchFamily="2" charset="0"/>
              </a:rPr>
              <a:t>Action</a:t>
            </a:r>
          </a:p>
        </p:txBody>
      </p:sp>
      <p:sp>
        <p:nvSpPr>
          <p:cNvPr id="17" name="Footer Placeholder 16">
            <a:extLst>
              <a:ext uri="{FF2B5EF4-FFF2-40B4-BE49-F238E27FC236}">
                <a16:creationId xmlns:a16="http://schemas.microsoft.com/office/drawing/2014/main" id="{611233EC-D316-D4BC-9768-5571B98562BA}"/>
              </a:ext>
            </a:extLst>
          </p:cNvPr>
          <p:cNvSpPr>
            <a:spLocks noGrp="1"/>
          </p:cNvSpPr>
          <p:nvPr>
            <p:ph type="ftr" sz="quarter" idx="10"/>
          </p:nvPr>
        </p:nvSpPr>
        <p:spPr/>
        <p:txBody>
          <a:bodyPr/>
          <a:lstStyle/>
          <a:p>
            <a:pPr>
              <a:defRPr/>
            </a:pPr>
            <a:r>
              <a:rPr lang="en-US"/>
              <a:t>C. Develder, "AI4E: Data-efficient and scalable algorithmss to exploit energy flexibility"</a:t>
            </a:r>
            <a:endParaRPr lang="en-US" dirty="0"/>
          </a:p>
        </p:txBody>
      </p:sp>
      <p:sp>
        <p:nvSpPr>
          <p:cNvPr id="6" name="TextBox 5">
            <a:extLst>
              <a:ext uri="{FF2B5EF4-FFF2-40B4-BE49-F238E27FC236}">
                <a16:creationId xmlns:a16="http://schemas.microsoft.com/office/drawing/2014/main" id="{B3D3F5CB-110A-2EEE-D0E8-0C4D7978EF0C}"/>
              </a:ext>
            </a:extLst>
          </p:cNvPr>
          <p:cNvSpPr txBox="1"/>
          <p:nvPr/>
        </p:nvSpPr>
        <p:spPr>
          <a:xfrm rot="21169751">
            <a:off x="3773810" y="3270586"/>
            <a:ext cx="3927525" cy="942117"/>
          </a:xfrm>
          <a:prstGeom prst="rect">
            <a:avLst/>
          </a:prstGeom>
          <a:noFill/>
        </p:spPr>
        <p:txBody>
          <a:bodyPr wrap="square" rtlCol="0">
            <a:spAutoFit/>
          </a:bodyPr>
          <a:lstStyle/>
          <a:p>
            <a:pPr>
              <a:lnSpc>
                <a:spcPct val="85000"/>
              </a:lnSpc>
            </a:pPr>
            <a:r>
              <a:rPr lang="en-BE" sz="3200" b="1" dirty="0">
                <a:solidFill>
                  <a:schemeClr val="accent3"/>
                </a:solidFill>
                <a:latin typeface="Caveat" pitchFamily="2" charset="77"/>
              </a:rPr>
              <a:t>Goal: Minimize </a:t>
            </a:r>
            <a:r>
              <a:rPr lang="en-BE" sz="3200" b="1" u="sng" dirty="0">
                <a:solidFill>
                  <a:schemeClr val="accent3"/>
                </a:solidFill>
                <a:latin typeface="Caveat" pitchFamily="2" charset="77"/>
              </a:rPr>
              <a:t>peak load</a:t>
            </a:r>
            <a:r>
              <a:rPr lang="en-BE" sz="3200" b="1" dirty="0">
                <a:solidFill>
                  <a:schemeClr val="accent3"/>
                </a:solidFill>
                <a:latin typeface="Caveat" pitchFamily="2" charset="77"/>
              </a:rPr>
              <a:t> </a:t>
            </a:r>
            <a:br>
              <a:rPr lang="en-BE" sz="3200" b="1" dirty="0">
                <a:solidFill>
                  <a:schemeClr val="accent3"/>
                </a:solidFill>
                <a:latin typeface="Caveat" pitchFamily="2" charset="77"/>
              </a:rPr>
            </a:br>
            <a:r>
              <a:rPr lang="en-BE" sz="3200" b="1" dirty="0">
                <a:solidFill>
                  <a:schemeClr val="accent3"/>
                </a:solidFill>
                <a:latin typeface="Caveat" pitchFamily="2" charset="77"/>
              </a:rPr>
              <a:t>+ Charge EVs </a:t>
            </a:r>
            <a:r>
              <a:rPr lang="en-BE" sz="3200" b="1" u="sng" dirty="0">
                <a:solidFill>
                  <a:schemeClr val="accent3"/>
                </a:solidFill>
                <a:latin typeface="Caveat" pitchFamily="2" charset="77"/>
              </a:rPr>
              <a:t>on time</a:t>
            </a:r>
            <a:endParaRPr lang="en-BE" sz="3200" b="1" dirty="0">
              <a:solidFill>
                <a:schemeClr val="accent3"/>
              </a:solidFill>
              <a:latin typeface="Caveat" pitchFamily="2" charset="77"/>
            </a:endParaRPr>
          </a:p>
        </p:txBody>
      </p:sp>
      <p:grpSp>
        <p:nvGrpSpPr>
          <p:cNvPr id="18" name="Group 17">
            <a:extLst>
              <a:ext uri="{FF2B5EF4-FFF2-40B4-BE49-F238E27FC236}">
                <a16:creationId xmlns:a16="http://schemas.microsoft.com/office/drawing/2014/main" id="{D0509539-6D4E-98E8-BF68-C3803C80D5BD}"/>
              </a:ext>
            </a:extLst>
          </p:cNvPr>
          <p:cNvGrpSpPr/>
          <p:nvPr/>
        </p:nvGrpSpPr>
        <p:grpSpPr>
          <a:xfrm>
            <a:off x="3163154" y="3795486"/>
            <a:ext cx="4631043" cy="2213893"/>
            <a:chOff x="3163154" y="3795486"/>
            <a:chExt cx="4631043" cy="2213893"/>
          </a:xfrm>
        </p:grpSpPr>
        <p:sp>
          <p:nvSpPr>
            <p:cNvPr id="10" name="Oval 9">
              <a:extLst>
                <a:ext uri="{FF2B5EF4-FFF2-40B4-BE49-F238E27FC236}">
                  <a16:creationId xmlns:a16="http://schemas.microsoft.com/office/drawing/2014/main" id="{68F057C2-0C29-3674-CD36-262902C5CBC2}"/>
                </a:ext>
              </a:extLst>
            </p:cNvPr>
            <p:cNvSpPr/>
            <p:nvPr/>
          </p:nvSpPr>
          <p:spPr>
            <a:xfrm>
              <a:off x="3163154" y="4527824"/>
              <a:ext cx="4631043" cy="1481555"/>
            </a:xfrm>
            <a:prstGeom prst="ellipse">
              <a:avLst/>
            </a:prstGeom>
            <a:noFill/>
            <a:ln w="38100">
              <a:solidFill>
                <a:schemeClr val="accent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BE"/>
            </a:p>
          </p:txBody>
        </p:sp>
        <p:sp>
          <p:nvSpPr>
            <p:cNvPr id="15" name="Freeform 14">
              <a:extLst>
                <a:ext uri="{FF2B5EF4-FFF2-40B4-BE49-F238E27FC236}">
                  <a16:creationId xmlns:a16="http://schemas.microsoft.com/office/drawing/2014/main" id="{1EB0560E-A1D1-F715-B622-5AA75821EAB6}"/>
                </a:ext>
              </a:extLst>
            </p:cNvPr>
            <p:cNvSpPr/>
            <p:nvPr/>
          </p:nvSpPr>
          <p:spPr>
            <a:xfrm>
              <a:off x="3330955" y="3795486"/>
              <a:ext cx="486302" cy="965200"/>
            </a:xfrm>
            <a:custGeom>
              <a:avLst/>
              <a:gdLst>
                <a:gd name="csX0" fmla="*/ 486302 w 486302"/>
                <a:gd name="csY0" fmla="*/ 965200 h 965200"/>
                <a:gd name="csX1" fmla="*/ 74 w 486302"/>
                <a:gd name="csY1" fmla="*/ 391885 h 965200"/>
                <a:gd name="csX2" fmla="*/ 457274 w 486302"/>
                <a:gd name="csY2" fmla="*/ 0 h 965200"/>
              </a:gdLst>
              <a:ahLst/>
              <a:cxnLst>
                <a:cxn ang="0">
                  <a:pos x="csX0" y="csY0"/>
                </a:cxn>
                <a:cxn ang="0">
                  <a:pos x="csX1" y="csY1"/>
                </a:cxn>
                <a:cxn ang="0">
                  <a:pos x="csX2" y="csY2"/>
                </a:cxn>
              </a:cxnLst>
              <a:rect l="l" t="t" r="r" b="b"/>
              <a:pathLst>
                <a:path w="486302" h="965200">
                  <a:moveTo>
                    <a:pt x="486302" y="965200"/>
                  </a:moveTo>
                  <a:cubicBezTo>
                    <a:pt x="245607" y="758976"/>
                    <a:pt x="4912" y="552752"/>
                    <a:pt x="74" y="391885"/>
                  </a:cubicBezTo>
                  <a:cubicBezTo>
                    <a:pt x="-4764" y="231018"/>
                    <a:pt x="226255" y="115509"/>
                    <a:pt x="457274" y="0"/>
                  </a:cubicBezTo>
                </a:path>
              </a:pathLst>
            </a:custGeom>
            <a:noFill/>
            <a:ln w="38100">
              <a:solidFill>
                <a:schemeClr val="accent3"/>
              </a:solidFill>
              <a:headEnd type="none" w="med" len="med"/>
              <a:tailEnd type="triangle" w="med" len="me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BE"/>
            </a:p>
          </p:txBody>
        </p:sp>
      </p:grpSp>
      <p:sp>
        <p:nvSpPr>
          <p:cNvPr id="20" name="Slide Number Placeholder 19">
            <a:extLst>
              <a:ext uri="{FF2B5EF4-FFF2-40B4-BE49-F238E27FC236}">
                <a16:creationId xmlns:a16="http://schemas.microsoft.com/office/drawing/2014/main" id="{5F936FEC-B537-1C9B-E2DB-3F0E1BDF7A12}"/>
              </a:ext>
            </a:extLst>
          </p:cNvPr>
          <p:cNvSpPr>
            <a:spLocks noGrp="1"/>
          </p:cNvSpPr>
          <p:nvPr>
            <p:ph type="sldNum" sz="quarter" idx="11"/>
          </p:nvPr>
        </p:nvSpPr>
        <p:spPr/>
        <p:txBody>
          <a:bodyPr/>
          <a:lstStyle/>
          <a:p>
            <a:pPr>
              <a:defRPr/>
            </a:pPr>
            <a:fld id="{968663A2-1950-48E6-8399-8A0176E7D7D3}" type="slidenum">
              <a:rPr lang="en-US" smtClean="0"/>
              <a:pPr>
                <a:defRPr/>
              </a:pPr>
              <a:t>23</a:t>
            </a:fld>
            <a:endParaRPr lang="en-US"/>
          </a:p>
        </p:txBody>
      </p:sp>
    </p:spTree>
    <p:extLst>
      <p:ext uri="{BB962C8B-B14F-4D97-AF65-F5344CB8AC3E}">
        <p14:creationId xmlns:p14="http://schemas.microsoft.com/office/powerpoint/2010/main" val="279717722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nodeType="clickEffect">
                                  <p:stCondLst>
                                    <p:cond delay="0"/>
                                  </p:stCondLst>
                                  <p:childTnLst>
                                    <p:set>
                                      <p:cBhvr>
                                        <p:cTn id="6" dur="1" fill="hold">
                                          <p:stCondLst>
                                            <p:cond delay="0"/>
                                          </p:stCondLst>
                                        </p:cTn>
                                        <p:tgtEl>
                                          <p:spTgt spid="18"/>
                                        </p:tgtEl>
                                        <p:attrNameLst>
                                          <p:attrName>style.visibility</p:attrName>
                                        </p:attrNameLst>
                                      </p:cBhvr>
                                      <p:to>
                                        <p:strVal val="visible"/>
                                      </p:to>
                                    </p:set>
                                    <p:animEffect transition="in" filter="wipe(down)">
                                      <p:cBhvr>
                                        <p:cTn id="7" dur="500"/>
                                        <p:tgtEl>
                                          <p:spTgt spid="18"/>
                                        </p:tgtEl>
                                      </p:cBhvr>
                                    </p:animEffect>
                                  </p:childTnLst>
                                </p:cTn>
                              </p:par>
                            </p:childTnLst>
                          </p:cTn>
                        </p:par>
                        <p:par>
                          <p:cTn id="8" fill="hold">
                            <p:stCondLst>
                              <p:cond delay="500"/>
                            </p:stCondLst>
                            <p:childTnLst>
                              <p:par>
                                <p:cTn id="9" presetID="1" presetClass="entr" presetSubtype="0" fill="hold" grpId="0" nodeType="afterEffect">
                                  <p:stCondLst>
                                    <p:cond delay="0"/>
                                  </p:stCondLst>
                                  <p:childTnLst>
                                    <p:set>
                                      <p:cBhvr>
                                        <p:cTn id="10"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33D285B-3A56-8C2D-8017-33E303C31D4D}"/>
            </a:ext>
          </a:extLst>
        </p:cNvPr>
        <p:cNvGrpSpPr/>
        <p:nvPr/>
      </p:nvGrpSpPr>
      <p:grpSpPr>
        <a:xfrm>
          <a:off x="0" y="0"/>
          <a:ext cx="0" cy="0"/>
          <a:chOff x="0" y="0"/>
          <a:chExt cx="0" cy="0"/>
        </a:xfrm>
      </p:grpSpPr>
      <p:sp>
        <p:nvSpPr>
          <p:cNvPr id="6" name="Rectangle 5">
            <a:extLst>
              <a:ext uri="{FF2B5EF4-FFF2-40B4-BE49-F238E27FC236}">
                <a16:creationId xmlns:a16="http://schemas.microsoft.com/office/drawing/2014/main" id="{11D8B176-45F9-5F95-9B7F-D38C9596582B}"/>
              </a:ext>
            </a:extLst>
          </p:cNvPr>
          <p:cNvSpPr/>
          <p:nvPr/>
        </p:nvSpPr>
        <p:spPr>
          <a:xfrm>
            <a:off x="5158154" y="2111834"/>
            <a:ext cx="1113692" cy="328246"/>
          </a:xfrm>
          <a:prstGeom prst="rect">
            <a:avLst/>
          </a:prstGeom>
          <a:solidFill>
            <a:srgbClr val="EDBE8E"/>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BE"/>
          </a:p>
        </p:txBody>
      </p:sp>
      <p:sp>
        <p:nvSpPr>
          <p:cNvPr id="7" name="Rectangle 6">
            <a:extLst>
              <a:ext uri="{FF2B5EF4-FFF2-40B4-BE49-F238E27FC236}">
                <a16:creationId xmlns:a16="http://schemas.microsoft.com/office/drawing/2014/main" id="{AAD958A5-3E68-8468-B3DC-618230AE8894}"/>
              </a:ext>
            </a:extLst>
          </p:cNvPr>
          <p:cNvSpPr/>
          <p:nvPr/>
        </p:nvSpPr>
        <p:spPr>
          <a:xfrm>
            <a:off x="6494583" y="2111834"/>
            <a:ext cx="2438401" cy="328246"/>
          </a:xfrm>
          <a:prstGeom prst="rect">
            <a:avLst/>
          </a:prstGeom>
          <a:solidFill>
            <a:srgbClr val="C8E688"/>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BE"/>
          </a:p>
        </p:txBody>
      </p:sp>
      <p:sp>
        <p:nvSpPr>
          <p:cNvPr id="8" name="Rectangle 7">
            <a:extLst>
              <a:ext uri="{FF2B5EF4-FFF2-40B4-BE49-F238E27FC236}">
                <a16:creationId xmlns:a16="http://schemas.microsoft.com/office/drawing/2014/main" id="{0FC28AE1-37A1-C18B-800D-5CAEF34511AE}"/>
              </a:ext>
            </a:extLst>
          </p:cNvPr>
          <p:cNvSpPr/>
          <p:nvPr/>
        </p:nvSpPr>
        <p:spPr>
          <a:xfrm>
            <a:off x="9185600" y="2111834"/>
            <a:ext cx="1318277" cy="328246"/>
          </a:xfrm>
          <a:prstGeom prst="rect">
            <a:avLst/>
          </a:prstGeom>
          <a:solidFill>
            <a:srgbClr val="CDE5F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BE"/>
          </a:p>
        </p:txBody>
      </p:sp>
      <p:sp>
        <p:nvSpPr>
          <p:cNvPr id="2" name="Title 1">
            <a:extLst>
              <a:ext uri="{FF2B5EF4-FFF2-40B4-BE49-F238E27FC236}">
                <a16:creationId xmlns:a16="http://schemas.microsoft.com/office/drawing/2014/main" id="{CA93D03D-3D58-6C7A-16D1-714DCF860DDA}"/>
              </a:ext>
            </a:extLst>
          </p:cNvPr>
          <p:cNvSpPr>
            <a:spLocks noGrp="1"/>
          </p:cNvSpPr>
          <p:nvPr>
            <p:ph type="title"/>
          </p:nvPr>
        </p:nvSpPr>
        <p:spPr/>
        <p:txBody>
          <a:bodyPr/>
          <a:lstStyle/>
          <a:p>
            <a:r>
              <a:rPr lang="en-US" dirty="0"/>
              <a:t>Step 2: </a:t>
            </a:r>
            <a:r>
              <a:rPr lang="en-BE" dirty="0"/>
              <a:t>Attention-based state representations for scalable RL</a:t>
            </a:r>
          </a:p>
        </p:txBody>
      </p:sp>
      <p:sp>
        <p:nvSpPr>
          <p:cNvPr id="3" name="Content Placeholder 2">
            <a:extLst>
              <a:ext uri="{FF2B5EF4-FFF2-40B4-BE49-F238E27FC236}">
                <a16:creationId xmlns:a16="http://schemas.microsoft.com/office/drawing/2014/main" id="{C51375B1-BD3D-EA06-D840-47F3563C91BF}"/>
              </a:ext>
            </a:extLst>
          </p:cNvPr>
          <p:cNvSpPr>
            <a:spLocks noGrp="1"/>
          </p:cNvSpPr>
          <p:nvPr>
            <p:ph idx="1"/>
          </p:nvPr>
        </p:nvSpPr>
        <p:spPr>
          <a:xfrm>
            <a:off x="476211" y="1642912"/>
            <a:ext cx="11400407" cy="1869547"/>
          </a:xfrm>
        </p:spPr>
        <p:txBody>
          <a:bodyPr/>
          <a:lstStyle/>
          <a:p>
            <a:pPr marL="0" indent="0">
              <a:buNone/>
            </a:pPr>
            <a:r>
              <a:rPr lang="en-BE" dirty="0"/>
              <a:t>Idea:</a:t>
            </a:r>
          </a:p>
          <a:p>
            <a:r>
              <a:rPr lang="en-BE" dirty="0"/>
              <a:t>Construct state representation combining own asset + relative to other assets + global state</a:t>
            </a:r>
          </a:p>
          <a:p>
            <a:r>
              <a:rPr lang="en-BE" dirty="0"/>
              <a:t>Use state representation as input representation in conventional RL (e.g., to map to Q-value, action, …) </a:t>
            </a:r>
          </a:p>
          <a:p>
            <a:endParaRPr lang="en-BE" dirty="0"/>
          </a:p>
        </p:txBody>
      </p:sp>
      <p:sp>
        <p:nvSpPr>
          <p:cNvPr id="4" name="Footer Placeholder 3">
            <a:extLst>
              <a:ext uri="{FF2B5EF4-FFF2-40B4-BE49-F238E27FC236}">
                <a16:creationId xmlns:a16="http://schemas.microsoft.com/office/drawing/2014/main" id="{052E358A-390F-C3A0-2DD1-03A01C2513CD}"/>
              </a:ext>
            </a:extLst>
          </p:cNvPr>
          <p:cNvSpPr>
            <a:spLocks noGrp="1"/>
          </p:cNvSpPr>
          <p:nvPr>
            <p:ph type="ftr" sz="quarter" idx="10"/>
          </p:nvPr>
        </p:nvSpPr>
        <p:spPr/>
        <p:txBody>
          <a:bodyPr/>
          <a:lstStyle/>
          <a:p>
            <a:pPr>
              <a:defRPr/>
            </a:pPr>
            <a:r>
              <a:rPr lang="en-US"/>
              <a:t>C. Develder, "AI4E: Data-efficient and scalable algorithmss to exploit energy flexibility"</a:t>
            </a:r>
            <a:endParaRPr lang="en-US" dirty="0"/>
          </a:p>
        </p:txBody>
      </p:sp>
      <p:pic>
        <p:nvPicPr>
          <p:cNvPr id="10" name="Picture 9" descr="A diagram of a diagram&#10;&#10;AI-generated content may be incorrect.">
            <a:extLst>
              <a:ext uri="{FF2B5EF4-FFF2-40B4-BE49-F238E27FC236}">
                <a16:creationId xmlns:a16="http://schemas.microsoft.com/office/drawing/2014/main" id="{8631E6E4-6246-A42C-F19E-5FC3FB02D56D}"/>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628649" y="3206345"/>
            <a:ext cx="10934701" cy="2241386"/>
          </a:xfrm>
          <a:prstGeom prst="rect">
            <a:avLst/>
          </a:prstGeom>
        </p:spPr>
      </p:pic>
      <p:grpSp>
        <p:nvGrpSpPr>
          <p:cNvPr id="5" name="Group 4">
            <a:extLst>
              <a:ext uri="{FF2B5EF4-FFF2-40B4-BE49-F238E27FC236}">
                <a16:creationId xmlns:a16="http://schemas.microsoft.com/office/drawing/2014/main" id="{907033B8-96B0-18DB-D9C1-8D707033CCE4}"/>
              </a:ext>
            </a:extLst>
          </p:cNvPr>
          <p:cNvGrpSpPr/>
          <p:nvPr/>
        </p:nvGrpSpPr>
        <p:grpSpPr>
          <a:xfrm>
            <a:off x="8742485" y="2907103"/>
            <a:ext cx="2344616" cy="987555"/>
            <a:chOff x="8742485" y="2624069"/>
            <a:chExt cx="2344616" cy="1080424"/>
          </a:xfrm>
        </p:grpSpPr>
        <p:sp>
          <p:nvSpPr>
            <p:cNvPr id="11" name="Freeform 10">
              <a:extLst>
                <a:ext uri="{FF2B5EF4-FFF2-40B4-BE49-F238E27FC236}">
                  <a16:creationId xmlns:a16="http://schemas.microsoft.com/office/drawing/2014/main" id="{160254EF-9B57-F6F3-F765-09931824CBCD}"/>
                </a:ext>
              </a:extLst>
            </p:cNvPr>
            <p:cNvSpPr/>
            <p:nvPr/>
          </p:nvSpPr>
          <p:spPr>
            <a:xfrm>
              <a:off x="9061622" y="2625969"/>
              <a:ext cx="1805670" cy="1078524"/>
            </a:xfrm>
            <a:custGeom>
              <a:avLst/>
              <a:gdLst>
                <a:gd name="connsiteX0" fmla="*/ 0 w 2239107"/>
                <a:gd name="connsiteY0" fmla="*/ 0 h 1019907"/>
                <a:gd name="connsiteX1" fmla="*/ 515815 w 2239107"/>
                <a:gd name="connsiteY1" fmla="*/ 527538 h 1019907"/>
                <a:gd name="connsiteX2" fmla="*/ 1735015 w 2239107"/>
                <a:gd name="connsiteY2" fmla="*/ 527538 h 1019907"/>
                <a:gd name="connsiteX3" fmla="*/ 2239107 w 2239107"/>
                <a:gd name="connsiteY3" fmla="*/ 1019907 h 1019907"/>
              </a:gdLst>
              <a:ahLst/>
              <a:cxnLst>
                <a:cxn ang="0">
                  <a:pos x="connsiteX0" y="connsiteY0"/>
                </a:cxn>
                <a:cxn ang="0">
                  <a:pos x="connsiteX1" y="connsiteY1"/>
                </a:cxn>
                <a:cxn ang="0">
                  <a:pos x="connsiteX2" y="connsiteY2"/>
                </a:cxn>
                <a:cxn ang="0">
                  <a:pos x="connsiteX3" y="connsiteY3"/>
                </a:cxn>
              </a:cxnLst>
              <a:rect l="l" t="t" r="r" b="b"/>
              <a:pathLst>
                <a:path w="2239107" h="1019907">
                  <a:moveTo>
                    <a:pt x="0" y="0"/>
                  </a:moveTo>
                  <a:lnTo>
                    <a:pt x="515815" y="527538"/>
                  </a:lnTo>
                  <a:lnTo>
                    <a:pt x="1735015" y="527538"/>
                  </a:lnTo>
                  <a:lnTo>
                    <a:pt x="2239107" y="1019907"/>
                  </a:lnTo>
                </a:path>
              </a:pathLst>
            </a:custGeom>
            <a:noFill/>
            <a:ln w="38100">
              <a:solidFill>
                <a:srgbClr val="BBC8D4"/>
              </a:solidFill>
              <a:prstDash val="sysDot"/>
              <a:headEnd type="none" w="med" len="med"/>
              <a:tailEnd type="triangle" w="med" len="me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BE"/>
            </a:p>
          </p:txBody>
        </p:sp>
        <p:cxnSp>
          <p:nvCxnSpPr>
            <p:cNvPr id="12" name="Straight Connector 11">
              <a:extLst>
                <a:ext uri="{FF2B5EF4-FFF2-40B4-BE49-F238E27FC236}">
                  <a16:creationId xmlns:a16="http://schemas.microsoft.com/office/drawing/2014/main" id="{D0959151-D985-5651-D42B-9142FF25089A}"/>
                </a:ext>
              </a:extLst>
            </p:cNvPr>
            <p:cNvCxnSpPr>
              <a:cxnSpLocks/>
            </p:cNvCxnSpPr>
            <p:nvPr/>
          </p:nvCxnSpPr>
          <p:spPr>
            <a:xfrm flipH="1">
              <a:off x="8742485" y="2624069"/>
              <a:ext cx="2344616" cy="0"/>
            </a:xfrm>
            <a:prstGeom prst="line">
              <a:avLst/>
            </a:prstGeom>
            <a:ln w="38100">
              <a:solidFill>
                <a:srgbClr val="BBC8D4"/>
              </a:solidFill>
              <a:prstDash val="sysDot"/>
            </a:ln>
          </p:spPr>
          <p:style>
            <a:lnRef idx="1">
              <a:schemeClr val="accent1"/>
            </a:lnRef>
            <a:fillRef idx="0">
              <a:schemeClr val="accent1"/>
            </a:fillRef>
            <a:effectRef idx="0">
              <a:schemeClr val="accent1"/>
            </a:effectRef>
            <a:fontRef idx="minor">
              <a:schemeClr val="tx1"/>
            </a:fontRef>
          </p:style>
        </p:cxnSp>
      </p:grpSp>
      <p:pic>
        <p:nvPicPr>
          <p:cNvPr id="21" name="Picture 20">
            <a:extLst>
              <a:ext uri="{FF2B5EF4-FFF2-40B4-BE49-F238E27FC236}">
                <a16:creationId xmlns:a16="http://schemas.microsoft.com/office/drawing/2014/main" id="{B7B6B83D-D689-1B2E-E91B-4DB1160E22AD}"/>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399315" y="1767306"/>
            <a:ext cx="558800" cy="291042"/>
          </a:xfrm>
          <a:prstGeom prst="rect">
            <a:avLst/>
          </a:prstGeom>
        </p:spPr>
      </p:pic>
      <p:grpSp>
        <p:nvGrpSpPr>
          <p:cNvPr id="30" name="Group 29">
            <a:extLst>
              <a:ext uri="{FF2B5EF4-FFF2-40B4-BE49-F238E27FC236}">
                <a16:creationId xmlns:a16="http://schemas.microsoft.com/office/drawing/2014/main" id="{5D521C39-DC40-434D-1628-ECF93A628925}"/>
              </a:ext>
            </a:extLst>
          </p:cNvPr>
          <p:cNvGrpSpPr/>
          <p:nvPr/>
        </p:nvGrpSpPr>
        <p:grpSpPr>
          <a:xfrm>
            <a:off x="7120842" y="1247130"/>
            <a:ext cx="1295423" cy="807495"/>
            <a:chOff x="6961185" y="973085"/>
            <a:chExt cx="1295423" cy="807495"/>
          </a:xfrm>
        </p:grpSpPr>
        <p:pic>
          <p:nvPicPr>
            <p:cNvPr id="23" name="Picture 22">
              <a:extLst>
                <a:ext uri="{FF2B5EF4-FFF2-40B4-BE49-F238E27FC236}">
                  <a16:creationId xmlns:a16="http://schemas.microsoft.com/office/drawing/2014/main" id="{F20D63BB-475C-64BF-A80E-E06A09731924}"/>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7087137" y="1214078"/>
              <a:ext cx="559872" cy="291600"/>
            </a:xfrm>
            <a:prstGeom prst="rect">
              <a:avLst/>
            </a:prstGeom>
          </p:spPr>
        </p:pic>
        <p:pic>
          <p:nvPicPr>
            <p:cNvPr id="24" name="Picture 23">
              <a:extLst>
                <a:ext uri="{FF2B5EF4-FFF2-40B4-BE49-F238E27FC236}">
                  <a16:creationId xmlns:a16="http://schemas.microsoft.com/office/drawing/2014/main" id="{9DDE6789-AE7D-6D98-C427-F62408CFFD77}"/>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6961185" y="1424429"/>
              <a:ext cx="559872" cy="291600"/>
            </a:xfrm>
            <a:prstGeom prst="rect">
              <a:avLst/>
            </a:prstGeom>
          </p:spPr>
        </p:pic>
        <p:pic>
          <p:nvPicPr>
            <p:cNvPr id="25" name="Picture 24">
              <a:extLst>
                <a:ext uri="{FF2B5EF4-FFF2-40B4-BE49-F238E27FC236}">
                  <a16:creationId xmlns:a16="http://schemas.microsoft.com/office/drawing/2014/main" id="{9FCACCEA-DB30-D2EB-CFA8-B2485769DAB5}"/>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6974627" y="973085"/>
              <a:ext cx="559872" cy="291600"/>
            </a:xfrm>
            <a:prstGeom prst="rect">
              <a:avLst/>
            </a:prstGeom>
          </p:spPr>
        </p:pic>
        <p:pic>
          <p:nvPicPr>
            <p:cNvPr id="26" name="Picture 25">
              <a:extLst>
                <a:ext uri="{FF2B5EF4-FFF2-40B4-BE49-F238E27FC236}">
                  <a16:creationId xmlns:a16="http://schemas.microsoft.com/office/drawing/2014/main" id="{C72818FA-681D-A05B-7F01-2268C5C8860D}"/>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7696736" y="1278629"/>
              <a:ext cx="559872" cy="291600"/>
            </a:xfrm>
            <a:prstGeom prst="rect">
              <a:avLst/>
            </a:prstGeom>
          </p:spPr>
        </p:pic>
        <p:pic>
          <p:nvPicPr>
            <p:cNvPr id="27" name="Picture 26">
              <a:extLst>
                <a:ext uri="{FF2B5EF4-FFF2-40B4-BE49-F238E27FC236}">
                  <a16:creationId xmlns:a16="http://schemas.microsoft.com/office/drawing/2014/main" id="{8AFAB8BD-7225-C176-BDF5-E472B4BC2855}"/>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7570784" y="1488980"/>
              <a:ext cx="559872" cy="291600"/>
            </a:xfrm>
            <a:prstGeom prst="rect">
              <a:avLst/>
            </a:prstGeom>
          </p:spPr>
        </p:pic>
        <p:pic>
          <p:nvPicPr>
            <p:cNvPr id="28" name="Picture 27">
              <a:extLst>
                <a:ext uri="{FF2B5EF4-FFF2-40B4-BE49-F238E27FC236}">
                  <a16:creationId xmlns:a16="http://schemas.microsoft.com/office/drawing/2014/main" id="{FC090B15-2659-676E-6522-FF753495B133}"/>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7584226" y="1037636"/>
              <a:ext cx="559872" cy="291600"/>
            </a:xfrm>
            <a:prstGeom prst="rect">
              <a:avLst/>
            </a:prstGeom>
          </p:spPr>
        </p:pic>
      </p:grpSp>
      <p:pic>
        <p:nvPicPr>
          <p:cNvPr id="32" name="Graphic 31">
            <a:extLst>
              <a:ext uri="{FF2B5EF4-FFF2-40B4-BE49-F238E27FC236}">
                <a16:creationId xmlns:a16="http://schemas.microsoft.com/office/drawing/2014/main" id="{E3E70B8C-2863-5385-1D0D-55577561E4B3}"/>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9417679" y="1641175"/>
            <a:ext cx="385275" cy="385275"/>
          </a:xfrm>
          <a:prstGeom prst="rect">
            <a:avLst/>
          </a:prstGeom>
        </p:spPr>
      </p:pic>
      <p:sp>
        <p:nvSpPr>
          <p:cNvPr id="33" name="TextBox 32">
            <a:extLst>
              <a:ext uri="{FF2B5EF4-FFF2-40B4-BE49-F238E27FC236}">
                <a16:creationId xmlns:a16="http://schemas.microsoft.com/office/drawing/2014/main" id="{99FAA802-6ADB-3C3A-AB5C-D1A5C1E23AA5}"/>
              </a:ext>
            </a:extLst>
          </p:cNvPr>
          <p:cNvSpPr txBox="1"/>
          <p:nvPr/>
        </p:nvSpPr>
        <p:spPr>
          <a:xfrm>
            <a:off x="9914793" y="1666866"/>
            <a:ext cx="332142" cy="338554"/>
          </a:xfrm>
          <a:prstGeom prst="rect">
            <a:avLst/>
          </a:prstGeom>
          <a:noFill/>
        </p:spPr>
        <p:txBody>
          <a:bodyPr wrap="none" rtlCol="0">
            <a:spAutoFit/>
          </a:bodyPr>
          <a:lstStyle/>
          <a:p>
            <a:r>
              <a:rPr lang="en-BE" i="1" dirty="0">
                <a:latin typeface="Times New Roman" panose="02020603050405020304" pitchFamily="18" charset="0"/>
                <a:cs typeface="Times New Roman" panose="02020603050405020304" pitchFamily="18" charset="0"/>
              </a:rPr>
              <a:t>N</a:t>
            </a:r>
          </a:p>
        </p:txBody>
      </p:sp>
      <p:sp>
        <p:nvSpPr>
          <p:cNvPr id="34" name="Slide Number Placeholder 33">
            <a:extLst>
              <a:ext uri="{FF2B5EF4-FFF2-40B4-BE49-F238E27FC236}">
                <a16:creationId xmlns:a16="http://schemas.microsoft.com/office/drawing/2014/main" id="{BCEC09F7-3E9C-A769-3D1D-59B65E91C5DC}"/>
              </a:ext>
            </a:extLst>
          </p:cNvPr>
          <p:cNvSpPr>
            <a:spLocks noGrp="1"/>
          </p:cNvSpPr>
          <p:nvPr>
            <p:ph type="sldNum" sz="quarter" idx="11"/>
          </p:nvPr>
        </p:nvSpPr>
        <p:spPr/>
        <p:txBody>
          <a:bodyPr/>
          <a:lstStyle/>
          <a:p>
            <a:pPr>
              <a:defRPr/>
            </a:pPr>
            <a:fld id="{968663A2-1950-48E6-8399-8A0176E7D7D3}" type="slidenum">
              <a:rPr lang="en-US" smtClean="0"/>
              <a:pPr>
                <a:defRPr/>
              </a:pPr>
              <a:t>24</a:t>
            </a:fld>
            <a:endParaRPr lang="en-US"/>
          </a:p>
        </p:txBody>
      </p:sp>
    </p:spTree>
    <p:extLst>
      <p:ext uri="{BB962C8B-B14F-4D97-AF65-F5344CB8AC3E}">
        <p14:creationId xmlns:p14="http://schemas.microsoft.com/office/powerpoint/2010/main" val="151725468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500"/>
                                        <p:tgtEl>
                                          <p:spTgt spid="6"/>
                                        </p:tgtEl>
                                      </p:cBhvr>
                                    </p:animEffect>
                                  </p:childTnLst>
                                </p:cTn>
                              </p:par>
                            </p:childTnLst>
                          </p:cTn>
                        </p:par>
                        <p:par>
                          <p:cTn id="8" fill="hold">
                            <p:stCondLst>
                              <p:cond delay="500"/>
                            </p:stCondLst>
                            <p:childTnLst>
                              <p:par>
                                <p:cTn id="9" presetID="10" presetClass="entr" presetSubtype="0" fill="hold" grpId="0" nodeType="afterEffect">
                                  <p:stCondLst>
                                    <p:cond delay="0"/>
                                  </p:stCondLst>
                                  <p:childTnLst>
                                    <p:set>
                                      <p:cBhvr>
                                        <p:cTn id="10" dur="1" fill="hold">
                                          <p:stCondLst>
                                            <p:cond delay="0"/>
                                          </p:stCondLst>
                                        </p:cTn>
                                        <p:tgtEl>
                                          <p:spTgt spid="7"/>
                                        </p:tgtEl>
                                        <p:attrNameLst>
                                          <p:attrName>style.visibility</p:attrName>
                                        </p:attrNameLst>
                                      </p:cBhvr>
                                      <p:to>
                                        <p:strVal val="visible"/>
                                      </p:to>
                                    </p:set>
                                    <p:animEffect transition="in" filter="fade">
                                      <p:cBhvr>
                                        <p:cTn id="11" dur="500"/>
                                        <p:tgtEl>
                                          <p:spTgt spid="7"/>
                                        </p:tgtEl>
                                      </p:cBhvr>
                                    </p:animEffect>
                                  </p:childTnLst>
                                </p:cTn>
                              </p:par>
                            </p:childTnLst>
                          </p:cTn>
                        </p:par>
                        <p:par>
                          <p:cTn id="12" fill="hold">
                            <p:stCondLst>
                              <p:cond delay="1000"/>
                            </p:stCondLst>
                            <p:childTnLst>
                              <p:par>
                                <p:cTn id="13" presetID="10" presetClass="entr" presetSubtype="0" fill="hold" grpId="0" nodeType="afterEffect">
                                  <p:stCondLst>
                                    <p:cond delay="0"/>
                                  </p:stCondLst>
                                  <p:childTnLst>
                                    <p:set>
                                      <p:cBhvr>
                                        <p:cTn id="14" dur="1" fill="hold">
                                          <p:stCondLst>
                                            <p:cond delay="0"/>
                                          </p:stCondLst>
                                        </p:cTn>
                                        <p:tgtEl>
                                          <p:spTgt spid="8"/>
                                        </p:tgtEl>
                                        <p:attrNameLst>
                                          <p:attrName>style.visibility</p:attrName>
                                        </p:attrNameLst>
                                      </p:cBhvr>
                                      <p:to>
                                        <p:strVal val="visible"/>
                                      </p:to>
                                    </p:set>
                                    <p:animEffect transition="in" filter="fade">
                                      <p:cBhvr>
                                        <p:cTn id="15" dur="500"/>
                                        <p:tgtEl>
                                          <p:spTgt spid="8"/>
                                        </p:tgtEl>
                                      </p:cBhvr>
                                    </p:animEffect>
                                  </p:childTnLst>
                                </p:cTn>
                              </p:par>
                            </p:childTnLst>
                          </p:cTn>
                        </p:par>
                        <p:par>
                          <p:cTn id="16" fill="hold">
                            <p:stCondLst>
                              <p:cond delay="1500"/>
                            </p:stCondLst>
                            <p:childTnLst>
                              <p:par>
                                <p:cTn id="17" presetID="10" presetClass="entr" presetSubtype="0" fill="hold" nodeType="afterEffect">
                                  <p:stCondLst>
                                    <p:cond delay="0"/>
                                  </p:stCondLst>
                                  <p:childTnLst>
                                    <p:set>
                                      <p:cBhvr>
                                        <p:cTn id="18" dur="1" fill="hold">
                                          <p:stCondLst>
                                            <p:cond delay="0"/>
                                          </p:stCondLst>
                                        </p:cTn>
                                        <p:tgtEl>
                                          <p:spTgt spid="5"/>
                                        </p:tgtEl>
                                        <p:attrNameLst>
                                          <p:attrName>style.visibility</p:attrName>
                                        </p:attrNameLst>
                                      </p:cBhvr>
                                      <p:to>
                                        <p:strVal val="visible"/>
                                      </p:to>
                                    </p:set>
                                    <p:animEffect transition="in" filter="fade">
                                      <p:cBhvr>
                                        <p:cTn id="19"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7" grpId="0" animBg="1"/>
      <p:bldP spid="8" grpId="0" animBg="1"/>
    </p:bld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8F5BA37-2002-7ACB-0813-BEAF3E4D044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DDD7704-9563-D119-F7B8-716C55EB3470}"/>
              </a:ext>
            </a:extLst>
          </p:cNvPr>
          <p:cNvSpPr>
            <a:spLocks noGrp="1"/>
          </p:cNvSpPr>
          <p:nvPr>
            <p:ph type="title"/>
          </p:nvPr>
        </p:nvSpPr>
        <p:spPr>
          <a:xfrm>
            <a:off x="476213" y="332879"/>
            <a:ext cx="11430079" cy="836613"/>
          </a:xfrm>
        </p:spPr>
        <p:txBody>
          <a:bodyPr/>
          <a:lstStyle/>
          <a:p>
            <a:r>
              <a:rPr lang="en-US" dirty="0"/>
              <a:t>Simulation Results</a:t>
            </a:r>
            <a:endParaRPr lang="en-BE" dirty="0"/>
          </a:p>
        </p:txBody>
      </p:sp>
      <p:pic>
        <p:nvPicPr>
          <p:cNvPr id="15" name="Picture 14" descr="A graph of a graph&#10;&#10;AI-generated content may be incorrect.">
            <a:extLst>
              <a:ext uri="{FF2B5EF4-FFF2-40B4-BE49-F238E27FC236}">
                <a16:creationId xmlns:a16="http://schemas.microsoft.com/office/drawing/2014/main" id="{2E932C72-2995-AB07-6EC8-28BDF29ED4D1}"/>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239213" y="1804922"/>
            <a:ext cx="8180347" cy="3505863"/>
          </a:xfrm>
          <a:prstGeom prst="rect">
            <a:avLst/>
          </a:prstGeom>
        </p:spPr>
      </p:pic>
      <p:sp>
        <p:nvSpPr>
          <p:cNvPr id="3" name="Rectangle 2">
            <a:extLst>
              <a:ext uri="{FF2B5EF4-FFF2-40B4-BE49-F238E27FC236}">
                <a16:creationId xmlns:a16="http://schemas.microsoft.com/office/drawing/2014/main" id="{4852C07E-33DA-6337-1DDC-D47F7E6F5C5A}"/>
              </a:ext>
            </a:extLst>
          </p:cNvPr>
          <p:cNvSpPr/>
          <p:nvPr/>
        </p:nvSpPr>
        <p:spPr>
          <a:xfrm>
            <a:off x="2972392" y="2202955"/>
            <a:ext cx="1693911" cy="1105846"/>
          </a:xfrm>
          <a:prstGeom prst="rect">
            <a:avLst/>
          </a:prstGeom>
          <a:solidFill>
            <a:srgbClr val="982C2C">
              <a:alpha val="30196"/>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Rectangle 3">
            <a:extLst>
              <a:ext uri="{FF2B5EF4-FFF2-40B4-BE49-F238E27FC236}">
                <a16:creationId xmlns:a16="http://schemas.microsoft.com/office/drawing/2014/main" id="{6346C3EA-2FF1-CDA4-E841-D2C9A388C27D}"/>
              </a:ext>
            </a:extLst>
          </p:cNvPr>
          <p:cNvSpPr/>
          <p:nvPr/>
        </p:nvSpPr>
        <p:spPr>
          <a:xfrm>
            <a:off x="2972392" y="3308801"/>
            <a:ext cx="3496207" cy="957411"/>
          </a:xfrm>
          <a:prstGeom prst="rect">
            <a:avLst/>
          </a:prstGeom>
          <a:solidFill>
            <a:srgbClr val="1582BE">
              <a:alpha val="30196"/>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Arc 6">
            <a:extLst>
              <a:ext uri="{FF2B5EF4-FFF2-40B4-BE49-F238E27FC236}">
                <a16:creationId xmlns:a16="http://schemas.microsoft.com/office/drawing/2014/main" id="{738F3294-015B-CD97-9417-7F6E3E913A44}"/>
              </a:ext>
            </a:extLst>
          </p:cNvPr>
          <p:cNvSpPr/>
          <p:nvPr/>
        </p:nvSpPr>
        <p:spPr>
          <a:xfrm>
            <a:off x="4051625" y="2641635"/>
            <a:ext cx="1229356" cy="1204064"/>
          </a:xfrm>
          <a:prstGeom prst="arc">
            <a:avLst/>
          </a:prstGeom>
          <a:ln w="57150">
            <a:solidFill>
              <a:schemeClr val="accent3"/>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BE"/>
          </a:p>
        </p:txBody>
      </p:sp>
      <p:sp>
        <p:nvSpPr>
          <p:cNvPr id="12" name="TextBox 11">
            <a:extLst>
              <a:ext uri="{FF2B5EF4-FFF2-40B4-BE49-F238E27FC236}">
                <a16:creationId xmlns:a16="http://schemas.microsoft.com/office/drawing/2014/main" id="{07630CB6-0B70-803B-3841-AFA785322DEA}"/>
              </a:ext>
            </a:extLst>
          </p:cNvPr>
          <p:cNvSpPr txBox="1"/>
          <p:nvPr/>
        </p:nvSpPr>
        <p:spPr>
          <a:xfrm>
            <a:off x="8727209" y="5765369"/>
            <a:ext cx="2888932" cy="338554"/>
          </a:xfrm>
          <a:prstGeom prst="rect">
            <a:avLst/>
          </a:prstGeom>
          <a:noFill/>
        </p:spPr>
        <p:txBody>
          <a:bodyPr wrap="none" rtlCol="0">
            <a:spAutoFit/>
          </a:bodyPr>
          <a:lstStyle/>
          <a:p>
            <a:r>
              <a:rPr lang="en-BE" dirty="0">
                <a:latin typeface="+mn-lt"/>
              </a:rPr>
              <a:t>*: 27% is the average over full test set</a:t>
            </a:r>
          </a:p>
        </p:txBody>
      </p:sp>
      <p:sp>
        <p:nvSpPr>
          <p:cNvPr id="13" name="Footer Placeholder 12">
            <a:extLst>
              <a:ext uri="{FF2B5EF4-FFF2-40B4-BE49-F238E27FC236}">
                <a16:creationId xmlns:a16="http://schemas.microsoft.com/office/drawing/2014/main" id="{22F912BB-DA3A-4423-AA06-48E8A3853AFB}"/>
              </a:ext>
            </a:extLst>
          </p:cNvPr>
          <p:cNvSpPr>
            <a:spLocks noGrp="1"/>
          </p:cNvSpPr>
          <p:nvPr>
            <p:ph type="ftr" sz="quarter" idx="10"/>
          </p:nvPr>
        </p:nvSpPr>
        <p:spPr/>
        <p:txBody>
          <a:bodyPr/>
          <a:lstStyle/>
          <a:p>
            <a:pPr>
              <a:defRPr/>
            </a:pPr>
            <a:r>
              <a:rPr lang="en-US"/>
              <a:t>C. Develder, "AI4E: Data-efficient and scalable algorithmss to exploit energy flexibility"</a:t>
            </a:r>
            <a:endParaRPr lang="en-US" dirty="0"/>
          </a:p>
        </p:txBody>
      </p:sp>
      <p:sp>
        <p:nvSpPr>
          <p:cNvPr id="9" name="Content Placeholder 4">
            <a:extLst>
              <a:ext uri="{FF2B5EF4-FFF2-40B4-BE49-F238E27FC236}">
                <a16:creationId xmlns:a16="http://schemas.microsoft.com/office/drawing/2014/main" id="{650A7158-71C6-FB77-35FF-99F4019FCDDC}"/>
              </a:ext>
            </a:extLst>
          </p:cNvPr>
          <p:cNvSpPr>
            <a:spLocks noGrp="1"/>
          </p:cNvSpPr>
          <p:nvPr>
            <p:ph idx="1"/>
          </p:nvPr>
        </p:nvSpPr>
        <p:spPr>
          <a:xfrm>
            <a:off x="8727209" y="2195066"/>
            <a:ext cx="3010914" cy="2275605"/>
          </a:xfrm>
        </p:spPr>
        <p:txBody>
          <a:bodyPr/>
          <a:lstStyle/>
          <a:p>
            <a:pPr marL="0" indent="0">
              <a:buNone/>
            </a:pPr>
            <a:r>
              <a:rPr lang="en-BE" dirty="0"/>
              <a:t>Attention-based RL</a:t>
            </a:r>
          </a:p>
          <a:p>
            <a:r>
              <a:rPr lang="en-BE" dirty="0"/>
              <a:t>Flattens load (peak reduced by 27%)*</a:t>
            </a:r>
          </a:p>
          <a:p>
            <a:r>
              <a:rPr lang="en-BE" dirty="0"/>
              <a:t>Performs close to optimization based on perfect foresight</a:t>
            </a:r>
          </a:p>
        </p:txBody>
      </p:sp>
      <p:sp>
        <p:nvSpPr>
          <p:cNvPr id="6" name="TextBox 5">
            <a:extLst>
              <a:ext uri="{FF2B5EF4-FFF2-40B4-BE49-F238E27FC236}">
                <a16:creationId xmlns:a16="http://schemas.microsoft.com/office/drawing/2014/main" id="{211DF576-2565-BFD7-9A45-A292274D071A}"/>
              </a:ext>
            </a:extLst>
          </p:cNvPr>
          <p:cNvSpPr txBox="1"/>
          <p:nvPr/>
        </p:nvSpPr>
        <p:spPr>
          <a:xfrm rot="21350844">
            <a:off x="4577060" y="679334"/>
            <a:ext cx="5260582" cy="942117"/>
          </a:xfrm>
          <a:prstGeom prst="rect">
            <a:avLst/>
          </a:prstGeom>
          <a:noFill/>
        </p:spPr>
        <p:txBody>
          <a:bodyPr wrap="square" rtlCol="0">
            <a:spAutoFit/>
          </a:bodyPr>
          <a:lstStyle/>
          <a:p>
            <a:pPr>
              <a:lnSpc>
                <a:spcPct val="85000"/>
              </a:lnSpc>
            </a:pPr>
            <a:r>
              <a:rPr lang="en-BE" sz="3200" b="1" u="sng" dirty="0">
                <a:solidFill>
                  <a:schemeClr val="accent3"/>
                </a:solidFill>
                <a:latin typeface="Caveat" pitchFamily="2" charset="77"/>
              </a:rPr>
              <a:t>Significant peak reduction </a:t>
            </a:r>
            <a:r>
              <a:rPr lang="en-BE" sz="3200" b="1" dirty="0">
                <a:solidFill>
                  <a:schemeClr val="accent3"/>
                </a:solidFill>
                <a:latin typeface="Caveat" pitchFamily="2" charset="77"/>
              </a:rPr>
              <a:t>compared to uncontrolled charging</a:t>
            </a:r>
          </a:p>
        </p:txBody>
      </p:sp>
      <p:sp>
        <p:nvSpPr>
          <p:cNvPr id="8" name="Slide Number Placeholder 7">
            <a:extLst>
              <a:ext uri="{FF2B5EF4-FFF2-40B4-BE49-F238E27FC236}">
                <a16:creationId xmlns:a16="http://schemas.microsoft.com/office/drawing/2014/main" id="{5A7CCBEE-D03B-B654-9F9C-D96AAB6C8667}"/>
              </a:ext>
            </a:extLst>
          </p:cNvPr>
          <p:cNvSpPr>
            <a:spLocks noGrp="1"/>
          </p:cNvSpPr>
          <p:nvPr>
            <p:ph type="sldNum" sz="quarter" idx="11"/>
          </p:nvPr>
        </p:nvSpPr>
        <p:spPr/>
        <p:txBody>
          <a:bodyPr/>
          <a:lstStyle/>
          <a:p>
            <a:pPr>
              <a:defRPr/>
            </a:pPr>
            <a:fld id="{968663A2-1950-48E6-8399-8A0176E7D7D3}" type="slidenum">
              <a:rPr lang="en-US" smtClean="0"/>
              <a:pPr>
                <a:defRPr/>
              </a:pPr>
              <a:t>25</a:t>
            </a:fld>
            <a:endParaRPr lang="en-US"/>
          </a:p>
        </p:txBody>
      </p:sp>
      <p:sp>
        <p:nvSpPr>
          <p:cNvPr id="5" name="TextBox 4">
            <a:extLst>
              <a:ext uri="{FF2B5EF4-FFF2-40B4-BE49-F238E27FC236}">
                <a16:creationId xmlns:a16="http://schemas.microsoft.com/office/drawing/2014/main" id="{D98E70CB-041C-B238-DF35-65F37FD33B21}"/>
              </a:ext>
            </a:extLst>
          </p:cNvPr>
          <p:cNvSpPr txBox="1"/>
          <p:nvPr/>
        </p:nvSpPr>
        <p:spPr>
          <a:xfrm>
            <a:off x="5478966" y="2300616"/>
            <a:ext cx="351058" cy="200055"/>
          </a:xfrm>
          <a:prstGeom prst="rect">
            <a:avLst/>
          </a:prstGeom>
          <a:solidFill>
            <a:schemeClr val="bg1"/>
          </a:solidFill>
        </p:spPr>
        <p:txBody>
          <a:bodyPr wrap="none" lIns="0" tIns="0" rIns="0" bIns="0" rtlCol="0">
            <a:spAutoFit/>
          </a:bodyPr>
          <a:lstStyle/>
          <a:p>
            <a:r>
              <a:rPr lang="en-BE" sz="1300" dirty="0">
                <a:latin typeface="Times New Roman" panose="02020603050405020304" pitchFamily="18" charset="0"/>
                <a:cs typeface="Times New Roman" panose="02020603050405020304" pitchFamily="18" charset="0"/>
              </a:rPr>
              <a:t>BAU</a:t>
            </a:r>
          </a:p>
        </p:txBody>
      </p:sp>
    </p:spTree>
    <p:extLst>
      <p:ext uri="{BB962C8B-B14F-4D97-AF65-F5344CB8AC3E}">
        <p14:creationId xmlns:p14="http://schemas.microsoft.com/office/powerpoint/2010/main" val="258016270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7"/>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4"/>
                                        </p:tgtEl>
                                        <p:attrNameLst>
                                          <p:attrName>style.visibility</p:attrName>
                                        </p:attrNameLst>
                                      </p:cBhvr>
                                      <p:to>
                                        <p:strVal val="visible"/>
                                      </p:to>
                                    </p:set>
                                  </p:childTnLst>
                                </p:cTn>
                              </p:par>
                            </p:childTnLst>
                          </p:cTn>
                        </p:par>
                        <p:par>
                          <p:cTn id="11" fill="hold">
                            <p:stCondLst>
                              <p:cond delay="0"/>
                            </p:stCondLst>
                            <p:childTnLst>
                              <p:par>
                                <p:cTn id="12" presetID="1" presetClass="entr" presetSubtype="0" fill="hold" grpId="0" nodeType="afterEffect">
                                  <p:stCondLst>
                                    <p:cond delay="0"/>
                                  </p:stCondLst>
                                  <p:childTnLst>
                                    <p:set>
                                      <p:cBhvr>
                                        <p:cTn id="13"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4" grpId="0" animBg="1"/>
      <p:bldP spid="7" grpId="0" animBg="1"/>
      <p:bldP spid="6" grpId="0"/>
    </p:bld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468D619-D42A-3722-7974-C3FE41233187}"/>
            </a:ext>
          </a:extLst>
        </p:cNvPr>
        <p:cNvGrpSpPr/>
        <p:nvPr/>
      </p:nvGrpSpPr>
      <p:grpSpPr>
        <a:xfrm>
          <a:off x="0" y="0"/>
          <a:ext cx="0" cy="0"/>
          <a:chOff x="0" y="0"/>
          <a:chExt cx="0" cy="0"/>
        </a:xfrm>
      </p:grpSpPr>
      <p:sp>
        <p:nvSpPr>
          <p:cNvPr id="5" name="Content Placeholder 4">
            <a:extLst>
              <a:ext uri="{FF2B5EF4-FFF2-40B4-BE49-F238E27FC236}">
                <a16:creationId xmlns:a16="http://schemas.microsoft.com/office/drawing/2014/main" id="{72A3A6A6-505E-11E9-CEDC-5B94956C38BF}"/>
              </a:ext>
            </a:extLst>
          </p:cNvPr>
          <p:cNvSpPr>
            <a:spLocks noGrp="1"/>
          </p:cNvSpPr>
          <p:nvPr>
            <p:ph idx="1"/>
          </p:nvPr>
        </p:nvSpPr>
        <p:spPr>
          <a:xfrm>
            <a:off x="8727209" y="2195066"/>
            <a:ext cx="3010914" cy="2275605"/>
          </a:xfrm>
        </p:spPr>
        <p:txBody>
          <a:bodyPr/>
          <a:lstStyle/>
          <a:p>
            <a:pPr marL="0" indent="0">
              <a:buNone/>
            </a:pPr>
            <a:r>
              <a:rPr lang="en-BE" dirty="0"/>
              <a:t>Attention-based RL</a:t>
            </a:r>
          </a:p>
          <a:p>
            <a:r>
              <a:rPr lang="en-BE" dirty="0"/>
              <a:t>Flattens load (peak reduced by 27%)*</a:t>
            </a:r>
          </a:p>
          <a:p>
            <a:r>
              <a:rPr lang="en-BE" dirty="0"/>
              <a:t>Performs close to optimization based on perfect foresight</a:t>
            </a:r>
          </a:p>
        </p:txBody>
      </p:sp>
      <p:pic>
        <p:nvPicPr>
          <p:cNvPr id="8" name="Picture 7" descr="A graph of a graph&#10;&#10;AI-generated content may be incorrect.">
            <a:extLst>
              <a:ext uri="{FF2B5EF4-FFF2-40B4-BE49-F238E27FC236}">
                <a16:creationId xmlns:a16="http://schemas.microsoft.com/office/drawing/2014/main" id="{76ED510F-64C0-5BA3-BEB4-EC73ABDCF894}"/>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239213" y="1804922"/>
            <a:ext cx="8180347" cy="3505863"/>
          </a:xfrm>
          <a:prstGeom prst="rect">
            <a:avLst/>
          </a:prstGeom>
        </p:spPr>
      </p:pic>
      <p:sp>
        <p:nvSpPr>
          <p:cNvPr id="2" name="Title 1">
            <a:extLst>
              <a:ext uri="{FF2B5EF4-FFF2-40B4-BE49-F238E27FC236}">
                <a16:creationId xmlns:a16="http://schemas.microsoft.com/office/drawing/2014/main" id="{D8D18579-2C14-BEC0-7FB7-626DE03897A3}"/>
              </a:ext>
            </a:extLst>
          </p:cNvPr>
          <p:cNvSpPr>
            <a:spLocks noGrp="1"/>
          </p:cNvSpPr>
          <p:nvPr>
            <p:ph type="title"/>
          </p:nvPr>
        </p:nvSpPr>
        <p:spPr/>
        <p:txBody>
          <a:bodyPr/>
          <a:lstStyle/>
          <a:p>
            <a:r>
              <a:rPr lang="en-US" dirty="0"/>
              <a:t>Simulation Results</a:t>
            </a:r>
            <a:endParaRPr lang="en-BE" dirty="0"/>
          </a:p>
        </p:txBody>
      </p:sp>
      <p:sp>
        <p:nvSpPr>
          <p:cNvPr id="6" name="Rectangle 5">
            <a:extLst>
              <a:ext uri="{FF2B5EF4-FFF2-40B4-BE49-F238E27FC236}">
                <a16:creationId xmlns:a16="http://schemas.microsoft.com/office/drawing/2014/main" id="{0B281EE3-2F01-2D9C-DDCC-C2E7D54F6AF3}"/>
              </a:ext>
            </a:extLst>
          </p:cNvPr>
          <p:cNvSpPr/>
          <p:nvPr/>
        </p:nvSpPr>
        <p:spPr>
          <a:xfrm>
            <a:off x="2972392" y="3311422"/>
            <a:ext cx="3496207" cy="957411"/>
          </a:xfrm>
          <a:prstGeom prst="rect">
            <a:avLst/>
          </a:prstGeom>
          <a:solidFill>
            <a:schemeClr val="accent1">
              <a:lumMod val="75000"/>
              <a:alpha val="30196"/>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Arc 6">
            <a:extLst>
              <a:ext uri="{FF2B5EF4-FFF2-40B4-BE49-F238E27FC236}">
                <a16:creationId xmlns:a16="http://schemas.microsoft.com/office/drawing/2014/main" id="{515D6AEA-F5D7-7BE6-4118-828259302ECD}"/>
              </a:ext>
            </a:extLst>
          </p:cNvPr>
          <p:cNvSpPr/>
          <p:nvPr/>
        </p:nvSpPr>
        <p:spPr>
          <a:xfrm rot="10551005" flipH="1">
            <a:off x="4910928" y="1651002"/>
            <a:ext cx="2942074" cy="2033508"/>
          </a:xfrm>
          <a:prstGeom prst="arc">
            <a:avLst/>
          </a:prstGeom>
          <a:ln w="57150">
            <a:solidFill>
              <a:schemeClr val="accent1">
                <a:lumMod val="75000"/>
              </a:schemeClr>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BE"/>
          </a:p>
        </p:txBody>
      </p:sp>
      <p:sp>
        <p:nvSpPr>
          <p:cNvPr id="11" name="TextBox 10">
            <a:extLst>
              <a:ext uri="{FF2B5EF4-FFF2-40B4-BE49-F238E27FC236}">
                <a16:creationId xmlns:a16="http://schemas.microsoft.com/office/drawing/2014/main" id="{460A4F05-1913-28CA-3D49-0CBF272B92BB}"/>
              </a:ext>
            </a:extLst>
          </p:cNvPr>
          <p:cNvSpPr txBox="1"/>
          <p:nvPr/>
        </p:nvSpPr>
        <p:spPr>
          <a:xfrm>
            <a:off x="8727209" y="5765369"/>
            <a:ext cx="2888932" cy="338554"/>
          </a:xfrm>
          <a:prstGeom prst="rect">
            <a:avLst/>
          </a:prstGeom>
          <a:noFill/>
        </p:spPr>
        <p:txBody>
          <a:bodyPr wrap="none" rtlCol="0">
            <a:spAutoFit/>
          </a:bodyPr>
          <a:lstStyle/>
          <a:p>
            <a:r>
              <a:rPr lang="en-BE" dirty="0">
                <a:latin typeface="+mn-lt"/>
              </a:rPr>
              <a:t>*: 27% is the average over full test set</a:t>
            </a:r>
          </a:p>
        </p:txBody>
      </p:sp>
      <p:sp>
        <p:nvSpPr>
          <p:cNvPr id="12" name="Footer Placeholder 11">
            <a:extLst>
              <a:ext uri="{FF2B5EF4-FFF2-40B4-BE49-F238E27FC236}">
                <a16:creationId xmlns:a16="http://schemas.microsoft.com/office/drawing/2014/main" id="{2950351D-C261-28A5-635A-D61BA1106E2D}"/>
              </a:ext>
            </a:extLst>
          </p:cNvPr>
          <p:cNvSpPr>
            <a:spLocks noGrp="1"/>
          </p:cNvSpPr>
          <p:nvPr>
            <p:ph type="ftr" sz="quarter" idx="10"/>
          </p:nvPr>
        </p:nvSpPr>
        <p:spPr/>
        <p:txBody>
          <a:bodyPr/>
          <a:lstStyle/>
          <a:p>
            <a:pPr>
              <a:defRPr/>
            </a:pPr>
            <a:r>
              <a:rPr lang="en-US"/>
              <a:t>C. Develder, "AI4E: Data-efficient and scalable algorithmss to exploit energy flexibility"</a:t>
            </a:r>
            <a:endParaRPr lang="en-US" dirty="0"/>
          </a:p>
        </p:txBody>
      </p:sp>
      <p:sp>
        <p:nvSpPr>
          <p:cNvPr id="3" name="TextBox 2">
            <a:extLst>
              <a:ext uri="{FF2B5EF4-FFF2-40B4-BE49-F238E27FC236}">
                <a16:creationId xmlns:a16="http://schemas.microsoft.com/office/drawing/2014/main" id="{4EC13FFC-A152-BEEC-DD77-B92B4E283D5D}"/>
              </a:ext>
            </a:extLst>
          </p:cNvPr>
          <p:cNvSpPr txBox="1"/>
          <p:nvPr/>
        </p:nvSpPr>
        <p:spPr>
          <a:xfrm rot="21350844">
            <a:off x="4575351" y="632199"/>
            <a:ext cx="6562429" cy="942117"/>
          </a:xfrm>
          <a:prstGeom prst="rect">
            <a:avLst/>
          </a:prstGeom>
          <a:noFill/>
        </p:spPr>
        <p:txBody>
          <a:bodyPr wrap="square" rtlCol="0">
            <a:spAutoFit/>
          </a:bodyPr>
          <a:lstStyle/>
          <a:p>
            <a:pPr>
              <a:lnSpc>
                <a:spcPct val="85000"/>
              </a:lnSpc>
            </a:pPr>
            <a:r>
              <a:rPr lang="en-BE" sz="3200" b="1" dirty="0">
                <a:solidFill>
                  <a:schemeClr val="accent3"/>
                </a:solidFill>
                <a:latin typeface="Caveat" pitchFamily="2" charset="77"/>
              </a:rPr>
              <a:t>Peak reduction of our RL solution is very</a:t>
            </a:r>
            <a:br>
              <a:rPr lang="en-BE" sz="3200" b="1" dirty="0">
                <a:solidFill>
                  <a:schemeClr val="accent3"/>
                </a:solidFill>
                <a:latin typeface="Caveat" pitchFamily="2" charset="77"/>
              </a:rPr>
            </a:br>
            <a:r>
              <a:rPr lang="en-BE" sz="3200" b="1" u="sng" dirty="0">
                <a:solidFill>
                  <a:schemeClr val="accent3"/>
                </a:solidFill>
                <a:latin typeface="Caveat" pitchFamily="2" charset="77"/>
              </a:rPr>
              <a:t>close to optimal </a:t>
            </a:r>
            <a:r>
              <a:rPr lang="en-BE" sz="3200" b="1" dirty="0">
                <a:solidFill>
                  <a:schemeClr val="accent3"/>
                </a:solidFill>
                <a:latin typeface="Caveat" pitchFamily="2" charset="77"/>
              </a:rPr>
              <a:t>control (w/ perfect foresight)</a:t>
            </a:r>
          </a:p>
        </p:txBody>
      </p:sp>
      <p:sp>
        <p:nvSpPr>
          <p:cNvPr id="4" name="Slide Number Placeholder 3">
            <a:extLst>
              <a:ext uri="{FF2B5EF4-FFF2-40B4-BE49-F238E27FC236}">
                <a16:creationId xmlns:a16="http://schemas.microsoft.com/office/drawing/2014/main" id="{D4787F60-6446-819F-A5DD-292C21E98A46}"/>
              </a:ext>
            </a:extLst>
          </p:cNvPr>
          <p:cNvSpPr>
            <a:spLocks noGrp="1"/>
          </p:cNvSpPr>
          <p:nvPr>
            <p:ph type="sldNum" sz="quarter" idx="11"/>
          </p:nvPr>
        </p:nvSpPr>
        <p:spPr/>
        <p:txBody>
          <a:bodyPr/>
          <a:lstStyle/>
          <a:p>
            <a:pPr>
              <a:defRPr/>
            </a:pPr>
            <a:fld id="{968663A2-1950-48E6-8399-8A0176E7D7D3}" type="slidenum">
              <a:rPr lang="en-US" smtClean="0"/>
              <a:pPr>
                <a:defRPr/>
              </a:pPr>
              <a:t>26</a:t>
            </a:fld>
            <a:endParaRPr lang="en-US"/>
          </a:p>
        </p:txBody>
      </p:sp>
      <p:sp>
        <p:nvSpPr>
          <p:cNvPr id="9" name="TextBox 8">
            <a:extLst>
              <a:ext uri="{FF2B5EF4-FFF2-40B4-BE49-F238E27FC236}">
                <a16:creationId xmlns:a16="http://schemas.microsoft.com/office/drawing/2014/main" id="{D0A43808-D65F-4A8E-D8E0-99F08E46F21B}"/>
              </a:ext>
            </a:extLst>
          </p:cNvPr>
          <p:cNvSpPr txBox="1"/>
          <p:nvPr/>
        </p:nvSpPr>
        <p:spPr>
          <a:xfrm>
            <a:off x="5478966" y="2300616"/>
            <a:ext cx="351058" cy="200055"/>
          </a:xfrm>
          <a:prstGeom prst="rect">
            <a:avLst/>
          </a:prstGeom>
          <a:solidFill>
            <a:schemeClr val="bg1"/>
          </a:solidFill>
        </p:spPr>
        <p:txBody>
          <a:bodyPr wrap="none" lIns="0" tIns="0" rIns="0" bIns="0" rtlCol="0">
            <a:spAutoFit/>
          </a:bodyPr>
          <a:lstStyle/>
          <a:p>
            <a:r>
              <a:rPr lang="en-BE" sz="1300" dirty="0">
                <a:latin typeface="Times New Roman" panose="02020603050405020304" pitchFamily="18" charset="0"/>
                <a:cs typeface="Times New Roman" panose="02020603050405020304" pitchFamily="18" charset="0"/>
              </a:rPr>
              <a:t>BAU</a:t>
            </a:r>
          </a:p>
        </p:txBody>
      </p:sp>
    </p:spTree>
    <p:extLst>
      <p:ext uri="{BB962C8B-B14F-4D97-AF65-F5344CB8AC3E}">
        <p14:creationId xmlns:p14="http://schemas.microsoft.com/office/powerpoint/2010/main" val="238191213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7"/>
                                        </p:tgtEl>
                                        <p:attrNameLst>
                                          <p:attrName>style.visibility</p:attrName>
                                        </p:attrNameLst>
                                      </p:cBhvr>
                                      <p:to>
                                        <p:strVal val="visible"/>
                                      </p:to>
                                    </p:set>
                                  </p:childTnLst>
                                </p:cTn>
                              </p:par>
                            </p:childTnLst>
                          </p:cTn>
                        </p:par>
                        <p:par>
                          <p:cTn id="9" fill="hold">
                            <p:stCondLst>
                              <p:cond delay="0"/>
                            </p:stCondLst>
                            <p:childTnLst>
                              <p:par>
                                <p:cTn id="10" presetID="1" presetClass="entr" presetSubtype="0" fill="hold" grpId="0" nodeType="afterEffect">
                                  <p:stCondLst>
                                    <p:cond delay="0"/>
                                  </p:stCondLst>
                                  <p:childTnLst>
                                    <p:set>
                                      <p:cBhvr>
                                        <p:cTn id="11" dur="1" fill="hold">
                                          <p:stCondLst>
                                            <p:cond delay="0"/>
                                          </p:stCondLst>
                                        </p:cTn>
                                        <p:tgtEl>
                                          <p:spTgt spid="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7" grpId="0" animBg="1"/>
      <p:bldP spid="3" grpId="0"/>
    </p:bld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A6B7F6B-2559-20D5-516D-06BE478C82A7}"/>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7352967F-EEC6-F471-7867-C545D678A27D}"/>
              </a:ext>
            </a:extLst>
          </p:cNvPr>
          <p:cNvSpPr>
            <a:spLocks noGrp="1"/>
          </p:cNvSpPr>
          <p:nvPr>
            <p:ph type="title"/>
          </p:nvPr>
        </p:nvSpPr>
        <p:spPr>
          <a:xfrm>
            <a:off x="914400" y="2070578"/>
            <a:ext cx="10363200" cy="1238250"/>
          </a:xfrm>
        </p:spPr>
        <p:txBody>
          <a:bodyPr anchor="ctr"/>
          <a:lstStyle/>
          <a:p>
            <a:r>
              <a:rPr lang="en-US" dirty="0"/>
              <a:t>Imbalance price prediction</a:t>
            </a:r>
            <a:br>
              <a:rPr lang="en-US" dirty="0"/>
            </a:br>
            <a:r>
              <a:rPr lang="en-US" dirty="0"/>
              <a:t>with Monte Carlo Tree Search (MCTS)</a:t>
            </a:r>
            <a:endParaRPr lang="nl-BE" sz="3200" u="none" dirty="0"/>
          </a:p>
        </p:txBody>
      </p:sp>
      <p:sp>
        <p:nvSpPr>
          <p:cNvPr id="21" name="Footer Placeholder 20">
            <a:extLst>
              <a:ext uri="{FF2B5EF4-FFF2-40B4-BE49-F238E27FC236}">
                <a16:creationId xmlns:a16="http://schemas.microsoft.com/office/drawing/2014/main" id="{43063DF5-8030-AC9E-67E4-147C0F6709DE}"/>
              </a:ext>
            </a:extLst>
          </p:cNvPr>
          <p:cNvSpPr>
            <a:spLocks noGrp="1"/>
          </p:cNvSpPr>
          <p:nvPr>
            <p:ph type="ftr" sz="quarter" idx="10"/>
          </p:nvPr>
        </p:nvSpPr>
        <p:spPr/>
        <p:txBody>
          <a:bodyPr/>
          <a:lstStyle/>
          <a:p>
            <a:pPr>
              <a:defRPr/>
            </a:pPr>
            <a:r>
              <a:rPr lang="en-US"/>
              <a:t>C. Develder, "AI4E: Data-efficient and scalable algorithmss to exploit energy flexibility"</a:t>
            </a:r>
          </a:p>
        </p:txBody>
      </p:sp>
      <p:sp>
        <p:nvSpPr>
          <p:cNvPr id="5" name="TextBox 4">
            <a:extLst>
              <a:ext uri="{FF2B5EF4-FFF2-40B4-BE49-F238E27FC236}">
                <a16:creationId xmlns:a16="http://schemas.microsoft.com/office/drawing/2014/main" id="{0E760A7D-E0B6-1AF3-BEE3-2968EE8D07CD}"/>
              </a:ext>
            </a:extLst>
          </p:cNvPr>
          <p:cNvSpPr txBox="1"/>
          <p:nvPr/>
        </p:nvSpPr>
        <p:spPr>
          <a:xfrm>
            <a:off x="5357186" y="764900"/>
            <a:ext cx="2130711" cy="1077218"/>
          </a:xfrm>
          <a:prstGeom prst="rect">
            <a:avLst/>
          </a:prstGeom>
          <a:noFill/>
        </p:spPr>
        <p:txBody>
          <a:bodyPr wrap="none" rtlCol="0">
            <a:spAutoFit/>
          </a:bodyPr>
          <a:lstStyle/>
          <a:p>
            <a:r>
              <a:rPr lang="en-BE" sz="3200" dirty="0">
                <a:solidFill>
                  <a:schemeClr val="bg1"/>
                </a:solidFill>
                <a:latin typeface="+mj-lt"/>
              </a:rPr>
              <a:t>Support Tools</a:t>
            </a:r>
            <a:br>
              <a:rPr lang="en-BE" sz="3200" dirty="0">
                <a:solidFill>
                  <a:schemeClr val="bg1"/>
                </a:solidFill>
                <a:latin typeface="+mj-lt"/>
              </a:rPr>
            </a:br>
            <a:r>
              <a:rPr lang="en-BE" sz="3200" dirty="0">
                <a:solidFill>
                  <a:schemeClr val="bg1"/>
                </a:solidFill>
                <a:latin typeface="+mj-lt"/>
              </a:rPr>
              <a:t>for DSO &amp; TSO</a:t>
            </a:r>
          </a:p>
        </p:txBody>
      </p:sp>
      <p:sp>
        <p:nvSpPr>
          <p:cNvPr id="10" name="TextBox 9">
            <a:extLst>
              <a:ext uri="{FF2B5EF4-FFF2-40B4-BE49-F238E27FC236}">
                <a16:creationId xmlns:a16="http://schemas.microsoft.com/office/drawing/2014/main" id="{E2B823A7-85A5-4CE9-E58B-BCFCA2F4595E}"/>
              </a:ext>
            </a:extLst>
          </p:cNvPr>
          <p:cNvSpPr txBox="1"/>
          <p:nvPr/>
        </p:nvSpPr>
        <p:spPr>
          <a:xfrm rot="19968531">
            <a:off x="8570533" y="5361032"/>
            <a:ext cx="873957" cy="758093"/>
          </a:xfrm>
          <a:prstGeom prst="rect">
            <a:avLst/>
          </a:prstGeom>
          <a:noFill/>
        </p:spPr>
        <p:txBody>
          <a:bodyPr wrap="none" rtlCol="0">
            <a:spAutoFit/>
          </a:bodyPr>
          <a:lstStyle/>
          <a:p>
            <a:pPr>
              <a:lnSpc>
                <a:spcPct val="70000"/>
              </a:lnSpc>
            </a:pPr>
            <a:r>
              <a:rPr lang="en-US" sz="2000" dirty="0">
                <a:solidFill>
                  <a:schemeClr val="accent4"/>
                </a:solidFill>
                <a:latin typeface="Caveat" charset="0"/>
                <a:ea typeface="Caveat" charset="0"/>
                <a:cs typeface="Caveat" charset="0"/>
              </a:rPr>
              <a:t>Thanks</a:t>
            </a:r>
          </a:p>
          <a:p>
            <a:pPr>
              <a:lnSpc>
                <a:spcPct val="70000"/>
              </a:lnSpc>
            </a:pPr>
            <a:r>
              <a:rPr lang="en-US" sz="2000" dirty="0">
                <a:solidFill>
                  <a:schemeClr val="accent4"/>
                </a:solidFill>
                <a:latin typeface="Caveat" charset="0"/>
                <a:ea typeface="Caveat" charset="0"/>
                <a:cs typeface="Caveat" charset="0"/>
              </a:rPr>
              <a:t>Fabio &amp;</a:t>
            </a:r>
            <a:br>
              <a:rPr lang="en-US" sz="2000" dirty="0">
                <a:solidFill>
                  <a:schemeClr val="accent4"/>
                </a:solidFill>
                <a:latin typeface="Caveat" charset="0"/>
                <a:ea typeface="Caveat" charset="0"/>
                <a:cs typeface="Caveat" charset="0"/>
              </a:rPr>
            </a:br>
            <a:r>
              <a:rPr lang="en-US" sz="2000" dirty="0">
                <a:solidFill>
                  <a:schemeClr val="accent4"/>
                </a:solidFill>
                <a:latin typeface="Caveat" charset="0"/>
                <a:ea typeface="Caveat" charset="0"/>
                <a:cs typeface="Caveat" charset="0"/>
              </a:rPr>
              <a:t>Jonas!</a:t>
            </a:r>
          </a:p>
        </p:txBody>
      </p:sp>
      <p:sp>
        <p:nvSpPr>
          <p:cNvPr id="11" name="Freeform 10">
            <a:extLst>
              <a:ext uri="{FF2B5EF4-FFF2-40B4-BE49-F238E27FC236}">
                <a16:creationId xmlns:a16="http://schemas.microsoft.com/office/drawing/2014/main" id="{3EC07D3E-EF68-3B7A-392D-22C9BDBCD26E}"/>
              </a:ext>
            </a:extLst>
          </p:cNvPr>
          <p:cNvSpPr/>
          <p:nvPr/>
        </p:nvSpPr>
        <p:spPr>
          <a:xfrm rot="679189">
            <a:off x="9472081" y="5487066"/>
            <a:ext cx="607162" cy="152644"/>
          </a:xfrm>
          <a:custGeom>
            <a:avLst/>
            <a:gdLst>
              <a:gd name="connsiteX0" fmla="*/ 0 w 607162"/>
              <a:gd name="connsiteY0" fmla="*/ 234087 h 234087"/>
              <a:gd name="connsiteX1" fmla="*/ 256032 w 607162"/>
              <a:gd name="connsiteY1" fmla="*/ 14631 h 234087"/>
              <a:gd name="connsiteX2" fmla="*/ 607162 w 607162"/>
              <a:gd name="connsiteY2" fmla="*/ 0 h 234087"/>
              <a:gd name="connsiteX0" fmla="*/ 0 w 607162"/>
              <a:gd name="connsiteY0" fmla="*/ 240072 h 240072"/>
              <a:gd name="connsiteX1" fmla="*/ 256032 w 607162"/>
              <a:gd name="connsiteY1" fmla="*/ 20616 h 240072"/>
              <a:gd name="connsiteX2" fmla="*/ 607162 w 607162"/>
              <a:gd name="connsiteY2" fmla="*/ 5985 h 240072"/>
              <a:gd name="connsiteX0" fmla="*/ 0 w 607162"/>
              <a:gd name="connsiteY0" fmla="*/ 249592 h 249592"/>
              <a:gd name="connsiteX1" fmla="*/ 256032 w 607162"/>
              <a:gd name="connsiteY1" fmla="*/ 30136 h 249592"/>
              <a:gd name="connsiteX2" fmla="*/ 607162 w 607162"/>
              <a:gd name="connsiteY2" fmla="*/ 15505 h 249592"/>
              <a:gd name="connsiteX0" fmla="*/ 0 w 607162"/>
              <a:gd name="connsiteY0" fmla="*/ 249592 h 249592"/>
              <a:gd name="connsiteX1" fmla="*/ 256032 w 607162"/>
              <a:gd name="connsiteY1" fmla="*/ 30136 h 249592"/>
              <a:gd name="connsiteX2" fmla="*/ 607162 w 607162"/>
              <a:gd name="connsiteY2" fmla="*/ 15505 h 249592"/>
              <a:gd name="connsiteX0" fmla="*/ 0 w 607162"/>
              <a:gd name="connsiteY0" fmla="*/ 249592 h 249592"/>
              <a:gd name="connsiteX1" fmla="*/ 256032 w 607162"/>
              <a:gd name="connsiteY1" fmla="*/ 30136 h 249592"/>
              <a:gd name="connsiteX2" fmla="*/ 607162 w 607162"/>
              <a:gd name="connsiteY2" fmla="*/ 15505 h 249592"/>
              <a:gd name="connsiteX0" fmla="*/ 0 w 607162"/>
              <a:gd name="connsiteY0" fmla="*/ 258833 h 258833"/>
              <a:gd name="connsiteX1" fmla="*/ 256032 w 607162"/>
              <a:gd name="connsiteY1" fmla="*/ 39377 h 258833"/>
              <a:gd name="connsiteX2" fmla="*/ 607162 w 607162"/>
              <a:gd name="connsiteY2" fmla="*/ 24746 h 258833"/>
              <a:gd name="connsiteX0" fmla="*/ 0 w 607162"/>
              <a:gd name="connsiteY0" fmla="*/ 258833 h 258833"/>
              <a:gd name="connsiteX1" fmla="*/ 256032 w 607162"/>
              <a:gd name="connsiteY1" fmla="*/ 39377 h 258833"/>
              <a:gd name="connsiteX2" fmla="*/ 607162 w 607162"/>
              <a:gd name="connsiteY2" fmla="*/ 24746 h 258833"/>
              <a:gd name="connsiteX0" fmla="*/ 0 w 607162"/>
              <a:gd name="connsiteY0" fmla="*/ 257095 h 257095"/>
              <a:gd name="connsiteX1" fmla="*/ 235862 w 607162"/>
              <a:gd name="connsiteY1" fmla="*/ 41001 h 257095"/>
              <a:gd name="connsiteX2" fmla="*/ 607162 w 607162"/>
              <a:gd name="connsiteY2" fmla="*/ 23008 h 257095"/>
              <a:gd name="connsiteX0" fmla="*/ 0 w 607162"/>
              <a:gd name="connsiteY0" fmla="*/ 257095 h 257095"/>
              <a:gd name="connsiteX1" fmla="*/ 235862 w 607162"/>
              <a:gd name="connsiteY1" fmla="*/ 41001 h 257095"/>
              <a:gd name="connsiteX2" fmla="*/ 607162 w 607162"/>
              <a:gd name="connsiteY2" fmla="*/ 23008 h 257095"/>
              <a:gd name="connsiteX0" fmla="*/ 0 w 607162"/>
              <a:gd name="connsiteY0" fmla="*/ 253450 h 253450"/>
              <a:gd name="connsiteX1" fmla="*/ 235862 w 607162"/>
              <a:gd name="connsiteY1" fmla="*/ 37356 h 253450"/>
              <a:gd name="connsiteX2" fmla="*/ 607162 w 607162"/>
              <a:gd name="connsiteY2" fmla="*/ 19363 h 253450"/>
              <a:gd name="connsiteX0" fmla="*/ 0 w 607162"/>
              <a:gd name="connsiteY0" fmla="*/ 253450 h 253450"/>
              <a:gd name="connsiteX1" fmla="*/ 235862 w 607162"/>
              <a:gd name="connsiteY1" fmla="*/ 37356 h 253450"/>
              <a:gd name="connsiteX2" fmla="*/ 607162 w 607162"/>
              <a:gd name="connsiteY2" fmla="*/ 19363 h 253450"/>
            </a:gdLst>
            <a:ahLst/>
            <a:cxnLst>
              <a:cxn ang="0">
                <a:pos x="connsiteX0" y="connsiteY0"/>
              </a:cxn>
              <a:cxn ang="0">
                <a:pos x="connsiteX1" y="connsiteY1"/>
              </a:cxn>
              <a:cxn ang="0">
                <a:pos x="connsiteX2" y="connsiteY2"/>
              </a:cxn>
            </a:cxnLst>
            <a:rect l="l" t="t" r="r" b="b"/>
            <a:pathLst>
              <a:path w="607162" h="253450">
                <a:moveTo>
                  <a:pt x="0" y="253450"/>
                </a:moveTo>
                <a:cubicBezTo>
                  <a:pt x="20286" y="217088"/>
                  <a:pt x="96317" y="98316"/>
                  <a:pt x="235862" y="37356"/>
                </a:cubicBezTo>
                <a:cubicBezTo>
                  <a:pt x="375407" y="-23604"/>
                  <a:pt x="523145" y="5065"/>
                  <a:pt x="607162" y="19363"/>
                </a:cubicBezTo>
              </a:path>
            </a:pathLst>
          </a:custGeom>
          <a:noFill/>
          <a:ln w="12700">
            <a:solidFill>
              <a:schemeClr val="accent4"/>
            </a:solidFill>
            <a:headEnd type="none" w="med" len="med"/>
            <a:tailEnd type="triangl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2" name="Picture 11">
            <a:extLst>
              <a:ext uri="{FF2B5EF4-FFF2-40B4-BE49-F238E27FC236}">
                <a16:creationId xmlns:a16="http://schemas.microsoft.com/office/drawing/2014/main" id="{71611526-F897-36C0-4990-B44F198EC976}"/>
              </a:ext>
            </a:extLst>
          </p:cNvPr>
          <p:cNvPicPr>
            <a:picLocks noChangeAspect="1"/>
          </p:cNvPicPr>
          <p:nvPr/>
        </p:nvPicPr>
        <p:blipFill>
          <a:blip r:embed="rId3">
            <a:extLst>
              <a:ext uri="{28A0092B-C50C-407E-A947-70E740481C1C}">
                <a14:useLocalDpi xmlns:a14="http://schemas.microsoft.com/office/drawing/2010/main" val="0"/>
              </a:ext>
            </a:extLst>
          </a:blip>
          <a:srcRect l="1467" r="1467"/>
          <a:stretch/>
        </p:blipFill>
        <p:spPr>
          <a:xfrm rot="20700000">
            <a:off x="10097629" y="4787743"/>
            <a:ext cx="802912" cy="827190"/>
          </a:xfrm>
          <a:prstGeom prst="rect">
            <a:avLst/>
          </a:prstGeom>
          <a:ln>
            <a:noFill/>
          </a:ln>
          <a:effectLst>
            <a:outerShdw blurRad="292100" dist="139700" dir="2700000" algn="tl" rotWithShape="0">
              <a:srgbClr val="333333">
                <a:alpha val="65000"/>
              </a:srgbClr>
            </a:outerShdw>
          </a:effectLst>
        </p:spPr>
      </p:pic>
      <p:sp>
        <p:nvSpPr>
          <p:cNvPr id="13" name="Horizontal Scroll 12">
            <a:extLst>
              <a:ext uri="{FF2B5EF4-FFF2-40B4-BE49-F238E27FC236}">
                <a16:creationId xmlns:a16="http://schemas.microsoft.com/office/drawing/2014/main" id="{BAFF9D69-F50B-7761-F945-1C3B6827DC20}"/>
              </a:ext>
            </a:extLst>
          </p:cNvPr>
          <p:cNvSpPr/>
          <p:nvPr/>
        </p:nvSpPr>
        <p:spPr>
          <a:xfrm>
            <a:off x="2998816" y="4309903"/>
            <a:ext cx="6270495" cy="962972"/>
          </a:xfrm>
          <a:prstGeom prst="horizontalScroll">
            <a:avLst>
              <a:gd name="adj" fmla="val 14424"/>
            </a:avLst>
          </a:prstGeom>
          <a:solidFill>
            <a:srgbClr val="FFD34C"/>
          </a:solidFill>
          <a:ln>
            <a:noFill/>
          </a:ln>
        </p:spPr>
        <p:style>
          <a:lnRef idx="1">
            <a:schemeClr val="accent1"/>
          </a:lnRef>
          <a:fillRef idx="3">
            <a:schemeClr val="accent1"/>
          </a:fillRef>
          <a:effectRef idx="2">
            <a:schemeClr val="accent1"/>
          </a:effectRef>
          <a:fontRef idx="minor">
            <a:schemeClr val="lt1"/>
          </a:fontRef>
        </p:style>
        <p:txBody>
          <a:bodyPr tIns="46800" rIns="90000" rtlCol="0" anchor="ctr"/>
          <a:lstStyle/>
          <a:p>
            <a:r>
              <a:rPr lang="en-GB" sz="1200" dirty="0">
                <a:solidFill>
                  <a:schemeClr val="accent4">
                    <a:lumMod val="50000"/>
                  </a:schemeClr>
                </a:solidFill>
              </a:rPr>
              <a:t>J. Van </a:t>
            </a:r>
            <a:r>
              <a:rPr lang="en-GB" sz="1200" dirty="0" err="1">
                <a:solidFill>
                  <a:schemeClr val="accent4">
                    <a:lumMod val="50000"/>
                  </a:schemeClr>
                </a:solidFill>
              </a:rPr>
              <a:t>Gompel</a:t>
            </a:r>
            <a:r>
              <a:rPr lang="en-GB" sz="1200" dirty="0">
                <a:solidFill>
                  <a:schemeClr val="accent4">
                    <a:lumMod val="50000"/>
                  </a:schemeClr>
                </a:solidFill>
              </a:rPr>
              <a:t>, B. Claessens and C. Develder, </a:t>
            </a:r>
            <a:r>
              <a:rPr lang="en-GB" sz="1200" b="1" dirty="0">
                <a:solidFill>
                  <a:schemeClr val="accent4">
                    <a:lumMod val="50000"/>
                  </a:schemeClr>
                </a:solidFill>
              </a:rPr>
              <a:t>"Probabilistic forecasting of power system imbalance using neural network-based ensembles"</a:t>
            </a:r>
            <a:r>
              <a:rPr lang="en-GB" sz="1200" dirty="0">
                <a:solidFill>
                  <a:schemeClr val="accent4">
                    <a:lumMod val="50000"/>
                  </a:schemeClr>
                </a:solidFill>
              </a:rPr>
              <a:t>, Appl. Energy, Vol. 401, Part B, No. 126714, Dec. 2025. </a:t>
            </a:r>
            <a:r>
              <a:rPr lang="en-GB" sz="1200" dirty="0">
                <a:solidFill>
                  <a:schemeClr val="accent4">
                    <a:lumMod val="50000"/>
                  </a:schemeClr>
                </a:solidFill>
                <a:hlinkClick r:id="rId4"/>
              </a:rPr>
              <a:t>doi:10.1016/j.apenergy.22025.126714</a:t>
            </a:r>
            <a:endParaRPr lang="en-US" sz="1200" dirty="0">
              <a:solidFill>
                <a:schemeClr val="accent4">
                  <a:lumMod val="50000"/>
                </a:schemeClr>
              </a:solidFill>
              <a:latin typeface="UGent Panno Text" charset="0"/>
              <a:ea typeface="UGent Panno Text" charset="0"/>
              <a:cs typeface="UGent Panno Text" charset="0"/>
            </a:endParaRPr>
          </a:p>
        </p:txBody>
      </p:sp>
      <p:pic>
        <p:nvPicPr>
          <p:cNvPr id="14" name="Picture 13">
            <a:extLst>
              <a:ext uri="{FF2B5EF4-FFF2-40B4-BE49-F238E27FC236}">
                <a16:creationId xmlns:a16="http://schemas.microsoft.com/office/drawing/2014/main" id="{44BB4EE1-F1BB-9431-D2BD-3474903CD273}"/>
              </a:ext>
            </a:extLst>
          </p:cNvPr>
          <p:cNvPicPr>
            <a:picLocks noChangeAspect="1"/>
          </p:cNvPicPr>
          <p:nvPr/>
        </p:nvPicPr>
        <p:blipFill>
          <a:blip r:embed="rId5">
            <a:extLst>
              <a:ext uri="{28A0092B-C50C-407E-A947-70E740481C1C}">
                <a14:useLocalDpi xmlns:a14="http://schemas.microsoft.com/office/drawing/2010/main" val="0"/>
              </a:ext>
            </a:extLst>
          </a:blip>
          <a:srcRect l="1467" r="1467"/>
          <a:stretch/>
        </p:blipFill>
        <p:spPr>
          <a:xfrm rot="1001010">
            <a:off x="10806982" y="5069342"/>
            <a:ext cx="802912" cy="827190"/>
          </a:xfrm>
          <a:prstGeom prst="rect">
            <a:avLst/>
          </a:prstGeom>
          <a:ln>
            <a:noFill/>
          </a:ln>
          <a:effectLst>
            <a:outerShdw blurRad="292100" dist="139700" dir="2700000" algn="tl" rotWithShape="0">
              <a:srgbClr val="333333">
                <a:alpha val="65000"/>
              </a:srgbClr>
            </a:outerShdw>
          </a:effectLst>
        </p:spPr>
      </p:pic>
      <p:sp>
        <p:nvSpPr>
          <p:cNvPr id="15" name="Horizontal Scroll 14">
            <a:extLst>
              <a:ext uri="{FF2B5EF4-FFF2-40B4-BE49-F238E27FC236}">
                <a16:creationId xmlns:a16="http://schemas.microsoft.com/office/drawing/2014/main" id="{FE61799A-17FD-833D-9328-C85F25B42B49}"/>
              </a:ext>
            </a:extLst>
          </p:cNvPr>
          <p:cNvSpPr/>
          <p:nvPr/>
        </p:nvSpPr>
        <p:spPr>
          <a:xfrm>
            <a:off x="2998816" y="3530636"/>
            <a:ext cx="6270495" cy="962972"/>
          </a:xfrm>
          <a:prstGeom prst="horizontalScroll">
            <a:avLst>
              <a:gd name="adj" fmla="val 14424"/>
            </a:avLst>
          </a:prstGeom>
          <a:solidFill>
            <a:srgbClr val="FFD34C"/>
          </a:solidFill>
          <a:ln>
            <a:noFill/>
          </a:ln>
        </p:spPr>
        <p:style>
          <a:lnRef idx="1">
            <a:schemeClr val="accent1"/>
          </a:lnRef>
          <a:fillRef idx="3">
            <a:schemeClr val="accent1"/>
          </a:fillRef>
          <a:effectRef idx="2">
            <a:schemeClr val="accent1"/>
          </a:effectRef>
          <a:fontRef idx="minor">
            <a:schemeClr val="lt1"/>
          </a:fontRef>
        </p:style>
        <p:txBody>
          <a:bodyPr tIns="46800" rIns="90000" rtlCol="0" anchor="ctr"/>
          <a:lstStyle/>
          <a:p>
            <a:r>
              <a:rPr lang="en-GB" sz="1200" dirty="0">
                <a:solidFill>
                  <a:schemeClr val="accent4">
                    <a:lumMod val="50000"/>
                  </a:schemeClr>
                </a:solidFill>
              </a:rPr>
              <a:t>F. </a:t>
            </a:r>
            <a:r>
              <a:rPr lang="en-GB" sz="1200" dirty="0" err="1">
                <a:solidFill>
                  <a:schemeClr val="accent4">
                    <a:lumMod val="50000"/>
                  </a:schemeClr>
                </a:solidFill>
              </a:rPr>
              <a:t>Pavirani</a:t>
            </a:r>
            <a:r>
              <a:rPr lang="en-GB" sz="1200" dirty="0">
                <a:solidFill>
                  <a:schemeClr val="accent4">
                    <a:lumMod val="50000"/>
                  </a:schemeClr>
                </a:solidFill>
              </a:rPr>
              <a:t>, J. Van </a:t>
            </a:r>
            <a:r>
              <a:rPr lang="en-GB" sz="1200" dirty="0" err="1">
                <a:solidFill>
                  <a:schemeClr val="accent4">
                    <a:lumMod val="50000"/>
                  </a:schemeClr>
                </a:solidFill>
              </a:rPr>
              <a:t>Gompel</a:t>
            </a:r>
            <a:r>
              <a:rPr lang="en-GB" sz="1200" dirty="0">
                <a:solidFill>
                  <a:schemeClr val="accent4">
                    <a:lumMod val="50000"/>
                  </a:schemeClr>
                </a:solidFill>
              </a:rPr>
              <a:t>, S.S. Karimi </a:t>
            </a:r>
            <a:r>
              <a:rPr lang="en-GB" sz="1200" dirty="0" err="1">
                <a:solidFill>
                  <a:schemeClr val="accent4">
                    <a:lumMod val="50000"/>
                  </a:schemeClr>
                </a:solidFill>
              </a:rPr>
              <a:t>Madahi</a:t>
            </a:r>
            <a:r>
              <a:rPr lang="en-GB" sz="1200" dirty="0">
                <a:solidFill>
                  <a:schemeClr val="accent4">
                    <a:lumMod val="50000"/>
                  </a:schemeClr>
                </a:solidFill>
              </a:rPr>
              <a:t>, B. Claessens and C. Develder, </a:t>
            </a:r>
            <a:r>
              <a:rPr lang="en-GB" sz="1200" b="1" dirty="0">
                <a:solidFill>
                  <a:schemeClr val="accent4">
                    <a:lumMod val="50000"/>
                  </a:schemeClr>
                </a:solidFill>
              </a:rPr>
              <a:t>"Predicting and publishing accurate imbalance prices using Monte Carlo Tree Search"</a:t>
            </a:r>
            <a:r>
              <a:rPr lang="en-GB" sz="1200" dirty="0">
                <a:solidFill>
                  <a:schemeClr val="accent4">
                    <a:lumMod val="50000"/>
                  </a:schemeClr>
                </a:solidFill>
              </a:rPr>
              <a:t>, Appl. Energy, Vol. 392, No. 125944, 15 Aug. 2025. </a:t>
            </a:r>
            <a:r>
              <a:rPr lang="en-GB" sz="1200" dirty="0">
                <a:solidFill>
                  <a:schemeClr val="accent4">
                    <a:lumMod val="50000"/>
                  </a:schemeClr>
                </a:solidFill>
                <a:hlinkClick r:id="rId6"/>
              </a:rPr>
              <a:t>doi:10.1016/j.apenergy.2025.125944</a:t>
            </a:r>
            <a:endParaRPr lang="en-US" sz="1200" dirty="0">
              <a:solidFill>
                <a:schemeClr val="accent4">
                  <a:lumMod val="50000"/>
                </a:schemeClr>
              </a:solidFill>
              <a:latin typeface="UGent Panno Text" charset="0"/>
              <a:ea typeface="UGent Panno Text" charset="0"/>
              <a:cs typeface="UGent Panno Text" charset="0"/>
            </a:endParaRPr>
          </a:p>
        </p:txBody>
      </p:sp>
      <p:pic>
        <p:nvPicPr>
          <p:cNvPr id="4" name="Picture 3">
            <a:extLst>
              <a:ext uri="{FF2B5EF4-FFF2-40B4-BE49-F238E27FC236}">
                <a16:creationId xmlns:a16="http://schemas.microsoft.com/office/drawing/2014/main" id="{95EB20D4-33CA-601B-6C6C-F3CD6BCBED9B}"/>
              </a:ext>
            </a:extLst>
          </p:cNvPr>
          <p:cNvPicPr>
            <a:picLocks noChangeAspect="1"/>
          </p:cNvPicPr>
          <p:nvPr/>
        </p:nvPicPr>
        <p:blipFill>
          <a:blip r:embed="rId7"/>
          <a:stretch>
            <a:fillRect/>
          </a:stretch>
        </p:blipFill>
        <p:spPr>
          <a:xfrm>
            <a:off x="4244824" y="822957"/>
            <a:ext cx="1090270" cy="957310"/>
          </a:xfrm>
          <a:prstGeom prst="rect">
            <a:avLst/>
          </a:prstGeom>
        </p:spPr>
      </p:pic>
      <p:sp>
        <p:nvSpPr>
          <p:cNvPr id="7" name="Slide Number Placeholder 6">
            <a:extLst>
              <a:ext uri="{FF2B5EF4-FFF2-40B4-BE49-F238E27FC236}">
                <a16:creationId xmlns:a16="http://schemas.microsoft.com/office/drawing/2014/main" id="{3B098BF9-2FFF-DB25-C927-5FF3ED15C183}"/>
              </a:ext>
            </a:extLst>
          </p:cNvPr>
          <p:cNvSpPr>
            <a:spLocks noGrp="1"/>
          </p:cNvSpPr>
          <p:nvPr>
            <p:ph type="sldNum" sz="quarter" idx="11"/>
          </p:nvPr>
        </p:nvSpPr>
        <p:spPr/>
        <p:txBody>
          <a:bodyPr/>
          <a:lstStyle/>
          <a:p>
            <a:pPr>
              <a:defRPr/>
            </a:pPr>
            <a:fld id="{837B71E7-1BA8-4BCA-B4F0-4746BEDF418B}" type="slidenum">
              <a:rPr lang="en-US" smtClean="0"/>
              <a:pPr>
                <a:defRPr/>
              </a:pPr>
              <a:t>27</a:t>
            </a:fld>
            <a:endParaRPr lang="en-US"/>
          </a:p>
        </p:txBody>
      </p:sp>
    </p:spTree>
    <p:extLst>
      <p:ext uri="{BB962C8B-B14F-4D97-AF65-F5344CB8AC3E}">
        <p14:creationId xmlns:p14="http://schemas.microsoft.com/office/powerpoint/2010/main" val="308544372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withEffect">
                                  <p:stCondLst>
                                    <p:cond delay="0"/>
                                  </p:stCondLst>
                                  <p:childTnLst>
                                    <p:set>
                                      <p:cBhvr>
                                        <p:cTn id="6" dur="1" fill="hold">
                                          <p:stCondLst>
                                            <p:cond delay="0"/>
                                          </p:stCondLst>
                                        </p:cTn>
                                        <p:tgtEl>
                                          <p:spTgt spid="15"/>
                                        </p:tgtEl>
                                        <p:attrNameLst>
                                          <p:attrName>style.visibility</p:attrName>
                                        </p:attrNameLst>
                                      </p:cBhvr>
                                      <p:to>
                                        <p:strVal val="visible"/>
                                      </p:to>
                                    </p:set>
                                    <p:animEffect transition="in" filter="wipe(left)">
                                      <p:cBhvr>
                                        <p:cTn id="7" dur="500"/>
                                        <p:tgtEl>
                                          <p:spTgt spid="15"/>
                                        </p:tgtEl>
                                      </p:cBhvr>
                                    </p:animEffect>
                                  </p:childTnLst>
                                </p:cTn>
                              </p:par>
                              <p:par>
                                <p:cTn id="8" presetID="22" presetClass="entr" presetSubtype="8" fill="hold" grpId="0" nodeType="withEffect">
                                  <p:stCondLst>
                                    <p:cond delay="0"/>
                                  </p:stCondLst>
                                  <p:childTnLst>
                                    <p:set>
                                      <p:cBhvr>
                                        <p:cTn id="9" dur="1" fill="hold">
                                          <p:stCondLst>
                                            <p:cond delay="0"/>
                                          </p:stCondLst>
                                        </p:cTn>
                                        <p:tgtEl>
                                          <p:spTgt spid="13"/>
                                        </p:tgtEl>
                                        <p:attrNameLst>
                                          <p:attrName>style.visibility</p:attrName>
                                        </p:attrNameLst>
                                      </p:cBhvr>
                                      <p:to>
                                        <p:strVal val="visible"/>
                                      </p:to>
                                    </p:set>
                                    <p:animEffect transition="in" filter="wipe(left)">
                                      <p:cBhvr>
                                        <p:cTn id="10" dur="500"/>
                                        <p:tgtEl>
                                          <p:spTgt spid="13"/>
                                        </p:tgtEl>
                                      </p:cBhvr>
                                    </p:animEffect>
                                  </p:childTnLst>
                                </p:cTn>
                              </p:par>
                            </p:childTnLst>
                          </p:cTn>
                        </p:par>
                        <p:par>
                          <p:cTn id="11" fill="hold">
                            <p:stCondLst>
                              <p:cond delay="500"/>
                            </p:stCondLst>
                            <p:childTnLst>
                              <p:par>
                                <p:cTn id="12" presetID="1" presetClass="entr" presetSubtype="0" fill="hold" grpId="0" nodeType="afterEffect">
                                  <p:stCondLst>
                                    <p:cond delay="0"/>
                                  </p:stCondLst>
                                  <p:childTnLst>
                                    <p:set>
                                      <p:cBhvr>
                                        <p:cTn id="13" dur="1" fill="hold">
                                          <p:stCondLst>
                                            <p:cond delay="0"/>
                                          </p:stCondLst>
                                        </p:cTn>
                                        <p:tgtEl>
                                          <p:spTgt spid="11"/>
                                        </p:tgtEl>
                                        <p:attrNameLst>
                                          <p:attrName>style.visibility</p:attrName>
                                        </p:attrNameLst>
                                      </p:cBhvr>
                                      <p:to>
                                        <p:strVal val="visible"/>
                                      </p:to>
                                    </p:set>
                                  </p:childTnLst>
                                </p:cTn>
                              </p:par>
                              <p:par>
                                <p:cTn id="14" presetID="1" presetClass="entr" presetSubtype="0" fill="hold" grpId="0" nodeType="withEffect">
                                  <p:stCondLst>
                                    <p:cond delay="0"/>
                                  </p:stCondLst>
                                  <p:childTnLst>
                                    <p:set>
                                      <p:cBhvr>
                                        <p:cTn id="15" dur="1" fill="hold">
                                          <p:stCondLst>
                                            <p:cond delay="0"/>
                                          </p:stCondLst>
                                        </p:cTn>
                                        <p:tgtEl>
                                          <p:spTgt spid="10"/>
                                        </p:tgtEl>
                                        <p:attrNameLst>
                                          <p:attrName>style.visibility</p:attrName>
                                        </p:attrNameLst>
                                      </p:cBhvr>
                                      <p:to>
                                        <p:strVal val="visible"/>
                                      </p:to>
                                    </p:set>
                                  </p:childTnLst>
                                </p:cTn>
                              </p:par>
                              <p:par>
                                <p:cTn id="16" presetID="1" presetClass="entr" presetSubtype="0" fill="hold" nodeType="withEffect">
                                  <p:stCondLst>
                                    <p:cond delay="0"/>
                                  </p:stCondLst>
                                  <p:childTnLst>
                                    <p:set>
                                      <p:cBhvr>
                                        <p:cTn id="17" dur="1" fill="hold">
                                          <p:stCondLst>
                                            <p:cond delay="0"/>
                                          </p:stCondLst>
                                        </p:cTn>
                                        <p:tgtEl>
                                          <p:spTgt spid="12"/>
                                        </p:tgtEl>
                                        <p:attrNameLst>
                                          <p:attrName>style.visibility</p:attrName>
                                        </p:attrNameLst>
                                      </p:cBhvr>
                                      <p:to>
                                        <p:strVal val="visible"/>
                                      </p:to>
                                    </p:set>
                                  </p:childTnLst>
                                </p:cTn>
                              </p:par>
                              <p:par>
                                <p:cTn id="18" presetID="1" presetClass="entr" presetSubtype="0" fill="hold" nodeType="withEffect">
                                  <p:stCondLst>
                                    <p:cond delay="0"/>
                                  </p:stCondLst>
                                  <p:childTnLst>
                                    <p:set>
                                      <p:cBhvr>
                                        <p:cTn id="19" dur="1" fill="hold">
                                          <p:stCondLst>
                                            <p:cond delay="0"/>
                                          </p:stCondLst>
                                        </p:cTn>
                                        <p:tgtEl>
                                          <p:spTgt spid="1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p:bldP spid="11" grpId="0" animBg="1"/>
      <p:bldP spid="13" grpId="0" animBg="1"/>
      <p:bldP spid="15" grpId="0" animBg="1"/>
    </p:bld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D3197DA-EE0F-5CCF-A243-946AEE6F2935}"/>
            </a:ext>
          </a:extLst>
        </p:cNvPr>
        <p:cNvGrpSpPr/>
        <p:nvPr/>
      </p:nvGrpSpPr>
      <p:grpSpPr>
        <a:xfrm>
          <a:off x="0" y="0"/>
          <a:ext cx="0" cy="0"/>
          <a:chOff x="0" y="0"/>
          <a:chExt cx="0" cy="0"/>
        </a:xfrm>
      </p:grpSpPr>
      <p:sp>
        <p:nvSpPr>
          <p:cNvPr id="6" name="Content Placeholder 5">
            <a:extLst>
              <a:ext uri="{FF2B5EF4-FFF2-40B4-BE49-F238E27FC236}">
                <a16:creationId xmlns:a16="http://schemas.microsoft.com/office/drawing/2014/main" id="{82EB4C7D-B714-AE8E-31D5-6AD7ECCD60F8}"/>
              </a:ext>
            </a:extLst>
          </p:cNvPr>
          <p:cNvSpPr>
            <a:spLocks noGrp="1"/>
          </p:cNvSpPr>
          <p:nvPr>
            <p:ph idx="1"/>
          </p:nvPr>
        </p:nvSpPr>
        <p:spPr>
          <a:xfrm>
            <a:off x="476211" y="1359879"/>
            <a:ext cx="11400407" cy="1586850"/>
          </a:xfrm>
        </p:spPr>
        <p:txBody>
          <a:bodyPr/>
          <a:lstStyle/>
          <a:p>
            <a:pPr>
              <a:tabLst>
                <a:tab pos="5240338" algn="l"/>
                <a:tab pos="5816600" algn="l"/>
              </a:tabLst>
            </a:pPr>
            <a:r>
              <a:rPr lang="en-BE" b="1" dirty="0"/>
              <a:t>Generation</a:t>
            </a:r>
            <a:r>
              <a:rPr lang="en-BE" dirty="0"/>
              <a:t>: Renewable sources	</a:t>
            </a:r>
            <a:r>
              <a:rPr lang="en-BE" b="1" dirty="0"/>
              <a:t>Load</a:t>
            </a:r>
            <a:r>
              <a:rPr lang="en-BE" dirty="0"/>
              <a:t>:  Increased electrification</a:t>
            </a:r>
          </a:p>
          <a:p>
            <a:pPr>
              <a:tabLst>
                <a:tab pos="5240338" algn="l"/>
                <a:tab pos="5816600" algn="l"/>
              </a:tabLst>
            </a:pPr>
            <a:endParaRPr lang="en-BE" sz="1200" dirty="0"/>
          </a:p>
          <a:p>
            <a:pPr>
              <a:tabLst>
                <a:tab pos="5240338" algn="l"/>
                <a:tab pos="5816600" algn="l"/>
              </a:tabLst>
            </a:pPr>
            <a:endParaRPr lang="en-BE" sz="1200" dirty="0"/>
          </a:p>
          <a:p>
            <a:pPr>
              <a:tabLst>
                <a:tab pos="5240338" algn="l"/>
                <a:tab pos="5816600" algn="l"/>
              </a:tabLst>
            </a:pPr>
            <a:endParaRPr lang="en-BE" sz="1200" dirty="0"/>
          </a:p>
          <a:p>
            <a:pPr>
              <a:tabLst>
                <a:tab pos="5240338" algn="l"/>
                <a:tab pos="5816600" algn="l"/>
              </a:tabLst>
            </a:pPr>
            <a:endParaRPr lang="en-BE" sz="1200" dirty="0"/>
          </a:p>
          <a:p>
            <a:pPr>
              <a:tabLst>
                <a:tab pos="5240338" algn="l"/>
                <a:tab pos="5816600" algn="l"/>
              </a:tabLst>
            </a:pPr>
            <a:endParaRPr lang="en-BE" sz="1200" dirty="0"/>
          </a:p>
          <a:p>
            <a:pPr>
              <a:tabLst>
                <a:tab pos="5240338" algn="l"/>
                <a:tab pos="5816600" algn="l"/>
              </a:tabLst>
            </a:pPr>
            <a:endParaRPr lang="en-BE" sz="1200" dirty="0"/>
          </a:p>
          <a:p>
            <a:pPr>
              <a:tabLst>
                <a:tab pos="5240338" algn="l"/>
                <a:tab pos="5816600" algn="l"/>
              </a:tabLst>
            </a:pPr>
            <a:endParaRPr lang="en-BE" sz="1200" dirty="0"/>
          </a:p>
          <a:p>
            <a:pPr>
              <a:tabLst>
                <a:tab pos="4614863" algn="l"/>
                <a:tab pos="6577013" algn="l"/>
              </a:tabLst>
            </a:pPr>
            <a:r>
              <a:rPr lang="en-BE" dirty="0"/>
              <a:t>Mismatch needs to be solved</a:t>
            </a:r>
          </a:p>
          <a:p>
            <a:pPr lvl="1">
              <a:tabLst>
                <a:tab pos="4614863" algn="l"/>
                <a:tab pos="6577013" algn="l"/>
              </a:tabLst>
            </a:pPr>
            <a:r>
              <a:rPr lang="en-BE" dirty="0"/>
              <a:t>Compensation from aFRR, mFRR</a:t>
            </a:r>
          </a:p>
          <a:p>
            <a:pPr lvl="1">
              <a:tabLst>
                <a:tab pos="4614863" algn="l"/>
                <a:tab pos="6577013" algn="l"/>
              </a:tabLst>
            </a:pPr>
            <a:r>
              <a:rPr lang="en-BE" dirty="0"/>
              <a:t>Reaction of BRPs themselves </a:t>
            </a:r>
            <a:br>
              <a:rPr lang="en-BE" dirty="0"/>
            </a:br>
            <a:r>
              <a:rPr lang="en-BE" dirty="0"/>
              <a:t>. . . </a:t>
            </a:r>
            <a:r>
              <a:rPr lang="en-GB" dirty="0"/>
              <a:t>w</a:t>
            </a:r>
            <a:r>
              <a:rPr lang="en-BE" dirty="0"/>
              <a:t>here imbalance </a:t>
            </a:r>
            <a:r>
              <a:rPr lang="en-BE" b="1" dirty="0">
                <a:solidFill>
                  <a:srgbClr val="397EED"/>
                </a:solidFill>
              </a:rPr>
              <a:t>prices</a:t>
            </a:r>
            <a:r>
              <a:rPr lang="en-BE" dirty="0"/>
              <a:t> for BRP depend on </a:t>
            </a:r>
            <a:r>
              <a:rPr lang="en-BE" b="1" dirty="0">
                <a:solidFill>
                  <a:srgbClr val="F5822A"/>
                </a:solidFill>
              </a:rPr>
              <a:t>SI</a:t>
            </a:r>
            <a:endParaRPr lang="en-BE" dirty="0"/>
          </a:p>
          <a:p>
            <a:pPr>
              <a:tabLst>
                <a:tab pos="4614863" algn="l"/>
                <a:tab pos="6577013" algn="l"/>
              </a:tabLst>
            </a:pPr>
            <a:endParaRPr lang="en-BE" dirty="0"/>
          </a:p>
          <a:p>
            <a:pPr>
              <a:tabLst>
                <a:tab pos="4614863" algn="l"/>
                <a:tab pos="6577013" algn="l"/>
              </a:tabLst>
            </a:pPr>
            <a:endParaRPr lang="en-BE" dirty="0"/>
          </a:p>
          <a:p>
            <a:pPr>
              <a:tabLst>
                <a:tab pos="4614863" algn="l"/>
                <a:tab pos="6577013" algn="l"/>
              </a:tabLst>
            </a:pPr>
            <a:endParaRPr lang="en-BE" sz="1600" dirty="0"/>
          </a:p>
          <a:p>
            <a:pPr>
              <a:tabLst>
                <a:tab pos="4614863" algn="l"/>
                <a:tab pos="6577013" algn="l"/>
              </a:tabLst>
            </a:pPr>
            <a:endParaRPr lang="en-BE" dirty="0"/>
          </a:p>
          <a:p>
            <a:pPr>
              <a:tabLst>
                <a:tab pos="4614863" algn="l"/>
                <a:tab pos="6577013" algn="l"/>
              </a:tabLst>
            </a:pPr>
            <a:endParaRPr lang="en-BE" dirty="0"/>
          </a:p>
          <a:p>
            <a:pPr marL="228600" lvl="1">
              <a:tabLst>
                <a:tab pos="4614863" algn="l"/>
                <a:tab pos="6577013" algn="l"/>
              </a:tabLst>
            </a:pPr>
            <a:endParaRPr lang="en-BE" dirty="0"/>
          </a:p>
        </p:txBody>
      </p:sp>
      <p:pic>
        <p:nvPicPr>
          <p:cNvPr id="11" name="Picture 10">
            <a:extLst>
              <a:ext uri="{FF2B5EF4-FFF2-40B4-BE49-F238E27FC236}">
                <a16:creationId xmlns:a16="http://schemas.microsoft.com/office/drawing/2014/main" id="{A5B6AF74-3BA4-F705-078A-2EC3195FE388}"/>
              </a:ext>
            </a:extLst>
          </p:cNvPr>
          <p:cNvPicPr>
            <a:picLocks noChangeAspect="1"/>
          </p:cNvPicPr>
          <p:nvPr/>
        </p:nvPicPr>
        <p:blipFill>
          <a:blip r:embed="rId3"/>
          <a:srcRect/>
          <a:stretch/>
        </p:blipFill>
        <p:spPr>
          <a:xfrm>
            <a:off x="2024368" y="1218491"/>
            <a:ext cx="6928940" cy="2870200"/>
          </a:xfrm>
          <a:prstGeom prst="rect">
            <a:avLst/>
          </a:prstGeom>
        </p:spPr>
      </p:pic>
      <p:sp>
        <p:nvSpPr>
          <p:cNvPr id="5" name="Title 4">
            <a:extLst>
              <a:ext uri="{FF2B5EF4-FFF2-40B4-BE49-F238E27FC236}">
                <a16:creationId xmlns:a16="http://schemas.microsoft.com/office/drawing/2014/main" id="{E7AD88D1-21B6-E868-7A3C-B00A8EAE1B36}"/>
              </a:ext>
            </a:extLst>
          </p:cNvPr>
          <p:cNvSpPr>
            <a:spLocks noGrp="1"/>
          </p:cNvSpPr>
          <p:nvPr>
            <p:ph type="title"/>
          </p:nvPr>
        </p:nvSpPr>
        <p:spPr/>
        <p:txBody>
          <a:bodyPr/>
          <a:lstStyle/>
          <a:p>
            <a:r>
              <a:rPr lang="en-BE" dirty="0"/>
              <a:t>Maintaining System Balance</a:t>
            </a:r>
          </a:p>
        </p:txBody>
      </p:sp>
      <p:sp>
        <p:nvSpPr>
          <p:cNvPr id="4" name="Footer Placeholder 3">
            <a:extLst>
              <a:ext uri="{FF2B5EF4-FFF2-40B4-BE49-F238E27FC236}">
                <a16:creationId xmlns:a16="http://schemas.microsoft.com/office/drawing/2014/main" id="{10561346-43EF-2393-E2F4-97D349756C6F}"/>
              </a:ext>
            </a:extLst>
          </p:cNvPr>
          <p:cNvSpPr>
            <a:spLocks noGrp="1"/>
          </p:cNvSpPr>
          <p:nvPr>
            <p:ph type="ftr" sz="quarter" idx="10"/>
          </p:nvPr>
        </p:nvSpPr>
        <p:spPr/>
        <p:txBody>
          <a:bodyPr/>
          <a:lstStyle/>
          <a:p>
            <a:pPr>
              <a:defRPr/>
            </a:pPr>
            <a:r>
              <a:rPr lang="en-US"/>
              <a:t>C. Develder, "AI4E: Data-efficient and scalable algorithmss to exploit energy flexibility"</a:t>
            </a:r>
          </a:p>
        </p:txBody>
      </p:sp>
      <p:cxnSp>
        <p:nvCxnSpPr>
          <p:cNvPr id="10" name="Straight Arrow Connector 9">
            <a:extLst>
              <a:ext uri="{FF2B5EF4-FFF2-40B4-BE49-F238E27FC236}">
                <a16:creationId xmlns:a16="http://schemas.microsoft.com/office/drawing/2014/main" id="{27C10FAA-C2C5-719D-82C8-0342EEEABAC1}"/>
              </a:ext>
            </a:extLst>
          </p:cNvPr>
          <p:cNvCxnSpPr>
            <a:cxnSpLocks/>
          </p:cNvCxnSpPr>
          <p:nvPr/>
        </p:nvCxnSpPr>
        <p:spPr>
          <a:xfrm>
            <a:off x="4516058" y="1534946"/>
            <a:ext cx="867930" cy="0"/>
          </a:xfrm>
          <a:prstGeom prst="straightConnector1">
            <a:avLst/>
          </a:prstGeom>
          <a:ln w="19050">
            <a:solidFill>
              <a:schemeClr val="tx1"/>
            </a:solidFill>
            <a:headEnd type="arrow" w="med" len="med"/>
            <a:tailEnd type="arrow" w="med" len="med"/>
          </a:ln>
        </p:spPr>
        <p:style>
          <a:lnRef idx="1">
            <a:schemeClr val="accent1"/>
          </a:lnRef>
          <a:fillRef idx="0">
            <a:schemeClr val="accent1"/>
          </a:fillRef>
          <a:effectRef idx="0">
            <a:schemeClr val="accent1"/>
          </a:effectRef>
          <a:fontRef idx="minor">
            <a:schemeClr val="tx1"/>
          </a:fontRef>
        </p:style>
      </p:cxnSp>
      <p:pic>
        <p:nvPicPr>
          <p:cNvPr id="16" name="Picture 15">
            <a:extLst>
              <a:ext uri="{FF2B5EF4-FFF2-40B4-BE49-F238E27FC236}">
                <a16:creationId xmlns:a16="http://schemas.microsoft.com/office/drawing/2014/main" id="{A7739B6D-AE99-9663-4855-5F2C99AEAD53}"/>
              </a:ext>
            </a:extLst>
          </p:cNvPr>
          <p:cNvPicPr>
            <a:picLocks noChangeAspect="1"/>
          </p:cNvPicPr>
          <p:nvPr/>
        </p:nvPicPr>
        <p:blipFill>
          <a:blip r:embed="rId4">
            <a:extLst>
              <a:ext uri="{28A0092B-C50C-407E-A947-70E740481C1C}">
                <a14:useLocalDpi xmlns:a14="http://schemas.microsoft.com/office/drawing/2010/main" val="0"/>
              </a:ext>
            </a:extLst>
          </a:blip>
          <a:srcRect l="3106" t="15148" r="71517" b="51974"/>
          <a:stretch>
            <a:fillRect/>
          </a:stretch>
        </p:blipFill>
        <p:spPr>
          <a:xfrm>
            <a:off x="2231136" y="1653235"/>
            <a:ext cx="1762963" cy="943659"/>
          </a:xfrm>
          <a:prstGeom prst="rect">
            <a:avLst/>
          </a:prstGeom>
        </p:spPr>
      </p:pic>
      <p:pic>
        <p:nvPicPr>
          <p:cNvPr id="17" name="Picture 16">
            <a:extLst>
              <a:ext uri="{FF2B5EF4-FFF2-40B4-BE49-F238E27FC236}">
                <a16:creationId xmlns:a16="http://schemas.microsoft.com/office/drawing/2014/main" id="{F3BD0E5D-98B2-AB11-7FC6-68F2BBDBE43E}"/>
              </a:ext>
            </a:extLst>
          </p:cNvPr>
          <p:cNvPicPr>
            <a:picLocks noChangeAspect="1"/>
          </p:cNvPicPr>
          <p:nvPr/>
        </p:nvPicPr>
        <p:blipFill>
          <a:blip r:embed="rId4">
            <a:extLst>
              <a:ext uri="{28A0092B-C50C-407E-A947-70E740481C1C}">
                <a14:useLocalDpi xmlns:a14="http://schemas.microsoft.com/office/drawing/2010/main" val="0"/>
              </a:ext>
            </a:extLst>
          </a:blip>
          <a:srcRect l="57441" t="18715" r="14075" b="48407"/>
          <a:stretch>
            <a:fillRect/>
          </a:stretch>
        </p:blipFill>
        <p:spPr>
          <a:xfrm>
            <a:off x="6005778" y="1755649"/>
            <a:ext cx="1978711" cy="943659"/>
          </a:xfrm>
          <a:prstGeom prst="rect">
            <a:avLst/>
          </a:prstGeom>
        </p:spPr>
      </p:pic>
      <p:sp>
        <p:nvSpPr>
          <p:cNvPr id="8" name="TextBox 7">
            <a:extLst>
              <a:ext uri="{FF2B5EF4-FFF2-40B4-BE49-F238E27FC236}">
                <a16:creationId xmlns:a16="http://schemas.microsoft.com/office/drawing/2014/main" id="{D5C2FA7B-6F52-C4B3-0101-1A082A23C206}"/>
              </a:ext>
            </a:extLst>
          </p:cNvPr>
          <p:cNvSpPr txBox="1"/>
          <p:nvPr/>
        </p:nvSpPr>
        <p:spPr>
          <a:xfrm>
            <a:off x="6086536" y="5970004"/>
            <a:ext cx="4608954" cy="246221"/>
          </a:xfrm>
          <a:prstGeom prst="rect">
            <a:avLst/>
          </a:prstGeom>
          <a:noFill/>
        </p:spPr>
        <p:txBody>
          <a:bodyPr wrap="none" rtlCol="0">
            <a:spAutoFit/>
          </a:bodyPr>
          <a:lstStyle/>
          <a:p>
            <a:r>
              <a:rPr lang="en-GB" sz="1000" dirty="0">
                <a:solidFill>
                  <a:schemeClr val="bg2"/>
                </a:solidFill>
                <a:latin typeface="+mn-lt"/>
              </a:rPr>
              <a:t>S</a:t>
            </a:r>
            <a:r>
              <a:rPr lang="en-BE" sz="1000" dirty="0">
                <a:solidFill>
                  <a:schemeClr val="bg2"/>
                </a:solidFill>
                <a:latin typeface="+mn-lt"/>
              </a:rPr>
              <a:t>ource: </a:t>
            </a:r>
            <a:r>
              <a:rPr lang="en-GB" sz="1000" dirty="0">
                <a:solidFill>
                  <a:schemeClr val="bg2"/>
                </a:solidFill>
                <a:latin typeface="+mn-lt"/>
                <a:hlinkClick r:id="rId5">
                  <a:extLst>
                    <a:ext uri="{A12FA001-AC4F-418D-AE19-62706E023703}">
                      <ahyp:hlinkClr xmlns:ahyp="http://schemas.microsoft.com/office/drawing/2018/hyperlinkcolor" val="tx"/>
                    </a:ext>
                  </a:extLst>
                </a:hlinkClick>
              </a:rPr>
              <a:t>https://www.elia.be/en/grid-data/balancing/imbalance-prices-15-min</a:t>
            </a:r>
            <a:r>
              <a:rPr lang="en-GB" sz="1000" dirty="0">
                <a:solidFill>
                  <a:schemeClr val="bg2"/>
                </a:solidFill>
                <a:latin typeface="+mn-lt"/>
              </a:rPr>
              <a:t> </a:t>
            </a:r>
            <a:r>
              <a:rPr lang="en-BE" sz="1000" dirty="0">
                <a:solidFill>
                  <a:schemeClr val="bg2"/>
                </a:solidFill>
                <a:latin typeface="+mn-lt"/>
              </a:rPr>
              <a:t> (Fri, April 2024, 15:00)</a:t>
            </a:r>
          </a:p>
        </p:txBody>
      </p:sp>
      <p:grpSp>
        <p:nvGrpSpPr>
          <p:cNvPr id="12" name="Group 11">
            <a:extLst>
              <a:ext uri="{FF2B5EF4-FFF2-40B4-BE49-F238E27FC236}">
                <a16:creationId xmlns:a16="http://schemas.microsoft.com/office/drawing/2014/main" id="{4A033036-DA3A-ABC3-0961-B5AD5FC8556F}"/>
              </a:ext>
            </a:extLst>
          </p:cNvPr>
          <p:cNvGrpSpPr/>
          <p:nvPr/>
        </p:nvGrpSpPr>
        <p:grpSpPr>
          <a:xfrm>
            <a:off x="6116481" y="3095078"/>
            <a:ext cx="4479338" cy="2855830"/>
            <a:chOff x="6116481" y="3095078"/>
            <a:chExt cx="4479338" cy="2855830"/>
          </a:xfrm>
        </p:grpSpPr>
        <p:sp>
          <p:nvSpPr>
            <p:cNvPr id="7" name="Rectangular Callout 6">
              <a:extLst>
                <a:ext uri="{FF2B5EF4-FFF2-40B4-BE49-F238E27FC236}">
                  <a16:creationId xmlns:a16="http://schemas.microsoft.com/office/drawing/2014/main" id="{03E7EE97-5475-18A0-0770-F686451F6961}"/>
                </a:ext>
              </a:extLst>
            </p:cNvPr>
            <p:cNvSpPr/>
            <p:nvPr/>
          </p:nvSpPr>
          <p:spPr>
            <a:xfrm>
              <a:off x="6116481" y="3095078"/>
              <a:ext cx="4479338" cy="2855830"/>
            </a:xfrm>
            <a:prstGeom prst="wedgeRectCallout">
              <a:avLst>
                <a:gd name="adj1" fmla="val -62850"/>
                <a:gd name="adj2" fmla="val 3827"/>
              </a:avLst>
            </a:prstGeom>
            <a:solidFill>
              <a:schemeClr val="bg1"/>
            </a:solidFill>
            <a:ln>
              <a:solidFill>
                <a:schemeClr val="bg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BE"/>
            </a:p>
          </p:txBody>
        </p:sp>
        <p:pic>
          <p:nvPicPr>
            <p:cNvPr id="9" name="Picture 8">
              <a:extLst>
                <a:ext uri="{FF2B5EF4-FFF2-40B4-BE49-F238E27FC236}">
                  <a16:creationId xmlns:a16="http://schemas.microsoft.com/office/drawing/2014/main" id="{8B0C1C36-F82B-988D-1F3F-3F3AE9566CE9}"/>
                </a:ext>
              </a:extLst>
            </p:cNvPr>
            <p:cNvPicPr>
              <a:picLocks noChangeAspect="1"/>
            </p:cNvPicPr>
            <p:nvPr/>
          </p:nvPicPr>
          <p:blipFill rotWithShape="1">
            <a:blip r:embed="rId6">
              <a:extLst>
                <a:ext uri="{28A0092B-C50C-407E-A947-70E740481C1C}">
                  <a14:useLocalDpi xmlns:a14="http://schemas.microsoft.com/office/drawing/2010/main" val="0"/>
                </a:ext>
              </a:extLst>
            </a:blip>
            <a:srcRect l="1675" t="22455"/>
            <a:stretch/>
          </p:blipFill>
          <p:spPr>
            <a:xfrm>
              <a:off x="6206699" y="3192591"/>
              <a:ext cx="4220670" cy="2727950"/>
            </a:xfrm>
            <a:prstGeom prst="rect">
              <a:avLst/>
            </a:prstGeom>
          </p:spPr>
        </p:pic>
      </p:grpSp>
      <p:sp>
        <p:nvSpPr>
          <p:cNvPr id="13" name="TextBox 12">
            <a:extLst>
              <a:ext uri="{FF2B5EF4-FFF2-40B4-BE49-F238E27FC236}">
                <a16:creationId xmlns:a16="http://schemas.microsoft.com/office/drawing/2014/main" id="{04ADA3A6-38DE-D41B-882A-FD5D19EEEAFE}"/>
              </a:ext>
            </a:extLst>
          </p:cNvPr>
          <p:cNvSpPr txBox="1"/>
          <p:nvPr/>
        </p:nvSpPr>
        <p:spPr>
          <a:xfrm rot="21350844">
            <a:off x="615143" y="4745247"/>
            <a:ext cx="5260582" cy="1360694"/>
          </a:xfrm>
          <a:prstGeom prst="rect">
            <a:avLst/>
          </a:prstGeom>
          <a:noFill/>
        </p:spPr>
        <p:txBody>
          <a:bodyPr wrap="square" rtlCol="0">
            <a:spAutoFit/>
          </a:bodyPr>
          <a:lstStyle/>
          <a:p>
            <a:pPr>
              <a:lnSpc>
                <a:spcPct val="85000"/>
              </a:lnSpc>
            </a:pPr>
            <a:r>
              <a:rPr lang="en-BE" sz="3200" b="1" dirty="0">
                <a:solidFill>
                  <a:schemeClr val="accent3"/>
                </a:solidFill>
                <a:latin typeface="Caveat" pitchFamily="2" charset="77"/>
              </a:rPr>
              <a:t>But … price </a:t>
            </a:r>
            <a:r>
              <a:rPr lang="en-BE" sz="3200" b="1" u="sng" dirty="0">
                <a:solidFill>
                  <a:schemeClr val="accent3"/>
                </a:solidFill>
                <a:latin typeface="Caveat" pitchFamily="2" charset="77"/>
              </a:rPr>
              <a:t>predictions</a:t>
            </a:r>
            <a:r>
              <a:rPr lang="en-BE" sz="3200" b="1" dirty="0">
                <a:solidFill>
                  <a:schemeClr val="accent3"/>
                </a:solidFill>
                <a:latin typeface="Caveat" pitchFamily="2" charset="77"/>
              </a:rPr>
              <a:t> are published within the quarter!</a:t>
            </a:r>
            <a:br>
              <a:rPr lang="en-BE" sz="3200" b="1" dirty="0">
                <a:solidFill>
                  <a:schemeClr val="accent3"/>
                </a:solidFill>
                <a:latin typeface="Caveat" pitchFamily="2" charset="77"/>
              </a:rPr>
            </a:br>
            <a:r>
              <a:rPr lang="en-BE" sz="3200" b="1" dirty="0">
                <a:solidFill>
                  <a:schemeClr val="accent3"/>
                </a:solidFill>
                <a:latin typeface="Caveat" pitchFamily="2" charset="77"/>
                <a:sym typeface="Wingdings" pitchFamily="2" charset="2"/>
              </a:rPr>
              <a:t>-&gt; influences behavior of BRPs!</a:t>
            </a:r>
            <a:endParaRPr lang="en-BE" sz="3200" b="1" dirty="0">
              <a:solidFill>
                <a:schemeClr val="accent3"/>
              </a:solidFill>
              <a:latin typeface="Caveat" pitchFamily="2" charset="77"/>
            </a:endParaRPr>
          </a:p>
        </p:txBody>
      </p:sp>
      <p:sp>
        <p:nvSpPr>
          <p:cNvPr id="14" name="Slide Number Placeholder 13">
            <a:extLst>
              <a:ext uri="{FF2B5EF4-FFF2-40B4-BE49-F238E27FC236}">
                <a16:creationId xmlns:a16="http://schemas.microsoft.com/office/drawing/2014/main" id="{9D10F970-7EDA-48CA-4437-D4D1FC9A9FC3}"/>
              </a:ext>
            </a:extLst>
          </p:cNvPr>
          <p:cNvSpPr>
            <a:spLocks noGrp="1"/>
          </p:cNvSpPr>
          <p:nvPr>
            <p:ph type="sldNum" sz="quarter" idx="11"/>
          </p:nvPr>
        </p:nvSpPr>
        <p:spPr/>
        <p:txBody>
          <a:bodyPr/>
          <a:lstStyle/>
          <a:p>
            <a:pPr>
              <a:defRPr/>
            </a:pPr>
            <a:fld id="{968663A2-1950-48E6-8399-8A0176E7D7D3}" type="slidenum">
              <a:rPr lang="en-US" smtClean="0"/>
              <a:pPr>
                <a:defRPr/>
              </a:pPr>
              <a:t>28</a:t>
            </a:fld>
            <a:endParaRPr lang="en-US"/>
          </a:p>
        </p:txBody>
      </p:sp>
    </p:spTree>
    <p:extLst>
      <p:ext uri="{BB962C8B-B14F-4D97-AF65-F5344CB8AC3E}">
        <p14:creationId xmlns:p14="http://schemas.microsoft.com/office/powerpoint/2010/main" val="400281378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1"/>
                                        </p:tgtEl>
                                        <p:attrNameLst>
                                          <p:attrName>style.visibility</p:attrName>
                                        </p:attrNameLst>
                                      </p:cBhvr>
                                      <p:to>
                                        <p:strVal val="visible"/>
                                      </p:to>
                                    </p:set>
                                    <p:animEffect transition="in" filter="fade">
                                      <p:cBhvr>
                                        <p:cTn id="7" dur="500"/>
                                        <p:tgtEl>
                                          <p:spTgt spid="11"/>
                                        </p:tgtEl>
                                      </p:cBhvr>
                                    </p:animEffect>
                                  </p:childTnLst>
                                </p:cTn>
                              </p:par>
                            </p:childTnLst>
                          </p:cTn>
                        </p:par>
                      </p:childTnLst>
                    </p:cTn>
                  </p:par>
                  <p:par>
                    <p:cTn id="8" fill="hold">
                      <p:stCondLst>
                        <p:cond delay="indefinite"/>
                      </p:stCondLst>
                      <p:childTnLst>
                        <p:par>
                          <p:cTn id="9" fill="hold">
                            <p:stCondLst>
                              <p:cond delay="0"/>
                            </p:stCondLst>
                            <p:childTnLst>
                              <p:par>
                                <p:cTn id="10" presetID="1" presetClass="entr" presetSubtype="0" fill="hold" nodeType="clickEffect">
                                  <p:stCondLst>
                                    <p:cond delay="0"/>
                                  </p:stCondLst>
                                  <p:childTnLst>
                                    <p:set>
                                      <p:cBhvr>
                                        <p:cTn id="11" dur="1" fill="hold">
                                          <p:stCondLst>
                                            <p:cond delay="0"/>
                                          </p:stCondLst>
                                        </p:cTn>
                                        <p:tgtEl>
                                          <p:spTgt spid="6">
                                            <p:txEl>
                                              <p:pRg st="8" end="8"/>
                                            </p:txEl>
                                          </p:spTgt>
                                        </p:tgtEl>
                                        <p:attrNameLst>
                                          <p:attrName>style.visibility</p:attrName>
                                        </p:attrNameLst>
                                      </p:cBhvr>
                                      <p:to>
                                        <p:strVal val="visible"/>
                                      </p:to>
                                    </p:set>
                                  </p:childTnLst>
                                </p:cTn>
                              </p:par>
                              <p:par>
                                <p:cTn id="12" presetID="1" presetClass="entr" presetSubtype="0" fill="hold" nodeType="withEffect">
                                  <p:stCondLst>
                                    <p:cond delay="0"/>
                                  </p:stCondLst>
                                  <p:childTnLst>
                                    <p:set>
                                      <p:cBhvr>
                                        <p:cTn id="13" dur="1" fill="hold">
                                          <p:stCondLst>
                                            <p:cond delay="0"/>
                                          </p:stCondLst>
                                        </p:cTn>
                                        <p:tgtEl>
                                          <p:spTgt spid="6">
                                            <p:txEl>
                                              <p:pRg st="9" end="9"/>
                                            </p:txEl>
                                          </p:spTgt>
                                        </p:tgtEl>
                                        <p:attrNameLst>
                                          <p:attrName>style.visibility</p:attrName>
                                        </p:attrNameLst>
                                      </p:cBhvr>
                                      <p:to>
                                        <p:strVal val="visible"/>
                                      </p:to>
                                    </p:set>
                                  </p:childTnLst>
                                </p:cTn>
                              </p:par>
                              <p:par>
                                <p:cTn id="14" presetID="1" presetClass="entr" presetSubtype="0" fill="hold" nodeType="withEffect">
                                  <p:stCondLst>
                                    <p:cond delay="0"/>
                                  </p:stCondLst>
                                  <p:childTnLst>
                                    <p:set>
                                      <p:cBhvr>
                                        <p:cTn id="15" dur="1" fill="hold">
                                          <p:stCondLst>
                                            <p:cond delay="0"/>
                                          </p:stCondLst>
                                        </p:cTn>
                                        <p:tgtEl>
                                          <p:spTgt spid="6">
                                            <p:txEl>
                                              <p:pRg st="10" end="10"/>
                                            </p:txEl>
                                          </p:spTgt>
                                        </p:tgtEl>
                                        <p:attrNameLst>
                                          <p:attrName>style.visibility</p:attrName>
                                        </p:attrNameLst>
                                      </p:cBhvr>
                                      <p:to>
                                        <p:strVal val="visible"/>
                                      </p:to>
                                    </p:set>
                                  </p:childTnLst>
                                </p:cTn>
                              </p:par>
                            </p:childTnLst>
                          </p:cTn>
                        </p:par>
                        <p:par>
                          <p:cTn id="16" fill="hold">
                            <p:stCondLst>
                              <p:cond delay="0"/>
                            </p:stCondLst>
                            <p:childTnLst>
                              <p:par>
                                <p:cTn id="17" presetID="10" presetClass="entr" presetSubtype="0" fill="hold" nodeType="afterEffect">
                                  <p:stCondLst>
                                    <p:cond delay="1000"/>
                                  </p:stCondLst>
                                  <p:childTnLst>
                                    <p:set>
                                      <p:cBhvr>
                                        <p:cTn id="18" dur="1" fill="hold">
                                          <p:stCondLst>
                                            <p:cond delay="0"/>
                                          </p:stCondLst>
                                        </p:cTn>
                                        <p:tgtEl>
                                          <p:spTgt spid="12"/>
                                        </p:tgtEl>
                                        <p:attrNameLst>
                                          <p:attrName>style.visibility</p:attrName>
                                        </p:attrNameLst>
                                      </p:cBhvr>
                                      <p:to>
                                        <p:strVal val="visible"/>
                                      </p:to>
                                    </p:set>
                                    <p:animEffect transition="in" filter="fade">
                                      <p:cBhvr>
                                        <p:cTn id="19" dur="500"/>
                                        <p:tgtEl>
                                          <p:spTgt spid="12"/>
                                        </p:tgtEl>
                                      </p:cBhvr>
                                    </p:animEffect>
                                  </p:childTnLst>
                                </p:cTn>
                              </p:par>
                            </p:childTnLst>
                          </p:cTn>
                        </p:par>
                      </p:childTnLst>
                    </p:cTn>
                  </p:par>
                  <p:par>
                    <p:cTn id="20" fill="hold">
                      <p:stCondLst>
                        <p:cond delay="indefinite"/>
                      </p:stCondLst>
                      <p:childTnLst>
                        <p:par>
                          <p:cTn id="21" fill="hold">
                            <p:stCondLst>
                              <p:cond delay="0"/>
                            </p:stCondLst>
                            <p:childTnLst>
                              <p:par>
                                <p:cTn id="22" presetID="1" presetClass="entr" presetSubtype="0" fill="hold" grpId="0" nodeType="clickEffect">
                                  <p:stCondLst>
                                    <p:cond delay="0"/>
                                  </p:stCondLst>
                                  <p:childTnLst>
                                    <p:set>
                                      <p:cBhvr>
                                        <p:cTn id="23" dur="1" fill="hold">
                                          <p:stCondLst>
                                            <p:cond delay="0"/>
                                          </p:stCondLst>
                                        </p:cTn>
                                        <p:tgtEl>
                                          <p:spTgt spid="1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 grpId="0"/>
    </p:bld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AFF3A05-BEFB-FCC8-ABCE-8B23ACC61DBB}"/>
              </a:ext>
            </a:extLst>
          </p:cNvPr>
          <p:cNvSpPr>
            <a:spLocks noGrp="1"/>
          </p:cNvSpPr>
          <p:nvPr>
            <p:ph type="title"/>
          </p:nvPr>
        </p:nvSpPr>
        <p:spPr/>
        <p:txBody>
          <a:bodyPr/>
          <a:lstStyle/>
          <a:p>
            <a:r>
              <a:rPr lang="en-BE" dirty="0"/>
              <a:t>Imbalance Price Publication</a:t>
            </a:r>
          </a:p>
        </p:txBody>
      </p:sp>
      <p:sp>
        <p:nvSpPr>
          <p:cNvPr id="4" name="Footer Placeholder 3">
            <a:extLst>
              <a:ext uri="{FF2B5EF4-FFF2-40B4-BE49-F238E27FC236}">
                <a16:creationId xmlns:a16="http://schemas.microsoft.com/office/drawing/2014/main" id="{77F7EF4F-8A91-4375-7BEF-2FC3B5005630}"/>
              </a:ext>
            </a:extLst>
          </p:cNvPr>
          <p:cNvSpPr>
            <a:spLocks noGrp="1"/>
          </p:cNvSpPr>
          <p:nvPr>
            <p:ph type="ftr" sz="quarter" idx="10"/>
          </p:nvPr>
        </p:nvSpPr>
        <p:spPr/>
        <p:txBody>
          <a:bodyPr/>
          <a:lstStyle/>
          <a:p>
            <a:pPr>
              <a:defRPr/>
            </a:pPr>
            <a:r>
              <a:rPr lang="en-US"/>
              <a:t>C. Develder, "AI4E: Data-efficient and scalable algorithmss to exploit energy flexibility"</a:t>
            </a:r>
            <a:endParaRPr lang="en-US" dirty="0"/>
          </a:p>
        </p:txBody>
      </p:sp>
      <p:sp>
        <p:nvSpPr>
          <p:cNvPr id="5" name="TextBox 4">
            <a:extLst>
              <a:ext uri="{FF2B5EF4-FFF2-40B4-BE49-F238E27FC236}">
                <a16:creationId xmlns:a16="http://schemas.microsoft.com/office/drawing/2014/main" id="{85472ACC-3AB0-672D-AD92-150A01EF8CB9}"/>
              </a:ext>
            </a:extLst>
          </p:cNvPr>
          <p:cNvSpPr txBox="1"/>
          <p:nvPr/>
        </p:nvSpPr>
        <p:spPr>
          <a:xfrm rot="21350844">
            <a:off x="615143" y="4745247"/>
            <a:ext cx="5260582" cy="1360694"/>
          </a:xfrm>
          <a:prstGeom prst="rect">
            <a:avLst/>
          </a:prstGeom>
          <a:noFill/>
        </p:spPr>
        <p:txBody>
          <a:bodyPr wrap="square" rtlCol="0">
            <a:spAutoFit/>
          </a:bodyPr>
          <a:lstStyle/>
          <a:p>
            <a:pPr>
              <a:lnSpc>
                <a:spcPct val="85000"/>
              </a:lnSpc>
            </a:pPr>
            <a:r>
              <a:rPr lang="en-BE" sz="3200" b="1" dirty="0">
                <a:solidFill>
                  <a:schemeClr val="accent3"/>
                </a:solidFill>
                <a:latin typeface="Caveat" pitchFamily="2" charset="77"/>
              </a:rPr>
              <a:t>But … price </a:t>
            </a:r>
            <a:r>
              <a:rPr lang="en-BE" sz="3200" b="1" u="sng" dirty="0">
                <a:solidFill>
                  <a:schemeClr val="accent3"/>
                </a:solidFill>
                <a:latin typeface="Caveat" pitchFamily="2" charset="77"/>
              </a:rPr>
              <a:t>predictions</a:t>
            </a:r>
            <a:r>
              <a:rPr lang="en-BE" sz="3200" b="1" dirty="0">
                <a:solidFill>
                  <a:schemeClr val="accent3"/>
                </a:solidFill>
                <a:latin typeface="Caveat" pitchFamily="2" charset="77"/>
              </a:rPr>
              <a:t> are published within the quarter!</a:t>
            </a:r>
            <a:br>
              <a:rPr lang="en-BE" sz="3200" b="1" dirty="0">
                <a:solidFill>
                  <a:schemeClr val="accent3"/>
                </a:solidFill>
                <a:latin typeface="Caveat" pitchFamily="2" charset="77"/>
              </a:rPr>
            </a:br>
            <a:r>
              <a:rPr lang="en-BE" sz="3200" b="1" dirty="0">
                <a:solidFill>
                  <a:schemeClr val="accent3"/>
                </a:solidFill>
                <a:latin typeface="Caveat" pitchFamily="2" charset="77"/>
                <a:sym typeface="Wingdings" pitchFamily="2" charset="2"/>
              </a:rPr>
              <a:t>-&gt; influences behavior of BRPs!</a:t>
            </a:r>
            <a:endParaRPr lang="en-BE" sz="3200" b="1" dirty="0">
              <a:solidFill>
                <a:schemeClr val="accent3"/>
              </a:solidFill>
              <a:latin typeface="Caveat" pitchFamily="2" charset="77"/>
            </a:endParaRPr>
          </a:p>
        </p:txBody>
      </p:sp>
      <p:pic>
        <p:nvPicPr>
          <p:cNvPr id="9" name="Picture 8">
            <a:extLst>
              <a:ext uri="{FF2B5EF4-FFF2-40B4-BE49-F238E27FC236}">
                <a16:creationId xmlns:a16="http://schemas.microsoft.com/office/drawing/2014/main" id="{ED709481-DAC5-E03A-C4E2-4ED074AD47F6}"/>
              </a:ext>
            </a:extLst>
          </p:cNvPr>
          <p:cNvPicPr>
            <a:picLocks noChangeAspect="1"/>
          </p:cNvPicPr>
          <p:nvPr/>
        </p:nvPicPr>
        <p:blipFill>
          <a:blip r:embed="rId3"/>
          <a:stretch>
            <a:fillRect/>
          </a:stretch>
        </p:blipFill>
        <p:spPr>
          <a:xfrm>
            <a:off x="7018739" y="2894100"/>
            <a:ext cx="3632086" cy="1876578"/>
          </a:xfrm>
          <a:prstGeom prst="rect">
            <a:avLst/>
          </a:prstGeom>
        </p:spPr>
      </p:pic>
      <p:pic>
        <p:nvPicPr>
          <p:cNvPr id="11" name="Graphic 10">
            <a:extLst>
              <a:ext uri="{FF2B5EF4-FFF2-40B4-BE49-F238E27FC236}">
                <a16:creationId xmlns:a16="http://schemas.microsoft.com/office/drawing/2014/main" id="{5710650C-34B8-262F-8867-CAD1A41DABD0}"/>
              </a:ext>
            </a:extLst>
          </p:cNvPr>
          <p:cNvPicPr>
            <a:picLocks noChangeAspect="1"/>
          </p:cNvPicPr>
          <p:nvPr/>
        </p:nvPicPr>
        <p:blipFill>
          <a:blip>
            <a:extLst>
              <a:ext uri="{96DAC541-7B7A-43D3-8B79-37D633B846F1}">
                <asvg:svgBlip xmlns:asvg="http://schemas.microsoft.com/office/drawing/2016/SVG/main" r:embed="rId4"/>
              </a:ext>
            </a:extLst>
          </a:blip>
          <a:srcRect b="21577"/>
          <a:stretch>
            <a:fillRect/>
          </a:stretch>
        </p:blipFill>
        <p:spPr>
          <a:xfrm>
            <a:off x="1659896" y="3432305"/>
            <a:ext cx="2882900" cy="836613"/>
          </a:xfrm>
          <a:prstGeom prst="rect">
            <a:avLst/>
          </a:prstGeom>
        </p:spPr>
      </p:pic>
      <p:pic>
        <p:nvPicPr>
          <p:cNvPr id="13" name="Picture 12">
            <a:extLst>
              <a:ext uri="{FF2B5EF4-FFF2-40B4-BE49-F238E27FC236}">
                <a16:creationId xmlns:a16="http://schemas.microsoft.com/office/drawing/2014/main" id="{ABEC574F-F26D-391D-F4AC-F4E83FC240AD}"/>
              </a:ext>
            </a:extLst>
          </p:cNvPr>
          <p:cNvPicPr>
            <a:picLocks noChangeAspect="1"/>
          </p:cNvPicPr>
          <p:nvPr/>
        </p:nvPicPr>
        <p:blipFill>
          <a:blip r:embed="rId5"/>
          <a:stretch>
            <a:fillRect/>
          </a:stretch>
        </p:blipFill>
        <p:spPr>
          <a:xfrm>
            <a:off x="4466303" y="1269116"/>
            <a:ext cx="2622499" cy="1354958"/>
          </a:xfrm>
          <a:prstGeom prst="rect">
            <a:avLst/>
          </a:prstGeom>
        </p:spPr>
      </p:pic>
      <p:sp>
        <p:nvSpPr>
          <p:cNvPr id="15" name="Rectangle 14">
            <a:extLst>
              <a:ext uri="{FF2B5EF4-FFF2-40B4-BE49-F238E27FC236}">
                <a16:creationId xmlns:a16="http://schemas.microsoft.com/office/drawing/2014/main" id="{4A9A800F-B85A-F3CF-7D72-BFE3A07C2259}"/>
              </a:ext>
            </a:extLst>
          </p:cNvPr>
          <p:cNvSpPr/>
          <p:nvPr/>
        </p:nvSpPr>
        <p:spPr>
          <a:xfrm>
            <a:off x="6813809" y="2832648"/>
            <a:ext cx="4041947" cy="1609960"/>
          </a:xfrm>
          <a:prstGeom prst="rect">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pPr algn="ctr"/>
            <a:r>
              <a:rPr lang="en-BE" sz="2800" dirty="0">
                <a:solidFill>
                  <a:schemeClr val="tx1"/>
                </a:solidFill>
              </a:rPr>
              <a:t>BRPs</a:t>
            </a:r>
          </a:p>
        </p:txBody>
      </p:sp>
      <p:sp>
        <p:nvSpPr>
          <p:cNvPr id="19" name="Rectangle 18">
            <a:extLst>
              <a:ext uri="{FF2B5EF4-FFF2-40B4-BE49-F238E27FC236}">
                <a16:creationId xmlns:a16="http://schemas.microsoft.com/office/drawing/2014/main" id="{D41E5D7D-19DE-0BEB-163C-F09D2B638EDC}"/>
              </a:ext>
            </a:extLst>
          </p:cNvPr>
          <p:cNvSpPr/>
          <p:nvPr/>
        </p:nvSpPr>
        <p:spPr>
          <a:xfrm>
            <a:off x="4237113" y="1067051"/>
            <a:ext cx="3144868" cy="1609960"/>
          </a:xfrm>
          <a:prstGeom prst="rect">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pPr algn="ctr"/>
            <a:r>
              <a:rPr lang="en-BE" sz="2800" dirty="0">
                <a:solidFill>
                  <a:schemeClr val="tx1"/>
                </a:solidFill>
              </a:rPr>
              <a:t>Grid</a:t>
            </a:r>
          </a:p>
        </p:txBody>
      </p:sp>
      <p:sp>
        <p:nvSpPr>
          <p:cNvPr id="20" name="Rectangle 19">
            <a:extLst>
              <a:ext uri="{FF2B5EF4-FFF2-40B4-BE49-F238E27FC236}">
                <a16:creationId xmlns:a16="http://schemas.microsoft.com/office/drawing/2014/main" id="{79CBF79A-F890-7D25-B0EF-A1D68DFDBEB0}"/>
              </a:ext>
            </a:extLst>
          </p:cNvPr>
          <p:cNvSpPr/>
          <p:nvPr/>
        </p:nvSpPr>
        <p:spPr>
          <a:xfrm>
            <a:off x="1528912" y="2832648"/>
            <a:ext cx="3144868" cy="1609960"/>
          </a:xfrm>
          <a:prstGeom prst="rect">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pPr algn="ctr"/>
            <a:r>
              <a:rPr lang="en-BE" sz="2800" dirty="0">
                <a:solidFill>
                  <a:schemeClr val="tx1"/>
                </a:solidFill>
              </a:rPr>
              <a:t>TSO</a:t>
            </a:r>
          </a:p>
        </p:txBody>
      </p:sp>
      <p:sp>
        <p:nvSpPr>
          <p:cNvPr id="21" name="Freeform 20">
            <a:extLst>
              <a:ext uri="{FF2B5EF4-FFF2-40B4-BE49-F238E27FC236}">
                <a16:creationId xmlns:a16="http://schemas.microsoft.com/office/drawing/2014/main" id="{074500D7-1B7A-77D9-FA91-A562E414EA48}"/>
              </a:ext>
            </a:extLst>
          </p:cNvPr>
          <p:cNvSpPr/>
          <p:nvPr/>
        </p:nvSpPr>
        <p:spPr>
          <a:xfrm>
            <a:off x="4990414" y="4100596"/>
            <a:ext cx="1495514" cy="290987"/>
          </a:xfrm>
          <a:custGeom>
            <a:avLst/>
            <a:gdLst>
              <a:gd name="csX0" fmla="*/ 0 w 1495514"/>
              <a:gd name="csY0" fmla="*/ 0 h 290987"/>
              <a:gd name="csX1" fmla="*/ 709301 w 1495514"/>
              <a:gd name="csY1" fmla="*/ 290557 h 290987"/>
              <a:gd name="csX2" fmla="*/ 1495514 w 1495514"/>
              <a:gd name="csY2" fmla="*/ 14849 h 290987"/>
            </a:gdLst>
            <a:ahLst/>
            <a:cxnLst>
              <a:cxn ang="0">
                <a:pos x="csX0" y="csY0"/>
              </a:cxn>
              <a:cxn ang="0">
                <a:pos x="csX1" y="csY1"/>
              </a:cxn>
              <a:cxn ang="0">
                <a:pos x="csX2" y="csY2"/>
              </a:cxn>
            </a:cxnLst>
            <a:rect l="l" t="t" r="r" b="b"/>
            <a:pathLst>
              <a:path w="1495514" h="290987">
                <a:moveTo>
                  <a:pt x="0" y="0"/>
                </a:moveTo>
                <a:cubicBezTo>
                  <a:pt x="230024" y="140293"/>
                  <a:pt x="460049" y="280587"/>
                  <a:pt x="709301" y="290557"/>
                </a:cubicBezTo>
                <a:cubicBezTo>
                  <a:pt x="958553" y="300527"/>
                  <a:pt x="1227033" y="135202"/>
                  <a:pt x="1495514" y="14849"/>
                </a:cubicBezTo>
              </a:path>
            </a:pathLst>
          </a:custGeom>
          <a:noFill/>
          <a:ln w="76200">
            <a:solidFill>
              <a:schemeClr val="tx1"/>
            </a:solidFill>
            <a:headEnd type="none" w="med" len="med"/>
            <a:tailEnd type="triangle" w="med" len="me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BE"/>
          </a:p>
        </p:txBody>
      </p:sp>
      <p:sp>
        <p:nvSpPr>
          <p:cNvPr id="22" name="Freeform 21">
            <a:extLst>
              <a:ext uri="{FF2B5EF4-FFF2-40B4-BE49-F238E27FC236}">
                <a16:creationId xmlns:a16="http://schemas.microsoft.com/office/drawing/2014/main" id="{5F44AFD4-79FF-264C-26D4-438ACE8DEF58}"/>
              </a:ext>
            </a:extLst>
          </p:cNvPr>
          <p:cNvSpPr/>
          <p:nvPr/>
        </p:nvSpPr>
        <p:spPr>
          <a:xfrm rot="13043453">
            <a:off x="7555463" y="1859344"/>
            <a:ext cx="1495514" cy="290987"/>
          </a:xfrm>
          <a:custGeom>
            <a:avLst/>
            <a:gdLst>
              <a:gd name="csX0" fmla="*/ 0 w 1495514"/>
              <a:gd name="csY0" fmla="*/ 0 h 290987"/>
              <a:gd name="csX1" fmla="*/ 709301 w 1495514"/>
              <a:gd name="csY1" fmla="*/ 290557 h 290987"/>
              <a:gd name="csX2" fmla="*/ 1495514 w 1495514"/>
              <a:gd name="csY2" fmla="*/ 14849 h 290987"/>
            </a:gdLst>
            <a:ahLst/>
            <a:cxnLst>
              <a:cxn ang="0">
                <a:pos x="csX0" y="csY0"/>
              </a:cxn>
              <a:cxn ang="0">
                <a:pos x="csX1" y="csY1"/>
              </a:cxn>
              <a:cxn ang="0">
                <a:pos x="csX2" y="csY2"/>
              </a:cxn>
            </a:cxnLst>
            <a:rect l="l" t="t" r="r" b="b"/>
            <a:pathLst>
              <a:path w="1495514" h="290987">
                <a:moveTo>
                  <a:pt x="0" y="0"/>
                </a:moveTo>
                <a:cubicBezTo>
                  <a:pt x="230024" y="140293"/>
                  <a:pt x="460049" y="280587"/>
                  <a:pt x="709301" y="290557"/>
                </a:cubicBezTo>
                <a:cubicBezTo>
                  <a:pt x="958553" y="300527"/>
                  <a:pt x="1227033" y="135202"/>
                  <a:pt x="1495514" y="14849"/>
                </a:cubicBezTo>
              </a:path>
            </a:pathLst>
          </a:custGeom>
          <a:noFill/>
          <a:ln w="76200">
            <a:solidFill>
              <a:schemeClr val="tx1"/>
            </a:solidFill>
            <a:headEnd type="none" w="med" len="med"/>
            <a:tailEnd type="triangle" w="med" len="me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BE"/>
          </a:p>
        </p:txBody>
      </p:sp>
      <p:sp>
        <p:nvSpPr>
          <p:cNvPr id="23" name="Freeform 22">
            <a:extLst>
              <a:ext uri="{FF2B5EF4-FFF2-40B4-BE49-F238E27FC236}">
                <a16:creationId xmlns:a16="http://schemas.microsoft.com/office/drawing/2014/main" id="{46A432BE-BD41-1BCB-AC15-8BE9C5E19984}"/>
              </a:ext>
            </a:extLst>
          </p:cNvPr>
          <p:cNvSpPr/>
          <p:nvPr/>
        </p:nvSpPr>
        <p:spPr>
          <a:xfrm rot="19056180" flipH="1" flipV="1">
            <a:off x="2568117" y="1901304"/>
            <a:ext cx="1495514" cy="290987"/>
          </a:xfrm>
          <a:custGeom>
            <a:avLst/>
            <a:gdLst>
              <a:gd name="csX0" fmla="*/ 0 w 1495514"/>
              <a:gd name="csY0" fmla="*/ 0 h 290987"/>
              <a:gd name="csX1" fmla="*/ 709301 w 1495514"/>
              <a:gd name="csY1" fmla="*/ 290557 h 290987"/>
              <a:gd name="csX2" fmla="*/ 1495514 w 1495514"/>
              <a:gd name="csY2" fmla="*/ 14849 h 290987"/>
            </a:gdLst>
            <a:ahLst/>
            <a:cxnLst>
              <a:cxn ang="0">
                <a:pos x="csX0" y="csY0"/>
              </a:cxn>
              <a:cxn ang="0">
                <a:pos x="csX1" y="csY1"/>
              </a:cxn>
              <a:cxn ang="0">
                <a:pos x="csX2" y="csY2"/>
              </a:cxn>
            </a:cxnLst>
            <a:rect l="l" t="t" r="r" b="b"/>
            <a:pathLst>
              <a:path w="1495514" h="290987">
                <a:moveTo>
                  <a:pt x="0" y="0"/>
                </a:moveTo>
                <a:cubicBezTo>
                  <a:pt x="230024" y="140293"/>
                  <a:pt x="460049" y="280587"/>
                  <a:pt x="709301" y="290557"/>
                </a:cubicBezTo>
                <a:cubicBezTo>
                  <a:pt x="958553" y="300527"/>
                  <a:pt x="1227033" y="135202"/>
                  <a:pt x="1495514" y="14849"/>
                </a:cubicBezTo>
              </a:path>
            </a:pathLst>
          </a:custGeom>
          <a:noFill/>
          <a:ln w="76200">
            <a:solidFill>
              <a:schemeClr val="tx1"/>
            </a:solidFill>
            <a:headEnd type="none" w="med" len="med"/>
            <a:tailEnd type="triangle" w="med" len="me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BE"/>
          </a:p>
        </p:txBody>
      </p:sp>
      <p:sp>
        <p:nvSpPr>
          <p:cNvPr id="24" name="TextBox 23">
            <a:extLst>
              <a:ext uri="{FF2B5EF4-FFF2-40B4-BE49-F238E27FC236}">
                <a16:creationId xmlns:a16="http://schemas.microsoft.com/office/drawing/2014/main" id="{E87BC3F0-E535-7CD2-738E-E77EE7684E39}"/>
              </a:ext>
            </a:extLst>
          </p:cNvPr>
          <p:cNvSpPr txBox="1"/>
          <p:nvPr/>
        </p:nvSpPr>
        <p:spPr>
          <a:xfrm>
            <a:off x="1764329" y="1421569"/>
            <a:ext cx="1572126" cy="584775"/>
          </a:xfrm>
          <a:prstGeom prst="rect">
            <a:avLst/>
          </a:prstGeom>
          <a:noFill/>
        </p:spPr>
        <p:txBody>
          <a:bodyPr wrap="square" rtlCol="0">
            <a:spAutoFit/>
          </a:bodyPr>
          <a:lstStyle/>
          <a:p>
            <a:pPr algn="ctr"/>
            <a:r>
              <a:rPr lang="en-GB" dirty="0">
                <a:latin typeface="+mj-lt"/>
              </a:rPr>
              <a:t>M</a:t>
            </a:r>
            <a:r>
              <a:rPr lang="en-BE" dirty="0">
                <a:latin typeface="+mj-lt"/>
              </a:rPr>
              <a:t>easured system imbalance (15’)</a:t>
            </a:r>
          </a:p>
        </p:txBody>
      </p:sp>
      <p:sp>
        <p:nvSpPr>
          <p:cNvPr id="25" name="TextBox 24">
            <a:extLst>
              <a:ext uri="{FF2B5EF4-FFF2-40B4-BE49-F238E27FC236}">
                <a16:creationId xmlns:a16="http://schemas.microsoft.com/office/drawing/2014/main" id="{ED7FC42F-7BB7-CE02-DAE9-24020F5DCBFB}"/>
              </a:ext>
            </a:extLst>
          </p:cNvPr>
          <p:cNvSpPr txBox="1"/>
          <p:nvPr/>
        </p:nvSpPr>
        <p:spPr>
          <a:xfrm>
            <a:off x="4913802" y="3462884"/>
            <a:ext cx="1572126" cy="584775"/>
          </a:xfrm>
          <a:prstGeom prst="rect">
            <a:avLst/>
          </a:prstGeom>
          <a:noFill/>
        </p:spPr>
        <p:txBody>
          <a:bodyPr wrap="square" rtlCol="0">
            <a:spAutoFit/>
          </a:bodyPr>
          <a:lstStyle/>
          <a:p>
            <a:pPr algn="ctr"/>
            <a:r>
              <a:rPr lang="en-GB" dirty="0">
                <a:latin typeface="+mj-lt"/>
              </a:rPr>
              <a:t>Publish</a:t>
            </a:r>
            <a:r>
              <a:rPr lang="en-BE" dirty="0">
                <a:latin typeface="+mj-lt"/>
              </a:rPr>
              <a:t> imbalance price forecast (1’)</a:t>
            </a:r>
          </a:p>
        </p:txBody>
      </p:sp>
      <p:sp>
        <p:nvSpPr>
          <p:cNvPr id="26" name="TextBox 25">
            <a:extLst>
              <a:ext uri="{FF2B5EF4-FFF2-40B4-BE49-F238E27FC236}">
                <a16:creationId xmlns:a16="http://schemas.microsoft.com/office/drawing/2014/main" id="{16D777B2-771A-A196-B5E6-D4F820A3669F}"/>
              </a:ext>
            </a:extLst>
          </p:cNvPr>
          <p:cNvSpPr txBox="1"/>
          <p:nvPr/>
        </p:nvSpPr>
        <p:spPr>
          <a:xfrm>
            <a:off x="8427024" y="1421569"/>
            <a:ext cx="1572126" cy="584775"/>
          </a:xfrm>
          <a:prstGeom prst="rect">
            <a:avLst/>
          </a:prstGeom>
          <a:noFill/>
        </p:spPr>
        <p:txBody>
          <a:bodyPr wrap="square" rtlCol="0">
            <a:spAutoFit/>
          </a:bodyPr>
          <a:lstStyle/>
          <a:p>
            <a:pPr algn="ctr"/>
            <a:r>
              <a:rPr lang="en-US" dirty="0">
                <a:latin typeface="+mj-lt"/>
              </a:rPr>
              <a:t>BRPs react to published prices</a:t>
            </a:r>
            <a:endParaRPr lang="en-BE" dirty="0">
              <a:latin typeface="+mj-lt"/>
            </a:endParaRPr>
          </a:p>
        </p:txBody>
      </p:sp>
      <p:sp>
        <p:nvSpPr>
          <p:cNvPr id="27" name="Slide Number Placeholder 26">
            <a:extLst>
              <a:ext uri="{FF2B5EF4-FFF2-40B4-BE49-F238E27FC236}">
                <a16:creationId xmlns:a16="http://schemas.microsoft.com/office/drawing/2014/main" id="{F927F548-C216-1D4A-2240-845E6AB4A997}"/>
              </a:ext>
            </a:extLst>
          </p:cNvPr>
          <p:cNvSpPr>
            <a:spLocks noGrp="1"/>
          </p:cNvSpPr>
          <p:nvPr>
            <p:ph type="sldNum" sz="quarter" idx="11"/>
          </p:nvPr>
        </p:nvSpPr>
        <p:spPr/>
        <p:txBody>
          <a:bodyPr/>
          <a:lstStyle/>
          <a:p>
            <a:pPr>
              <a:defRPr/>
            </a:pPr>
            <a:fld id="{4908A2AA-746C-4DBB-9102-670E2680A299}" type="slidenum">
              <a:rPr lang="en-US" smtClean="0"/>
              <a:pPr>
                <a:defRPr/>
              </a:pPr>
              <a:t>29</a:t>
            </a:fld>
            <a:endParaRPr lang="en-US"/>
          </a:p>
        </p:txBody>
      </p:sp>
      <p:sp>
        <p:nvSpPr>
          <p:cNvPr id="3" name="Rounded Rectangle 2">
            <a:extLst>
              <a:ext uri="{FF2B5EF4-FFF2-40B4-BE49-F238E27FC236}">
                <a16:creationId xmlns:a16="http://schemas.microsoft.com/office/drawing/2014/main" id="{5C426151-DF8B-1816-F269-7439DE1AB769}"/>
              </a:ext>
            </a:extLst>
          </p:cNvPr>
          <p:cNvSpPr/>
          <p:nvPr/>
        </p:nvSpPr>
        <p:spPr>
          <a:xfrm>
            <a:off x="9125712" y="3572256"/>
            <a:ext cx="438912" cy="615696"/>
          </a:xfrm>
          <a:prstGeom prst="roundRect">
            <a:avLst/>
          </a:prstGeom>
          <a:solidFill>
            <a:srgbClr val="C00003">
              <a:alpha val="20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BE"/>
          </a:p>
        </p:txBody>
      </p:sp>
      <p:sp>
        <p:nvSpPr>
          <p:cNvPr id="6" name="Rectangle 5">
            <a:extLst>
              <a:ext uri="{FF2B5EF4-FFF2-40B4-BE49-F238E27FC236}">
                <a16:creationId xmlns:a16="http://schemas.microsoft.com/office/drawing/2014/main" id="{22062877-8082-07C4-CB59-99C62DD29CEF}"/>
              </a:ext>
            </a:extLst>
          </p:cNvPr>
          <p:cNvSpPr/>
          <p:nvPr/>
        </p:nvSpPr>
        <p:spPr>
          <a:xfrm>
            <a:off x="9255125" y="3462884"/>
            <a:ext cx="187325" cy="109372"/>
          </a:xfrm>
          <a:prstGeom prst="rect">
            <a:avLst/>
          </a:prstGeom>
          <a:solidFill>
            <a:srgbClr val="C00003">
              <a:alpha val="20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BE"/>
          </a:p>
        </p:txBody>
      </p:sp>
    </p:spTree>
    <p:extLst>
      <p:ext uri="{BB962C8B-B14F-4D97-AF65-F5344CB8AC3E}">
        <p14:creationId xmlns:p14="http://schemas.microsoft.com/office/powerpoint/2010/main" val="2482292351"/>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99" name="Rounded Rectangle 698">
            <a:extLst>
              <a:ext uri="{FF2B5EF4-FFF2-40B4-BE49-F238E27FC236}">
                <a16:creationId xmlns:a16="http://schemas.microsoft.com/office/drawing/2014/main" id="{AF64352F-04F9-493B-5CF0-AC9EAC5BCFA3}"/>
              </a:ext>
            </a:extLst>
          </p:cNvPr>
          <p:cNvSpPr/>
          <p:nvPr/>
        </p:nvSpPr>
        <p:spPr>
          <a:xfrm>
            <a:off x="5759971" y="1386778"/>
            <a:ext cx="5174788" cy="3564685"/>
          </a:xfrm>
          <a:prstGeom prst="roundRect">
            <a:avLst>
              <a:gd name="adj" fmla="val 8715"/>
            </a:avLst>
          </a:prstGeom>
          <a:solidFill>
            <a:schemeClr val="bg2">
              <a:lumMod val="20000"/>
              <a:lumOff val="80000"/>
            </a:schemeClr>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BE"/>
          </a:p>
        </p:txBody>
      </p:sp>
      <p:sp>
        <p:nvSpPr>
          <p:cNvPr id="2" name="Title 1">
            <a:extLst>
              <a:ext uri="{FF2B5EF4-FFF2-40B4-BE49-F238E27FC236}">
                <a16:creationId xmlns:a16="http://schemas.microsoft.com/office/drawing/2014/main" id="{02461E1C-F6C1-D41B-D81C-1C306ECA0575}"/>
              </a:ext>
            </a:extLst>
          </p:cNvPr>
          <p:cNvSpPr>
            <a:spLocks noGrp="1"/>
          </p:cNvSpPr>
          <p:nvPr>
            <p:ph type="title"/>
          </p:nvPr>
        </p:nvSpPr>
        <p:spPr/>
        <p:txBody>
          <a:bodyPr/>
          <a:lstStyle/>
          <a:p>
            <a:r>
              <a:rPr lang="en-BE" dirty="0"/>
              <a:t>MCTS Based Imbalance Price Forecasting</a:t>
            </a:r>
          </a:p>
        </p:txBody>
      </p:sp>
      <p:sp>
        <p:nvSpPr>
          <p:cNvPr id="3" name="Footer Placeholder 2">
            <a:extLst>
              <a:ext uri="{FF2B5EF4-FFF2-40B4-BE49-F238E27FC236}">
                <a16:creationId xmlns:a16="http://schemas.microsoft.com/office/drawing/2014/main" id="{3FEBE6C2-BBD2-D7CB-D8BA-615C2F3A9C47}"/>
              </a:ext>
            </a:extLst>
          </p:cNvPr>
          <p:cNvSpPr>
            <a:spLocks noGrp="1"/>
          </p:cNvSpPr>
          <p:nvPr>
            <p:ph type="ftr" sz="quarter" idx="10"/>
          </p:nvPr>
        </p:nvSpPr>
        <p:spPr/>
        <p:txBody>
          <a:bodyPr/>
          <a:lstStyle/>
          <a:p>
            <a:pPr>
              <a:defRPr/>
            </a:pPr>
            <a:r>
              <a:rPr lang="en-US"/>
              <a:t>C. Develder, "AI4E: Data-efficient and scalable algorithmss to exploit energy flexibility"</a:t>
            </a:r>
          </a:p>
        </p:txBody>
      </p:sp>
      <p:grpSp>
        <p:nvGrpSpPr>
          <p:cNvPr id="650" name="Group 649">
            <a:extLst>
              <a:ext uri="{FF2B5EF4-FFF2-40B4-BE49-F238E27FC236}">
                <a16:creationId xmlns:a16="http://schemas.microsoft.com/office/drawing/2014/main" id="{97370251-64CF-42BF-5106-F7A7F69E784F}"/>
              </a:ext>
            </a:extLst>
          </p:cNvPr>
          <p:cNvGrpSpPr/>
          <p:nvPr/>
        </p:nvGrpSpPr>
        <p:grpSpPr>
          <a:xfrm>
            <a:off x="6002527" y="1534097"/>
            <a:ext cx="2278389" cy="981370"/>
            <a:chOff x="6470717" y="1466145"/>
            <a:chExt cx="2278389" cy="981370"/>
          </a:xfrm>
        </p:grpSpPr>
        <p:sp>
          <p:nvSpPr>
            <p:cNvPr id="624" name="Rounded Rectangle 623">
              <a:extLst>
                <a:ext uri="{FF2B5EF4-FFF2-40B4-BE49-F238E27FC236}">
                  <a16:creationId xmlns:a16="http://schemas.microsoft.com/office/drawing/2014/main" id="{4F3114B8-86B5-FC81-AC1E-664E724E18BD}"/>
                </a:ext>
              </a:extLst>
            </p:cNvPr>
            <p:cNvSpPr/>
            <p:nvPr/>
          </p:nvSpPr>
          <p:spPr>
            <a:xfrm>
              <a:off x="6522178" y="1601203"/>
              <a:ext cx="2219483" cy="830997"/>
            </a:xfrm>
            <a:prstGeom prst="roundRect">
              <a:avLst>
                <a:gd name="adj" fmla="val 25050"/>
              </a:avLst>
            </a:prstGeom>
            <a:solidFill>
              <a:srgbClr val="FFD9DA"/>
            </a:solidFill>
            <a:ln>
              <a:solidFill>
                <a:schemeClr val="accent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BE" dirty="0"/>
            </a:p>
          </p:txBody>
        </p:sp>
        <p:pic>
          <p:nvPicPr>
            <p:cNvPr id="8" name="Picture 7">
              <a:extLst>
                <a:ext uri="{FF2B5EF4-FFF2-40B4-BE49-F238E27FC236}">
                  <a16:creationId xmlns:a16="http://schemas.microsoft.com/office/drawing/2014/main" id="{BC727352-8991-8016-C93E-5697648C5C11}"/>
                </a:ext>
              </a:extLst>
            </p:cNvPr>
            <p:cNvPicPr>
              <a:picLocks noChangeAspect="1"/>
            </p:cNvPicPr>
            <p:nvPr/>
          </p:nvPicPr>
          <p:blipFill>
            <a:blip r:embed="rId3"/>
            <a:srcRect t="13983" r="69159" b="22813"/>
            <a:stretch>
              <a:fillRect/>
            </a:stretch>
          </p:blipFill>
          <p:spPr>
            <a:xfrm>
              <a:off x="6631498" y="1800821"/>
              <a:ext cx="548498" cy="580767"/>
            </a:xfrm>
            <a:prstGeom prst="rect">
              <a:avLst/>
            </a:prstGeom>
          </p:spPr>
        </p:pic>
        <p:sp>
          <p:nvSpPr>
            <p:cNvPr id="115" name="TextBox 114">
              <a:extLst>
                <a:ext uri="{FF2B5EF4-FFF2-40B4-BE49-F238E27FC236}">
                  <a16:creationId xmlns:a16="http://schemas.microsoft.com/office/drawing/2014/main" id="{745972C9-26A8-F734-0A68-624BD73C57DF}"/>
                </a:ext>
              </a:extLst>
            </p:cNvPr>
            <p:cNvSpPr txBox="1"/>
            <p:nvPr/>
          </p:nvSpPr>
          <p:spPr>
            <a:xfrm>
              <a:off x="7528900" y="1616518"/>
              <a:ext cx="1220206" cy="830997"/>
            </a:xfrm>
            <a:prstGeom prst="rect">
              <a:avLst/>
            </a:prstGeom>
            <a:noFill/>
          </p:spPr>
          <p:txBody>
            <a:bodyPr wrap="none" rtlCol="0">
              <a:spAutoFit/>
            </a:bodyPr>
            <a:lstStyle/>
            <a:p>
              <a:pPr algn="ctr"/>
              <a:r>
                <a:rPr lang="en-BE" b="1" dirty="0">
                  <a:solidFill>
                    <a:schemeClr val="accent3"/>
                  </a:solidFill>
                  <a:latin typeface="+mn-lt"/>
                </a:rPr>
                <a:t>Net Reserve</a:t>
              </a:r>
              <a:br>
                <a:rPr lang="en-BE" b="1" dirty="0">
                  <a:solidFill>
                    <a:schemeClr val="accent3"/>
                  </a:solidFill>
                  <a:latin typeface="+mn-lt"/>
                </a:rPr>
              </a:br>
              <a:r>
                <a:rPr lang="en-BE" b="1" dirty="0">
                  <a:solidFill>
                    <a:schemeClr val="accent3"/>
                  </a:solidFill>
                  <a:latin typeface="+mn-lt"/>
                </a:rPr>
                <a:t>Volume (NRV)</a:t>
              </a:r>
              <a:br>
                <a:rPr lang="en-BE" b="1" dirty="0">
                  <a:solidFill>
                    <a:schemeClr val="accent3"/>
                  </a:solidFill>
                  <a:latin typeface="+mn-lt"/>
                </a:rPr>
              </a:br>
              <a:r>
                <a:rPr lang="en-BE" b="1" dirty="0">
                  <a:solidFill>
                    <a:schemeClr val="accent3"/>
                  </a:solidFill>
                  <a:latin typeface="+mn-lt"/>
                </a:rPr>
                <a:t>Forecaster</a:t>
              </a:r>
            </a:p>
          </p:txBody>
        </p:sp>
        <p:grpSp>
          <p:nvGrpSpPr>
            <p:cNvPr id="610" name="Group 609">
              <a:extLst>
                <a:ext uri="{FF2B5EF4-FFF2-40B4-BE49-F238E27FC236}">
                  <a16:creationId xmlns:a16="http://schemas.microsoft.com/office/drawing/2014/main" id="{C74DB653-8852-2537-64E8-4B2781BC8AFC}"/>
                </a:ext>
              </a:extLst>
            </p:cNvPr>
            <p:cNvGrpSpPr/>
            <p:nvPr/>
          </p:nvGrpSpPr>
          <p:grpSpPr>
            <a:xfrm>
              <a:off x="6470717" y="1466145"/>
              <a:ext cx="327644" cy="312970"/>
              <a:chOff x="9424224" y="3681151"/>
              <a:chExt cx="524217" cy="500740"/>
            </a:xfrm>
          </p:grpSpPr>
          <p:sp>
            <p:nvSpPr>
              <p:cNvPr id="609" name="Rectangle 608">
                <a:extLst>
                  <a:ext uri="{FF2B5EF4-FFF2-40B4-BE49-F238E27FC236}">
                    <a16:creationId xmlns:a16="http://schemas.microsoft.com/office/drawing/2014/main" id="{0C2EFD08-E49B-50CA-255A-08B11D1E8080}"/>
                  </a:ext>
                </a:extLst>
              </p:cNvPr>
              <p:cNvSpPr/>
              <p:nvPr/>
            </p:nvSpPr>
            <p:spPr>
              <a:xfrm>
                <a:off x="9424224" y="3681151"/>
                <a:ext cx="506576" cy="495300"/>
              </a:xfrm>
              <a:prstGeom prst="rect">
                <a:avLst/>
              </a:prstGeom>
              <a:solidFill>
                <a:srgbClr val="F2A2A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BE" dirty="0"/>
              </a:p>
            </p:txBody>
          </p:sp>
          <p:sp>
            <p:nvSpPr>
              <p:cNvPr id="607" name="Freeform 606">
                <a:extLst>
                  <a:ext uri="{FF2B5EF4-FFF2-40B4-BE49-F238E27FC236}">
                    <a16:creationId xmlns:a16="http://schemas.microsoft.com/office/drawing/2014/main" id="{CC1C6263-C5B1-E9AF-199F-4D5D85278883}"/>
                  </a:ext>
                </a:extLst>
              </p:cNvPr>
              <p:cNvSpPr/>
              <p:nvPr/>
            </p:nvSpPr>
            <p:spPr>
              <a:xfrm>
                <a:off x="9424224" y="3683645"/>
                <a:ext cx="524217" cy="498246"/>
              </a:xfrm>
              <a:custGeom>
                <a:avLst/>
                <a:gdLst>
                  <a:gd name="csX0" fmla="*/ 0 w 714894"/>
                  <a:gd name="csY0" fmla="*/ 0 h 708244"/>
                  <a:gd name="csX1" fmla="*/ 0 w 714894"/>
                  <a:gd name="csY1" fmla="*/ 708244 h 708244"/>
                  <a:gd name="csX2" fmla="*/ 714894 w 714894"/>
                  <a:gd name="csY2" fmla="*/ 708244 h 708244"/>
                </a:gdLst>
                <a:ahLst/>
                <a:cxnLst>
                  <a:cxn ang="0">
                    <a:pos x="csX0" y="csY0"/>
                  </a:cxn>
                  <a:cxn ang="0">
                    <a:pos x="csX1" y="csY1"/>
                  </a:cxn>
                  <a:cxn ang="0">
                    <a:pos x="csX2" y="csY2"/>
                  </a:cxn>
                </a:cxnLst>
                <a:rect l="l" t="t" r="r" b="b"/>
                <a:pathLst>
                  <a:path w="714894" h="708244">
                    <a:moveTo>
                      <a:pt x="0" y="0"/>
                    </a:moveTo>
                    <a:lnTo>
                      <a:pt x="0" y="708244"/>
                    </a:lnTo>
                    <a:lnTo>
                      <a:pt x="714894" y="708244"/>
                    </a:lnTo>
                  </a:path>
                </a:pathLst>
              </a:custGeom>
              <a:noFill/>
              <a:ln w="19050">
                <a:solidFill>
                  <a:srgbClr val="992F3F"/>
                </a:solidFill>
                <a:headEnd type="arrow" w="sm" len="sm"/>
                <a:tailEnd type="arrow" w="sm" len="sm"/>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BE" dirty="0"/>
              </a:p>
            </p:txBody>
          </p:sp>
          <p:sp>
            <p:nvSpPr>
              <p:cNvPr id="608" name="Freeform 607">
                <a:extLst>
                  <a:ext uri="{FF2B5EF4-FFF2-40B4-BE49-F238E27FC236}">
                    <a16:creationId xmlns:a16="http://schemas.microsoft.com/office/drawing/2014/main" id="{8EB615F4-7D23-D676-2495-F4D899F05335}"/>
                  </a:ext>
                </a:extLst>
              </p:cNvPr>
              <p:cNvSpPr/>
              <p:nvPr/>
            </p:nvSpPr>
            <p:spPr>
              <a:xfrm>
                <a:off x="9424224" y="3834606"/>
                <a:ext cx="403825" cy="273050"/>
              </a:xfrm>
              <a:custGeom>
                <a:avLst/>
                <a:gdLst>
                  <a:gd name="csX0" fmla="*/ 0 w 447675"/>
                  <a:gd name="csY0" fmla="*/ 212725 h 273050"/>
                  <a:gd name="csX1" fmla="*/ 104775 w 447675"/>
                  <a:gd name="csY1" fmla="*/ 22225 h 273050"/>
                  <a:gd name="csX2" fmla="*/ 180975 w 447675"/>
                  <a:gd name="csY2" fmla="*/ 158750 h 273050"/>
                  <a:gd name="csX3" fmla="*/ 254000 w 447675"/>
                  <a:gd name="csY3" fmla="*/ 66675 h 273050"/>
                  <a:gd name="csX4" fmla="*/ 361950 w 447675"/>
                  <a:gd name="csY4" fmla="*/ 273050 h 273050"/>
                  <a:gd name="csX5" fmla="*/ 447675 w 447675"/>
                  <a:gd name="csY5" fmla="*/ 0 h 273050"/>
                </a:gdLst>
                <a:ahLst/>
                <a:cxnLst>
                  <a:cxn ang="0">
                    <a:pos x="csX0" y="csY0"/>
                  </a:cxn>
                  <a:cxn ang="0">
                    <a:pos x="csX1" y="csY1"/>
                  </a:cxn>
                  <a:cxn ang="0">
                    <a:pos x="csX2" y="csY2"/>
                  </a:cxn>
                  <a:cxn ang="0">
                    <a:pos x="csX3" y="csY3"/>
                  </a:cxn>
                  <a:cxn ang="0">
                    <a:pos x="csX4" y="csY4"/>
                  </a:cxn>
                  <a:cxn ang="0">
                    <a:pos x="csX5" y="csY5"/>
                  </a:cxn>
                </a:cxnLst>
                <a:rect l="l" t="t" r="r" b="b"/>
                <a:pathLst>
                  <a:path w="447675" h="273050">
                    <a:moveTo>
                      <a:pt x="0" y="212725"/>
                    </a:moveTo>
                    <a:lnTo>
                      <a:pt x="104775" y="22225"/>
                    </a:lnTo>
                    <a:lnTo>
                      <a:pt x="180975" y="158750"/>
                    </a:lnTo>
                    <a:lnTo>
                      <a:pt x="254000" y="66675"/>
                    </a:lnTo>
                    <a:lnTo>
                      <a:pt x="361950" y="273050"/>
                    </a:lnTo>
                    <a:lnTo>
                      <a:pt x="447675" y="0"/>
                    </a:lnTo>
                  </a:path>
                </a:pathLst>
              </a:custGeom>
              <a:noFill/>
              <a:ln w="19050">
                <a:solidFill>
                  <a:srgbClr val="992F3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BE"/>
              </a:p>
            </p:txBody>
          </p:sp>
        </p:grpSp>
      </p:grpSp>
      <p:grpSp>
        <p:nvGrpSpPr>
          <p:cNvPr id="619" name="Group 618">
            <a:extLst>
              <a:ext uri="{FF2B5EF4-FFF2-40B4-BE49-F238E27FC236}">
                <a16:creationId xmlns:a16="http://schemas.microsoft.com/office/drawing/2014/main" id="{9A469058-F659-0FCE-BF71-24AA81C18CF4}"/>
              </a:ext>
            </a:extLst>
          </p:cNvPr>
          <p:cNvGrpSpPr/>
          <p:nvPr/>
        </p:nvGrpSpPr>
        <p:grpSpPr>
          <a:xfrm>
            <a:off x="-2753247" y="1508826"/>
            <a:ext cx="2010137" cy="1700995"/>
            <a:chOff x="1402794" y="2588150"/>
            <a:chExt cx="3632086" cy="3073503"/>
          </a:xfrm>
        </p:grpSpPr>
        <p:pic>
          <p:nvPicPr>
            <p:cNvPr id="620" name="Picture 619">
              <a:extLst>
                <a:ext uri="{FF2B5EF4-FFF2-40B4-BE49-F238E27FC236}">
                  <a16:creationId xmlns:a16="http://schemas.microsoft.com/office/drawing/2014/main" id="{3D80DC25-BF20-8842-C307-487ABAD8CC4B}"/>
                </a:ext>
              </a:extLst>
            </p:cNvPr>
            <p:cNvPicPr>
              <a:picLocks noChangeAspect="1"/>
            </p:cNvPicPr>
            <p:nvPr/>
          </p:nvPicPr>
          <p:blipFill>
            <a:blip r:embed="rId3"/>
            <a:stretch>
              <a:fillRect/>
            </a:stretch>
          </p:blipFill>
          <p:spPr>
            <a:xfrm>
              <a:off x="1402794" y="3785075"/>
              <a:ext cx="3632086" cy="1876578"/>
            </a:xfrm>
            <a:prstGeom prst="rect">
              <a:avLst/>
            </a:prstGeom>
          </p:spPr>
        </p:pic>
        <p:pic>
          <p:nvPicPr>
            <p:cNvPr id="621" name="Picture 620">
              <a:extLst>
                <a:ext uri="{FF2B5EF4-FFF2-40B4-BE49-F238E27FC236}">
                  <a16:creationId xmlns:a16="http://schemas.microsoft.com/office/drawing/2014/main" id="{65A38264-11C6-F347-ED64-9090B466494F}"/>
                </a:ext>
              </a:extLst>
            </p:cNvPr>
            <p:cNvPicPr>
              <a:picLocks noChangeAspect="1"/>
            </p:cNvPicPr>
            <p:nvPr/>
          </p:nvPicPr>
          <p:blipFill>
            <a:blip r:embed="rId4"/>
            <a:stretch>
              <a:fillRect/>
            </a:stretch>
          </p:blipFill>
          <p:spPr>
            <a:xfrm>
              <a:off x="1907587" y="2588150"/>
              <a:ext cx="2622498" cy="1354958"/>
            </a:xfrm>
            <a:prstGeom prst="rect">
              <a:avLst/>
            </a:prstGeom>
          </p:spPr>
        </p:pic>
      </p:grpSp>
      <p:grpSp>
        <p:nvGrpSpPr>
          <p:cNvPr id="634" name="Group 633">
            <a:extLst>
              <a:ext uri="{FF2B5EF4-FFF2-40B4-BE49-F238E27FC236}">
                <a16:creationId xmlns:a16="http://schemas.microsoft.com/office/drawing/2014/main" id="{C31BB183-4A88-2E57-51F1-B55FE14A952C}"/>
              </a:ext>
            </a:extLst>
          </p:cNvPr>
          <p:cNvGrpSpPr/>
          <p:nvPr/>
        </p:nvGrpSpPr>
        <p:grpSpPr>
          <a:xfrm>
            <a:off x="1108247" y="1876122"/>
            <a:ext cx="3030136" cy="2963353"/>
            <a:chOff x="-1760977" y="3818086"/>
            <a:chExt cx="3030136" cy="2963353"/>
          </a:xfrm>
        </p:grpSpPr>
        <p:sp>
          <p:nvSpPr>
            <p:cNvPr id="632" name="Cloud 631">
              <a:extLst>
                <a:ext uri="{FF2B5EF4-FFF2-40B4-BE49-F238E27FC236}">
                  <a16:creationId xmlns:a16="http://schemas.microsoft.com/office/drawing/2014/main" id="{5027F9C8-2033-3A3D-5364-480E83863684}"/>
                </a:ext>
              </a:extLst>
            </p:cNvPr>
            <p:cNvSpPr/>
            <p:nvPr/>
          </p:nvSpPr>
          <p:spPr>
            <a:xfrm rot="403758">
              <a:off x="-1760977" y="3818086"/>
              <a:ext cx="3030136" cy="2963353"/>
            </a:xfrm>
            <a:prstGeom prst="cloud">
              <a:avLst/>
            </a:prstGeom>
            <a:noFill/>
            <a:ln>
              <a:solidFill>
                <a:schemeClr val="bg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BE" dirty="0"/>
            </a:p>
          </p:txBody>
        </p:sp>
        <p:sp>
          <p:nvSpPr>
            <p:cNvPr id="633" name="Oval 632">
              <a:extLst>
                <a:ext uri="{FF2B5EF4-FFF2-40B4-BE49-F238E27FC236}">
                  <a16:creationId xmlns:a16="http://schemas.microsoft.com/office/drawing/2014/main" id="{E272EA55-E2F8-FFE6-B34C-E26DD933AA2A}"/>
                </a:ext>
              </a:extLst>
            </p:cNvPr>
            <p:cNvSpPr/>
            <p:nvPr/>
          </p:nvSpPr>
          <p:spPr>
            <a:xfrm>
              <a:off x="476212" y="5442857"/>
              <a:ext cx="464314" cy="548640"/>
            </a:xfrm>
            <a:prstGeom prst="ellipse">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BE"/>
            </a:p>
          </p:txBody>
        </p:sp>
      </p:grpSp>
      <p:grpSp>
        <p:nvGrpSpPr>
          <p:cNvPr id="7" name="Group 6">
            <a:extLst>
              <a:ext uri="{FF2B5EF4-FFF2-40B4-BE49-F238E27FC236}">
                <a16:creationId xmlns:a16="http://schemas.microsoft.com/office/drawing/2014/main" id="{5219DB09-C626-85E8-C3ED-44EB2DC3BC37}"/>
              </a:ext>
            </a:extLst>
          </p:cNvPr>
          <p:cNvGrpSpPr/>
          <p:nvPr/>
        </p:nvGrpSpPr>
        <p:grpSpPr>
          <a:xfrm>
            <a:off x="1567456" y="2359324"/>
            <a:ext cx="2010137" cy="2070757"/>
            <a:chOff x="1402794" y="1920033"/>
            <a:chExt cx="3632086" cy="3741620"/>
          </a:xfrm>
        </p:grpSpPr>
        <p:pic>
          <p:nvPicPr>
            <p:cNvPr id="4" name="Picture 3">
              <a:extLst>
                <a:ext uri="{FF2B5EF4-FFF2-40B4-BE49-F238E27FC236}">
                  <a16:creationId xmlns:a16="http://schemas.microsoft.com/office/drawing/2014/main" id="{5D04C243-2CCE-09C3-B77D-FAC44522A63D}"/>
                </a:ext>
              </a:extLst>
            </p:cNvPr>
            <p:cNvPicPr>
              <a:picLocks noChangeAspect="1"/>
            </p:cNvPicPr>
            <p:nvPr/>
          </p:nvPicPr>
          <p:blipFill>
            <a:blip r:embed="rId3"/>
            <a:stretch>
              <a:fillRect/>
            </a:stretch>
          </p:blipFill>
          <p:spPr>
            <a:xfrm>
              <a:off x="1402794" y="3785075"/>
              <a:ext cx="3632086" cy="1876578"/>
            </a:xfrm>
            <a:prstGeom prst="rect">
              <a:avLst/>
            </a:prstGeom>
          </p:spPr>
        </p:pic>
        <p:pic>
          <p:nvPicPr>
            <p:cNvPr id="5" name="Picture 4">
              <a:extLst>
                <a:ext uri="{FF2B5EF4-FFF2-40B4-BE49-F238E27FC236}">
                  <a16:creationId xmlns:a16="http://schemas.microsoft.com/office/drawing/2014/main" id="{6F85A41C-5F45-BF88-0BCA-A24B4709A180}"/>
                </a:ext>
              </a:extLst>
            </p:cNvPr>
            <p:cNvPicPr>
              <a:picLocks noChangeAspect="1"/>
            </p:cNvPicPr>
            <p:nvPr/>
          </p:nvPicPr>
          <p:blipFill>
            <a:blip r:embed="rId4"/>
            <a:stretch>
              <a:fillRect/>
            </a:stretch>
          </p:blipFill>
          <p:spPr>
            <a:xfrm>
              <a:off x="1907588" y="1920033"/>
              <a:ext cx="2622499" cy="1354958"/>
            </a:xfrm>
            <a:prstGeom prst="rect">
              <a:avLst/>
            </a:prstGeom>
          </p:spPr>
        </p:pic>
        <p:pic>
          <p:nvPicPr>
            <p:cNvPr id="6" name="Graphic 5">
              <a:extLst>
                <a:ext uri="{FF2B5EF4-FFF2-40B4-BE49-F238E27FC236}">
                  <a16:creationId xmlns:a16="http://schemas.microsoft.com/office/drawing/2014/main" id="{7F8E28D0-819D-01AB-805E-ED15185BDD2A}"/>
                </a:ext>
              </a:extLst>
            </p:cNvPr>
            <p:cNvPicPr>
              <a:picLocks noChangeAspect="1"/>
            </p:cNvPicPr>
            <p:nvPr/>
          </p:nvPicPr>
          <p:blipFill>
            <a:blip>
              <a:extLst>
                <a:ext uri="{96DAC541-7B7A-43D3-8B79-37D633B846F1}">
                  <asvg:svgBlip xmlns:asvg="http://schemas.microsoft.com/office/drawing/2016/SVG/main" r:embed="rId5"/>
                </a:ext>
              </a:extLst>
            </a:blip>
            <a:srcRect b="21577"/>
            <a:stretch>
              <a:fillRect/>
            </a:stretch>
          </p:blipFill>
          <p:spPr>
            <a:xfrm>
              <a:off x="1985934" y="3344891"/>
              <a:ext cx="2345434" cy="680641"/>
            </a:xfrm>
            <a:prstGeom prst="rect">
              <a:avLst/>
            </a:prstGeom>
          </p:spPr>
        </p:pic>
      </p:grpSp>
      <p:grpSp>
        <p:nvGrpSpPr>
          <p:cNvPr id="649" name="Group 648">
            <a:extLst>
              <a:ext uri="{FF2B5EF4-FFF2-40B4-BE49-F238E27FC236}">
                <a16:creationId xmlns:a16="http://schemas.microsoft.com/office/drawing/2014/main" id="{2353C530-5164-2377-29E2-5A94D592DB2A}"/>
              </a:ext>
            </a:extLst>
          </p:cNvPr>
          <p:cNvGrpSpPr/>
          <p:nvPr/>
        </p:nvGrpSpPr>
        <p:grpSpPr>
          <a:xfrm>
            <a:off x="8416454" y="1491507"/>
            <a:ext cx="2305309" cy="1023960"/>
            <a:chOff x="9216964" y="1423555"/>
            <a:chExt cx="2305309" cy="1023960"/>
          </a:xfrm>
        </p:grpSpPr>
        <p:sp>
          <p:nvSpPr>
            <p:cNvPr id="648" name="Rounded Rectangle 647">
              <a:extLst>
                <a:ext uri="{FF2B5EF4-FFF2-40B4-BE49-F238E27FC236}">
                  <a16:creationId xmlns:a16="http://schemas.microsoft.com/office/drawing/2014/main" id="{66BAD98E-A1D0-14DB-B543-F9DB6AEFC0AF}"/>
                </a:ext>
              </a:extLst>
            </p:cNvPr>
            <p:cNvSpPr/>
            <p:nvPr/>
          </p:nvSpPr>
          <p:spPr>
            <a:xfrm>
              <a:off x="9302790" y="1601203"/>
              <a:ext cx="2219483" cy="830997"/>
            </a:xfrm>
            <a:prstGeom prst="roundRect">
              <a:avLst>
                <a:gd name="adj" fmla="val 24003"/>
              </a:avLst>
            </a:prstGeom>
            <a:solidFill>
              <a:srgbClr val="FFD9DA"/>
            </a:solidFill>
            <a:ln>
              <a:solidFill>
                <a:schemeClr val="accent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BE" dirty="0"/>
            </a:p>
          </p:txBody>
        </p:sp>
        <p:sp>
          <p:nvSpPr>
            <p:cNvPr id="637" name="TextBox 636">
              <a:extLst>
                <a:ext uri="{FF2B5EF4-FFF2-40B4-BE49-F238E27FC236}">
                  <a16:creationId xmlns:a16="http://schemas.microsoft.com/office/drawing/2014/main" id="{4605671A-FAA4-DA38-A043-295CE3BDEC35}"/>
                </a:ext>
              </a:extLst>
            </p:cNvPr>
            <p:cNvSpPr txBox="1"/>
            <p:nvPr/>
          </p:nvSpPr>
          <p:spPr>
            <a:xfrm>
              <a:off x="10530803" y="1616518"/>
              <a:ext cx="901209" cy="830997"/>
            </a:xfrm>
            <a:prstGeom prst="rect">
              <a:avLst/>
            </a:prstGeom>
            <a:noFill/>
          </p:spPr>
          <p:txBody>
            <a:bodyPr wrap="none" rtlCol="0">
              <a:spAutoFit/>
            </a:bodyPr>
            <a:lstStyle/>
            <a:p>
              <a:pPr algn="ctr"/>
              <a:r>
                <a:rPr lang="en-BE" b="1" dirty="0">
                  <a:solidFill>
                    <a:schemeClr val="accent3"/>
                  </a:solidFill>
                  <a:latin typeface="+mn-lt"/>
                </a:rPr>
                <a:t>BRP</a:t>
              </a:r>
              <a:br>
                <a:rPr lang="en-BE" b="1" dirty="0">
                  <a:solidFill>
                    <a:schemeClr val="accent3"/>
                  </a:solidFill>
                  <a:latin typeface="+mn-lt"/>
                </a:rPr>
              </a:br>
              <a:r>
                <a:rPr lang="en-BE" b="1" dirty="0">
                  <a:solidFill>
                    <a:schemeClr val="accent3"/>
                  </a:solidFill>
                  <a:latin typeface="+mn-lt"/>
                </a:rPr>
                <a:t>Response</a:t>
              </a:r>
            </a:p>
            <a:p>
              <a:pPr algn="ctr"/>
              <a:r>
                <a:rPr lang="en-BE" b="1" dirty="0">
                  <a:solidFill>
                    <a:schemeClr val="accent3"/>
                  </a:solidFill>
                  <a:latin typeface="+mn-lt"/>
                </a:rPr>
                <a:t>Model</a:t>
              </a:r>
            </a:p>
          </p:txBody>
        </p:sp>
        <p:grpSp>
          <p:nvGrpSpPr>
            <p:cNvPr id="12" name="Group 11">
              <a:extLst>
                <a:ext uri="{FF2B5EF4-FFF2-40B4-BE49-F238E27FC236}">
                  <a16:creationId xmlns:a16="http://schemas.microsoft.com/office/drawing/2014/main" id="{5CD46381-BA95-1B43-B08E-4032F27B299D}"/>
                </a:ext>
              </a:extLst>
            </p:cNvPr>
            <p:cNvGrpSpPr/>
            <p:nvPr/>
          </p:nvGrpSpPr>
          <p:grpSpPr>
            <a:xfrm>
              <a:off x="9604033" y="1774176"/>
              <a:ext cx="805585" cy="546309"/>
              <a:chOff x="5545038" y="2639947"/>
              <a:chExt cx="1711524" cy="1160673"/>
            </a:xfrm>
          </p:grpSpPr>
          <p:pic>
            <p:nvPicPr>
              <p:cNvPr id="9" name="Picture 8">
                <a:extLst>
                  <a:ext uri="{FF2B5EF4-FFF2-40B4-BE49-F238E27FC236}">
                    <a16:creationId xmlns:a16="http://schemas.microsoft.com/office/drawing/2014/main" id="{1EEBA9FE-8B19-9D54-B775-5EBE5C8BA8BA}"/>
                  </a:ext>
                </a:extLst>
              </p:cNvPr>
              <p:cNvPicPr>
                <a:picLocks noChangeAspect="1"/>
              </p:cNvPicPr>
              <p:nvPr/>
            </p:nvPicPr>
            <p:blipFill>
              <a:blip r:embed="rId3"/>
              <a:srcRect l="56012" t="24206" r="26984" b="24930"/>
              <a:stretch>
                <a:fillRect/>
              </a:stretch>
            </p:blipFill>
            <p:spPr>
              <a:xfrm>
                <a:off x="5545038" y="2639948"/>
                <a:ext cx="617621" cy="954505"/>
              </a:xfrm>
              <a:prstGeom prst="rect">
                <a:avLst/>
              </a:prstGeom>
            </p:spPr>
          </p:pic>
          <p:pic>
            <p:nvPicPr>
              <p:cNvPr id="10" name="Picture 9">
                <a:extLst>
                  <a:ext uri="{FF2B5EF4-FFF2-40B4-BE49-F238E27FC236}">
                    <a16:creationId xmlns:a16="http://schemas.microsoft.com/office/drawing/2014/main" id="{822803DF-53BC-F579-E3F7-DCE3BA3F4633}"/>
                  </a:ext>
                </a:extLst>
              </p:cNvPr>
              <p:cNvPicPr>
                <a:picLocks noChangeAspect="1"/>
              </p:cNvPicPr>
              <p:nvPr/>
            </p:nvPicPr>
            <p:blipFill>
              <a:blip r:embed="rId3"/>
              <a:srcRect l="56012" t="24206" r="26984" b="24930"/>
              <a:stretch>
                <a:fillRect/>
              </a:stretch>
            </p:blipFill>
            <p:spPr>
              <a:xfrm>
                <a:off x="6096000" y="2846115"/>
                <a:ext cx="617621" cy="954505"/>
              </a:xfrm>
              <a:prstGeom prst="rect">
                <a:avLst/>
              </a:prstGeom>
            </p:spPr>
          </p:pic>
          <p:pic>
            <p:nvPicPr>
              <p:cNvPr id="11" name="Picture 10">
                <a:extLst>
                  <a:ext uri="{FF2B5EF4-FFF2-40B4-BE49-F238E27FC236}">
                    <a16:creationId xmlns:a16="http://schemas.microsoft.com/office/drawing/2014/main" id="{5DF70B3C-F62B-6120-292C-A64177AC9EAB}"/>
                  </a:ext>
                </a:extLst>
              </p:cNvPr>
              <p:cNvPicPr>
                <a:picLocks noChangeAspect="1"/>
              </p:cNvPicPr>
              <p:nvPr/>
            </p:nvPicPr>
            <p:blipFill>
              <a:blip r:embed="rId3"/>
              <a:srcRect l="56012" t="24206" r="26984" b="24930"/>
              <a:stretch>
                <a:fillRect/>
              </a:stretch>
            </p:blipFill>
            <p:spPr>
              <a:xfrm>
                <a:off x="6638941" y="2639947"/>
                <a:ext cx="617621" cy="954505"/>
              </a:xfrm>
              <a:prstGeom prst="rect">
                <a:avLst/>
              </a:prstGeom>
            </p:spPr>
          </p:pic>
        </p:grpSp>
        <p:pic>
          <p:nvPicPr>
            <p:cNvPr id="647" name="Picture 646" descr="A brain with a lightning bolt&#10;&#10;AI-generated content may be incorrect.">
              <a:extLst>
                <a:ext uri="{FF2B5EF4-FFF2-40B4-BE49-F238E27FC236}">
                  <a16:creationId xmlns:a16="http://schemas.microsoft.com/office/drawing/2014/main" id="{B8C7B6EC-B76F-58A7-40E7-4EC990C88655}"/>
                </a:ext>
              </a:extLst>
            </p:cNvPr>
            <p:cNvPicPr>
              <a:picLocks noChangeAspect="1"/>
            </p:cNvPicPr>
            <p:nvPr/>
          </p:nvPicPr>
          <p:blipFill>
            <a:blip r:embed="rId6" cstate="print">
              <a:clrChange>
                <a:clrFrom>
                  <a:srgbClr val="FFFFFF"/>
                </a:clrFrom>
                <a:clrTo>
                  <a:srgbClr val="FFFFFF">
                    <a:alpha val="0"/>
                  </a:srgbClr>
                </a:clrTo>
              </a:clrChange>
              <a:extLst>
                <a:ext uri="{28A0092B-C50C-407E-A947-70E740481C1C}">
                  <a14:useLocalDpi xmlns:a14="http://schemas.microsoft.com/office/drawing/2010/main" val="0"/>
                </a:ext>
              </a:extLst>
            </a:blip>
            <a:stretch>
              <a:fillRect/>
            </a:stretch>
          </p:blipFill>
          <p:spPr>
            <a:xfrm>
              <a:off x="9216964" y="1423555"/>
              <a:ext cx="385347" cy="406400"/>
            </a:xfrm>
            <a:prstGeom prst="rect">
              <a:avLst/>
            </a:prstGeom>
          </p:spPr>
        </p:pic>
      </p:grpSp>
      <p:grpSp>
        <p:nvGrpSpPr>
          <p:cNvPr id="707" name="Group 706">
            <a:extLst>
              <a:ext uri="{FF2B5EF4-FFF2-40B4-BE49-F238E27FC236}">
                <a16:creationId xmlns:a16="http://schemas.microsoft.com/office/drawing/2014/main" id="{6360DE47-B814-2525-65B9-A470F0423A8A}"/>
              </a:ext>
            </a:extLst>
          </p:cNvPr>
          <p:cNvGrpSpPr/>
          <p:nvPr/>
        </p:nvGrpSpPr>
        <p:grpSpPr>
          <a:xfrm>
            <a:off x="6066122" y="3237353"/>
            <a:ext cx="4655641" cy="1506388"/>
            <a:chOff x="5929992" y="3497232"/>
            <a:chExt cx="4655641" cy="1506388"/>
          </a:xfrm>
        </p:grpSpPr>
        <p:sp>
          <p:nvSpPr>
            <p:cNvPr id="651" name="Rounded Rectangle 650">
              <a:extLst>
                <a:ext uri="{FF2B5EF4-FFF2-40B4-BE49-F238E27FC236}">
                  <a16:creationId xmlns:a16="http://schemas.microsoft.com/office/drawing/2014/main" id="{59F45DC7-973F-33F4-7574-A8D3CCB22E7C}"/>
                </a:ext>
              </a:extLst>
            </p:cNvPr>
            <p:cNvSpPr/>
            <p:nvPr/>
          </p:nvSpPr>
          <p:spPr>
            <a:xfrm>
              <a:off x="5929992" y="3497232"/>
              <a:ext cx="4655641" cy="1506388"/>
            </a:xfrm>
            <a:prstGeom prst="roundRect">
              <a:avLst>
                <a:gd name="adj" fmla="val 14355"/>
              </a:avLst>
            </a:prstGeom>
            <a:solidFill>
              <a:schemeClr val="accent6">
                <a:lumMod val="20000"/>
                <a:lumOff val="80000"/>
              </a:schemeClr>
            </a:solidFill>
            <a:ln>
              <a:solidFill>
                <a:schemeClr val="accent6">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BE" dirty="0"/>
            </a:p>
          </p:txBody>
        </p:sp>
        <p:sp>
          <p:nvSpPr>
            <p:cNvPr id="652" name="TextBox 651">
              <a:extLst>
                <a:ext uri="{FF2B5EF4-FFF2-40B4-BE49-F238E27FC236}">
                  <a16:creationId xmlns:a16="http://schemas.microsoft.com/office/drawing/2014/main" id="{A5A4D534-2083-8DB7-B59E-2EE6A91B4144}"/>
                </a:ext>
              </a:extLst>
            </p:cNvPr>
            <p:cNvSpPr txBox="1"/>
            <p:nvPr/>
          </p:nvSpPr>
          <p:spPr>
            <a:xfrm>
              <a:off x="6468722" y="3587197"/>
              <a:ext cx="3744936" cy="461665"/>
            </a:xfrm>
            <a:prstGeom prst="rect">
              <a:avLst/>
            </a:prstGeom>
            <a:noFill/>
          </p:spPr>
          <p:txBody>
            <a:bodyPr wrap="none" rtlCol="0">
              <a:spAutoFit/>
            </a:bodyPr>
            <a:lstStyle/>
            <a:p>
              <a:r>
                <a:rPr lang="en-BE" sz="2400" b="1" dirty="0">
                  <a:solidFill>
                    <a:schemeClr val="accent6"/>
                  </a:solidFill>
                  <a:latin typeface="+mn-lt"/>
                </a:rPr>
                <a:t>MCTS = Monte Carlo Tree Search</a:t>
              </a:r>
              <a:endParaRPr lang="en-BE" sz="2400" dirty="0">
                <a:solidFill>
                  <a:schemeClr val="accent6"/>
                </a:solidFill>
                <a:latin typeface="+mn-lt"/>
              </a:endParaRPr>
            </a:p>
          </p:txBody>
        </p:sp>
        <p:sp>
          <p:nvSpPr>
            <p:cNvPr id="653" name="TextBox 652">
              <a:extLst>
                <a:ext uri="{FF2B5EF4-FFF2-40B4-BE49-F238E27FC236}">
                  <a16:creationId xmlns:a16="http://schemas.microsoft.com/office/drawing/2014/main" id="{B6E0FFF6-3E1A-9674-B987-A2DCA27F8F8D}"/>
                </a:ext>
              </a:extLst>
            </p:cNvPr>
            <p:cNvSpPr txBox="1"/>
            <p:nvPr/>
          </p:nvSpPr>
          <p:spPr>
            <a:xfrm>
              <a:off x="6060453" y="4041846"/>
              <a:ext cx="2378354" cy="830997"/>
            </a:xfrm>
            <a:prstGeom prst="rect">
              <a:avLst/>
            </a:prstGeom>
            <a:noFill/>
          </p:spPr>
          <p:txBody>
            <a:bodyPr wrap="square" rtlCol="0">
              <a:spAutoFit/>
            </a:bodyPr>
            <a:lstStyle/>
            <a:p>
              <a:pPr marL="134938" indent="-134938">
                <a:buFontTx/>
                <a:buChar char="-"/>
              </a:pPr>
              <a:r>
                <a:rPr lang="en-GB" dirty="0">
                  <a:solidFill>
                    <a:schemeClr val="accent6"/>
                  </a:solidFill>
                  <a:latin typeface="+mn-lt"/>
                </a:rPr>
                <a:t>R</a:t>
              </a:r>
              <a:r>
                <a:rPr lang="en-BE" dirty="0">
                  <a:solidFill>
                    <a:schemeClr val="accent6"/>
                  </a:solidFill>
                  <a:latin typeface="+mn-lt"/>
                </a:rPr>
                <a:t>oll out possible scenarios, based on </a:t>
              </a:r>
              <a:r>
                <a:rPr lang="en-BE" b="1" dirty="0">
                  <a:solidFill>
                    <a:schemeClr val="accent3"/>
                  </a:solidFill>
                  <a:latin typeface="+mn-lt"/>
                </a:rPr>
                <a:t>system model</a:t>
              </a:r>
            </a:p>
            <a:p>
              <a:pPr marL="134938" indent="-134938">
                <a:buFontTx/>
                <a:buChar char="-"/>
              </a:pPr>
              <a:r>
                <a:rPr lang="en-BE" dirty="0">
                  <a:solidFill>
                    <a:schemeClr val="accent6"/>
                  </a:solidFill>
                  <a:latin typeface="+mn-lt"/>
                </a:rPr>
                <a:t>Learn to decide best “action” </a:t>
              </a:r>
            </a:p>
          </p:txBody>
        </p:sp>
        <p:grpSp>
          <p:nvGrpSpPr>
            <p:cNvPr id="698" name="Group 697">
              <a:extLst>
                <a:ext uri="{FF2B5EF4-FFF2-40B4-BE49-F238E27FC236}">
                  <a16:creationId xmlns:a16="http://schemas.microsoft.com/office/drawing/2014/main" id="{03E045B6-E21D-D657-0217-0E0BEB0C1446}"/>
                </a:ext>
              </a:extLst>
            </p:cNvPr>
            <p:cNvGrpSpPr/>
            <p:nvPr/>
          </p:nvGrpSpPr>
          <p:grpSpPr>
            <a:xfrm>
              <a:off x="8584991" y="4062457"/>
              <a:ext cx="1852871" cy="787395"/>
              <a:chOff x="8042563" y="3756925"/>
              <a:chExt cx="1852871" cy="787395"/>
            </a:xfrm>
          </p:grpSpPr>
          <p:sp>
            <p:nvSpPr>
              <p:cNvPr id="654" name="Oval 653">
                <a:extLst>
                  <a:ext uri="{FF2B5EF4-FFF2-40B4-BE49-F238E27FC236}">
                    <a16:creationId xmlns:a16="http://schemas.microsoft.com/office/drawing/2014/main" id="{847D9254-BBDB-8FEB-83BD-B11DA4E8E70C}"/>
                  </a:ext>
                </a:extLst>
              </p:cNvPr>
              <p:cNvSpPr/>
              <p:nvPr/>
            </p:nvSpPr>
            <p:spPr>
              <a:xfrm>
                <a:off x="8601145" y="3815459"/>
                <a:ext cx="277977" cy="149871"/>
              </a:xfrm>
              <a:prstGeom prst="ellipse">
                <a:avLst/>
              </a:prstGeom>
              <a:solidFill>
                <a:schemeClr val="accent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BE"/>
              </a:p>
            </p:txBody>
          </p:sp>
          <p:cxnSp>
            <p:nvCxnSpPr>
              <p:cNvPr id="659" name="Curved Connector 658">
                <a:extLst>
                  <a:ext uri="{FF2B5EF4-FFF2-40B4-BE49-F238E27FC236}">
                    <a16:creationId xmlns:a16="http://schemas.microsoft.com/office/drawing/2014/main" id="{BFE1D54D-5240-44A8-050C-00D19C4A9F69}"/>
                  </a:ext>
                </a:extLst>
              </p:cNvPr>
              <p:cNvCxnSpPr>
                <a:cxnSpLocks/>
                <a:stCxn id="654" idx="4"/>
              </p:cNvCxnSpPr>
              <p:nvPr/>
            </p:nvCxnSpPr>
            <p:spPr>
              <a:xfrm rot="5400000">
                <a:off x="8393353" y="3773425"/>
                <a:ext cx="154876" cy="538687"/>
              </a:xfrm>
              <a:prstGeom prst="curvedConnector3">
                <a:avLst/>
              </a:prstGeom>
              <a:ln>
                <a:solidFill>
                  <a:schemeClr val="accent6"/>
                </a:solidFill>
                <a:tailEnd type="triangle"/>
              </a:ln>
            </p:spPr>
            <p:style>
              <a:lnRef idx="1">
                <a:schemeClr val="accent1"/>
              </a:lnRef>
              <a:fillRef idx="0">
                <a:schemeClr val="accent1"/>
              </a:fillRef>
              <a:effectRef idx="0">
                <a:schemeClr val="accent1"/>
              </a:effectRef>
              <a:fontRef idx="minor">
                <a:schemeClr val="tx1"/>
              </a:fontRef>
            </p:style>
          </p:cxnSp>
          <p:cxnSp>
            <p:nvCxnSpPr>
              <p:cNvPr id="660" name="Curved Connector 659">
                <a:extLst>
                  <a:ext uri="{FF2B5EF4-FFF2-40B4-BE49-F238E27FC236}">
                    <a16:creationId xmlns:a16="http://schemas.microsoft.com/office/drawing/2014/main" id="{8CAF089E-2DBB-219D-6F3E-E89B3224F7EC}"/>
                  </a:ext>
                </a:extLst>
              </p:cNvPr>
              <p:cNvCxnSpPr>
                <a:cxnSpLocks/>
                <a:stCxn id="654" idx="4"/>
              </p:cNvCxnSpPr>
              <p:nvPr/>
            </p:nvCxnSpPr>
            <p:spPr>
              <a:xfrm rot="16200000" flipH="1">
                <a:off x="8932039" y="3773424"/>
                <a:ext cx="154876" cy="538687"/>
              </a:xfrm>
              <a:prstGeom prst="curvedConnector3">
                <a:avLst>
                  <a:gd name="adj1" fmla="val 50000"/>
                </a:avLst>
              </a:prstGeom>
              <a:ln>
                <a:solidFill>
                  <a:schemeClr val="accent6"/>
                </a:solidFill>
                <a:tailEnd type="triangle"/>
              </a:ln>
            </p:spPr>
            <p:style>
              <a:lnRef idx="1">
                <a:schemeClr val="accent1"/>
              </a:lnRef>
              <a:fillRef idx="0">
                <a:schemeClr val="accent1"/>
              </a:fillRef>
              <a:effectRef idx="0">
                <a:schemeClr val="accent1"/>
              </a:effectRef>
              <a:fontRef idx="minor">
                <a:schemeClr val="tx1"/>
              </a:fontRef>
            </p:style>
          </p:cxnSp>
          <p:cxnSp>
            <p:nvCxnSpPr>
              <p:cNvPr id="663" name="Curved Connector 662">
                <a:extLst>
                  <a:ext uri="{FF2B5EF4-FFF2-40B4-BE49-F238E27FC236}">
                    <a16:creationId xmlns:a16="http://schemas.microsoft.com/office/drawing/2014/main" id="{0FB8DAB6-20B8-AF2A-FF38-B6DB6E526175}"/>
                  </a:ext>
                </a:extLst>
              </p:cNvPr>
              <p:cNvCxnSpPr>
                <a:cxnSpLocks/>
                <a:stCxn id="654" idx="4"/>
              </p:cNvCxnSpPr>
              <p:nvPr/>
            </p:nvCxnSpPr>
            <p:spPr>
              <a:xfrm rot="5400000">
                <a:off x="8662696" y="4042768"/>
                <a:ext cx="154876" cy="12700"/>
              </a:xfrm>
              <a:prstGeom prst="curvedConnector3">
                <a:avLst>
                  <a:gd name="adj1" fmla="val 50000"/>
                </a:avLst>
              </a:prstGeom>
              <a:ln>
                <a:solidFill>
                  <a:schemeClr val="accent6"/>
                </a:solidFill>
                <a:tailEnd type="triangle"/>
              </a:ln>
            </p:spPr>
            <p:style>
              <a:lnRef idx="1">
                <a:schemeClr val="accent1"/>
              </a:lnRef>
              <a:fillRef idx="0">
                <a:schemeClr val="accent1"/>
              </a:fillRef>
              <a:effectRef idx="0">
                <a:schemeClr val="accent1"/>
              </a:effectRef>
              <a:fontRef idx="minor">
                <a:schemeClr val="tx1"/>
              </a:fontRef>
            </p:style>
          </p:cxnSp>
          <p:grpSp>
            <p:nvGrpSpPr>
              <p:cNvPr id="670" name="Group 669">
                <a:extLst>
                  <a:ext uri="{FF2B5EF4-FFF2-40B4-BE49-F238E27FC236}">
                    <a16:creationId xmlns:a16="http://schemas.microsoft.com/office/drawing/2014/main" id="{AD9A7804-5FD3-B012-3711-3662A155028F}"/>
                  </a:ext>
                </a:extLst>
              </p:cNvPr>
              <p:cNvGrpSpPr/>
              <p:nvPr/>
            </p:nvGrpSpPr>
            <p:grpSpPr>
              <a:xfrm>
                <a:off x="8042563" y="4241323"/>
                <a:ext cx="291746" cy="171859"/>
                <a:chOff x="8320951" y="4073347"/>
                <a:chExt cx="1077372" cy="171859"/>
              </a:xfrm>
            </p:grpSpPr>
            <p:cxnSp>
              <p:nvCxnSpPr>
                <p:cNvPr id="667" name="Curved Connector 666">
                  <a:extLst>
                    <a:ext uri="{FF2B5EF4-FFF2-40B4-BE49-F238E27FC236}">
                      <a16:creationId xmlns:a16="http://schemas.microsoft.com/office/drawing/2014/main" id="{EEEDC155-9737-6E49-9399-DD7A620E9273}"/>
                    </a:ext>
                  </a:extLst>
                </p:cNvPr>
                <p:cNvCxnSpPr/>
                <p:nvPr/>
              </p:nvCxnSpPr>
              <p:spPr>
                <a:xfrm rot="5400000">
                  <a:off x="8504365" y="3889933"/>
                  <a:ext cx="171859" cy="538687"/>
                </a:xfrm>
                <a:prstGeom prst="curvedConnector3">
                  <a:avLst/>
                </a:prstGeom>
                <a:ln>
                  <a:solidFill>
                    <a:schemeClr val="accent6"/>
                  </a:solidFill>
                  <a:prstDash val="sysDash"/>
                  <a:tailEnd type="triangle"/>
                </a:ln>
              </p:spPr>
              <p:style>
                <a:lnRef idx="1">
                  <a:schemeClr val="accent1"/>
                </a:lnRef>
                <a:fillRef idx="0">
                  <a:schemeClr val="accent1"/>
                </a:fillRef>
                <a:effectRef idx="0">
                  <a:schemeClr val="accent1"/>
                </a:effectRef>
                <a:fontRef idx="minor">
                  <a:schemeClr val="tx1"/>
                </a:fontRef>
              </p:style>
            </p:cxnSp>
            <p:cxnSp>
              <p:nvCxnSpPr>
                <p:cNvPr id="668" name="Curved Connector 667">
                  <a:extLst>
                    <a:ext uri="{FF2B5EF4-FFF2-40B4-BE49-F238E27FC236}">
                      <a16:creationId xmlns:a16="http://schemas.microsoft.com/office/drawing/2014/main" id="{A9DD8AC9-F5B5-962D-99BF-943B6EB5BFD1}"/>
                    </a:ext>
                  </a:extLst>
                </p:cNvPr>
                <p:cNvCxnSpPr>
                  <a:cxnSpLocks/>
                </p:cNvCxnSpPr>
                <p:nvPr/>
              </p:nvCxnSpPr>
              <p:spPr>
                <a:xfrm rot="16200000" flipH="1">
                  <a:off x="9043051" y="3889932"/>
                  <a:ext cx="171858" cy="538687"/>
                </a:xfrm>
                <a:prstGeom prst="curvedConnector3">
                  <a:avLst>
                    <a:gd name="adj1" fmla="val 50000"/>
                  </a:avLst>
                </a:prstGeom>
                <a:ln>
                  <a:solidFill>
                    <a:schemeClr val="accent6"/>
                  </a:solidFill>
                  <a:prstDash val="sysDash"/>
                  <a:tailEnd type="triangle"/>
                </a:ln>
              </p:spPr>
              <p:style>
                <a:lnRef idx="1">
                  <a:schemeClr val="accent1"/>
                </a:lnRef>
                <a:fillRef idx="0">
                  <a:schemeClr val="accent1"/>
                </a:fillRef>
                <a:effectRef idx="0">
                  <a:schemeClr val="accent1"/>
                </a:effectRef>
                <a:fontRef idx="minor">
                  <a:schemeClr val="tx1"/>
                </a:fontRef>
              </p:style>
            </p:cxnSp>
          </p:grpSp>
          <p:grpSp>
            <p:nvGrpSpPr>
              <p:cNvPr id="675" name="Group 674">
                <a:extLst>
                  <a:ext uri="{FF2B5EF4-FFF2-40B4-BE49-F238E27FC236}">
                    <a16:creationId xmlns:a16="http://schemas.microsoft.com/office/drawing/2014/main" id="{5ABAA317-2B24-69E3-1F5E-59794E7EE766}"/>
                  </a:ext>
                </a:extLst>
              </p:cNvPr>
              <p:cNvGrpSpPr/>
              <p:nvPr/>
            </p:nvGrpSpPr>
            <p:grpSpPr>
              <a:xfrm>
                <a:off x="8523835" y="4241323"/>
                <a:ext cx="423764" cy="184316"/>
                <a:chOff x="8320951" y="4073347"/>
                <a:chExt cx="1077372" cy="184316"/>
              </a:xfrm>
            </p:grpSpPr>
            <p:cxnSp>
              <p:nvCxnSpPr>
                <p:cNvPr id="676" name="Curved Connector 675">
                  <a:extLst>
                    <a:ext uri="{FF2B5EF4-FFF2-40B4-BE49-F238E27FC236}">
                      <a16:creationId xmlns:a16="http://schemas.microsoft.com/office/drawing/2014/main" id="{DB946C4A-1A2A-0218-DD73-FA55A5E15901}"/>
                    </a:ext>
                  </a:extLst>
                </p:cNvPr>
                <p:cNvCxnSpPr/>
                <p:nvPr/>
              </p:nvCxnSpPr>
              <p:spPr>
                <a:xfrm rot="5400000">
                  <a:off x="8504365" y="3889933"/>
                  <a:ext cx="171859" cy="538687"/>
                </a:xfrm>
                <a:prstGeom prst="curvedConnector3">
                  <a:avLst/>
                </a:prstGeom>
                <a:ln>
                  <a:solidFill>
                    <a:schemeClr val="accent6"/>
                  </a:solidFill>
                  <a:prstDash val="sysDash"/>
                  <a:tailEnd type="triangle"/>
                </a:ln>
              </p:spPr>
              <p:style>
                <a:lnRef idx="1">
                  <a:schemeClr val="accent1"/>
                </a:lnRef>
                <a:fillRef idx="0">
                  <a:schemeClr val="accent1"/>
                </a:fillRef>
                <a:effectRef idx="0">
                  <a:schemeClr val="accent1"/>
                </a:effectRef>
                <a:fontRef idx="minor">
                  <a:schemeClr val="tx1"/>
                </a:fontRef>
              </p:style>
            </p:cxnSp>
            <p:cxnSp>
              <p:nvCxnSpPr>
                <p:cNvPr id="677" name="Curved Connector 676">
                  <a:extLst>
                    <a:ext uri="{FF2B5EF4-FFF2-40B4-BE49-F238E27FC236}">
                      <a16:creationId xmlns:a16="http://schemas.microsoft.com/office/drawing/2014/main" id="{E0BBF374-186B-C2B4-8858-0FEA9A6A5291}"/>
                    </a:ext>
                  </a:extLst>
                </p:cNvPr>
                <p:cNvCxnSpPr>
                  <a:cxnSpLocks/>
                </p:cNvCxnSpPr>
                <p:nvPr/>
              </p:nvCxnSpPr>
              <p:spPr>
                <a:xfrm rot="16200000" flipH="1">
                  <a:off x="9043051" y="3889932"/>
                  <a:ext cx="171858" cy="538687"/>
                </a:xfrm>
                <a:prstGeom prst="curvedConnector3">
                  <a:avLst>
                    <a:gd name="adj1" fmla="val 50000"/>
                  </a:avLst>
                </a:prstGeom>
                <a:ln>
                  <a:solidFill>
                    <a:schemeClr val="accent6"/>
                  </a:solidFill>
                  <a:prstDash val="sysDash"/>
                  <a:tailEnd type="triangle"/>
                </a:ln>
              </p:spPr>
              <p:style>
                <a:lnRef idx="1">
                  <a:schemeClr val="accent1"/>
                </a:lnRef>
                <a:fillRef idx="0">
                  <a:schemeClr val="accent1"/>
                </a:fillRef>
                <a:effectRef idx="0">
                  <a:schemeClr val="accent1"/>
                </a:effectRef>
                <a:fontRef idx="minor">
                  <a:schemeClr val="tx1"/>
                </a:fontRef>
              </p:style>
            </p:cxnSp>
            <p:cxnSp>
              <p:nvCxnSpPr>
                <p:cNvPr id="678" name="Curved Connector 677">
                  <a:extLst>
                    <a:ext uri="{FF2B5EF4-FFF2-40B4-BE49-F238E27FC236}">
                      <a16:creationId xmlns:a16="http://schemas.microsoft.com/office/drawing/2014/main" id="{FFE054F4-7B4A-9ED7-CFEE-83D00EDB221B}"/>
                    </a:ext>
                  </a:extLst>
                </p:cNvPr>
                <p:cNvCxnSpPr>
                  <a:cxnSpLocks/>
                </p:cNvCxnSpPr>
                <p:nvPr/>
              </p:nvCxnSpPr>
              <p:spPr>
                <a:xfrm rot="5400000">
                  <a:off x="8770654" y="4162330"/>
                  <a:ext cx="177966" cy="12700"/>
                </a:xfrm>
                <a:prstGeom prst="curvedConnector3">
                  <a:avLst>
                    <a:gd name="adj1" fmla="val 50000"/>
                  </a:avLst>
                </a:prstGeom>
                <a:ln>
                  <a:solidFill>
                    <a:schemeClr val="accent6"/>
                  </a:solidFill>
                  <a:prstDash val="sysDash"/>
                  <a:tailEnd type="triangle"/>
                </a:ln>
              </p:spPr>
              <p:style>
                <a:lnRef idx="1">
                  <a:schemeClr val="accent1"/>
                </a:lnRef>
                <a:fillRef idx="0">
                  <a:schemeClr val="accent1"/>
                </a:fillRef>
                <a:effectRef idx="0">
                  <a:schemeClr val="accent1"/>
                </a:effectRef>
                <a:fontRef idx="minor">
                  <a:schemeClr val="tx1"/>
                </a:fontRef>
              </p:style>
            </p:cxnSp>
          </p:grpSp>
          <p:grpSp>
            <p:nvGrpSpPr>
              <p:cNvPr id="679" name="Group 678">
                <a:extLst>
                  <a:ext uri="{FF2B5EF4-FFF2-40B4-BE49-F238E27FC236}">
                    <a16:creationId xmlns:a16="http://schemas.microsoft.com/office/drawing/2014/main" id="{98B1F95F-EC50-2780-A631-3776AECDA71B}"/>
                  </a:ext>
                </a:extLst>
              </p:cNvPr>
              <p:cNvGrpSpPr/>
              <p:nvPr/>
            </p:nvGrpSpPr>
            <p:grpSpPr>
              <a:xfrm>
                <a:off x="9274760" y="4241323"/>
                <a:ext cx="214380" cy="184316"/>
                <a:chOff x="8853287" y="4073347"/>
                <a:chExt cx="545036" cy="184316"/>
              </a:xfrm>
            </p:grpSpPr>
            <p:cxnSp>
              <p:nvCxnSpPr>
                <p:cNvPr id="681" name="Curved Connector 680">
                  <a:extLst>
                    <a:ext uri="{FF2B5EF4-FFF2-40B4-BE49-F238E27FC236}">
                      <a16:creationId xmlns:a16="http://schemas.microsoft.com/office/drawing/2014/main" id="{64649E0D-DC7B-3DE0-8DC1-BFC3BB212926}"/>
                    </a:ext>
                  </a:extLst>
                </p:cNvPr>
                <p:cNvCxnSpPr>
                  <a:cxnSpLocks/>
                </p:cNvCxnSpPr>
                <p:nvPr/>
              </p:nvCxnSpPr>
              <p:spPr>
                <a:xfrm rot="16200000" flipH="1">
                  <a:off x="9043051" y="3889932"/>
                  <a:ext cx="171858" cy="538687"/>
                </a:xfrm>
                <a:prstGeom prst="curvedConnector3">
                  <a:avLst>
                    <a:gd name="adj1" fmla="val 50000"/>
                  </a:avLst>
                </a:prstGeom>
                <a:ln>
                  <a:solidFill>
                    <a:schemeClr val="accent6"/>
                  </a:solidFill>
                  <a:prstDash val="sysDash"/>
                  <a:tailEnd type="triangle"/>
                </a:ln>
              </p:spPr>
              <p:style>
                <a:lnRef idx="1">
                  <a:schemeClr val="accent1"/>
                </a:lnRef>
                <a:fillRef idx="0">
                  <a:schemeClr val="accent1"/>
                </a:fillRef>
                <a:effectRef idx="0">
                  <a:schemeClr val="accent1"/>
                </a:effectRef>
                <a:fontRef idx="minor">
                  <a:schemeClr val="tx1"/>
                </a:fontRef>
              </p:style>
            </p:cxnSp>
            <p:cxnSp>
              <p:nvCxnSpPr>
                <p:cNvPr id="682" name="Curved Connector 681">
                  <a:extLst>
                    <a:ext uri="{FF2B5EF4-FFF2-40B4-BE49-F238E27FC236}">
                      <a16:creationId xmlns:a16="http://schemas.microsoft.com/office/drawing/2014/main" id="{AC9C1B3A-A524-D985-AD2D-3906D557D601}"/>
                    </a:ext>
                  </a:extLst>
                </p:cNvPr>
                <p:cNvCxnSpPr>
                  <a:cxnSpLocks/>
                </p:cNvCxnSpPr>
                <p:nvPr/>
              </p:nvCxnSpPr>
              <p:spPr>
                <a:xfrm rot="5400000">
                  <a:off x="8770654" y="4162330"/>
                  <a:ext cx="177966" cy="12700"/>
                </a:xfrm>
                <a:prstGeom prst="curvedConnector3">
                  <a:avLst>
                    <a:gd name="adj1" fmla="val 50000"/>
                  </a:avLst>
                </a:prstGeom>
                <a:ln>
                  <a:solidFill>
                    <a:schemeClr val="accent6"/>
                  </a:solidFill>
                  <a:prstDash val="sysDash"/>
                  <a:tailEnd type="triangle"/>
                </a:ln>
              </p:spPr>
              <p:style>
                <a:lnRef idx="1">
                  <a:schemeClr val="accent1"/>
                </a:lnRef>
                <a:fillRef idx="0">
                  <a:schemeClr val="accent1"/>
                </a:fillRef>
                <a:effectRef idx="0">
                  <a:schemeClr val="accent1"/>
                </a:effectRef>
                <a:fontRef idx="minor">
                  <a:schemeClr val="tx1"/>
                </a:fontRef>
              </p:style>
            </p:cxnSp>
          </p:grpSp>
          <p:sp>
            <p:nvSpPr>
              <p:cNvPr id="685" name="TextBox 684">
                <a:extLst>
                  <a:ext uri="{FF2B5EF4-FFF2-40B4-BE49-F238E27FC236}">
                    <a16:creationId xmlns:a16="http://schemas.microsoft.com/office/drawing/2014/main" id="{E59690D8-D0FF-532D-9330-7ACCDD83FAF6}"/>
                  </a:ext>
                </a:extLst>
              </p:cNvPr>
              <p:cNvSpPr txBox="1"/>
              <p:nvPr/>
            </p:nvSpPr>
            <p:spPr>
              <a:xfrm rot="5400000">
                <a:off x="9370931" y="4019818"/>
                <a:ext cx="787395" cy="261610"/>
              </a:xfrm>
              <a:prstGeom prst="rect">
                <a:avLst/>
              </a:prstGeom>
              <a:noFill/>
            </p:spPr>
            <p:txBody>
              <a:bodyPr wrap="none" rtlCol="0">
                <a:spAutoFit/>
              </a:bodyPr>
              <a:lstStyle/>
              <a:p>
                <a:r>
                  <a:rPr lang="en-BE" sz="1050" dirty="0">
                    <a:solidFill>
                      <a:schemeClr val="bg2"/>
                    </a:solidFill>
                  </a:rPr>
                  <a:t>timesteps</a:t>
                </a:r>
              </a:p>
            </p:txBody>
          </p:sp>
          <p:cxnSp>
            <p:nvCxnSpPr>
              <p:cNvPr id="684" name="Straight Arrow Connector 683">
                <a:extLst>
                  <a:ext uri="{FF2B5EF4-FFF2-40B4-BE49-F238E27FC236}">
                    <a16:creationId xmlns:a16="http://schemas.microsoft.com/office/drawing/2014/main" id="{B79D98A2-42D8-EB0B-F615-B6C826ACFD89}"/>
                  </a:ext>
                </a:extLst>
              </p:cNvPr>
              <p:cNvCxnSpPr>
                <a:cxnSpLocks/>
              </p:cNvCxnSpPr>
              <p:nvPr/>
            </p:nvCxnSpPr>
            <p:spPr>
              <a:xfrm>
                <a:off x="9577812" y="3771076"/>
                <a:ext cx="0" cy="700876"/>
              </a:xfrm>
              <a:prstGeom prst="straightConnector1">
                <a:avLst/>
              </a:prstGeom>
              <a:ln>
                <a:solidFill>
                  <a:schemeClr val="bg2"/>
                </a:solidFill>
                <a:tailEnd type="triangle"/>
              </a:ln>
            </p:spPr>
            <p:style>
              <a:lnRef idx="1">
                <a:schemeClr val="accent1"/>
              </a:lnRef>
              <a:fillRef idx="0">
                <a:schemeClr val="accent1"/>
              </a:fillRef>
              <a:effectRef idx="0">
                <a:schemeClr val="accent1"/>
              </a:effectRef>
              <a:fontRef idx="minor">
                <a:schemeClr val="tx1"/>
              </a:fontRef>
            </p:style>
          </p:cxnSp>
          <p:sp>
            <p:nvSpPr>
              <p:cNvPr id="694" name="Oval 693">
                <a:extLst>
                  <a:ext uri="{FF2B5EF4-FFF2-40B4-BE49-F238E27FC236}">
                    <a16:creationId xmlns:a16="http://schemas.microsoft.com/office/drawing/2014/main" id="{2F1C1B76-2F37-E7E5-26F7-B642F06455BE}"/>
                  </a:ext>
                </a:extLst>
              </p:cNvPr>
              <p:cNvSpPr/>
              <p:nvPr/>
            </p:nvSpPr>
            <p:spPr>
              <a:xfrm>
                <a:off x="8061893" y="4120985"/>
                <a:ext cx="277977" cy="149871"/>
              </a:xfrm>
              <a:prstGeom prst="ellipse">
                <a:avLst/>
              </a:prstGeom>
              <a:solidFill>
                <a:schemeClr val="accent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BE"/>
              </a:p>
            </p:txBody>
          </p:sp>
          <p:sp>
            <p:nvSpPr>
              <p:cNvPr id="695" name="Oval 694">
                <a:extLst>
                  <a:ext uri="{FF2B5EF4-FFF2-40B4-BE49-F238E27FC236}">
                    <a16:creationId xmlns:a16="http://schemas.microsoft.com/office/drawing/2014/main" id="{0EB03379-043D-FF1B-1F8D-8173754222CB}"/>
                  </a:ext>
                </a:extLst>
              </p:cNvPr>
              <p:cNvSpPr/>
              <p:nvPr/>
            </p:nvSpPr>
            <p:spPr>
              <a:xfrm>
                <a:off x="8598260" y="4120985"/>
                <a:ext cx="277977" cy="149871"/>
              </a:xfrm>
              <a:prstGeom prst="ellipse">
                <a:avLst/>
              </a:prstGeom>
              <a:solidFill>
                <a:schemeClr val="accent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BE"/>
              </a:p>
            </p:txBody>
          </p:sp>
          <p:sp>
            <p:nvSpPr>
              <p:cNvPr id="696" name="Oval 695">
                <a:extLst>
                  <a:ext uri="{FF2B5EF4-FFF2-40B4-BE49-F238E27FC236}">
                    <a16:creationId xmlns:a16="http://schemas.microsoft.com/office/drawing/2014/main" id="{8987D59F-D3AB-A067-6965-38D0E8E63E5F}"/>
                  </a:ext>
                </a:extLst>
              </p:cNvPr>
              <p:cNvSpPr/>
              <p:nvPr/>
            </p:nvSpPr>
            <p:spPr>
              <a:xfrm>
                <a:off x="9134627" y="4120985"/>
                <a:ext cx="277977" cy="149871"/>
              </a:xfrm>
              <a:prstGeom prst="ellipse">
                <a:avLst/>
              </a:prstGeom>
              <a:solidFill>
                <a:schemeClr val="accent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BE"/>
              </a:p>
            </p:txBody>
          </p:sp>
        </p:grpSp>
      </p:grpSp>
      <p:sp>
        <p:nvSpPr>
          <p:cNvPr id="700" name="Bent Arrow 699">
            <a:extLst>
              <a:ext uri="{FF2B5EF4-FFF2-40B4-BE49-F238E27FC236}">
                <a16:creationId xmlns:a16="http://schemas.microsoft.com/office/drawing/2014/main" id="{E9F1409A-32F1-7DAC-5259-197F088E37E0}"/>
              </a:ext>
            </a:extLst>
          </p:cNvPr>
          <p:cNvSpPr/>
          <p:nvPr/>
        </p:nvSpPr>
        <p:spPr>
          <a:xfrm rot="2226746">
            <a:off x="4445458" y="2042031"/>
            <a:ext cx="931817" cy="965047"/>
          </a:xfrm>
          <a:prstGeom prst="bentArrow">
            <a:avLst>
              <a:gd name="adj1" fmla="val 25000"/>
              <a:gd name="adj2" fmla="val 25000"/>
              <a:gd name="adj3" fmla="val 25000"/>
              <a:gd name="adj4" fmla="val 61574"/>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BE">
              <a:solidFill>
                <a:schemeClr val="tx1"/>
              </a:solidFill>
            </a:endParaRPr>
          </a:p>
        </p:txBody>
      </p:sp>
      <p:sp>
        <p:nvSpPr>
          <p:cNvPr id="701" name="Bent Arrow 700">
            <a:extLst>
              <a:ext uri="{FF2B5EF4-FFF2-40B4-BE49-F238E27FC236}">
                <a16:creationId xmlns:a16="http://schemas.microsoft.com/office/drawing/2014/main" id="{2C9EDB6A-2B77-3403-64C0-280D9B94900A}"/>
              </a:ext>
            </a:extLst>
          </p:cNvPr>
          <p:cNvSpPr/>
          <p:nvPr/>
        </p:nvSpPr>
        <p:spPr>
          <a:xfrm rot="13500000">
            <a:off x="4362444" y="3345575"/>
            <a:ext cx="931817" cy="965047"/>
          </a:xfrm>
          <a:prstGeom prst="bentArrow">
            <a:avLst>
              <a:gd name="adj1" fmla="val 25000"/>
              <a:gd name="adj2" fmla="val 25000"/>
              <a:gd name="adj3" fmla="val 25000"/>
              <a:gd name="adj4" fmla="val 61574"/>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BE">
              <a:solidFill>
                <a:schemeClr val="tx1"/>
              </a:solidFill>
            </a:endParaRPr>
          </a:p>
        </p:txBody>
      </p:sp>
      <p:sp>
        <p:nvSpPr>
          <p:cNvPr id="702" name="TextBox 701">
            <a:extLst>
              <a:ext uri="{FF2B5EF4-FFF2-40B4-BE49-F238E27FC236}">
                <a16:creationId xmlns:a16="http://schemas.microsoft.com/office/drawing/2014/main" id="{E7C9F879-214A-03D2-8075-13070F5C2B4D}"/>
              </a:ext>
            </a:extLst>
          </p:cNvPr>
          <p:cNvSpPr txBox="1"/>
          <p:nvPr/>
        </p:nvSpPr>
        <p:spPr>
          <a:xfrm>
            <a:off x="4263117" y="1358546"/>
            <a:ext cx="1300722" cy="830997"/>
          </a:xfrm>
          <a:prstGeom prst="rect">
            <a:avLst/>
          </a:prstGeom>
          <a:noFill/>
        </p:spPr>
        <p:txBody>
          <a:bodyPr wrap="square" rtlCol="0">
            <a:spAutoFit/>
          </a:bodyPr>
          <a:lstStyle/>
          <a:p>
            <a:pPr algn="ctr"/>
            <a:r>
              <a:rPr lang="en-GB" sz="2400" b="1" dirty="0">
                <a:solidFill>
                  <a:schemeClr val="bg2"/>
                </a:solidFill>
                <a:latin typeface="+mn-lt"/>
              </a:rPr>
              <a:t>S</a:t>
            </a:r>
            <a:r>
              <a:rPr lang="en-BE" sz="2400" b="1" dirty="0">
                <a:solidFill>
                  <a:schemeClr val="bg2"/>
                </a:solidFill>
                <a:latin typeface="+mn-lt"/>
              </a:rPr>
              <a:t>ystem state</a:t>
            </a:r>
          </a:p>
        </p:txBody>
      </p:sp>
      <p:sp>
        <p:nvSpPr>
          <p:cNvPr id="703" name="TextBox 702">
            <a:extLst>
              <a:ext uri="{FF2B5EF4-FFF2-40B4-BE49-F238E27FC236}">
                <a16:creationId xmlns:a16="http://schemas.microsoft.com/office/drawing/2014/main" id="{C72F7A37-574F-5A58-E5F2-C4FD075C810A}"/>
              </a:ext>
            </a:extLst>
          </p:cNvPr>
          <p:cNvSpPr txBox="1"/>
          <p:nvPr/>
        </p:nvSpPr>
        <p:spPr>
          <a:xfrm>
            <a:off x="4131667" y="4262282"/>
            <a:ext cx="1563622" cy="830997"/>
          </a:xfrm>
          <a:prstGeom prst="rect">
            <a:avLst/>
          </a:prstGeom>
          <a:noFill/>
        </p:spPr>
        <p:txBody>
          <a:bodyPr wrap="square" rtlCol="0">
            <a:spAutoFit/>
          </a:bodyPr>
          <a:lstStyle/>
          <a:p>
            <a:pPr algn="ctr"/>
            <a:r>
              <a:rPr lang="en-GB" sz="2400" b="1" dirty="0">
                <a:solidFill>
                  <a:schemeClr val="bg2"/>
                </a:solidFill>
                <a:latin typeface="+mn-lt"/>
              </a:rPr>
              <a:t>Price prediction</a:t>
            </a:r>
            <a:endParaRPr lang="en-BE" sz="2400" b="1" dirty="0">
              <a:solidFill>
                <a:schemeClr val="bg2"/>
              </a:solidFill>
              <a:latin typeface="+mn-lt"/>
            </a:endParaRPr>
          </a:p>
        </p:txBody>
      </p:sp>
      <p:grpSp>
        <p:nvGrpSpPr>
          <p:cNvPr id="706" name="Group 705">
            <a:extLst>
              <a:ext uri="{FF2B5EF4-FFF2-40B4-BE49-F238E27FC236}">
                <a16:creationId xmlns:a16="http://schemas.microsoft.com/office/drawing/2014/main" id="{813A8086-38A6-5FBD-8F9E-8ADAF90845E7}"/>
              </a:ext>
            </a:extLst>
          </p:cNvPr>
          <p:cNvGrpSpPr/>
          <p:nvPr/>
        </p:nvGrpSpPr>
        <p:grpSpPr>
          <a:xfrm rot="5400000">
            <a:off x="8078371" y="2317661"/>
            <a:ext cx="522201" cy="1140130"/>
            <a:chOff x="4440478" y="2454310"/>
            <a:chExt cx="1031446" cy="2251976"/>
          </a:xfrm>
          <a:solidFill>
            <a:schemeClr val="accent3"/>
          </a:solidFill>
        </p:grpSpPr>
        <p:sp>
          <p:nvSpPr>
            <p:cNvPr id="704" name="Bent Arrow 703">
              <a:extLst>
                <a:ext uri="{FF2B5EF4-FFF2-40B4-BE49-F238E27FC236}">
                  <a16:creationId xmlns:a16="http://schemas.microsoft.com/office/drawing/2014/main" id="{7DD1B4E8-C1A0-957A-0159-8F7106A8D920}"/>
                </a:ext>
              </a:extLst>
            </p:cNvPr>
            <p:cNvSpPr/>
            <p:nvPr/>
          </p:nvSpPr>
          <p:spPr>
            <a:xfrm rot="2226746">
              <a:off x="4540107" y="2454310"/>
              <a:ext cx="931817" cy="965047"/>
            </a:xfrm>
            <a:prstGeom prst="bentArrow">
              <a:avLst>
                <a:gd name="adj1" fmla="val 25000"/>
                <a:gd name="adj2" fmla="val 25000"/>
                <a:gd name="adj3" fmla="val 25000"/>
                <a:gd name="adj4" fmla="val 61574"/>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BE">
                <a:solidFill>
                  <a:schemeClr val="tx1"/>
                </a:solidFill>
              </a:endParaRPr>
            </a:p>
          </p:txBody>
        </p:sp>
        <p:sp>
          <p:nvSpPr>
            <p:cNvPr id="705" name="Bent Arrow 704">
              <a:extLst>
                <a:ext uri="{FF2B5EF4-FFF2-40B4-BE49-F238E27FC236}">
                  <a16:creationId xmlns:a16="http://schemas.microsoft.com/office/drawing/2014/main" id="{E38B9874-9340-1207-2515-19ED96B82FE0}"/>
                </a:ext>
              </a:extLst>
            </p:cNvPr>
            <p:cNvSpPr/>
            <p:nvPr/>
          </p:nvSpPr>
          <p:spPr>
            <a:xfrm rot="13500000">
              <a:off x="4457093" y="3757854"/>
              <a:ext cx="931817" cy="965047"/>
            </a:xfrm>
            <a:prstGeom prst="bentArrow">
              <a:avLst>
                <a:gd name="adj1" fmla="val 25000"/>
                <a:gd name="adj2" fmla="val 25000"/>
                <a:gd name="adj3" fmla="val 25000"/>
                <a:gd name="adj4" fmla="val 61574"/>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BE">
                <a:solidFill>
                  <a:schemeClr val="tx1"/>
                </a:solidFill>
              </a:endParaRPr>
            </a:p>
          </p:txBody>
        </p:sp>
      </p:grpSp>
      <p:sp>
        <p:nvSpPr>
          <p:cNvPr id="714" name="Horizontal Scroll 713">
            <a:extLst>
              <a:ext uri="{FF2B5EF4-FFF2-40B4-BE49-F238E27FC236}">
                <a16:creationId xmlns:a16="http://schemas.microsoft.com/office/drawing/2014/main" id="{90680521-E446-D2E4-DE5B-D0D4863269D2}"/>
              </a:ext>
            </a:extLst>
          </p:cNvPr>
          <p:cNvSpPr/>
          <p:nvPr/>
        </p:nvSpPr>
        <p:spPr>
          <a:xfrm>
            <a:off x="6919910" y="5010158"/>
            <a:ext cx="5428148" cy="969458"/>
          </a:xfrm>
          <a:prstGeom prst="horizontalScroll">
            <a:avLst>
              <a:gd name="adj" fmla="val 14424"/>
            </a:avLst>
          </a:prstGeom>
          <a:solidFill>
            <a:schemeClr val="accent4">
              <a:lumMod val="20000"/>
              <a:lumOff val="80000"/>
            </a:schemeClr>
          </a:solidFill>
          <a:ln>
            <a:noFill/>
          </a:ln>
        </p:spPr>
        <p:style>
          <a:lnRef idx="1">
            <a:schemeClr val="accent1"/>
          </a:lnRef>
          <a:fillRef idx="3">
            <a:schemeClr val="accent1"/>
          </a:fillRef>
          <a:effectRef idx="2">
            <a:schemeClr val="accent1"/>
          </a:effectRef>
          <a:fontRef idx="minor">
            <a:schemeClr val="lt1"/>
          </a:fontRef>
        </p:style>
        <p:txBody>
          <a:bodyPr tIns="46800" rIns="90000" rtlCol="0" anchor="ctr"/>
          <a:lstStyle/>
          <a:p>
            <a:r>
              <a:rPr lang="en-US" sz="1050" dirty="0">
                <a:solidFill>
                  <a:schemeClr val="accent4">
                    <a:lumMod val="75000"/>
                  </a:schemeClr>
                </a:solidFill>
                <a:latin typeface="UGent Panno Text" charset="0"/>
                <a:ea typeface="UGent Panno Text" charset="0"/>
                <a:cs typeface="UGent Panno Text" charset="0"/>
              </a:rPr>
              <a:t>J. Van </a:t>
            </a:r>
            <a:r>
              <a:rPr lang="en-US" sz="1050" dirty="0" err="1">
                <a:solidFill>
                  <a:schemeClr val="accent4">
                    <a:lumMod val="75000"/>
                  </a:schemeClr>
                </a:solidFill>
                <a:latin typeface="UGent Panno Text" charset="0"/>
                <a:ea typeface="UGent Panno Text" charset="0"/>
                <a:cs typeface="UGent Panno Text" charset="0"/>
              </a:rPr>
              <a:t>Gompel</a:t>
            </a:r>
            <a:r>
              <a:rPr lang="en-US" sz="1050" dirty="0">
                <a:solidFill>
                  <a:schemeClr val="accent4">
                    <a:lumMod val="75000"/>
                  </a:schemeClr>
                </a:solidFill>
                <a:latin typeface="UGent Panno Text" charset="0"/>
                <a:ea typeface="UGent Panno Text" charset="0"/>
                <a:cs typeface="UGent Panno Text" charset="0"/>
              </a:rPr>
              <a:t>, B. Claessens and C. Develder, </a:t>
            </a:r>
            <a:r>
              <a:rPr lang="en-US" sz="1050" b="1" dirty="0">
                <a:solidFill>
                  <a:schemeClr val="accent4">
                    <a:lumMod val="75000"/>
                  </a:schemeClr>
                </a:solidFill>
                <a:latin typeface="UGent Panno Text" charset="0"/>
                <a:ea typeface="UGent Panno Text" charset="0"/>
                <a:cs typeface="UGent Panno Text" charset="0"/>
              </a:rPr>
              <a:t>"Probabilistic forecasting of power system imbalance using neural network-based ensembles",</a:t>
            </a:r>
            <a:r>
              <a:rPr lang="en-US" sz="1050" dirty="0">
                <a:solidFill>
                  <a:schemeClr val="accent4">
                    <a:lumMod val="75000"/>
                  </a:schemeClr>
                </a:solidFill>
                <a:latin typeface="UGent Panno Text" charset="0"/>
                <a:ea typeface="UGent Panno Text" charset="0"/>
                <a:cs typeface="UGent Panno Text" charset="0"/>
              </a:rPr>
              <a:t> Appl. Energy, Vol. 401, Part B, No. 126714, Dec. 2025. </a:t>
            </a:r>
            <a:r>
              <a:rPr lang="en-US" sz="1050" dirty="0">
                <a:solidFill>
                  <a:schemeClr val="accent4">
                    <a:lumMod val="75000"/>
                  </a:schemeClr>
                </a:solidFill>
                <a:latin typeface="UGent Panno Text" charset="0"/>
                <a:ea typeface="UGent Panno Text" charset="0"/>
                <a:cs typeface="UGent Panno Text" charset="0"/>
                <a:hlinkClick r:id="rId7"/>
              </a:rPr>
              <a:t> doi:10.1016/j.apenergy.2025.126714</a:t>
            </a:r>
            <a:endParaRPr lang="en-US" sz="1050" dirty="0">
              <a:solidFill>
                <a:schemeClr val="accent4">
                  <a:lumMod val="75000"/>
                </a:schemeClr>
              </a:solidFill>
              <a:latin typeface="UGent Panno Text" charset="0"/>
              <a:ea typeface="UGent Panno Text" charset="0"/>
              <a:cs typeface="UGent Panno Text" charset="0"/>
            </a:endParaRPr>
          </a:p>
        </p:txBody>
      </p:sp>
      <p:sp>
        <p:nvSpPr>
          <p:cNvPr id="718" name="Slide Number Placeholder 717">
            <a:extLst>
              <a:ext uri="{FF2B5EF4-FFF2-40B4-BE49-F238E27FC236}">
                <a16:creationId xmlns:a16="http://schemas.microsoft.com/office/drawing/2014/main" id="{9FBFF7A7-238C-74D1-0426-79EA38365BCE}"/>
              </a:ext>
            </a:extLst>
          </p:cNvPr>
          <p:cNvSpPr>
            <a:spLocks noGrp="1"/>
          </p:cNvSpPr>
          <p:nvPr>
            <p:ph type="sldNum" sz="quarter" idx="11"/>
          </p:nvPr>
        </p:nvSpPr>
        <p:spPr/>
        <p:txBody>
          <a:bodyPr/>
          <a:lstStyle/>
          <a:p>
            <a:pPr>
              <a:defRPr/>
            </a:pPr>
            <a:fld id="{4908A2AA-746C-4DBB-9102-670E2680A299}" type="slidenum">
              <a:rPr lang="en-US" smtClean="0"/>
              <a:pPr>
                <a:defRPr/>
              </a:pPr>
              <a:t>30</a:t>
            </a:fld>
            <a:endParaRPr lang="en-US"/>
          </a:p>
        </p:txBody>
      </p:sp>
      <p:pic>
        <p:nvPicPr>
          <p:cNvPr id="13" name="Picture 12">
            <a:extLst>
              <a:ext uri="{FF2B5EF4-FFF2-40B4-BE49-F238E27FC236}">
                <a16:creationId xmlns:a16="http://schemas.microsoft.com/office/drawing/2014/main" id="{A258CF5B-6F71-E4A7-E6D5-57DFFD20488A}"/>
              </a:ext>
            </a:extLst>
          </p:cNvPr>
          <p:cNvPicPr>
            <a:picLocks noChangeAspect="1"/>
          </p:cNvPicPr>
          <p:nvPr/>
        </p:nvPicPr>
        <p:blipFill>
          <a:blip r:embed="rId3"/>
          <a:srcRect l="30884" t="13983" r="43767" b="22813"/>
          <a:stretch>
            <a:fillRect/>
          </a:stretch>
        </p:blipFill>
        <p:spPr>
          <a:xfrm>
            <a:off x="6720418" y="1774044"/>
            <a:ext cx="450821" cy="580767"/>
          </a:xfrm>
          <a:prstGeom prst="rect">
            <a:avLst/>
          </a:prstGeom>
        </p:spPr>
      </p:pic>
      <p:sp>
        <p:nvSpPr>
          <p:cNvPr id="713" name="Horizontal Scroll 712">
            <a:extLst>
              <a:ext uri="{FF2B5EF4-FFF2-40B4-BE49-F238E27FC236}">
                <a16:creationId xmlns:a16="http://schemas.microsoft.com/office/drawing/2014/main" id="{4CC33743-7B72-A188-7E04-E89467B8A3E4}"/>
              </a:ext>
            </a:extLst>
          </p:cNvPr>
          <p:cNvSpPr/>
          <p:nvPr/>
        </p:nvSpPr>
        <p:spPr>
          <a:xfrm>
            <a:off x="6919910" y="5761956"/>
            <a:ext cx="5428148" cy="969458"/>
          </a:xfrm>
          <a:prstGeom prst="horizontalScroll">
            <a:avLst>
              <a:gd name="adj" fmla="val 14424"/>
            </a:avLst>
          </a:prstGeom>
          <a:solidFill>
            <a:schemeClr val="accent4">
              <a:lumMod val="20000"/>
              <a:lumOff val="80000"/>
            </a:schemeClr>
          </a:solidFill>
          <a:ln>
            <a:noFill/>
          </a:ln>
        </p:spPr>
        <p:style>
          <a:lnRef idx="1">
            <a:schemeClr val="accent1"/>
          </a:lnRef>
          <a:fillRef idx="3">
            <a:schemeClr val="accent1"/>
          </a:fillRef>
          <a:effectRef idx="2">
            <a:schemeClr val="accent1"/>
          </a:effectRef>
          <a:fontRef idx="minor">
            <a:schemeClr val="lt1"/>
          </a:fontRef>
        </p:style>
        <p:txBody>
          <a:bodyPr tIns="46800" rIns="90000" rtlCol="0" anchor="ctr"/>
          <a:lstStyle/>
          <a:p>
            <a:r>
              <a:rPr lang="en-US" sz="1050" dirty="0">
                <a:solidFill>
                  <a:schemeClr val="accent4">
                    <a:lumMod val="75000"/>
                  </a:schemeClr>
                </a:solidFill>
                <a:latin typeface="UGent Panno Text" charset="0"/>
                <a:ea typeface="UGent Panno Text" charset="0"/>
                <a:cs typeface="UGent Panno Text" charset="0"/>
              </a:rPr>
              <a:t>S.S. Karimi </a:t>
            </a:r>
            <a:r>
              <a:rPr lang="en-US" sz="1050" dirty="0" err="1">
                <a:solidFill>
                  <a:schemeClr val="accent4">
                    <a:lumMod val="75000"/>
                  </a:schemeClr>
                </a:solidFill>
                <a:latin typeface="UGent Panno Text" charset="0"/>
                <a:ea typeface="UGent Panno Text" charset="0"/>
                <a:cs typeface="UGent Panno Text" charset="0"/>
              </a:rPr>
              <a:t>Madahi</a:t>
            </a:r>
            <a:r>
              <a:rPr lang="en-US" sz="1050" dirty="0">
                <a:solidFill>
                  <a:schemeClr val="accent4">
                    <a:lumMod val="75000"/>
                  </a:schemeClr>
                </a:solidFill>
                <a:latin typeface="UGent Panno Text" charset="0"/>
                <a:ea typeface="UGent Panno Text" charset="0"/>
                <a:cs typeface="UGent Panno Text" charset="0"/>
              </a:rPr>
              <a:t>, B. Claessens and C. Develder, </a:t>
            </a:r>
            <a:r>
              <a:rPr lang="en-US" sz="1050" b="1" dirty="0">
                <a:solidFill>
                  <a:schemeClr val="accent4">
                    <a:lumMod val="75000"/>
                  </a:schemeClr>
                </a:solidFill>
                <a:latin typeface="UGent Panno Text" charset="0"/>
                <a:ea typeface="UGent Panno Text" charset="0"/>
                <a:cs typeface="UGent Panno Text" charset="0"/>
              </a:rPr>
              <a:t>"Distributional reinforcement learning-based energy arbitrage strategies in imbalance settlement mechanism"</a:t>
            </a:r>
            <a:r>
              <a:rPr lang="en-US" sz="1050" dirty="0">
                <a:solidFill>
                  <a:schemeClr val="accent4">
                    <a:lumMod val="75000"/>
                  </a:schemeClr>
                </a:solidFill>
                <a:latin typeface="UGent Panno Text" charset="0"/>
                <a:ea typeface="UGent Panno Text" charset="0"/>
                <a:cs typeface="UGent Panno Text" charset="0"/>
              </a:rPr>
              <a:t>, J. Energy Storage, Vol. 104, Part A, Dec. 2024, pp. 114377. </a:t>
            </a:r>
            <a:r>
              <a:rPr lang="en-US" sz="1050" dirty="0">
                <a:solidFill>
                  <a:schemeClr val="accent4">
                    <a:lumMod val="75000"/>
                  </a:schemeClr>
                </a:solidFill>
                <a:latin typeface="UGent Panno Text" charset="0"/>
                <a:ea typeface="UGent Panno Text" charset="0"/>
                <a:cs typeface="UGent Panno Text" charset="0"/>
                <a:hlinkClick r:id="rId8"/>
              </a:rPr>
              <a:t>doi:10.1016/j.est.2024.114377</a:t>
            </a:r>
            <a:endParaRPr lang="en-US" sz="1050" dirty="0">
              <a:solidFill>
                <a:schemeClr val="accent4">
                  <a:lumMod val="75000"/>
                </a:schemeClr>
              </a:solidFill>
              <a:latin typeface="UGent Panno Text" charset="0"/>
              <a:ea typeface="UGent Panno Text" charset="0"/>
              <a:cs typeface="UGent Panno Text" charset="0"/>
            </a:endParaRPr>
          </a:p>
        </p:txBody>
      </p:sp>
    </p:spTree>
    <p:extLst>
      <p:ext uri="{BB962C8B-B14F-4D97-AF65-F5344CB8AC3E}">
        <p14:creationId xmlns:p14="http://schemas.microsoft.com/office/powerpoint/2010/main" val="336382707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2" fill="hold" grpId="0" nodeType="clickEffect">
                                  <p:stCondLst>
                                    <p:cond delay="0"/>
                                  </p:stCondLst>
                                  <p:childTnLst>
                                    <p:set>
                                      <p:cBhvr>
                                        <p:cTn id="6" dur="1" fill="hold">
                                          <p:stCondLst>
                                            <p:cond delay="0"/>
                                          </p:stCondLst>
                                        </p:cTn>
                                        <p:tgtEl>
                                          <p:spTgt spid="714"/>
                                        </p:tgtEl>
                                        <p:attrNameLst>
                                          <p:attrName>style.visibility</p:attrName>
                                        </p:attrNameLst>
                                      </p:cBhvr>
                                      <p:to>
                                        <p:strVal val="visible"/>
                                      </p:to>
                                    </p:set>
                                    <p:animEffect transition="in" filter="wipe(right)">
                                      <p:cBhvr>
                                        <p:cTn id="7" dur="500"/>
                                        <p:tgtEl>
                                          <p:spTgt spid="714"/>
                                        </p:tgtEl>
                                      </p:cBhvr>
                                    </p:animEffect>
                                  </p:childTnLst>
                                </p:cTn>
                              </p:par>
                              <p:par>
                                <p:cTn id="8" presetID="22" presetClass="entr" presetSubtype="2" fill="hold" grpId="0" nodeType="withEffect">
                                  <p:stCondLst>
                                    <p:cond delay="0"/>
                                  </p:stCondLst>
                                  <p:childTnLst>
                                    <p:set>
                                      <p:cBhvr>
                                        <p:cTn id="9" dur="1" fill="hold">
                                          <p:stCondLst>
                                            <p:cond delay="0"/>
                                          </p:stCondLst>
                                        </p:cTn>
                                        <p:tgtEl>
                                          <p:spTgt spid="713"/>
                                        </p:tgtEl>
                                        <p:attrNameLst>
                                          <p:attrName>style.visibility</p:attrName>
                                        </p:attrNameLst>
                                      </p:cBhvr>
                                      <p:to>
                                        <p:strVal val="visible"/>
                                      </p:to>
                                    </p:set>
                                    <p:animEffect transition="in" filter="wipe(right)">
                                      <p:cBhvr>
                                        <p:cTn id="10" dur="500"/>
                                        <p:tgtEl>
                                          <p:spTgt spid="71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14" grpId="0" animBg="1"/>
      <p:bldP spid="713" grpId="0" animBg="1"/>
    </p:bld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337D5A0-82EF-4C7C-5EEC-DFCD6AE38E1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0318889-E1EC-3F70-C002-97F202A0DB18}"/>
              </a:ext>
            </a:extLst>
          </p:cNvPr>
          <p:cNvSpPr>
            <a:spLocks noGrp="1"/>
          </p:cNvSpPr>
          <p:nvPr>
            <p:ph type="title"/>
          </p:nvPr>
        </p:nvSpPr>
        <p:spPr>
          <a:xfrm>
            <a:off x="214175" y="315830"/>
            <a:ext cx="11671300" cy="574516"/>
          </a:xfrm>
        </p:spPr>
        <p:txBody>
          <a:bodyPr vert="horz" wrap="square" lIns="121920" tIns="60960" rIns="121920" bIns="60960" numCol="1" rtlCol="0" anchor="b" anchorCtr="0" compatLnSpc="1">
            <a:prstTxWarp prst="textNoShape">
              <a:avLst/>
            </a:prstTxWarp>
            <a:normAutofit fontScale="90000"/>
          </a:bodyPr>
          <a:lstStyle/>
          <a:p>
            <a:r>
              <a:rPr lang="en-US" dirty="0"/>
              <a:t>Results: Price prediction within the quarter</a:t>
            </a:r>
          </a:p>
        </p:txBody>
      </p:sp>
      <p:pic>
        <p:nvPicPr>
          <p:cNvPr id="3" name="Graphic 2">
            <a:extLst>
              <a:ext uri="{FF2B5EF4-FFF2-40B4-BE49-F238E27FC236}">
                <a16:creationId xmlns:a16="http://schemas.microsoft.com/office/drawing/2014/main" id="{B3E4BE94-D734-2CD2-8FD5-C9652D27DBFA}"/>
              </a:ext>
            </a:extLst>
          </p:cNvPr>
          <p:cNvPicPr>
            <a:picLocks noChangeAspect="1"/>
          </p:cNvPicPr>
          <p:nvPr/>
        </p:nvPicPr>
        <p:blipFill>
          <a:blip>
            <a:extLst>
              <a:ext uri="{96DAC541-7B7A-43D3-8B79-37D633B846F1}">
                <asvg:svgBlip xmlns:asvg="http://schemas.microsoft.com/office/drawing/2016/SVG/main" r:embed="rId3"/>
              </a:ext>
            </a:extLst>
          </a:blip>
          <a:srcRect t="10885"/>
          <a:stretch>
            <a:fillRect/>
          </a:stretch>
        </p:blipFill>
        <p:spPr>
          <a:xfrm>
            <a:off x="700768" y="1378043"/>
            <a:ext cx="10790464" cy="3605995"/>
          </a:xfrm>
          <a:prstGeom prst="rect">
            <a:avLst/>
          </a:prstGeom>
        </p:spPr>
      </p:pic>
      <p:sp>
        <p:nvSpPr>
          <p:cNvPr id="5" name="TextBox 4">
            <a:extLst>
              <a:ext uri="{FF2B5EF4-FFF2-40B4-BE49-F238E27FC236}">
                <a16:creationId xmlns:a16="http://schemas.microsoft.com/office/drawing/2014/main" id="{C734B126-0C75-8E0C-4421-EA0AF86A42FD}"/>
              </a:ext>
            </a:extLst>
          </p:cNvPr>
          <p:cNvSpPr txBox="1"/>
          <p:nvPr/>
        </p:nvSpPr>
        <p:spPr>
          <a:xfrm rot="21350844">
            <a:off x="2451258" y="4727764"/>
            <a:ext cx="5260582" cy="942117"/>
          </a:xfrm>
          <a:prstGeom prst="rect">
            <a:avLst/>
          </a:prstGeom>
          <a:noFill/>
        </p:spPr>
        <p:txBody>
          <a:bodyPr wrap="square" rtlCol="0">
            <a:spAutoFit/>
          </a:bodyPr>
          <a:lstStyle/>
          <a:p>
            <a:pPr>
              <a:lnSpc>
                <a:spcPct val="85000"/>
              </a:lnSpc>
            </a:pPr>
            <a:r>
              <a:rPr lang="en-BE" sz="3200" b="1" dirty="0">
                <a:solidFill>
                  <a:schemeClr val="accent3"/>
                </a:solidFill>
                <a:latin typeface="Caveat" pitchFamily="2" charset="77"/>
              </a:rPr>
              <a:t>Lower prediction error &amp;</a:t>
            </a:r>
            <a:br>
              <a:rPr lang="en-BE" sz="3200" b="1" dirty="0">
                <a:solidFill>
                  <a:schemeClr val="accent3"/>
                </a:solidFill>
                <a:latin typeface="Caveat" pitchFamily="2" charset="77"/>
              </a:rPr>
            </a:br>
            <a:r>
              <a:rPr lang="en-BE" sz="3200" b="1" dirty="0">
                <a:solidFill>
                  <a:schemeClr val="accent3"/>
                </a:solidFill>
                <a:latin typeface="Caveat" pitchFamily="2" charset="77"/>
              </a:rPr>
              <a:t>lower uncertainty on estimates</a:t>
            </a:r>
            <a:r>
              <a:rPr lang="en-BE" sz="3200" b="1" dirty="0">
                <a:solidFill>
                  <a:schemeClr val="accent3"/>
                </a:solidFill>
                <a:latin typeface="Caveat" pitchFamily="2" charset="77"/>
                <a:sym typeface="Wingdings" pitchFamily="2" charset="2"/>
              </a:rPr>
              <a:t>!</a:t>
            </a:r>
            <a:endParaRPr lang="en-BE" sz="3200" b="1" dirty="0">
              <a:solidFill>
                <a:schemeClr val="accent3"/>
              </a:solidFill>
              <a:latin typeface="Caveat" pitchFamily="2" charset="77"/>
            </a:endParaRPr>
          </a:p>
        </p:txBody>
      </p:sp>
      <p:sp>
        <p:nvSpPr>
          <p:cNvPr id="6" name="Freeform 5">
            <a:extLst>
              <a:ext uri="{FF2B5EF4-FFF2-40B4-BE49-F238E27FC236}">
                <a16:creationId xmlns:a16="http://schemas.microsoft.com/office/drawing/2014/main" id="{6396AEE0-D98A-267D-89CC-825F4A956335}"/>
              </a:ext>
            </a:extLst>
          </p:cNvPr>
          <p:cNvSpPr/>
          <p:nvPr/>
        </p:nvSpPr>
        <p:spPr>
          <a:xfrm>
            <a:off x="1747428" y="4110689"/>
            <a:ext cx="676624" cy="1088133"/>
          </a:xfrm>
          <a:custGeom>
            <a:avLst/>
            <a:gdLst>
              <a:gd name="csX0" fmla="*/ 676624 w 676624"/>
              <a:gd name="csY0" fmla="*/ 1053389 h 1088133"/>
              <a:gd name="csX1" fmla="*/ 10941 w 676624"/>
              <a:gd name="csY1" fmla="*/ 958291 h 1088133"/>
              <a:gd name="csX2" fmla="*/ 325495 w 676624"/>
              <a:gd name="csY2" fmla="*/ 0 h 1088133"/>
            </a:gdLst>
            <a:ahLst/>
            <a:cxnLst>
              <a:cxn ang="0">
                <a:pos x="csX0" y="csY0"/>
              </a:cxn>
              <a:cxn ang="0">
                <a:pos x="csX1" y="csY1"/>
              </a:cxn>
              <a:cxn ang="0">
                <a:pos x="csX2" y="csY2"/>
              </a:cxn>
            </a:cxnLst>
            <a:rect l="l" t="t" r="r" b="b"/>
            <a:pathLst>
              <a:path w="676624" h="1088133">
                <a:moveTo>
                  <a:pt x="676624" y="1053389"/>
                </a:moveTo>
                <a:cubicBezTo>
                  <a:pt x="373043" y="1093622"/>
                  <a:pt x="69462" y="1133856"/>
                  <a:pt x="10941" y="958291"/>
                </a:cubicBezTo>
                <a:cubicBezTo>
                  <a:pt x="-47580" y="782726"/>
                  <a:pt x="138957" y="391363"/>
                  <a:pt x="325495" y="0"/>
                </a:cubicBezTo>
              </a:path>
            </a:pathLst>
          </a:custGeom>
          <a:noFill/>
          <a:ln w="38100">
            <a:solidFill>
              <a:schemeClr val="accent3"/>
            </a:solidFill>
            <a:headEnd type="none" w="med" len="med"/>
            <a:tailEnd type="triangle" w="med" len="me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BE">
              <a:ln w="38100">
                <a:solidFill>
                  <a:schemeClr val="accent3"/>
                </a:solidFill>
              </a:ln>
            </a:endParaRPr>
          </a:p>
        </p:txBody>
      </p:sp>
      <p:sp>
        <p:nvSpPr>
          <p:cNvPr id="7" name="TextBox 6">
            <a:extLst>
              <a:ext uri="{FF2B5EF4-FFF2-40B4-BE49-F238E27FC236}">
                <a16:creationId xmlns:a16="http://schemas.microsoft.com/office/drawing/2014/main" id="{8DB6D07A-2C7B-A325-1E44-A53822DD6689}"/>
              </a:ext>
            </a:extLst>
          </p:cNvPr>
          <p:cNvSpPr txBox="1"/>
          <p:nvPr/>
        </p:nvSpPr>
        <p:spPr>
          <a:xfrm rot="21350844">
            <a:off x="1934090" y="2923286"/>
            <a:ext cx="2647317" cy="623440"/>
          </a:xfrm>
          <a:prstGeom prst="rect">
            <a:avLst/>
          </a:prstGeom>
          <a:noFill/>
        </p:spPr>
        <p:txBody>
          <a:bodyPr wrap="square" rtlCol="0">
            <a:spAutoFit/>
          </a:bodyPr>
          <a:lstStyle/>
          <a:p>
            <a:pPr>
              <a:lnSpc>
                <a:spcPct val="85000"/>
              </a:lnSpc>
            </a:pPr>
            <a:r>
              <a:rPr lang="en-BE" sz="2000" b="1" dirty="0">
                <a:solidFill>
                  <a:schemeClr val="accent2">
                    <a:lumMod val="60000"/>
                    <a:lumOff val="40000"/>
                  </a:schemeClr>
                </a:solidFill>
                <a:latin typeface="Caveat" pitchFamily="2" charset="77"/>
              </a:rPr>
              <a:t>Error approaches zero towards end of quarter</a:t>
            </a:r>
          </a:p>
        </p:txBody>
      </p:sp>
      <p:sp>
        <p:nvSpPr>
          <p:cNvPr id="10" name="Freeform 9">
            <a:extLst>
              <a:ext uri="{FF2B5EF4-FFF2-40B4-BE49-F238E27FC236}">
                <a16:creationId xmlns:a16="http://schemas.microsoft.com/office/drawing/2014/main" id="{510C0AD6-9C02-3A6B-5947-BC32760A4A91}"/>
              </a:ext>
            </a:extLst>
          </p:cNvPr>
          <p:cNvSpPr/>
          <p:nvPr/>
        </p:nvSpPr>
        <p:spPr>
          <a:xfrm>
            <a:off x="3138221" y="3591763"/>
            <a:ext cx="1580083" cy="504749"/>
          </a:xfrm>
          <a:custGeom>
            <a:avLst/>
            <a:gdLst>
              <a:gd name="csX0" fmla="*/ 0 w 1580083"/>
              <a:gd name="csY0" fmla="*/ 0 h 504749"/>
              <a:gd name="csX1" fmla="*/ 760781 w 1580083"/>
              <a:gd name="csY1" fmla="*/ 373075 h 504749"/>
              <a:gd name="csX2" fmla="*/ 1580083 w 1580083"/>
              <a:gd name="csY2" fmla="*/ 504749 h 504749"/>
            </a:gdLst>
            <a:ahLst/>
            <a:cxnLst>
              <a:cxn ang="0">
                <a:pos x="csX0" y="csY0"/>
              </a:cxn>
              <a:cxn ang="0">
                <a:pos x="csX1" y="csY1"/>
              </a:cxn>
              <a:cxn ang="0">
                <a:pos x="csX2" y="csY2"/>
              </a:cxn>
            </a:cxnLst>
            <a:rect l="l" t="t" r="r" b="b"/>
            <a:pathLst>
              <a:path w="1580083" h="504749">
                <a:moveTo>
                  <a:pt x="0" y="0"/>
                </a:moveTo>
                <a:cubicBezTo>
                  <a:pt x="248717" y="144475"/>
                  <a:pt x="497434" y="288950"/>
                  <a:pt x="760781" y="373075"/>
                </a:cubicBezTo>
                <a:cubicBezTo>
                  <a:pt x="1024128" y="457200"/>
                  <a:pt x="1302105" y="480974"/>
                  <a:pt x="1580083" y="504749"/>
                </a:cubicBezTo>
              </a:path>
            </a:pathLst>
          </a:custGeom>
          <a:noFill/>
          <a:ln w="38100">
            <a:solidFill>
              <a:schemeClr val="accent2">
                <a:lumMod val="60000"/>
                <a:lumOff val="40000"/>
              </a:schemeClr>
            </a:solidFill>
            <a:headEnd type="none" w="med" len="med"/>
            <a:tailEnd type="triangle" w="med" len="me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BE"/>
          </a:p>
        </p:txBody>
      </p:sp>
      <p:sp>
        <p:nvSpPr>
          <p:cNvPr id="11" name="TextBox 10">
            <a:extLst>
              <a:ext uri="{FF2B5EF4-FFF2-40B4-BE49-F238E27FC236}">
                <a16:creationId xmlns:a16="http://schemas.microsoft.com/office/drawing/2014/main" id="{10C17E97-BCE2-9D82-5706-524F6D1FB60C}"/>
              </a:ext>
            </a:extLst>
          </p:cNvPr>
          <p:cNvSpPr txBox="1"/>
          <p:nvPr/>
        </p:nvSpPr>
        <p:spPr>
          <a:xfrm>
            <a:off x="8620413" y="5471735"/>
            <a:ext cx="2870819" cy="584775"/>
          </a:xfrm>
          <a:prstGeom prst="rect">
            <a:avLst/>
          </a:prstGeom>
          <a:noFill/>
        </p:spPr>
        <p:txBody>
          <a:bodyPr wrap="square" rtlCol="0">
            <a:spAutoFit/>
          </a:bodyPr>
          <a:lstStyle/>
          <a:p>
            <a:r>
              <a:rPr lang="en-BE" dirty="0">
                <a:solidFill>
                  <a:schemeClr val="bg2"/>
                </a:solidFill>
                <a:latin typeface="+mn-lt"/>
              </a:rPr>
              <a:t>Caveat: sample results for perfect NRV and BRP response models</a:t>
            </a:r>
          </a:p>
        </p:txBody>
      </p:sp>
      <p:sp>
        <p:nvSpPr>
          <p:cNvPr id="12" name="Slide Number Placeholder 11">
            <a:extLst>
              <a:ext uri="{FF2B5EF4-FFF2-40B4-BE49-F238E27FC236}">
                <a16:creationId xmlns:a16="http://schemas.microsoft.com/office/drawing/2014/main" id="{72C0C8F6-337A-8177-4E21-213640C4A86C}"/>
              </a:ext>
            </a:extLst>
          </p:cNvPr>
          <p:cNvSpPr>
            <a:spLocks noGrp="1"/>
          </p:cNvSpPr>
          <p:nvPr>
            <p:ph type="sldNum" sz="quarter" idx="10"/>
          </p:nvPr>
        </p:nvSpPr>
        <p:spPr/>
        <p:txBody>
          <a:bodyPr/>
          <a:lstStyle/>
          <a:p>
            <a:fld id="{8836216C-5BC3-7C44-80F8-E30864FFC228}" type="slidenum">
              <a:rPr lang="en-US" smtClean="0"/>
              <a:pPr/>
              <a:t>31</a:t>
            </a:fld>
            <a:endParaRPr lang="en-US"/>
          </a:p>
        </p:txBody>
      </p:sp>
      <p:grpSp>
        <p:nvGrpSpPr>
          <p:cNvPr id="9" name="Group 8">
            <a:extLst>
              <a:ext uri="{FF2B5EF4-FFF2-40B4-BE49-F238E27FC236}">
                <a16:creationId xmlns:a16="http://schemas.microsoft.com/office/drawing/2014/main" id="{EC925FD2-8374-9605-A0D9-2413461F1E9F}"/>
              </a:ext>
            </a:extLst>
          </p:cNvPr>
          <p:cNvGrpSpPr/>
          <p:nvPr/>
        </p:nvGrpSpPr>
        <p:grpSpPr>
          <a:xfrm>
            <a:off x="8241030" y="5588004"/>
            <a:ext cx="374090" cy="407851"/>
            <a:chOff x="8183880" y="5544970"/>
            <a:chExt cx="413672" cy="451004"/>
          </a:xfrm>
        </p:grpSpPr>
        <p:sp>
          <p:nvSpPr>
            <p:cNvPr id="4" name="Triangle 3">
              <a:extLst>
                <a:ext uri="{FF2B5EF4-FFF2-40B4-BE49-F238E27FC236}">
                  <a16:creationId xmlns:a16="http://schemas.microsoft.com/office/drawing/2014/main" id="{E7AA1A17-573A-D0B1-37A6-5F35C313C355}"/>
                </a:ext>
              </a:extLst>
            </p:cNvPr>
            <p:cNvSpPr/>
            <p:nvPr/>
          </p:nvSpPr>
          <p:spPr>
            <a:xfrm>
              <a:off x="8183880" y="5544970"/>
              <a:ext cx="413672" cy="400111"/>
            </a:xfrm>
            <a:prstGeom prst="triangle">
              <a:avLst/>
            </a:prstGeom>
            <a:solidFill>
              <a:schemeClr val="bg1"/>
            </a:solidFill>
            <a:ln w="28575">
              <a:solidFill>
                <a:schemeClr val="bg2"/>
              </a:solidFill>
            </a:ln>
          </p:spPr>
          <p:style>
            <a:lnRef idx="2">
              <a:schemeClr val="accent1">
                <a:shade val="15000"/>
              </a:schemeClr>
            </a:lnRef>
            <a:fillRef idx="1">
              <a:schemeClr val="accent1"/>
            </a:fillRef>
            <a:effectRef idx="0">
              <a:schemeClr val="accent1"/>
            </a:effectRef>
            <a:fontRef idx="minor">
              <a:schemeClr val="lt1"/>
            </a:fontRef>
          </p:style>
          <p:txBody>
            <a:bodyPr wrap="none" lIns="0" tIns="0" rIns="0" bIns="0" rtlCol="0" anchor="ctr" anchorCtr="0"/>
            <a:lstStyle/>
            <a:p>
              <a:pPr algn="ctr"/>
              <a:endParaRPr lang="en-BE" dirty="0">
                <a:solidFill>
                  <a:schemeClr val="bg2"/>
                </a:solidFill>
                <a:latin typeface="Calibri" panose="020F0502020204030204" pitchFamily="34" charset="0"/>
                <a:cs typeface="Calibri" panose="020F0502020204030204" pitchFamily="34" charset="0"/>
              </a:endParaRPr>
            </a:p>
          </p:txBody>
        </p:sp>
        <p:sp>
          <p:nvSpPr>
            <p:cNvPr id="8" name="TextBox 7">
              <a:extLst>
                <a:ext uri="{FF2B5EF4-FFF2-40B4-BE49-F238E27FC236}">
                  <a16:creationId xmlns:a16="http://schemas.microsoft.com/office/drawing/2014/main" id="{C0A0B6C5-FA6F-ED85-9983-D052DCE1109A}"/>
                </a:ext>
              </a:extLst>
            </p:cNvPr>
            <p:cNvSpPr txBox="1"/>
            <p:nvPr/>
          </p:nvSpPr>
          <p:spPr>
            <a:xfrm>
              <a:off x="8257142" y="5587565"/>
              <a:ext cx="267149" cy="408409"/>
            </a:xfrm>
            <a:prstGeom prst="rect">
              <a:avLst/>
            </a:prstGeom>
            <a:noFill/>
          </p:spPr>
          <p:txBody>
            <a:bodyPr wrap="square" rtlCol="0">
              <a:spAutoFit/>
            </a:bodyPr>
            <a:lstStyle/>
            <a:p>
              <a:pPr algn="ctr"/>
              <a:r>
                <a:rPr lang="en-BE" sz="1800" dirty="0">
                  <a:solidFill>
                    <a:schemeClr val="bg2"/>
                  </a:solidFill>
                  <a:latin typeface="Calibri" panose="020F0502020204030204" pitchFamily="34" charset="0"/>
                  <a:cs typeface="Calibri" panose="020F0502020204030204" pitchFamily="34" charset="0"/>
                </a:rPr>
                <a:t>!</a:t>
              </a:r>
            </a:p>
          </p:txBody>
        </p:sp>
      </p:grpSp>
    </p:spTree>
    <p:extLst>
      <p:ext uri="{BB962C8B-B14F-4D97-AF65-F5344CB8AC3E}">
        <p14:creationId xmlns:p14="http://schemas.microsoft.com/office/powerpoint/2010/main" val="905822513"/>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500"/>
                                        <p:tgtEl>
                                          <p:spTgt spid="5"/>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6"/>
                                        </p:tgtEl>
                                        <p:attrNameLst>
                                          <p:attrName>style.visibility</p:attrName>
                                        </p:attrNameLst>
                                      </p:cBhvr>
                                      <p:to>
                                        <p:strVal val="visible"/>
                                      </p:to>
                                    </p:set>
                                    <p:animEffect transition="in" filter="fade">
                                      <p:cBhvr>
                                        <p:cTn id="10"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6" grpId="0" animBg="1"/>
    </p:bld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665B498-5908-628A-98FE-278066CCF69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D72E4F0-250E-4AFB-1BD7-CEDEC1510F77}"/>
              </a:ext>
            </a:extLst>
          </p:cNvPr>
          <p:cNvSpPr>
            <a:spLocks noGrp="1"/>
          </p:cNvSpPr>
          <p:nvPr>
            <p:ph type="title"/>
          </p:nvPr>
        </p:nvSpPr>
        <p:spPr>
          <a:xfrm>
            <a:off x="214175" y="315830"/>
            <a:ext cx="11671300" cy="574516"/>
          </a:xfrm>
        </p:spPr>
        <p:txBody>
          <a:bodyPr vert="horz" wrap="square" lIns="121920" tIns="60960" rIns="121920" bIns="60960" numCol="1" rtlCol="0" anchor="b" anchorCtr="0" compatLnSpc="1">
            <a:prstTxWarp prst="textNoShape">
              <a:avLst/>
            </a:prstTxWarp>
            <a:normAutofit fontScale="90000"/>
          </a:bodyPr>
          <a:lstStyle/>
          <a:p>
            <a:r>
              <a:rPr lang="en-US" dirty="0"/>
              <a:t>Results: Overall error distributions</a:t>
            </a:r>
          </a:p>
        </p:txBody>
      </p:sp>
      <p:pic>
        <p:nvPicPr>
          <p:cNvPr id="3" name="Picture 2">
            <a:extLst>
              <a:ext uri="{FF2B5EF4-FFF2-40B4-BE49-F238E27FC236}">
                <a16:creationId xmlns:a16="http://schemas.microsoft.com/office/drawing/2014/main" id="{364639C2-3E5F-F31A-D493-BB13F0BB78B1}"/>
              </a:ext>
            </a:extLst>
          </p:cNvPr>
          <p:cNvPicPr>
            <a:picLocks noChangeAspect="1"/>
          </p:cNvPicPr>
          <p:nvPr/>
        </p:nvPicPr>
        <p:blipFill>
          <a:blip r:embed="rId3"/>
          <a:stretch>
            <a:fillRect/>
          </a:stretch>
        </p:blipFill>
        <p:spPr>
          <a:xfrm>
            <a:off x="1257722" y="1427545"/>
            <a:ext cx="9173754" cy="4591317"/>
          </a:xfrm>
          <a:prstGeom prst="rect">
            <a:avLst/>
          </a:prstGeom>
        </p:spPr>
      </p:pic>
      <p:sp>
        <p:nvSpPr>
          <p:cNvPr id="5" name="TextBox 4">
            <a:extLst>
              <a:ext uri="{FF2B5EF4-FFF2-40B4-BE49-F238E27FC236}">
                <a16:creationId xmlns:a16="http://schemas.microsoft.com/office/drawing/2014/main" id="{CC6AE566-A19D-8354-6C55-7BBD9771028F}"/>
              </a:ext>
            </a:extLst>
          </p:cNvPr>
          <p:cNvSpPr txBox="1"/>
          <p:nvPr/>
        </p:nvSpPr>
        <p:spPr>
          <a:xfrm rot="21350844">
            <a:off x="5143685" y="427487"/>
            <a:ext cx="5260582" cy="942117"/>
          </a:xfrm>
          <a:prstGeom prst="rect">
            <a:avLst/>
          </a:prstGeom>
          <a:noFill/>
        </p:spPr>
        <p:txBody>
          <a:bodyPr wrap="square" rtlCol="0">
            <a:spAutoFit/>
          </a:bodyPr>
          <a:lstStyle/>
          <a:p>
            <a:pPr>
              <a:lnSpc>
                <a:spcPct val="85000"/>
              </a:lnSpc>
            </a:pPr>
            <a:r>
              <a:rPr lang="en-BE" sz="3200" b="1" dirty="0">
                <a:solidFill>
                  <a:schemeClr val="accent3"/>
                </a:solidFill>
                <a:latin typeface="Caveat" pitchFamily="2" charset="77"/>
              </a:rPr>
              <a:t>Distributions of errors are more narrowly centered around zero!</a:t>
            </a:r>
          </a:p>
        </p:txBody>
      </p:sp>
      <p:sp>
        <p:nvSpPr>
          <p:cNvPr id="6" name="Freeform 5">
            <a:extLst>
              <a:ext uri="{FF2B5EF4-FFF2-40B4-BE49-F238E27FC236}">
                <a16:creationId xmlns:a16="http://schemas.microsoft.com/office/drawing/2014/main" id="{43142257-5CEC-2920-AFC4-66019740EDCA}"/>
              </a:ext>
            </a:extLst>
          </p:cNvPr>
          <p:cNvSpPr/>
          <p:nvPr/>
        </p:nvSpPr>
        <p:spPr>
          <a:xfrm flipV="1">
            <a:off x="3415518" y="906143"/>
            <a:ext cx="1700962" cy="947337"/>
          </a:xfrm>
          <a:custGeom>
            <a:avLst/>
            <a:gdLst>
              <a:gd name="csX0" fmla="*/ 1700962 w 1700962"/>
              <a:gd name="csY0" fmla="*/ 914400 h 947337"/>
              <a:gd name="csX1" fmla="*/ 120878 w 1700962"/>
              <a:gd name="csY1" fmla="*/ 731520 h 947337"/>
              <a:gd name="csX2" fmla="*/ 333020 w 1700962"/>
              <a:gd name="csY2" fmla="*/ 0 h 947337"/>
            </a:gdLst>
            <a:ahLst/>
            <a:cxnLst>
              <a:cxn ang="0">
                <a:pos x="csX0" y="csY0"/>
              </a:cxn>
              <a:cxn ang="0">
                <a:pos x="csX1" y="csY1"/>
              </a:cxn>
              <a:cxn ang="0">
                <a:pos x="csX2" y="csY2"/>
              </a:cxn>
            </a:cxnLst>
            <a:rect l="l" t="t" r="r" b="b"/>
            <a:pathLst>
              <a:path w="1700962" h="947337">
                <a:moveTo>
                  <a:pt x="1700962" y="914400"/>
                </a:moveTo>
                <a:cubicBezTo>
                  <a:pt x="1338859" y="998524"/>
                  <a:pt x="340163" y="915762"/>
                  <a:pt x="120878" y="731520"/>
                </a:cubicBezTo>
                <a:cubicBezTo>
                  <a:pt x="-98407" y="547278"/>
                  <a:pt x="-14453" y="310896"/>
                  <a:pt x="333020" y="0"/>
                </a:cubicBezTo>
              </a:path>
            </a:pathLst>
          </a:custGeom>
          <a:noFill/>
          <a:ln w="38100">
            <a:solidFill>
              <a:schemeClr val="accent3"/>
            </a:solidFill>
            <a:headEnd type="none" w="med" len="med"/>
            <a:tailEnd type="triangle" w="med" len="me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BE">
              <a:ln w="38100">
                <a:solidFill>
                  <a:schemeClr val="accent3"/>
                </a:solidFill>
              </a:ln>
            </a:endParaRPr>
          </a:p>
        </p:txBody>
      </p:sp>
      <p:sp>
        <p:nvSpPr>
          <p:cNvPr id="7" name="Slide Number Placeholder 6">
            <a:extLst>
              <a:ext uri="{FF2B5EF4-FFF2-40B4-BE49-F238E27FC236}">
                <a16:creationId xmlns:a16="http://schemas.microsoft.com/office/drawing/2014/main" id="{84BDEB07-0E44-4FD1-5FC0-A35E689DA170}"/>
              </a:ext>
            </a:extLst>
          </p:cNvPr>
          <p:cNvSpPr>
            <a:spLocks noGrp="1"/>
          </p:cNvSpPr>
          <p:nvPr>
            <p:ph type="sldNum" sz="quarter" idx="10"/>
          </p:nvPr>
        </p:nvSpPr>
        <p:spPr/>
        <p:txBody>
          <a:bodyPr/>
          <a:lstStyle/>
          <a:p>
            <a:fld id="{8836216C-5BC3-7C44-80F8-E30864FFC228}" type="slidenum">
              <a:rPr lang="en-US" smtClean="0"/>
              <a:pPr/>
              <a:t>32</a:t>
            </a:fld>
            <a:endParaRPr lang="en-US"/>
          </a:p>
        </p:txBody>
      </p:sp>
    </p:spTree>
    <p:extLst>
      <p:ext uri="{BB962C8B-B14F-4D97-AF65-F5344CB8AC3E}">
        <p14:creationId xmlns:p14="http://schemas.microsoft.com/office/powerpoint/2010/main" val="1729229385"/>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500"/>
                                        <p:tgtEl>
                                          <p:spTgt spid="5"/>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6"/>
                                        </p:tgtEl>
                                        <p:attrNameLst>
                                          <p:attrName>style.visibility</p:attrName>
                                        </p:attrNameLst>
                                      </p:cBhvr>
                                      <p:to>
                                        <p:strVal val="visible"/>
                                      </p:to>
                                    </p:set>
                                    <p:animEffect transition="in" filter="fade">
                                      <p:cBhvr>
                                        <p:cTn id="10"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6" grpId="0" animBg="1"/>
    </p:bld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018182F-EDF8-1FD5-1091-E2A78017B116}"/>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711DF767-DB81-2A13-C12D-1D840D699250}"/>
              </a:ext>
            </a:extLst>
          </p:cNvPr>
          <p:cNvSpPr>
            <a:spLocks noGrp="1"/>
          </p:cNvSpPr>
          <p:nvPr>
            <p:ph type="title"/>
          </p:nvPr>
        </p:nvSpPr>
        <p:spPr>
          <a:xfrm>
            <a:off x="914400" y="2070578"/>
            <a:ext cx="10363200" cy="1238250"/>
          </a:xfrm>
        </p:spPr>
        <p:txBody>
          <a:bodyPr anchor="ctr"/>
          <a:lstStyle/>
          <a:p>
            <a:r>
              <a:rPr lang="en-GB" dirty="0"/>
              <a:t>A </a:t>
            </a:r>
            <a:r>
              <a:rPr lang="en-GB" u="sng" dirty="0"/>
              <a:t>real-world</a:t>
            </a:r>
            <a:r>
              <a:rPr lang="en-GB" dirty="0"/>
              <a:t> testbed environment:</a:t>
            </a:r>
            <a:br>
              <a:rPr lang="en-GB" dirty="0"/>
            </a:br>
            <a:r>
              <a:rPr lang="en-GB" dirty="0"/>
              <a:t> </a:t>
            </a:r>
            <a:r>
              <a:rPr lang="en-GB" dirty="0" err="1"/>
              <a:t>HomeLabGym</a:t>
            </a:r>
            <a:endParaRPr lang="nl-BE" sz="3200" u="none" dirty="0"/>
          </a:p>
        </p:txBody>
      </p:sp>
      <p:sp>
        <p:nvSpPr>
          <p:cNvPr id="21" name="Footer Placeholder 20">
            <a:extLst>
              <a:ext uri="{FF2B5EF4-FFF2-40B4-BE49-F238E27FC236}">
                <a16:creationId xmlns:a16="http://schemas.microsoft.com/office/drawing/2014/main" id="{66382F1C-3A8A-1EC7-64E9-5C9C7F904975}"/>
              </a:ext>
            </a:extLst>
          </p:cNvPr>
          <p:cNvSpPr>
            <a:spLocks noGrp="1"/>
          </p:cNvSpPr>
          <p:nvPr>
            <p:ph type="ftr" sz="quarter" idx="10"/>
          </p:nvPr>
        </p:nvSpPr>
        <p:spPr/>
        <p:txBody>
          <a:bodyPr/>
          <a:lstStyle/>
          <a:p>
            <a:pPr>
              <a:defRPr/>
            </a:pPr>
            <a:r>
              <a:rPr lang="en-US"/>
              <a:t>C. Develder, "AI4E: Data-efficient and scalable algorithmss to exploit energy flexibility"</a:t>
            </a:r>
          </a:p>
        </p:txBody>
      </p:sp>
      <p:sp>
        <p:nvSpPr>
          <p:cNvPr id="5" name="TextBox 4">
            <a:extLst>
              <a:ext uri="{FF2B5EF4-FFF2-40B4-BE49-F238E27FC236}">
                <a16:creationId xmlns:a16="http://schemas.microsoft.com/office/drawing/2014/main" id="{84044F29-C1AF-60FE-1C70-6C70B56837CC}"/>
              </a:ext>
            </a:extLst>
          </p:cNvPr>
          <p:cNvSpPr txBox="1"/>
          <p:nvPr/>
        </p:nvSpPr>
        <p:spPr>
          <a:xfrm>
            <a:off x="5357186" y="764900"/>
            <a:ext cx="2090637" cy="1077218"/>
          </a:xfrm>
          <a:prstGeom prst="rect">
            <a:avLst/>
          </a:prstGeom>
          <a:noFill/>
        </p:spPr>
        <p:txBody>
          <a:bodyPr wrap="none" rtlCol="0">
            <a:spAutoFit/>
          </a:bodyPr>
          <a:lstStyle/>
          <a:p>
            <a:r>
              <a:rPr lang="en-BE" sz="3200" dirty="0">
                <a:solidFill>
                  <a:schemeClr val="bg1"/>
                </a:solidFill>
                <a:latin typeface="+mj-lt"/>
              </a:rPr>
              <a:t>Home Energy</a:t>
            </a:r>
            <a:br>
              <a:rPr lang="en-BE" sz="3200" dirty="0">
                <a:solidFill>
                  <a:schemeClr val="bg1"/>
                </a:solidFill>
                <a:latin typeface="+mj-lt"/>
              </a:rPr>
            </a:br>
            <a:r>
              <a:rPr lang="en-BE" sz="3200" dirty="0">
                <a:solidFill>
                  <a:schemeClr val="bg1"/>
                </a:solidFill>
                <a:latin typeface="+mj-lt"/>
              </a:rPr>
              <a:t>Management</a:t>
            </a:r>
          </a:p>
        </p:txBody>
      </p:sp>
      <p:pic>
        <p:nvPicPr>
          <p:cNvPr id="7" name="Picture 6">
            <a:extLst>
              <a:ext uri="{FF2B5EF4-FFF2-40B4-BE49-F238E27FC236}">
                <a16:creationId xmlns:a16="http://schemas.microsoft.com/office/drawing/2014/main" id="{97485201-15F8-219B-1C04-4AF6AD0DE223}"/>
              </a:ext>
            </a:extLst>
          </p:cNvPr>
          <p:cNvPicPr>
            <a:picLocks noChangeAspect="1"/>
          </p:cNvPicPr>
          <p:nvPr/>
        </p:nvPicPr>
        <p:blipFill>
          <a:blip r:embed="rId3"/>
          <a:stretch>
            <a:fillRect/>
          </a:stretch>
        </p:blipFill>
        <p:spPr>
          <a:xfrm>
            <a:off x="4238804" y="783375"/>
            <a:ext cx="1200000" cy="1053659"/>
          </a:xfrm>
          <a:prstGeom prst="rect">
            <a:avLst/>
          </a:prstGeom>
        </p:spPr>
      </p:pic>
      <p:sp>
        <p:nvSpPr>
          <p:cNvPr id="2" name="TextBox 1">
            <a:extLst>
              <a:ext uri="{FF2B5EF4-FFF2-40B4-BE49-F238E27FC236}">
                <a16:creationId xmlns:a16="http://schemas.microsoft.com/office/drawing/2014/main" id="{C1F4A4C5-ED45-790A-2C14-470E8423BF64}"/>
              </a:ext>
            </a:extLst>
          </p:cNvPr>
          <p:cNvSpPr txBox="1"/>
          <p:nvPr/>
        </p:nvSpPr>
        <p:spPr>
          <a:xfrm rot="19968531">
            <a:off x="8592975" y="5468754"/>
            <a:ext cx="829073" cy="542649"/>
          </a:xfrm>
          <a:prstGeom prst="rect">
            <a:avLst/>
          </a:prstGeom>
          <a:noFill/>
        </p:spPr>
        <p:txBody>
          <a:bodyPr wrap="none" rtlCol="0">
            <a:spAutoFit/>
          </a:bodyPr>
          <a:lstStyle/>
          <a:p>
            <a:pPr>
              <a:lnSpc>
                <a:spcPct val="70000"/>
              </a:lnSpc>
            </a:pPr>
            <a:r>
              <a:rPr lang="en-US" sz="2000" dirty="0">
                <a:solidFill>
                  <a:schemeClr val="accent4"/>
                </a:solidFill>
                <a:latin typeface="Caveat" charset="0"/>
                <a:ea typeface="Caveat" charset="0"/>
                <a:cs typeface="Caveat" charset="0"/>
              </a:rPr>
              <a:t>Thanks</a:t>
            </a:r>
          </a:p>
          <a:p>
            <a:pPr>
              <a:lnSpc>
                <a:spcPct val="70000"/>
              </a:lnSpc>
            </a:pPr>
            <a:r>
              <a:rPr lang="en-US" sz="2000" dirty="0">
                <a:solidFill>
                  <a:schemeClr val="accent4"/>
                </a:solidFill>
                <a:latin typeface="Caveat" charset="0"/>
                <a:ea typeface="Caveat" charset="0"/>
                <a:cs typeface="Caveat" charset="0"/>
              </a:rPr>
              <a:t>Toon!</a:t>
            </a:r>
          </a:p>
        </p:txBody>
      </p:sp>
      <p:sp>
        <p:nvSpPr>
          <p:cNvPr id="3" name="Freeform 2">
            <a:extLst>
              <a:ext uri="{FF2B5EF4-FFF2-40B4-BE49-F238E27FC236}">
                <a16:creationId xmlns:a16="http://schemas.microsoft.com/office/drawing/2014/main" id="{EAB4E793-F470-F42F-58CC-C4429D5306DE}"/>
              </a:ext>
            </a:extLst>
          </p:cNvPr>
          <p:cNvSpPr/>
          <p:nvPr/>
        </p:nvSpPr>
        <p:spPr>
          <a:xfrm rot="679189">
            <a:off x="9472081" y="5487066"/>
            <a:ext cx="607162" cy="152644"/>
          </a:xfrm>
          <a:custGeom>
            <a:avLst/>
            <a:gdLst>
              <a:gd name="connsiteX0" fmla="*/ 0 w 607162"/>
              <a:gd name="connsiteY0" fmla="*/ 234087 h 234087"/>
              <a:gd name="connsiteX1" fmla="*/ 256032 w 607162"/>
              <a:gd name="connsiteY1" fmla="*/ 14631 h 234087"/>
              <a:gd name="connsiteX2" fmla="*/ 607162 w 607162"/>
              <a:gd name="connsiteY2" fmla="*/ 0 h 234087"/>
              <a:gd name="connsiteX0" fmla="*/ 0 w 607162"/>
              <a:gd name="connsiteY0" fmla="*/ 240072 h 240072"/>
              <a:gd name="connsiteX1" fmla="*/ 256032 w 607162"/>
              <a:gd name="connsiteY1" fmla="*/ 20616 h 240072"/>
              <a:gd name="connsiteX2" fmla="*/ 607162 w 607162"/>
              <a:gd name="connsiteY2" fmla="*/ 5985 h 240072"/>
              <a:gd name="connsiteX0" fmla="*/ 0 w 607162"/>
              <a:gd name="connsiteY0" fmla="*/ 249592 h 249592"/>
              <a:gd name="connsiteX1" fmla="*/ 256032 w 607162"/>
              <a:gd name="connsiteY1" fmla="*/ 30136 h 249592"/>
              <a:gd name="connsiteX2" fmla="*/ 607162 w 607162"/>
              <a:gd name="connsiteY2" fmla="*/ 15505 h 249592"/>
              <a:gd name="connsiteX0" fmla="*/ 0 w 607162"/>
              <a:gd name="connsiteY0" fmla="*/ 249592 h 249592"/>
              <a:gd name="connsiteX1" fmla="*/ 256032 w 607162"/>
              <a:gd name="connsiteY1" fmla="*/ 30136 h 249592"/>
              <a:gd name="connsiteX2" fmla="*/ 607162 w 607162"/>
              <a:gd name="connsiteY2" fmla="*/ 15505 h 249592"/>
              <a:gd name="connsiteX0" fmla="*/ 0 w 607162"/>
              <a:gd name="connsiteY0" fmla="*/ 249592 h 249592"/>
              <a:gd name="connsiteX1" fmla="*/ 256032 w 607162"/>
              <a:gd name="connsiteY1" fmla="*/ 30136 h 249592"/>
              <a:gd name="connsiteX2" fmla="*/ 607162 w 607162"/>
              <a:gd name="connsiteY2" fmla="*/ 15505 h 249592"/>
              <a:gd name="connsiteX0" fmla="*/ 0 w 607162"/>
              <a:gd name="connsiteY0" fmla="*/ 258833 h 258833"/>
              <a:gd name="connsiteX1" fmla="*/ 256032 w 607162"/>
              <a:gd name="connsiteY1" fmla="*/ 39377 h 258833"/>
              <a:gd name="connsiteX2" fmla="*/ 607162 w 607162"/>
              <a:gd name="connsiteY2" fmla="*/ 24746 h 258833"/>
              <a:gd name="connsiteX0" fmla="*/ 0 w 607162"/>
              <a:gd name="connsiteY0" fmla="*/ 258833 h 258833"/>
              <a:gd name="connsiteX1" fmla="*/ 256032 w 607162"/>
              <a:gd name="connsiteY1" fmla="*/ 39377 h 258833"/>
              <a:gd name="connsiteX2" fmla="*/ 607162 w 607162"/>
              <a:gd name="connsiteY2" fmla="*/ 24746 h 258833"/>
              <a:gd name="connsiteX0" fmla="*/ 0 w 607162"/>
              <a:gd name="connsiteY0" fmla="*/ 257095 h 257095"/>
              <a:gd name="connsiteX1" fmla="*/ 235862 w 607162"/>
              <a:gd name="connsiteY1" fmla="*/ 41001 h 257095"/>
              <a:gd name="connsiteX2" fmla="*/ 607162 w 607162"/>
              <a:gd name="connsiteY2" fmla="*/ 23008 h 257095"/>
              <a:gd name="connsiteX0" fmla="*/ 0 w 607162"/>
              <a:gd name="connsiteY0" fmla="*/ 257095 h 257095"/>
              <a:gd name="connsiteX1" fmla="*/ 235862 w 607162"/>
              <a:gd name="connsiteY1" fmla="*/ 41001 h 257095"/>
              <a:gd name="connsiteX2" fmla="*/ 607162 w 607162"/>
              <a:gd name="connsiteY2" fmla="*/ 23008 h 257095"/>
              <a:gd name="connsiteX0" fmla="*/ 0 w 607162"/>
              <a:gd name="connsiteY0" fmla="*/ 253450 h 253450"/>
              <a:gd name="connsiteX1" fmla="*/ 235862 w 607162"/>
              <a:gd name="connsiteY1" fmla="*/ 37356 h 253450"/>
              <a:gd name="connsiteX2" fmla="*/ 607162 w 607162"/>
              <a:gd name="connsiteY2" fmla="*/ 19363 h 253450"/>
              <a:gd name="connsiteX0" fmla="*/ 0 w 607162"/>
              <a:gd name="connsiteY0" fmla="*/ 253450 h 253450"/>
              <a:gd name="connsiteX1" fmla="*/ 235862 w 607162"/>
              <a:gd name="connsiteY1" fmla="*/ 37356 h 253450"/>
              <a:gd name="connsiteX2" fmla="*/ 607162 w 607162"/>
              <a:gd name="connsiteY2" fmla="*/ 19363 h 253450"/>
            </a:gdLst>
            <a:ahLst/>
            <a:cxnLst>
              <a:cxn ang="0">
                <a:pos x="connsiteX0" y="connsiteY0"/>
              </a:cxn>
              <a:cxn ang="0">
                <a:pos x="connsiteX1" y="connsiteY1"/>
              </a:cxn>
              <a:cxn ang="0">
                <a:pos x="connsiteX2" y="connsiteY2"/>
              </a:cxn>
            </a:cxnLst>
            <a:rect l="l" t="t" r="r" b="b"/>
            <a:pathLst>
              <a:path w="607162" h="253450">
                <a:moveTo>
                  <a:pt x="0" y="253450"/>
                </a:moveTo>
                <a:cubicBezTo>
                  <a:pt x="20286" y="217088"/>
                  <a:pt x="96317" y="98316"/>
                  <a:pt x="235862" y="37356"/>
                </a:cubicBezTo>
                <a:cubicBezTo>
                  <a:pt x="375407" y="-23604"/>
                  <a:pt x="523145" y="5065"/>
                  <a:pt x="607162" y="19363"/>
                </a:cubicBezTo>
              </a:path>
            </a:pathLst>
          </a:custGeom>
          <a:noFill/>
          <a:ln w="12700">
            <a:solidFill>
              <a:schemeClr val="accent4"/>
            </a:solidFill>
            <a:headEnd type="none" w="med" len="med"/>
            <a:tailEnd type="triangl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 name="Picture 3">
            <a:extLst>
              <a:ext uri="{FF2B5EF4-FFF2-40B4-BE49-F238E27FC236}">
                <a16:creationId xmlns:a16="http://schemas.microsoft.com/office/drawing/2014/main" id="{681D90F8-5C95-B9A1-2491-FBA6E5C9388F}"/>
              </a:ext>
            </a:extLst>
          </p:cNvPr>
          <p:cNvPicPr>
            <a:picLocks noChangeAspect="1"/>
          </p:cNvPicPr>
          <p:nvPr/>
        </p:nvPicPr>
        <p:blipFill>
          <a:blip r:embed="rId4">
            <a:extLst>
              <a:ext uri="{28A0092B-C50C-407E-A947-70E740481C1C}">
                <a14:useLocalDpi xmlns:a14="http://schemas.microsoft.com/office/drawing/2010/main" val="0"/>
              </a:ext>
            </a:extLst>
          </a:blip>
          <a:srcRect l="1467" r="1467"/>
          <a:stretch/>
        </p:blipFill>
        <p:spPr>
          <a:xfrm rot="20700000">
            <a:off x="10155928" y="5002620"/>
            <a:ext cx="802912" cy="827190"/>
          </a:xfrm>
          <a:prstGeom prst="rect">
            <a:avLst/>
          </a:prstGeom>
          <a:ln>
            <a:noFill/>
          </a:ln>
          <a:effectLst>
            <a:outerShdw blurRad="292100" dist="139700" dir="2700000" algn="tl" rotWithShape="0">
              <a:srgbClr val="333333">
                <a:alpha val="65000"/>
              </a:srgbClr>
            </a:outerShdw>
          </a:effectLst>
        </p:spPr>
      </p:pic>
      <p:sp>
        <p:nvSpPr>
          <p:cNvPr id="8" name="Horizontal Scroll 7">
            <a:extLst>
              <a:ext uri="{FF2B5EF4-FFF2-40B4-BE49-F238E27FC236}">
                <a16:creationId xmlns:a16="http://schemas.microsoft.com/office/drawing/2014/main" id="{E4C88676-8B23-1AE4-D13C-2FBC7B0EACF0}"/>
              </a:ext>
            </a:extLst>
          </p:cNvPr>
          <p:cNvSpPr/>
          <p:nvPr/>
        </p:nvSpPr>
        <p:spPr>
          <a:xfrm>
            <a:off x="2998816" y="3878978"/>
            <a:ext cx="6270495" cy="962972"/>
          </a:xfrm>
          <a:prstGeom prst="horizontalScroll">
            <a:avLst>
              <a:gd name="adj" fmla="val 14424"/>
            </a:avLst>
          </a:prstGeom>
          <a:solidFill>
            <a:srgbClr val="FFD34C"/>
          </a:solidFill>
          <a:ln>
            <a:noFill/>
          </a:ln>
        </p:spPr>
        <p:style>
          <a:lnRef idx="1">
            <a:schemeClr val="accent1"/>
          </a:lnRef>
          <a:fillRef idx="3">
            <a:schemeClr val="accent1"/>
          </a:fillRef>
          <a:effectRef idx="2">
            <a:schemeClr val="accent1"/>
          </a:effectRef>
          <a:fontRef idx="minor">
            <a:schemeClr val="lt1"/>
          </a:fontRef>
        </p:style>
        <p:txBody>
          <a:bodyPr tIns="46800" rIns="90000" rtlCol="0" anchor="ctr"/>
          <a:lstStyle/>
          <a:p>
            <a:r>
              <a:rPr lang="en-GB" sz="1200" dirty="0">
                <a:solidFill>
                  <a:schemeClr val="accent4">
                    <a:lumMod val="50000"/>
                  </a:schemeClr>
                </a:solidFill>
              </a:rPr>
              <a:t>T. Van </a:t>
            </a:r>
            <a:r>
              <a:rPr lang="en-GB" sz="1200" dirty="0" err="1">
                <a:solidFill>
                  <a:schemeClr val="accent4">
                    <a:lumMod val="50000"/>
                  </a:schemeClr>
                </a:solidFill>
              </a:rPr>
              <a:t>Puyvelde</a:t>
            </a:r>
            <a:r>
              <a:rPr lang="en-GB" sz="1200" dirty="0">
                <a:solidFill>
                  <a:schemeClr val="accent4">
                    <a:lumMod val="50000"/>
                  </a:schemeClr>
                </a:solidFill>
              </a:rPr>
              <a:t>, M.-S. </a:t>
            </a:r>
            <a:r>
              <a:rPr lang="en-GB" sz="1200" dirty="0" err="1">
                <a:solidFill>
                  <a:schemeClr val="accent4">
                    <a:lumMod val="50000"/>
                  </a:schemeClr>
                </a:solidFill>
              </a:rPr>
              <a:t>Verwee</a:t>
            </a:r>
            <a:r>
              <a:rPr lang="en-GB" sz="1200" dirty="0">
                <a:solidFill>
                  <a:schemeClr val="accent4">
                    <a:lumMod val="50000"/>
                  </a:schemeClr>
                </a:solidFill>
              </a:rPr>
              <a:t>, G. Gokhale, M. </a:t>
            </a:r>
            <a:r>
              <a:rPr lang="en-GB" sz="1200" dirty="0" err="1">
                <a:solidFill>
                  <a:schemeClr val="accent4">
                    <a:lumMod val="50000"/>
                  </a:schemeClr>
                </a:solidFill>
              </a:rPr>
              <a:t>Zareh</a:t>
            </a:r>
            <a:r>
              <a:rPr lang="en-GB" sz="1200" dirty="0">
                <a:solidFill>
                  <a:schemeClr val="accent4">
                    <a:lumMod val="50000"/>
                  </a:schemeClr>
                </a:solidFill>
              </a:rPr>
              <a:t> </a:t>
            </a:r>
            <a:r>
              <a:rPr lang="en-GB" sz="1200" dirty="0" err="1">
                <a:solidFill>
                  <a:schemeClr val="accent4">
                    <a:lumMod val="50000"/>
                  </a:schemeClr>
                </a:solidFill>
              </a:rPr>
              <a:t>Eshdoust</a:t>
            </a:r>
            <a:r>
              <a:rPr lang="en-GB" sz="1200" dirty="0">
                <a:solidFill>
                  <a:schemeClr val="accent4">
                    <a:lumMod val="50000"/>
                  </a:schemeClr>
                </a:solidFill>
              </a:rPr>
              <a:t> and C. Develder, </a:t>
            </a:r>
            <a:r>
              <a:rPr lang="en-GB" sz="1200" b="1" dirty="0">
                <a:solidFill>
                  <a:schemeClr val="accent4">
                    <a:lumMod val="50000"/>
                  </a:schemeClr>
                </a:solidFill>
              </a:rPr>
              <a:t>"HomeLabGym: A real-world testbed for home energy management systems"</a:t>
            </a:r>
            <a:r>
              <a:rPr lang="en-GB" sz="1200" dirty="0">
                <a:solidFill>
                  <a:schemeClr val="accent4">
                    <a:lumMod val="50000"/>
                  </a:schemeClr>
                </a:solidFill>
              </a:rPr>
              <a:t>, in Proc. 15th ACM Int. Conf. Future Energy Sys. (e-Energy 2024), Singapore, 4-7 Jun. 2024, pp. 1-2. </a:t>
            </a:r>
            <a:r>
              <a:rPr lang="en-GB" sz="1200" dirty="0">
                <a:solidFill>
                  <a:schemeClr val="accent4">
                    <a:lumMod val="50000"/>
                  </a:schemeClr>
                </a:solidFill>
                <a:hlinkClick r:id="rId5">
                  <a:extLst>
                    <a:ext uri="{A12FA001-AC4F-418D-AE19-62706E023703}">
                      <ahyp:hlinkClr xmlns:ahyp="http://schemas.microsoft.com/office/drawing/2018/hyperlinkcolor" val="tx"/>
                    </a:ext>
                  </a:extLst>
                </a:hlinkClick>
              </a:rPr>
              <a:t>doi:10.1145/3632775.3661974</a:t>
            </a:r>
            <a:endParaRPr lang="en-US" sz="1200" dirty="0">
              <a:solidFill>
                <a:schemeClr val="accent4">
                  <a:lumMod val="50000"/>
                </a:schemeClr>
              </a:solidFill>
              <a:latin typeface="UGent Panno Text" charset="0"/>
              <a:ea typeface="UGent Panno Text" charset="0"/>
              <a:cs typeface="UGent Panno Text" charset="0"/>
            </a:endParaRPr>
          </a:p>
        </p:txBody>
      </p:sp>
      <p:sp>
        <p:nvSpPr>
          <p:cNvPr id="16" name="Slide Number Placeholder 15">
            <a:extLst>
              <a:ext uri="{FF2B5EF4-FFF2-40B4-BE49-F238E27FC236}">
                <a16:creationId xmlns:a16="http://schemas.microsoft.com/office/drawing/2014/main" id="{21148001-C2BA-4C1B-BD58-6379142F435B}"/>
              </a:ext>
            </a:extLst>
          </p:cNvPr>
          <p:cNvSpPr>
            <a:spLocks noGrp="1"/>
          </p:cNvSpPr>
          <p:nvPr>
            <p:ph type="sldNum" sz="quarter" idx="11"/>
          </p:nvPr>
        </p:nvSpPr>
        <p:spPr/>
        <p:txBody>
          <a:bodyPr/>
          <a:lstStyle/>
          <a:p>
            <a:pPr>
              <a:defRPr/>
            </a:pPr>
            <a:fld id="{837B71E7-1BA8-4BCA-B4F0-4746BEDF418B}" type="slidenum">
              <a:rPr lang="en-US" smtClean="0"/>
              <a:pPr>
                <a:defRPr/>
              </a:pPr>
              <a:t>33</a:t>
            </a:fld>
            <a:endParaRPr lang="en-US"/>
          </a:p>
        </p:txBody>
      </p:sp>
    </p:spTree>
    <p:extLst>
      <p:ext uri="{BB962C8B-B14F-4D97-AF65-F5344CB8AC3E}">
        <p14:creationId xmlns:p14="http://schemas.microsoft.com/office/powerpoint/2010/main" val="267706739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with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wipe(left)">
                                      <p:cBhvr>
                                        <p:cTn id="7" dur="500"/>
                                        <p:tgtEl>
                                          <p:spTgt spid="8"/>
                                        </p:tgtEl>
                                      </p:cBhvr>
                                    </p:animEffect>
                                  </p:childTnLst>
                                </p:cTn>
                              </p:par>
                            </p:childTnLst>
                          </p:cTn>
                        </p:par>
                        <p:par>
                          <p:cTn id="8" fill="hold">
                            <p:stCondLst>
                              <p:cond delay="500"/>
                            </p:stCondLst>
                            <p:childTnLst>
                              <p:par>
                                <p:cTn id="9" presetID="1" presetClass="entr" presetSubtype="0" fill="hold" grpId="0" nodeType="afterEffect">
                                  <p:stCondLst>
                                    <p:cond delay="0"/>
                                  </p:stCondLst>
                                  <p:childTnLst>
                                    <p:set>
                                      <p:cBhvr>
                                        <p:cTn id="10" dur="1" fill="hold">
                                          <p:stCondLst>
                                            <p:cond delay="0"/>
                                          </p:stCondLst>
                                        </p:cTn>
                                        <p:tgtEl>
                                          <p:spTgt spid="2"/>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3"/>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animBg="1"/>
      <p:bldP spid="8" grpId="0" animBg="1"/>
    </p:bld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Afbeelding 4">
            <a:extLst>
              <a:ext uri="{FF2B5EF4-FFF2-40B4-BE49-F238E27FC236}">
                <a16:creationId xmlns:a16="http://schemas.microsoft.com/office/drawing/2014/main" id="{EC5F2F1A-8526-B64E-9D18-9AFF2D5AADCB}"/>
              </a:ext>
            </a:extLst>
          </p:cNvPr>
          <p:cNvPicPr>
            <a:picLocks noChangeAspect="1"/>
          </p:cNvPicPr>
          <p:nvPr/>
        </p:nvPicPr>
        <p:blipFill>
          <a:blip r:embed="rId3" cstate="screen">
            <a:extLst>
              <a:ext uri="{28A0092B-C50C-407E-A947-70E740481C1C}">
                <a14:useLocalDpi xmlns:a14="http://schemas.microsoft.com/office/drawing/2010/main"/>
              </a:ext>
            </a:extLst>
          </a:blip>
          <a:stretch>
            <a:fillRect/>
          </a:stretch>
        </p:blipFill>
        <p:spPr>
          <a:xfrm>
            <a:off x="1806" y="0"/>
            <a:ext cx="12188388" cy="6858000"/>
          </a:xfrm>
          <a:prstGeom prst="rect">
            <a:avLst/>
          </a:prstGeom>
        </p:spPr>
      </p:pic>
      <p:sp>
        <p:nvSpPr>
          <p:cNvPr id="28" name="Rechthoek 27"/>
          <p:cNvSpPr/>
          <p:nvPr/>
        </p:nvSpPr>
        <p:spPr>
          <a:xfrm>
            <a:off x="4" y="389676"/>
            <a:ext cx="4223316" cy="1070468"/>
          </a:xfrm>
          <a:prstGeom prst="rect">
            <a:avLst/>
          </a:prstGeom>
          <a:solidFill>
            <a:schemeClr val="accent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4800" dirty="0" err="1">
                <a:solidFill>
                  <a:schemeClr val="bg1"/>
                </a:solidFill>
              </a:rPr>
              <a:t>HomeLab</a:t>
            </a:r>
            <a:endParaRPr lang="en-US" sz="4800" dirty="0">
              <a:solidFill>
                <a:schemeClr val="bg1"/>
              </a:solidFill>
            </a:endParaRPr>
          </a:p>
        </p:txBody>
      </p:sp>
      <p:sp>
        <p:nvSpPr>
          <p:cNvPr id="15" name="Shape 388">
            <a:extLst>
              <a:ext uri="{FF2B5EF4-FFF2-40B4-BE49-F238E27FC236}">
                <a16:creationId xmlns:a16="http://schemas.microsoft.com/office/drawing/2014/main" id="{C7DA0E9E-20D5-6347-AE9D-47B025AE9E70}"/>
              </a:ext>
            </a:extLst>
          </p:cNvPr>
          <p:cNvSpPr/>
          <p:nvPr/>
        </p:nvSpPr>
        <p:spPr>
          <a:xfrm>
            <a:off x="7886700" y="389675"/>
            <a:ext cx="4303494" cy="1070468"/>
          </a:xfrm>
          <a:prstGeom prst="round2DiagRect">
            <a:avLst>
              <a:gd name="adj1" fmla="val 0"/>
              <a:gd name="adj2" fmla="val 0"/>
            </a:avLst>
          </a:prstGeom>
          <a:solidFill>
            <a:srgbClr val="FFFFFF">
              <a:alpha val="85098"/>
            </a:srgbClr>
          </a:solidFill>
          <a:ln>
            <a:noFill/>
          </a:ln>
        </p:spPr>
        <p:txBody>
          <a:bodyPr wrap="square" lIns="121895" tIns="60931" rIns="121895" bIns="60931" anchor="ctr" anchorCtr="0">
            <a:noAutofit/>
          </a:bodyPr>
          <a:lstStyle/>
          <a:p>
            <a:pPr>
              <a:buSzPct val="25000"/>
            </a:pPr>
            <a:endParaRPr lang="en-US" sz="2133" dirty="0">
              <a:solidFill>
                <a:schemeClr val="lt1"/>
              </a:solidFill>
              <a:latin typeface="Cabin"/>
              <a:ea typeface="Cabin"/>
              <a:cs typeface="Cabin"/>
              <a:sym typeface="Cabin"/>
            </a:endParaRPr>
          </a:p>
        </p:txBody>
      </p:sp>
      <p:grpSp>
        <p:nvGrpSpPr>
          <p:cNvPr id="21" name="Shape 11"/>
          <p:cNvGrpSpPr/>
          <p:nvPr/>
        </p:nvGrpSpPr>
        <p:grpSpPr>
          <a:xfrm>
            <a:off x="8283661" y="337082"/>
            <a:ext cx="3811356" cy="1277772"/>
            <a:chOff x="3611898" y="4442887"/>
            <a:chExt cx="2621693" cy="965996"/>
          </a:xfrm>
        </p:grpSpPr>
        <p:pic>
          <p:nvPicPr>
            <p:cNvPr id="25" name="Shape 12" descr="logo_UGent_EN_RGB_2400_color.png"/>
            <p:cNvPicPr preferRelativeResize="0"/>
            <p:nvPr/>
          </p:nvPicPr>
          <p:blipFill rotWithShape="1">
            <a:blip r:embed="rId4" cstate="screen">
              <a:alphaModFix/>
              <a:extLst>
                <a:ext uri="{28A0092B-C50C-407E-A947-70E740481C1C}">
                  <a14:useLocalDpi xmlns:a14="http://schemas.microsoft.com/office/drawing/2010/main"/>
                </a:ext>
              </a:extLst>
            </a:blip>
            <a:srcRect/>
            <a:stretch/>
          </p:blipFill>
          <p:spPr>
            <a:xfrm>
              <a:off x="5210897" y="4458360"/>
              <a:ext cx="1022694" cy="818088"/>
            </a:xfrm>
            <a:prstGeom prst="rect">
              <a:avLst/>
            </a:prstGeom>
            <a:noFill/>
            <a:ln>
              <a:noFill/>
            </a:ln>
          </p:spPr>
        </p:pic>
        <p:pic>
          <p:nvPicPr>
            <p:cNvPr id="29" name="Shape 13" descr="ID TRANS.png"/>
            <p:cNvPicPr preferRelativeResize="0"/>
            <p:nvPr/>
          </p:nvPicPr>
          <p:blipFill rotWithShape="1">
            <a:blip r:embed="rId5" cstate="screen">
              <a:alphaModFix/>
              <a:extLst>
                <a:ext uri="{28A0092B-C50C-407E-A947-70E740481C1C}">
                  <a14:useLocalDpi xmlns:a14="http://schemas.microsoft.com/office/drawing/2010/main"/>
                </a:ext>
              </a:extLst>
            </a:blip>
            <a:srcRect/>
            <a:stretch/>
          </p:blipFill>
          <p:spPr>
            <a:xfrm>
              <a:off x="4253612" y="4442887"/>
              <a:ext cx="1249298" cy="965996"/>
            </a:xfrm>
            <a:prstGeom prst="rect">
              <a:avLst/>
            </a:prstGeom>
            <a:noFill/>
            <a:ln>
              <a:noFill/>
            </a:ln>
          </p:spPr>
        </p:pic>
        <p:pic>
          <p:nvPicPr>
            <p:cNvPr id="30" name="Shape 14"/>
            <p:cNvPicPr preferRelativeResize="0"/>
            <p:nvPr/>
          </p:nvPicPr>
          <p:blipFill rotWithShape="1">
            <a:blip r:embed="rId6" cstate="screen">
              <a:alphaModFix/>
              <a:extLst>
                <a:ext uri="{28A0092B-C50C-407E-A947-70E740481C1C}">
                  <a14:useLocalDpi xmlns:a14="http://schemas.microsoft.com/office/drawing/2010/main"/>
                </a:ext>
              </a:extLst>
            </a:blip>
            <a:srcRect/>
            <a:stretch/>
          </p:blipFill>
          <p:spPr>
            <a:xfrm>
              <a:off x="3611898" y="4815448"/>
              <a:ext cx="744513" cy="222482"/>
            </a:xfrm>
            <a:prstGeom prst="rect">
              <a:avLst/>
            </a:prstGeom>
            <a:noFill/>
            <a:ln>
              <a:noFill/>
            </a:ln>
          </p:spPr>
        </p:pic>
      </p:grpSp>
      <p:pic>
        <p:nvPicPr>
          <p:cNvPr id="2" name="Graphic 1">
            <a:extLst>
              <a:ext uri="{FF2B5EF4-FFF2-40B4-BE49-F238E27FC236}">
                <a16:creationId xmlns:a16="http://schemas.microsoft.com/office/drawing/2014/main" id="{378B2CEE-5816-2D20-8045-BDF4BD011536}"/>
              </a:ext>
            </a:extLst>
          </p:cNvPr>
          <p:cNvPicPr>
            <a:picLocks noChangeAspect="1"/>
          </p:cNvPicPr>
          <p:nvPr/>
        </p:nvPicPr>
        <p:blipFill>
          <a:blip>
            <a:extLst>
              <a:ext uri="{96DAC541-7B7A-43D3-8B79-37D633B846F1}">
                <asvg:svgBlip xmlns:asvg="http://schemas.microsoft.com/office/drawing/2016/SVG/main" r:embed="rId7"/>
              </a:ext>
            </a:extLst>
          </a:blip>
          <a:stretch>
            <a:fillRect/>
          </a:stretch>
        </p:blipFill>
        <p:spPr>
          <a:xfrm>
            <a:off x="4047307" y="1518892"/>
            <a:ext cx="1477075" cy="1477075"/>
          </a:xfrm>
          <a:prstGeom prst="rect">
            <a:avLst/>
          </a:prstGeom>
        </p:spPr>
      </p:pic>
      <p:pic>
        <p:nvPicPr>
          <p:cNvPr id="3" name="Graphic 2">
            <a:extLst>
              <a:ext uri="{FF2B5EF4-FFF2-40B4-BE49-F238E27FC236}">
                <a16:creationId xmlns:a16="http://schemas.microsoft.com/office/drawing/2014/main" id="{07ECA013-9BFA-18C4-6FE9-4BDC8E682BAC}"/>
              </a:ext>
            </a:extLst>
          </p:cNvPr>
          <p:cNvPicPr>
            <a:picLocks noChangeAspect="1"/>
          </p:cNvPicPr>
          <p:nvPr/>
        </p:nvPicPr>
        <p:blipFill>
          <a:blip>
            <a:extLst>
              <a:ext uri="{96DAC541-7B7A-43D3-8B79-37D633B846F1}">
                <asvg:svgBlip xmlns:asvg="http://schemas.microsoft.com/office/drawing/2016/SVG/main" r:embed="rId8"/>
              </a:ext>
            </a:extLst>
          </a:blip>
          <a:stretch>
            <a:fillRect/>
          </a:stretch>
        </p:blipFill>
        <p:spPr>
          <a:xfrm>
            <a:off x="5671250" y="3871848"/>
            <a:ext cx="1276628" cy="1102544"/>
          </a:xfrm>
          <a:prstGeom prst="rect">
            <a:avLst/>
          </a:prstGeom>
        </p:spPr>
      </p:pic>
      <p:pic>
        <p:nvPicPr>
          <p:cNvPr id="4" name="Afbeelding 16" descr="Afbeelding met logo, symbool, Lettertype, Graphics&#10;&#10;Automatisch gegenereerde beschrijving">
            <a:extLst>
              <a:ext uri="{FF2B5EF4-FFF2-40B4-BE49-F238E27FC236}">
                <a16:creationId xmlns:a16="http://schemas.microsoft.com/office/drawing/2014/main" id="{B98198F3-08C3-DB65-8205-BA58D682DEBE}"/>
              </a:ext>
            </a:extLst>
          </p:cNvPr>
          <p:cNvPicPr>
            <a:picLocks noChangeAspect="1"/>
          </p:cNvPicPr>
          <p:nvPr/>
        </p:nvPicPr>
        <p:blipFill>
          <a:blip r:embed="rId9"/>
          <a:stretch>
            <a:fillRect/>
          </a:stretch>
        </p:blipFill>
        <p:spPr>
          <a:xfrm>
            <a:off x="1879849" y="3923118"/>
            <a:ext cx="1276628" cy="957472"/>
          </a:xfrm>
          <a:prstGeom prst="rect">
            <a:avLst/>
          </a:prstGeom>
        </p:spPr>
      </p:pic>
      <p:sp>
        <p:nvSpPr>
          <p:cNvPr id="7" name="Shape 388">
            <a:extLst>
              <a:ext uri="{FF2B5EF4-FFF2-40B4-BE49-F238E27FC236}">
                <a16:creationId xmlns:a16="http://schemas.microsoft.com/office/drawing/2014/main" id="{6C7231FC-7D88-5F64-B1D0-F381F2C6DF3D}"/>
              </a:ext>
            </a:extLst>
          </p:cNvPr>
          <p:cNvSpPr/>
          <p:nvPr/>
        </p:nvSpPr>
        <p:spPr>
          <a:xfrm>
            <a:off x="7932834" y="2460732"/>
            <a:ext cx="4257360" cy="3295831"/>
          </a:xfrm>
          <a:prstGeom prst="round2DiagRect">
            <a:avLst>
              <a:gd name="adj1" fmla="val 0"/>
              <a:gd name="adj2" fmla="val 0"/>
            </a:avLst>
          </a:prstGeom>
          <a:solidFill>
            <a:srgbClr val="FFFFFF">
              <a:alpha val="85098"/>
            </a:srgbClr>
          </a:solidFill>
          <a:ln>
            <a:noFill/>
          </a:ln>
        </p:spPr>
        <p:txBody>
          <a:bodyPr wrap="square" lIns="360000" tIns="270000" rIns="540000" bIns="270000" anchor="ctr" anchorCtr="0">
            <a:noAutofit/>
          </a:bodyPr>
          <a:lstStyle/>
          <a:p>
            <a:pPr>
              <a:buSzPct val="25000"/>
            </a:pPr>
            <a:r>
              <a:rPr lang="en-US" sz="2133" dirty="0">
                <a:solidFill>
                  <a:sysClr val="windowText" lastClr="000000"/>
                </a:solidFill>
                <a:latin typeface="+mn-lt"/>
                <a:ea typeface="Cabin"/>
                <a:cs typeface="Cabin"/>
                <a:sym typeface="Cabin"/>
              </a:rPr>
              <a:t>Research infrastructure to </a:t>
            </a:r>
            <a:r>
              <a:rPr lang="en-US" sz="2000" dirty="0">
                <a:solidFill>
                  <a:sysClr val="windowText" lastClr="000000"/>
                </a:solidFill>
                <a:latin typeface="+mn-lt"/>
                <a:ea typeface="Cabin"/>
                <a:cs typeface="Cabin"/>
                <a:sym typeface="Cabin"/>
              </a:rPr>
              <a:t>validate and optimize IoT &amp; AI innovations in real environment</a:t>
            </a:r>
          </a:p>
          <a:p>
            <a:pPr marL="185738" indent="-185738">
              <a:buSzPct val="100000"/>
              <a:buFont typeface="Wingdings" pitchFamily="2" charset="2"/>
              <a:buChar char="§"/>
            </a:pPr>
            <a:r>
              <a:rPr lang="en-US" sz="2000" dirty="0">
                <a:solidFill>
                  <a:sysClr val="windowText" lastClr="000000"/>
                </a:solidFill>
                <a:latin typeface="+mn-lt"/>
                <a:ea typeface="Cabin"/>
                <a:cs typeface="Cabin"/>
                <a:sym typeface="Cabin"/>
              </a:rPr>
              <a:t>&gt;300 sensors (temperature, energy, light, occupancy, …)</a:t>
            </a:r>
          </a:p>
          <a:p>
            <a:pPr marL="185738" indent="-185738">
              <a:buSzPct val="100000"/>
              <a:buFont typeface="Wingdings" pitchFamily="2" charset="2"/>
              <a:buChar char="§"/>
            </a:pPr>
            <a:r>
              <a:rPr lang="en-US" sz="2000" dirty="0">
                <a:solidFill>
                  <a:sysClr val="windowText" lastClr="000000"/>
                </a:solidFill>
                <a:latin typeface="+mn-lt"/>
                <a:ea typeface="Cabin"/>
                <a:cs typeface="Cabin"/>
                <a:sym typeface="Cabin"/>
              </a:rPr>
              <a:t>HVAC, ESS, PV</a:t>
            </a:r>
          </a:p>
          <a:p>
            <a:pPr marL="185738" indent="-185738">
              <a:buSzPct val="100000"/>
              <a:buFont typeface="Wingdings" pitchFamily="2" charset="2"/>
              <a:buChar char="§"/>
            </a:pPr>
            <a:r>
              <a:rPr lang="en-US" sz="2000" dirty="0">
                <a:solidFill>
                  <a:sysClr val="windowText" lastClr="000000"/>
                </a:solidFill>
                <a:latin typeface="+mn-lt"/>
                <a:ea typeface="Cabin"/>
                <a:cs typeface="Cabin"/>
                <a:sym typeface="Cabin"/>
              </a:rPr>
              <a:t>Controllable blinds and windows</a:t>
            </a:r>
            <a:r>
              <a:rPr lang="en-US" sz="2133" dirty="0">
                <a:solidFill>
                  <a:sysClr val="windowText" lastClr="000000"/>
                </a:solidFill>
                <a:latin typeface="+mn-lt"/>
                <a:ea typeface="Cabin"/>
                <a:cs typeface="Cabin"/>
                <a:sym typeface="Cabin"/>
              </a:rPr>
              <a:t> </a:t>
            </a:r>
          </a:p>
          <a:p>
            <a:pPr marL="185738" indent="-185738">
              <a:buSzPct val="100000"/>
              <a:buFont typeface="Wingdings" pitchFamily="2" charset="2"/>
              <a:buChar char="§"/>
            </a:pPr>
            <a:r>
              <a:rPr lang="en-US" sz="2133" dirty="0">
                <a:solidFill>
                  <a:sysClr val="windowText" lastClr="000000"/>
                </a:solidFill>
                <a:latin typeface="+mn-lt"/>
                <a:ea typeface="Cabin"/>
                <a:cs typeface="Cabin"/>
                <a:sym typeface="Cabin"/>
              </a:rPr>
              <a:t> . . . </a:t>
            </a:r>
          </a:p>
        </p:txBody>
      </p:sp>
    </p:spTree>
    <p:extLst>
      <p:ext uri="{BB962C8B-B14F-4D97-AF65-F5344CB8AC3E}">
        <p14:creationId xmlns:p14="http://schemas.microsoft.com/office/powerpoint/2010/main" val="111445718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Google Shape;433;p9" descr="Afbeelding met tekst, overdekt&#10;&#10;Automatisch gegenereerde beschrijving">
            <a:extLst>
              <a:ext uri="{FF2B5EF4-FFF2-40B4-BE49-F238E27FC236}">
                <a16:creationId xmlns:a16="http://schemas.microsoft.com/office/drawing/2014/main" id="{DEA81894-8127-D49D-A50A-E79D8B9930C9}"/>
              </a:ext>
            </a:extLst>
          </p:cNvPr>
          <p:cNvPicPr preferRelativeResize="0"/>
          <p:nvPr/>
        </p:nvPicPr>
        <p:blipFill rotWithShape="1">
          <a:blip r:embed="rId3" cstate="screen">
            <a:alphaModFix/>
            <a:extLst>
              <a:ext uri="{28A0092B-C50C-407E-A947-70E740481C1C}">
                <a14:useLocalDpi xmlns:a14="http://schemas.microsoft.com/office/drawing/2010/main"/>
              </a:ext>
            </a:extLst>
          </a:blip>
          <a:srcRect/>
          <a:stretch/>
        </p:blipFill>
        <p:spPr>
          <a:xfrm rot="5400000">
            <a:off x="-444050" y="432198"/>
            <a:ext cx="3552403" cy="2664303"/>
          </a:xfrm>
          <a:prstGeom prst="rect">
            <a:avLst/>
          </a:prstGeom>
          <a:noFill/>
          <a:ln>
            <a:noFill/>
          </a:ln>
        </p:spPr>
      </p:pic>
      <p:pic>
        <p:nvPicPr>
          <p:cNvPr id="3" name="Google Shape;434;p9" descr="Afbeelding met overdekt&#10;&#10;Automatisch gegenereerde beschrijving">
            <a:extLst>
              <a:ext uri="{FF2B5EF4-FFF2-40B4-BE49-F238E27FC236}">
                <a16:creationId xmlns:a16="http://schemas.microsoft.com/office/drawing/2014/main" id="{5227BDD3-4ED8-CE0D-51BA-DC99C475E743}"/>
              </a:ext>
            </a:extLst>
          </p:cNvPr>
          <p:cNvPicPr preferRelativeResize="0"/>
          <p:nvPr/>
        </p:nvPicPr>
        <p:blipFill rotWithShape="1">
          <a:blip r:embed="rId4" cstate="screen">
            <a:alphaModFix/>
            <a:extLst>
              <a:ext uri="{28A0092B-C50C-407E-A947-70E740481C1C}">
                <a14:useLocalDpi xmlns:a14="http://schemas.microsoft.com/office/drawing/2010/main"/>
              </a:ext>
            </a:extLst>
          </a:blip>
          <a:srcRect/>
          <a:stretch/>
        </p:blipFill>
        <p:spPr>
          <a:xfrm rot="5400000">
            <a:off x="9097104" y="442129"/>
            <a:ext cx="3537029" cy="2652772"/>
          </a:xfrm>
          <a:prstGeom prst="rect">
            <a:avLst/>
          </a:prstGeom>
          <a:noFill/>
          <a:ln>
            <a:noFill/>
          </a:ln>
        </p:spPr>
      </p:pic>
      <p:pic>
        <p:nvPicPr>
          <p:cNvPr id="29" name="Afbeelding 28" descr="Screen Shot 2018-09-03 at 11.16.19.png"/>
          <p:cNvPicPr>
            <a:picLocks noChangeAspect="1"/>
          </p:cNvPicPr>
          <p:nvPr/>
        </p:nvPicPr>
        <p:blipFill>
          <a:blip r:embed="rId5" cstate="screen">
            <a:extLst>
              <a:ext uri="{28A0092B-C50C-407E-A947-70E740481C1C}">
                <a14:useLocalDpi xmlns:a14="http://schemas.microsoft.com/office/drawing/2010/main"/>
              </a:ext>
            </a:extLst>
          </a:blip>
          <a:stretch>
            <a:fillRect/>
          </a:stretch>
        </p:blipFill>
        <p:spPr>
          <a:xfrm>
            <a:off x="7991508" y="3539656"/>
            <a:ext cx="4200493" cy="3318344"/>
          </a:xfrm>
          <a:prstGeom prst="rect">
            <a:avLst/>
          </a:prstGeom>
        </p:spPr>
      </p:pic>
      <p:pic>
        <p:nvPicPr>
          <p:cNvPr id="4" name="Afbeelding 3" descr="Screen Shot 2018-09-03 at 10.58.00.png"/>
          <p:cNvPicPr>
            <a:picLocks noChangeAspect="1"/>
          </p:cNvPicPr>
          <p:nvPr/>
        </p:nvPicPr>
        <p:blipFill>
          <a:blip r:embed="rId6" cstate="screen">
            <a:extLst>
              <a:ext uri="{28A0092B-C50C-407E-A947-70E740481C1C}">
                <a14:useLocalDpi xmlns:a14="http://schemas.microsoft.com/office/drawing/2010/main"/>
              </a:ext>
            </a:extLst>
          </a:blip>
          <a:stretch>
            <a:fillRect/>
          </a:stretch>
        </p:blipFill>
        <p:spPr>
          <a:xfrm>
            <a:off x="2664303" y="5"/>
            <a:ext cx="6874932" cy="3537027"/>
          </a:xfrm>
          <a:prstGeom prst="rect">
            <a:avLst/>
          </a:prstGeom>
        </p:spPr>
      </p:pic>
      <p:pic>
        <p:nvPicPr>
          <p:cNvPr id="7" name="Afbeelding 6" descr="2017-04-21 14.29.02b.jpg"/>
          <p:cNvPicPr>
            <a:picLocks noChangeAspect="1"/>
          </p:cNvPicPr>
          <p:nvPr/>
        </p:nvPicPr>
        <p:blipFill>
          <a:blip r:embed="rId7" cstate="screen">
            <a:extLst>
              <a:ext uri="{28A0092B-C50C-407E-A947-70E740481C1C}">
                <a14:useLocalDpi xmlns:a14="http://schemas.microsoft.com/office/drawing/2010/main"/>
              </a:ext>
            </a:extLst>
          </a:blip>
          <a:stretch>
            <a:fillRect/>
          </a:stretch>
        </p:blipFill>
        <p:spPr>
          <a:xfrm>
            <a:off x="4425245" y="3539656"/>
            <a:ext cx="4402667" cy="3302000"/>
          </a:xfrm>
          <a:prstGeom prst="rect">
            <a:avLst/>
          </a:prstGeom>
        </p:spPr>
      </p:pic>
      <p:pic>
        <p:nvPicPr>
          <p:cNvPr id="8" name="Afbeelding 7" descr="2017-04-21 14.31.55b.jpg"/>
          <p:cNvPicPr>
            <a:picLocks noChangeAspect="1"/>
          </p:cNvPicPr>
          <p:nvPr/>
        </p:nvPicPr>
        <p:blipFill>
          <a:blip r:embed="rId8" cstate="screen">
            <a:extLst>
              <a:ext uri="{28A0092B-C50C-407E-A947-70E740481C1C}">
                <a14:useLocalDpi xmlns:a14="http://schemas.microsoft.com/office/drawing/2010/main"/>
              </a:ext>
            </a:extLst>
          </a:blip>
          <a:stretch>
            <a:fillRect/>
          </a:stretch>
        </p:blipFill>
        <p:spPr>
          <a:xfrm>
            <a:off x="3" y="3539656"/>
            <a:ext cx="4425244" cy="3318344"/>
          </a:xfrm>
          <a:prstGeom prst="rect">
            <a:avLst/>
          </a:prstGeom>
        </p:spPr>
      </p:pic>
      <p:grpSp>
        <p:nvGrpSpPr>
          <p:cNvPr id="39" name="Groeperen 38"/>
          <p:cNvGrpSpPr/>
          <p:nvPr/>
        </p:nvGrpSpPr>
        <p:grpSpPr>
          <a:xfrm>
            <a:off x="1840091" y="191325"/>
            <a:ext cx="2585156" cy="869835"/>
            <a:chOff x="1380067" y="143491"/>
            <a:chExt cx="1938867" cy="652376"/>
          </a:xfrm>
        </p:grpSpPr>
        <p:sp>
          <p:nvSpPr>
            <p:cNvPr id="12" name="Afgeronde rechthoek 11"/>
            <p:cNvSpPr/>
            <p:nvPr/>
          </p:nvSpPr>
          <p:spPr>
            <a:xfrm>
              <a:off x="1727202" y="143491"/>
              <a:ext cx="1591732" cy="449176"/>
            </a:xfrm>
            <a:prstGeom prst="roundRect">
              <a:avLst/>
            </a:prstGeom>
            <a:solidFill>
              <a:schemeClr val="accent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nl-NL" sz="1867" dirty="0"/>
                <a:t>Home </a:t>
              </a:r>
              <a:r>
                <a:rPr lang="nl-NL" sz="1867" b="1" u="sng" dirty="0"/>
                <a:t>battery</a:t>
              </a:r>
            </a:p>
          </p:txBody>
        </p:sp>
        <p:cxnSp>
          <p:nvCxnSpPr>
            <p:cNvPr id="14" name="Rechte verbindingslijn met pijl 13"/>
            <p:cNvCxnSpPr/>
            <p:nvPr/>
          </p:nvCxnSpPr>
          <p:spPr>
            <a:xfrm flipH="1">
              <a:off x="1380067" y="495300"/>
              <a:ext cx="364069" cy="300567"/>
            </a:xfrm>
            <a:prstGeom prst="straightConnector1">
              <a:avLst/>
            </a:prstGeom>
            <a:ln w="57150" cmpd="sng">
              <a:solidFill>
                <a:schemeClr val="accent6"/>
              </a:solidFill>
              <a:tailEnd type="arrow"/>
            </a:ln>
            <a:effectLst/>
          </p:spPr>
          <p:style>
            <a:lnRef idx="2">
              <a:schemeClr val="accent1"/>
            </a:lnRef>
            <a:fillRef idx="0">
              <a:schemeClr val="accent1"/>
            </a:fillRef>
            <a:effectRef idx="1">
              <a:schemeClr val="accent1"/>
            </a:effectRef>
            <a:fontRef idx="minor">
              <a:schemeClr val="tx1"/>
            </a:fontRef>
          </p:style>
        </p:cxnSp>
      </p:grpSp>
      <p:grpSp>
        <p:nvGrpSpPr>
          <p:cNvPr id="38" name="Groeperen 37"/>
          <p:cNvGrpSpPr/>
          <p:nvPr/>
        </p:nvGrpSpPr>
        <p:grpSpPr>
          <a:xfrm>
            <a:off x="5282461" y="133920"/>
            <a:ext cx="3876049" cy="1492161"/>
            <a:chOff x="4201079" y="90367"/>
            <a:chExt cx="2907037" cy="1119121"/>
          </a:xfrm>
        </p:grpSpPr>
        <p:cxnSp>
          <p:nvCxnSpPr>
            <p:cNvPr id="18" name="Rechte verbindingslijn met pijl 17"/>
            <p:cNvCxnSpPr>
              <a:cxnSpLocks/>
            </p:cNvCxnSpPr>
            <p:nvPr/>
          </p:nvCxnSpPr>
          <p:spPr>
            <a:xfrm flipH="1">
              <a:off x="4780706" y="485230"/>
              <a:ext cx="197389" cy="724258"/>
            </a:xfrm>
            <a:prstGeom prst="straightConnector1">
              <a:avLst/>
            </a:prstGeom>
            <a:ln w="57150" cmpd="sng">
              <a:solidFill>
                <a:schemeClr val="accent6"/>
              </a:solidFill>
              <a:tailEnd type="arrow"/>
            </a:ln>
            <a:effectLst/>
          </p:spPr>
          <p:style>
            <a:lnRef idx="2">
              <a:schemeClr val="accent1"/>
            </a:lnRef>
            <a:fillRef idx="0">
              <a:schemeClr val="accent1"/>
            </a:fillRef>
            <a:effectRef idx="1">
              <a:schemeClr val="accent1"/>
            </a:effectRef>
            <a:fontRef idx="minor">
              <a:schemeClr val="tx1"/>
            </a:fontRef>
          </p:style>
        </p:cxnSp>
        <p:sp>
          <p:nvSpPr>
            <p:cNvPr id="17" name="Afgeronde rechthoek 16"/>
            <p:cNvSpPr/>
            <p:nvPr/>
          </p:nvSpPr>
          <p:spPr>
            <a:xfrm>
              <a:off x="4201079" y="90367"/>
              <a:ext cx="2907037" cy="829734"/>
            </a:xfrm>
            <a:prstGeom prst="roundRect">
              <a:avLst/>
            </a:prstGeom>
            <a:solidFill>
              <a:schemeClr val="accent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nl-NL" sz="1867" dirty="0"/>
                <a:t>Energy </a:t>
              </a:r>
              <a:r>
                <a:rPr lang="nl-NL" sz="1867" dirty="0" err="1"/>
                <a:t>consumption</a:t>
              </a:r>
              <a:r>
                <a:rPr lang="nl-NL" sz="1867" dirty="0"/>
                <a:t> </a:t>
              </a:r>
              <a:r>
                <a:rPr lang="nl-NL" sz="1867" b="1" u="sng" dirty="0"/>
                <a:t>monitoring</a:t>
              </a:r>
              <a:r>
                <a:rPr lang="nl-NL" sz="1867" dirty="0"/>
                <a:t> per </a:t>
              </a:r>
              <a:r>
                <a:rPr lang="nl-NL" sz="1867" dirty="0" err="1"/>
                <a:t>wall</a:t>
              </a:r>
              <a:r>
                <a:rPr lang="nl-NL" sz="1867" dirty="0"/>
                <a:t> socket </a:t>
              </a:r>
              <a:r>
                <a:rPr lang="nl-NL" sz="1867" dirty="0" err="1"/>
                <a:t>and</a:t>
              </a:r>
              <a:r>
                <a:rPr lang="nl-NL" sz="1867" dirty="0"/>
                <a:t> building system </a:t>
              </a:r>
              <a:br>
                <a:rPr lang="nl-NL" sz="1867" dirty="0"/>
              </a:br>
              <a:r>
                <a:rPr lang="nl-NL" sz="1867" dirty="0"/>
                <a:t>(&gt; 150 </a:t>
              </a:r>
              <a:r>
                <a:rPr lang="nl-NL" sz="1867" dirty="0" err="1"/>
                <a:t>measurement</a:t>
              </a:r>
              <a:r>
                <a:rPr lang="nl-NL" sz="1867" dirty="0"/>
                <a:t> points)</a:t>
              </a:r>
            </a:p>
          </p:txBody>
        </p:sp>
      </p:grpSp>
      <p:grpSp>
        <p:nvGrpSpPr>
          <p:cNvPr id="40" name="Groeperen 39"/>
          <p:cNvGrpSpPr/>
          <p:nvPr/>
        </p:nvGrpSpPr>
        <p:grpSpPr>
          <a:xfrm>
            <a:off x="2314225" y="1952977"/>
            <a:ext cx="2111020" cy="1117600"/>
            <a:chOff x="1735668" y="1464733"/>
            <a:chExt cx="1583265" cy="838200"/>
          </a:xfrm>
        </p:grpSpPr>
        <p:sp>
          <p:nvSpPr>
            <p:cNvPr id="21" name="Afgeronde rechthoek 20"/>
            <p:cNvSpPr/>
            <p:nvPr/>
          </p:nvSpPr>
          <p:spPr>
            <a:xfrm>
              <a:off x="1735668" y="1811866"/>
              <a:ext cx="1583265" cy="491067"/>
            </a:xfrm>
            <a:prstGeom prst="roundRect">
              <a:avLst/>
            </a:prstGeom>
            <a:solidFill>
              <a:schemeClr val="accent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nl-NL" sz="1867" dirty="0"/>
                <a:t>5kWp </a:t>
              </a:r>
              <a:r>
                <a:rPr lang="nl-NL" sz="1867" b="1" u="sng" dirty="0" err="1"/>
                <a:t>solar</a:t>
              </a:r>
              <a:r>
                <a:rPr lang="nl-NL" sz="1867" b="1" u="sng" dirty="0"/>
                <a:t> panels</a:t>
              </a:r>
            </a:p>
          </p:txBody>
        </p:sp>
        <p:cxnSp>
          <p:nvCxnSpPr>
            <p:cNvPr id="22" name="Rechte verbindingslijn met pijl 21"/>
            <p:cNvCxnSpPr/>
            <p:nvPr/>
          </p:nvCxnSpPr>
          <p:spPr>
            <a:xfrm flipV="1">
              <a:off x="2794002" y="1464733"/>
              <a:ext cx="194732" cy="347133"/>
            </a:xfrm>
            <a:prstGeom prst="straightConnector1">
              <a:avLst/>
            </a:prstGeom>
            <a:ln w="57150" cmpd="sng">
              <a:solidFill>
                <a:schemeClr val="accent6"/>
              </a:solidFill>
              <a:tailEnd type="arrow"/>
            </a:ln>
            <a:effectLst/>
          </p:spPr>
          <p:style>
            <a:lnRef idx="2">
              <a:schemeClr val="accent1"/>
            </a:lnRef>
            <a:fillRef idx="0">
              <a:schemeClr val="accent1"/>
            </a:fillRef>
            <a:effectRef idx="1">
              <a:schemeClr val="accent1"/>
            </a:effectRef>
            <a:fontRef idx="minor">
              <a:schemeClr val="tx1"/>
            </a:fontRef>
          </p:style>
        </p:cxnSp>
      </p:grpSp>
      <p:grpSp>
        <p:nvGrpSpPr>
          <p:cNvPr id="36" name="Groeperen 35"/>
          <p:cNvGrpSpPr/>
          <p:nvPr/>
        </p:nvGrpSpPr>
        <p:grpSpPr>
          <a:xfrm>
            <a:off x="9171452" y="2652891"/>
            <a:ext cx="2900609" cy="2190044"/>
            <a:chOff x="6878588" y="1989667"/>
            <a:chExt cx="2175457" cy="1642533"/>
          </a:xfrm>
        </p:grpSpPr>
        <p:sp>
          <p:nvSpPr>
            <p:cNvPr id="28" name="Afgeronde rechthoek 27"/>
            <p:cNvSpPr/>
            <p:nvPr/>
          </p:nvSpPr>
          <p:spPr>
            <a:xfrm>
              <a:off x="6878588" y="2395283"/>
              <a:ext cx="2175457" cy="706077"/>
            </a:xfrm>
            <a:prstGeom prst="roundRect">
              <a:avLst/>
            </a:prstGeom>
            <a:solidFill>
              <a:schemeClr val="accent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nl-NL" sz="1867" dirty="0" err="1"/>
                <a:t>Controllable </a:t>
              </a:r>
              <a:r>
                <a:rPr lang="nl-NL" sz="1867" b="1" u="sng" dirty="0" err="1"/>
                <a:t>heat pump</a:t>
              </a:r>
              <a:r>
                <a:rPr lang="nl-NL" sz="1867" b="1" u="sng" dirty="0"/>
                <a:t> </a:t>
              </a:r>
              <a:r>
                <a:rPr lang="nl-NL" sz="1867" dirty="0"/>
                <a:t>+ low </a:t>
              </a:r>
              <a:r>
                <a:rPr lang="nl-NL" sz="1867" dirty="0" err="1"/>
                <a:t>temperature</a:t>
              </a:r>
              <a:r>
                <a:rPr lang="nl-NL" sz="1867" dirty="0"/>
                <a:t> radiators + </a:t>
              </a:r>
              <a:r>
                <a:rPr lang="nl-NL" sz="1867" dirty="0" err="1"/>
                <a:t>controllable</a:t>
              </a:r>
              <a:r>
                <a:rPr lang="nl-NL" sz="1867" dirty="0"/>
                <a:t> </a:t>
              </a:r>
              <a:r>
                <a:rPr lang="nl-NL" sz="1867" dirty="0" err="1"/>
                <a:t>valves</a:t>
              </a:r>
              <a:r>
                <a:rPr lang="nl-NL" sz="1867" dirty="0"/>
                <a:t> </a:t>
              </a:r>
            </a:p>
          </p:txBody>
        </p:sp>
        <p:cxnSp>
          <p:nvCxnSpPr>
            <p:cNvPr id="30" name="Rechte verbindingslijn met pijl 29"/>
            <p:cNvCxnSpPr>
              <a:cxnSpLocks/>
              <a:stCxn id="28" idx="0"/>
            </p:cNvCxnSpPr>
            <p:nvPr/>
          </p:nvCxnSpPr>
          <p:spPr>
            <a:xfrm flipV="1">
              <a:off x="7966317" y="1989667"/>
              <a:ext cx="46328" cy="405616"/>
            </a:xfrm>
            <a:prstGeom prst="straightConnector1">
              <a:avLst/>
            </a:prstGeom>
            <a:ln w="31750" cmpd="sng">
              <a:solidFill>
                <a:schemeClr val="accent6"/>
              </a:solidFill>
              <a:tailEnd type="arrow"/>
            </a:ln>
            <a:effectLst/>
          </p:spPr>
          <p:style>
            <a:lnRef idx="2">
              <a:schemeClr val="accent1"/>
            </a:lnRef>
            <a:fillRef idx="0">
              <a:schemeClr val="accent1"/>
            </a:fillRef>
            <a:effectRef idx="1">
              <a:schemeClr val="accent1"/>
            </a:effectRef>
            <a:fontRef idx="minor">
              <a:schemeClr val="tx1"/>
            </a:fontRef>
          </p:style>
        </p:cxnSp>
        <p:cxnSp>
          <p:nvCxnSpPr>
            <p:cNvPr id="33" name="Rechte verbindingslijn met pijl 32"/>
            <p:cNvCxnSpPr>
              <a:cxnSpLocks/>
            </p:cNvCxnSpPr>
            <p:nvPr/>
          </p:nvCxnSpPr>
          <p:spPr>
            <a:xfrm flipH="1">
              <a:off x="7831667" y="3058387"/>
              <a:ext cx="367628" cy="573813"/>
            </a:xfrm>
            <a:prstGeom prst="straightConnector1">
              <a:avLst/>
            </a:prstGeom>
            <a:ln w="31750" cmpd="sng">
              <a:solidFill>
                <a:schemeClr val="tx2"/>
              </a:solidFill>
              <a:tailEnd type="arrow"/>
            </a:ln>
            <a:effectLst/>
          </p:spPr>
          <p:style>
            <a:lnRef idx="2">
              <a:schemeClr val="accent1"/>
            </a:lnRef>
            <a:fillRef idx="0">
              <a:schemeClr val="accent1"/>
            </a:fillRef>
            <a:effectRef idx="1">
              <a:schemeClr val="accent1"/>
            </a:effectRef>
            <a:fontRef idx="minor">
              <a:schemeClr val="tx1"/>
            </a:fontRef>
          </p:style>
        </p:cxnSp>
      </p:grpSp>
      <p:grpSp>
        <p:nvGrpSpPr>
          <p:cNvPr id="54" name="Groeperen 53"/>
          <p:cNvGrpSpPr/>
          <p:nvPr/>
        </p:nvGrpSpPr>
        <p:grpSpPr>
          <a:xfrm>
            <a:off x="5159024" y="3386668"/>
            <a:ext cx="3025421" cy="1670757"/>
            <a:chOff x="3869268" y="2539999"/>
            <a:chExt cx="2269066" cy="1253068"/>
          </a:xfrm>
        </p:grpSpPr>
        <p:cxnSp>
          <p:nvCxnSpPr>
            <p:cNvPr id="42" name="Rechte verbindingslijn met pijl 41"/>
            <p:cNvCxnSpPr>
              <a:cxnSpLocks/>
            </p:cNvCxnSpPr>
            <p:nvPr/>
          </p:nvCxnSpPr>
          <p:spPr>
            <a:xfrm flipH="1">
              <a:off x="4298952" y="3108734"/>
              <a:ext cx="493182" cy="576382"/>
            </a:xfrm>
            <a:prstGeom prst="straightConnector1">
              <a:avLst/>
            </a:prstGeom>
            <a:ln w="57150" cmpd="sng">
              <a:solidFill>
                <a:schemeClr val="accent6"/>
              </a:solidFill>
              <a:tailEnd type="arrow"/>
            </a:ln>
            <a:effectLst/>
          </p:spPr>
          <p:style>
            <a:lnRef idx="2">
              <a:schemeClr val="accent1"/>
            </a:lnRef>
            <a:fillRef idx="0">
              <a:schemeClr val="accent1"/>
            </a:fillRef>
            <a:effectRef idx="1">
              <a:schemeClr val="accent1"/>
            </a:effectRef>
            <a:fontRef idx="minor">
              <a:schemeClr val="tx1"/>
            </a:fontRef>
          </p:style>
        </p:cxnSp>
        <p:cxnSp>
          <p:nvCxnSpPr>
            <p:cNvPr id="44" name="Rechte verbindingslijn met pijl 43"/>
            <p:cNvCxnSpPr>
              <a:cxnSpLocks/>
            </p:cNvCxnSpPr>
            <p:nvPr/>
          </p:nvCxnSpPr>
          <p:spPr>
            <a:xfrm>
              <a:off x="5253377" y="3024494"/>
              <a:ext cx="351556" cy="768573"/>
            </a:xfrm>
            <a:prstGeom prst="straightConnector1">
              <a:avLst/>
            </a:prstGeom>
            <a:ln w="57150" cmpd="sng">
              <a:solidFill>
                <a:schemeClr val="accent6"/>
              </a:solidFill>
              <a:tailEnd type="arrow"/>
            </a:ln>
            <a:effectLst/>
          </p:spPr>
          <p:style>
            <a:lnRef idx="2">
              <a:schemeClr val="accent1"/>
            </a:lnRef>
            <a:fillRef idx="0">
              <a:schemeClr val="accent1"/>
            </a:fillRef>
            <a:effectRef idx="1">
              <a:schemeClr val="accent1"/>
            </a:effectRef>
            <a:fontRef idx="minor">
              <a:schemeClr val="tx1"/>
            </a:fontRef>
          </p:style>
        </p:cxnSp>
        <p:sp>
          <p:nvSpPr>
            <p:cNvPr id="41" name="Afgeronde rechthoek 40"/>
            <p:cNvSpPr/>
            <p:nvPr/>
          </p:nvSpPr>
          <p:spPr>
            <a:xfrm>
              <a:off x="3869268" y="2539999"/>
              <a:ext cx="2269066" cy="736600"/>
            </a:xfrm>
            <a:prstGeom prst="roundRect">
              <a:avLst/>
            </a:prstGeom>
            <a:solidFill>
              <a:schemeClr val="accent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nl-NL" sz="1867" dirty="0"/>
                <a:t>2 </a:t>
              </a:r>
              <a:r>
                <a:rPr lang="nl-NL" sz="1867" b="1" u="sng" dirty="0" err="1"/>
                <a:t>ventilation</a:t>
              </a:r>
              <a:r>
                <a:rPr lang="nl-NL" sz="1867" dirty="0"/>
                <a:t> systems </a:t>
              </a:r>
              <a:r>
                <a:rPr lang="nl-NL" sz="1867" dirty="0" err="1"/>
                <a:t>with</a:t>
              </a:r>
              <a:r>
                <a:rPr lang="nl-NL" sz="1867" dirty="0"/>
                <a:t> </a:t>
              </a:r>
              <a:r>
                <a:rPr lang="nl-NL" sz="1867" dirty="0" err="1"/>
                <a:t>controllable</a:t>
              </a:r>
              <a:r>
                <a:rPr lang="nl-NL" sz="1867" dirty="0"/>
                <a:t> </a:t>
              </a:r>
              <a:r>
                <a:rPr lang="nl-NL" sz="1867" dirty="0" err="1"/>
                <a:t>valves</a:t>
              </a:r>
              <a:r>
                <a:rPr lang="nl-NL" sz="1867" dirty="0"/>
                <a:t> </a:t>
              </a:r>
              <a:r>
                <a:rPr lang="nl-NL" sz="1867" dirty="0" err="1"/>
                <a:t>to</a:t>
              </a:r>
              <a:r>
                <a:rPr lang="nl-NL" sz="1867" dirty="0"/>
                <a:t> living room </a:t>
              </a:r>
              <a:r>
                <a:rPr lang="nl-NL" sz="1867" dirty="0" err="1"/>
                <a:t>and</a:t>
              </a:r>
              <a:r>
                <a:rPr lang="nl-NL" sz="1867" dirty="0"/>
                <a:t> meeting rooms </a:t>
              </a:r>
            </a:p>
          </p:txBody>
        </p:sp>
      </p:grpSp>
      <p:grpSp>
        <p:nvGrpSpPr>
          <p:cNvPr id="53" name="Groeperen 52"/>
          <p:cNvGrpSpPr/>
          <p:nvPr/>
        </p:nvGrpSpPr>
        <p:grpSpPr>
          <a:xfrm>
            <a:off x="1926170" y="3999877"/>
            <a:ext cx="2384773" cy="1813903"/>
            <a:chOff x="1444627" y="2999907"/>
            <a:chExt cx="1788580" cy="1360427"/>
          </a:xfrm>
        </p:grpSpPr>
        <p:sp>
          <p:nvSpPr>
            <p:cNvPr id="46" name="Afgeronde rechthoek 45"/>
            <p:cNvSpPr/>
            <p:nvPr/>
          </p:nvSpPr>
          <p:spPr>
            <a:xfrm>
              <a:off x="1444627" y="3699933"/>
              <a:ext cx="1788580" cy="660401"/>
            </a:xfrm>
            <a:prstGeom prst="roundRect">
              <a:avLst/>
            </a:prstGeom>
            <a:solidFill>
              <a:schemeClr val="accent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nl-NL" sz="1867" dirty="0" err="1"/>
                <a:t>Controllable</a:t>
              </a:r>
              <a:r>
                <a:rPr lang="nl-NL" sz="1867" dirty="0"/>
                <a:t> blinds &amp; </a:t>
              </a:r>
              <a:r>
                <a:rPr lang="nl-NL" sz="1867" dirty="0" err="1"/>
                <a:t>windows</a:t>
              </a:r>
              <a:endParaRPr lang="nl-NL" sz="1867" dirty="0"/>
            </a:p>
          </p:txBody>
        </p:sp>
        <p:cxnSp>
          <p:nvCxnSpPr>
            <p:cNvPr id="47" name="Rechte verbindingslijn met pijl 46"/>
            <p:cNvCxnSpPr>
              <a:cxnSpLocks/>
            </p:cNvCxnSpPr>
            <p:nvPr/>
          </p:nvCxnSpPr>
          <p:spPr>
            <a:xfrm flipH="1" flipV="1">
              <a:off x="1659468" y="3276601"/>
              <a:ext cx="84669" cy="423333"/>
            </a:xfrm>
            <a:prstGeom prst="straightConnector1">
              <a:avLst/>
            </a:prstGeom>
            <a:ln w="57150" cmpd="sng">
              <a:solidFill>
                <a:schemeClr val="accent6"/>
              </a:solidFill>
              <a:tailEnd type="arrow"/>
            </a:ln>
            <a:effectLst/>
          </p:spPr>
          <p:style>
            <a:lnRef idx="2">
              <a:schemeClr val="accent1"/>
            </a:lnRef>
            <a:fillRef idx="0">
              <a:schemeClr val="accent1"/>
            </a:fillRef>
            <a:effectRef idx="1">
              <a:schemeClr val="accent1"/>
            </a:effectRef>
            <a:fontRef idx="minor">
              <a:schemeClr val="tx1"/>
            </a:fontRef>
          </p:style>
        </p:cxnSp>
        <p:cxnSp>
          <p:nvCxnSpPr>
            <p:cNvPr id="50" name="Rechte verbindingslijn met pijl 49"/>
            <p:cNvCxnSpPr>
              <a:cxnSpLocks/>
            </p:cNvCxnSpPr>
            <p:nvPr/>
          </p:nvCxnSpPr>
          <p:spPr>
            <a:xfrm flipH="1" flipV="1">
              <a:off x="2497669" y="2999907"/>
              <a:ext cx="186652" cy="698058"/>
            </a:xfrm>
            <a:prstGeom prst="straightConnector1">
              <a:avLst/>
            </a:prstGeom>
            <a:ln w="57150" cmpd="sng">
              <a:solidFill>
                <a:schemeClr val="accent6"/>
              </a:solidFill>
              <a:tailEnd type="arrow"/>
            </a:ln>
            <a:effectLst/>
          </p:spPr>
          <p:style>
            <a:lnRef idx="2">
              <a:schemeClr val="accent1"/>
            </a:lnRef>
            <a:fillRef idx="0">
              <a:schemeClr val="accent1"/>
            </a:fillRef>
            <a:effectRef idx="1">
              <a:schemeClr val="accent1"/>
            </a:effectRef>
            <a:fontRef idx="minor">
              <a:schemeClr val="tx1"/>
            </a:fontRef>
          </p:style>
        </p:cxnSp>
      </p:grpSp>
      <p:sp>
        <p:nvSpPr>
          <p:cNvPr id="32" name="Afgeronde rechthoek 31">
            <a:extLst>
              <a:ext uri="{FF2B5EF4-FFF2-40B4-BE49-F238E27FC236}">
                <a16:creationId xmlns:a16="http://schemas.microsoft.com/office/drawing/2014/main" id="{FF0F4EF6-26BB-F842-85BF-D8403462E6F1}"/>
              </a:ext>
            </a:extLst>
          </p:cNvPr>
          <p:cNvSpPr/>
          <p:nvPr/>
        </p:nvSpPr>
        <p:spPr>
          <a:xfrm>
            <a:off x="0" y="6341987"/>
            <a:ext cx="4014960" cy="516013"/>
          </a:xfrm>
          <a:prstGeom prst="roundRect">
            <a:avLst>
              <a:gd name="adj" fmla="val 0"/>
            </a:avLst>
          </a:prstGeom>
          <a:solidFill>
            <a:schemeClr val="accent2">
              <a:lumMod val="60000"/>
              <a:lumOff val="40000"/>
              <a:alpha val="85000"/>
            </a:schemeClr>
          </a:solidFill>
          <a:ln>
            <a:noFill/>
          </a:ln>
          <a:effectLst/>
        </p:spPr>
        <p:style>
          <a:lnRef idx="1">
            <a:schemeClr val="accent1"/>
          </a:lnRef>
          <a:fillRef idx="3">
            <a:schemeClr val="accent1"/>
          </a:fillRef>
          <a:effectRef idx="2">
            <a:schemeClr val="accent1"/>
          </a:effectRef>
          <a:fontRef idx="minor">
            <a:schemeClr val="lt1"/>
          </a:fontRef>
        </p:style>
        <p:txBody>
          <a:bodyPr rtlCol="0" anchor="ctr" anchorCtr="0"/>
          <a:lstStyle/>
          <a:p>
            <a:r>
              <a:rPr lang="en-US" sz="2400" b="1" dirty="0">
                <a:latin typeface="+mj-lt"/>
                <a:ea typeface="Gill Sans MT" charset="0"/>
                <a:cs typeface="Gill Sans MT" charset="0"/>
              </a:rPr>
              <a:t>Energy infrastructure</a:t>
            </a:r>
          </a:p>
        </p:txBody>
      </p:sp>
      <p:sp>
        <p:nvSpPr>
          <p:cNvPr id="11" name="10-point Star 10">
            <a:extLst>
              <a:ext uri="{FF2B5EF4-FFF2-40B4-BE49-F238E27FC236}">
                <a16:creationId xmlns:a16="http://schemas.microsoft.com/office/drawing/2014/main" id="{644181FE-63BC-9823-934F-B7B9ED541467}"/>
              </a:ext>
            </a:extLst>
          </p:cNvPr>
          <p:cNvSpPr/>
          <p:nvPr/>
        </p:nvSpPr>
        <p:spPr>
          <a:xfrm>
            <a:off x="595076" y="1072444"/>
            <a:ext cx="1670755" cy="1252621"/>
          </a:xfrm>
          <a:prstGeom prst="star10">
            <a:avLst/>
          </a:prstGeom>
          <a:solidFill>
            <a:srgbClr val="FFC000"/>
          </a:solidFill>
          <a:ln>
            <a:noFill/>
          </a:ln>
          <a:effectLst/>
        </p:spPr>
        <p:style>
          <a:lnRef idx="1">
            <a:schemeClr val="accent1"/>
          </a:lnRef>
          <a:fillRef idx="3">
            <a:schemeClr val="accent1"/>
          </a:fillRef>
          <a:effectRef idx="2">
            <a:schemeClr val="accent1"/>
          </a:effectRef>
          <a:fontRef idx="minor">
            <a:schemeClr val="lt1"/>
          </a:fontRef>
        </p:style>
        <p:txBody>
          <a:bodyPr wrap="none" lIns="0" tIns="0" rIns="0" bIns="0" rtlCol="0" anchor="t"/>
          <a:lstStyle/>
          <a:p>
            <a:pPr algn="ctr"/>
            <a:endParaRPr lang="en-BE" sz="1867" dirty="0">
              <a:solidFill>
                <a:schemeClr val="tx1"/>
              </a:solidFill>
            </a:endParaRPr>
          </a:p>
        </p:txBody>
      </p:sp>
      <p:pic>
        <p:nvPicPr>
          <p:cNvPr id="15" name="Picture 14">
            <a:extLst>
              <a:ext uri="{FF2B5EF4-FFF2-40B4-BE49-F238E27FC236}">
                <a16:creationId xmlns:a16="http://schemas.microsoft.com/office/drawing/2014/main" id="{9C55D88D-99AA-D404-BDF3-6794FB5050C7}"/>
              </a:ext>
            </a:extLst>
          </p:cNvPr>
          <p:cNvPicPr>
            <a:picLocks noChangeAspect="1"/>
          </p:cNvPicPr>
          <p:nvPr/>
        </p:nvPicPr>
        <p:blipFill>
          <a:blip r:embed="rId9">
            <a:duotone>
              <a:prstClr val="black"/>
              <a:schemeClr val="tx1">
                <a:tint val="45000"/>
                <a:satMod val="400000"/>
              </a:schemeClr>
            </a:duotone>
          </a:blip>
          <a:stretch>
            <a:fillRect/>
          </a:stretch>
        </p:blipFill>
        <p:spPr>
          <a:xfrm>
            <a:off x="880078" y="1219029"/>
            <a:ext cx="1074519" cy="1074519"/>
          </a:xfrm>
          <a:prstGeom prst="rect">
            <a:avLst/>
          </a:prstGeom>
        </p:spPr>
      </p:pic>
      <p:sp>
        <p:nvSpPr>
          <p:cNvPr id="19" name="TextBox 18">
            <a:extLst>
              <a:ext uri="{FF2B5EF4-FFF2-40B4-BE49-F238E27FC236}">
                <a16:creationId xmlns:a16="http://schemas.microsoft.com/office/drawing/2014/main" id="{74868AB1-15B1-B52D-913A-635E8032CAB8}"/>
              </a:ext>
            </a:extLst>
          </p:cNvPr>
          <p:cNvSpPr txBox="1"/>
          <p:nvPr/>
        </p:nvSpPr>
        <p:spPr>
          <a:xfrm>
            <a:off x="541869" y="1184568"/>
            <a:ext cx="1670755" cy="338554"/>
          </a:xfrm>
          <a:prstGeom prst="rect">
            <a:avLst/>
          </a:prstGeom>
          <a:noFill/>
        </p:spPr>
        <p:txBody>
          <a:bodyPr wrap="square">
            <a:spAutoFit/>
          </a:bodyPr>
          <a:lstStyle/>
          <a:p>
            <a:pPr algn="ctr"/>
            <a:r>
              <a:rPr lang="en-BE" dirty="0"/>
              <a:t>Collab w/</a:t>
            </a:r>
          </a:p>
        </p:txBody>
      </p:sp>
      <p:sp>
        <p:nvSpPr>
          <p:cNvPr id="20" name="10-point Star 19">
            <a:extLst>
              <a:ext uri="{FF2B5EF4-FFF2-40B4-BE49-F238E27FC236}">
                <a16:creationId xmlns:a16="http://schemas.microsoft.com/office/drawing/2014/main" id="{6D7333C8-9D6E-0788-54FB-8C7E065CC0A6}"/>
              </a:ext>
            </a:extLst>
          </p:cNvPr>
          <p:cNvSpPr/>
          <p:nvPr/>
        </p:nvSpPr>
        <p:spPr>
          <a:xfrm>
            <a:off x="9646344" y="914575"/>
            <a:ext cx="1670755" cy="1252621"/>
          </a:xfrm>
          <a:prstGeom prst="star10">
            <a:avLst/>
          </a:prstGeom>
          <a:solidFill>
            <a:srgbClr val="FFC000"/>
          </a:solidFill>
          <a:ln>
            <a:noFill/>
          </a:ln>
          <a:effectLst/>
        </p:spPr>
        <p:style>
          <a:lnRef idx="1">
            <a:schemeClr val="accent1"/>
          </a:lnRef>
          <a:fillRef idx="3">
            <a:schemeClr val="accent1"/>
          </a:fillRef>
          <a:effectRef idx="2">
            <a:schemeClr val="accent1"/>
          </a:effectRef>
          <a:fontRef idx="minor">
            <a:schemeClr val="lt1"/>
          </a:fontRef>
        </p:style>
        <p:txBody>
          <a:bodyPr wrap="none" lIns="0" tIns="0" rIns="0" bIns="0" rtlCol="0" anchor="t"/>
          <a:lstStyle/>
          <a:p>
            <a:pPr algn="ctr"/>
            <a:endParaRPr lang="en-BE" sz="1867" dirty="0">
              <a:solidFill>
                <a:schemeClr val="tx1"/>
              </a:solidFill>
            </a:endParaRPr>
          </a:p>
        </p:txBody>
      </p:sp>
      <p:sp>
        <p:nvSpPr>
          <p:cNvPr id="24" name="TextBox 23">
            <a:extLst>
              <a:ext uri="{FF2B5EF4-FFF2-40B4-BE49-F238E27FC236}">
                <a16:creationId xmlns:a16="http://schemas.microsoft.com/office/drawing/2014/main" id="{BB278FBC-B4CE-D2CC-F36D-7B6D543EFB79}"/>
              </a:ext>
            </a:extLst>
          </p:cNvPr>
          <p:cNvSpPr txBox="1"/>
          <p:nvPr/>
        </p:nvSpPr>
        <p:spPr>
          <a:xfrm>
            <a:off x="9664461" y="1194137"/>
            <a:ext cx="1670755" cy="338554"/>
          </a:xfrm>
          <a:prstGeom prst="rect">
            <a:avLst/>
          </a:prstGeom>
          <a:noFill/>
        </p:spPr>
        <p:txBody>
          <a:bodyPr wrap="square">
            <a:spAutoFit/>
          </a:bodyPr>
          <a:lstStyle/>
          <a:p>
            <a:pPr algn="ctr"/>
            <a:r>
              <a:rPr lang="en-BE" dirty="0"/>
              <a:t>PhD funded by</a:t>
            </a:r>
          </a:p>
        </p:txBody>
      </p:sp>
      <p:pic>
        <p:nvPicPr>
          <p:cNvPr id="25" name="Graphic 24">
            <a:extLst>
              <a:ext uri="{FF2B5EF4-FFF2-40B4-BE49-F238E27FC236}">
                <a16:creationId xmlns:a16="http://schemas.microsoft.com/office/drawing/2014/main" id="{88454C81-4429-8BD1-9C10-91E213449037}"/>
              </a:ext>
            </a:extLst>
          </p:cNvPr>
          <p:cNvPicPr>
            <a:picLocks noChangeAspect="1"/>
          </p:cNvPicPr>
          <p:nvPr/>
        </p:nvPicPr>
        <p:blipFill>
          <a:blip>
            <a:extLst>
              <a:ext uri="{96DAC541-7B7A-43D3-8B79-37D633B846F1}">
                <asvg:svgBlip xmlns:asvg="http://schemas.microsoft.com/office/drawing/2016/SVG/main" r:embed="rId10"/>
              </a:ext>
            </a:extLst>
          </a:blip>
          <a:stretch>
            <a:fillRect/>
          </a:stretch>
        </p:blipFill>
        <p:spPr>
          <a:xfrm>
            <a:off x="9857736" y="1537567"/>
            <a:ext cx="1257451" cy="265024"/>
          </a:xfrm>
          <a:prstGeom prst="rect">
            <a:avLst/>
          </a:prstGeom>
        </p:spPr>
      </p:pic>
    </p:spTree>
    <p:extLst>
      <p:ext uri="{BB962C8B-B14F-4D97-AF65-F5344CB8AC3E}">
        <p14:creationId xmlns:p14="http://schemas.microsoft.com/office/powerpoint/2010/main" val="413713729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40976BA-C754-4898-FED7-4D8DB1239279}"/>
              </a:ext>
            </a:extLst>
          </p:cNvPr>
          <p:cNvSpPr>
            <a:spLocks noGrp="1"/>
          </p:cNvSpPr>
          <p:nvPr>
            <p:ph type="title"/>
          </p:nvPr>
        </p:nvSpPr>
        <p:spPr/>
        <p:txBody>
          <a:bodyPr/>
          <a:lstStyle/>
          <a:p>
            <a:r>
              <a:rPr lang="en-BE" dirty="0"/>
              <a:t>HomeLabGym</a:t>
            </a:r>
          </a:p>
        </p:txBody>
      </p:sp>
      <p:sp>
        <p:nvSpPr>
          <p:cNvPr id="4" name="Footer Placeholder 3">
            <a:extLst>
              <a:ext uri="{FF2B5EF4-FFF2-40B4-BE49-F238E27FC236}">
                <a16:creationId xmlns:a16="http://schemas.microsoft.com/office/drawing/2014/main" id="{C115EB78-28A3-2BF0-B2E3-B8240F415AD3}"/>
              </a:ext>
            </a:extLst>
          </p:cNvPr>
          <p:cNvSpPr>
            <a:spLocks noGrp="1"/>
          </p:cNvSpPr>
          <p:nvPr>
            <p:ph type="ftr" sz="quarter" idx="10"/>
          </p:nvPr>
        </p:nvSpPr>
        <p:spPr/>
        <p:txBody>
          <a:bodyPr/>
          <a:lstStyle/>
          <a:p>
            <a:pPr>
              <a:defRPr/>
            </a:pPr>
            <a:r>
              <a:rPr lang="en-US"/>
              <a:t>C. Develder, "AI4E: Data-efficient and scalable algorithmss to exploit energy flexibility"</a:t>
            </a:r>
            <a:endParaRPr lang="en-US" dirty="0"/>
          </a:p>
        </p:txBody>
      </p:sp>
      <p:sp>
        <p:nvSpPr>
          <p:cNvPr id="3" name="Cloud 2">
            <a:extLst>
              <a:ext uri="{FF2B5EF4-FFF2-40B4-BE49-F238E27FC236}">
                <a16:creationId xmlns:a16="http://schemas.microsoft.com/office/drawing/2014/main" id="{2FF8FA74-1B64-940D-5969-E82944C1A796}"/>
              </a:ext>
            </a:extLst>
          </p:cNvPr>
          <p:cNvSpPr/>
          <p:nvPr/>
        </p:nvSpPr>
        <p:spPr>
          <a:xfrm>
            <a:off x="3300456" y="1582516"/>
            <a:ext cx="3978036" cy="3043764"/>
          </a:xfrm>
          <a:prstGeom prst="cloud">
            <a:avLst/>
          </a:prstGeom>
          <a:solidFill>
            <a:schemeClr val="bg1"/>
          </a:solidFill>
          <a:ln>
            <a:solidFill>
              <a:schemeClr val="bg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BE"/>
          </a:p>
        </p:txBody>
      </p:sp>
      <p:pic>
        <p:nvPicPr>
          <p:cNvPr id="13" name="Afbeelding 4">
            <a:extLst>
              <a:ext uri="{FF2B5EF4-FFF2-40B4-BE49-F238E27FC236}">
                <a16:creationId xmlns:a16="http://schemas.microsoft.com/office/drawing/2014/main" id="{887E125D-CE6C-35E8-9AB5-EDF20857F468}"/>
              </a:ext>
            </a:extLst>
          </p:cNvPr>
          <p:cNvPicPr>
            <a:picLocks noChangeAspect="1"/>
          </p:cNvPicPr>
          <p:nvPr/>
        </p:nvPicPr>
        <p:blipFill>
          <a:blip r:embed="rId2"/>
          <a:stretch>
            <a:fillRect/>
          </a:stretch>
        </p:blipFill>
        <p:spPr>
          <a:xfrm>
            <a:off x="7610201" y="2124068"/>
            <a:ext cx="3870442" cy="2349225"/>
          </a:xfrm>
          <a:prstGeom prst="rect">
            <a:avLst/>
          </a:prstGeom>
        </p:spPr>
      </p:pic>
      <p:sp>
        <p:nvSpPr>
          <p:cNvPr id="14" name="Trapezium 13">
            <a:extLst>
              <a:ext uri="{FF2B5EF4-FFF2-40B4-BE49-F238E27FC236}">
                <a16:creationId xmlns:a16="http://schemas.microsoft.com/office/drawing/2014/main" id="{1E4FA15C-4739-5A2A-FAB5-DD63B3F64A88}"/>
              </a:ext>
            </a:extLst>
          </p:cNvPr>
          <p:cNvSpPr/>
          <p:nvPr/>
        </p:nvSpPr>
        <p:spPr>
          <a:xfrm rot="5400000">
            <a:off x="8042067" y="2910164"/>
            <a:ext cx="1724300" cy="693891"/>
          </a:xfrm>
          <a:prstGeom prst="trapezoid">
            <a:avLst>
              <a:gd name="adj" fmla="val 28056"/>
            </a:avLst>
          </a:prstGeom>
          <a:gradFill flip="none" rotWithShape="1">
            <a:gsLst>
              <a:gs pos="0">
                <a:schemeClr val="accent2">
                  <a:lumMod val="60000"/>
                  <a:lumOff val="40000"/>
                  <a:tint val="66000"/>
                  <a:satMod val="160000"/>
                </a:schemeClr>
              </a:gs>
              <a:gs pos="50000">
                <a:schemeClr val="accent2">
                  <a:lumMod val="60000"/>
                  <a:lumOff val="40000"/>
                  <a:tint val="44500"/>
                  <a:satMod val="160000"/>
                </a:schemeClr>
              </a:gs>
              <a:gs pos="100000">
                <a:schemeClr val="accent2">
                  <a:lumMod val="60000"/>
                  <a:lumOff val="40000"/>
                  <a:tint val="23500"/>
                  <a:satMod val="160000"/>
                </a:schemeClr>
              </a:gs>
            </a:gsLst>
            <a:lin ang="5400000" scaled="1"/>
            <a:tileRect/>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400" dirty="0"/>
          </a:p>
        </p:txBody>
      </p:sp>
      <p:sp>
        <p:nvSpPr>
          <p:cNvPr id="15" name="Rechthoek: afgeronde hoeken 6">
            <a:extLst>
              <a:ext uri="{FF2B5EF4-FFF2-40B4-BE49-F238E27FC236}">
                <a16:creationId xmlns:a16="http://schemas.microsoft.com/office/drawing/2014/main" id="{1AD9047E-2DDE-2AD9-F241-0F870A6E6D51}"/>
              </a:ext>
            </a:extLst>
          </p:cNvPr>
          <p:cNvSpPr/>
          <p:nvPr/>
        </p:nvSpPr>
        <p:spPr>
          <a:xfrm>
            <a:off x="643342" y="2792007"/>
            <a:ext cx="1250721" cy="909563"/>
          </a:xfrm>
          <a:prstGeom prst="roundRect">
            <a:avLst/>
          </a:prstGeom>
          <a:solidFill>
            <a:srgbClr val="EAB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2000" dirty="0">
                <a:solidFill>
                  <a:schemeClr val="tx1"/>
                </a:solidFill>
              </a:rPr>
              <a:t>Controller</a:t>
            </a:r>
          </a:p>
        </p:txBody>
      </p:sp>
      <p:grpSp>
        <p:nvGrpSpPr>
          <p:cNvPr id="16" name="Group 15">
            <a:extLst>
              <a:ext uri="{FF2B5EF4-FFF2-40B4-BE49-F238E27FC236}">
                <a16:creationId xmlns:a16="http://schemas.microsoft.com/office/drawing/2014/main" id="{A7E87224-1A54-4915-2A07-041CD1CAA470}"/>
              </a:ext>
            </a:extLst>
          </p:cNvPr>
          <p:cNvGrpSpPr/>
          <p:nvPr/>
        </p:nvGrpSpPr>
        <p:grpSpPr>
          <a:xfrm>
            <a:off x="1894062" y="3021209"/>
            <a:ext cx="812829" cy="412586"/>
            <a:chOff x="1931363" y="2771754"/>
            <a:chExt cx="1020305" cy="412586"/>
          </a:xfrm>
        </p:grpSpPr>
        <p:cxnSp>
          <p:nvCxnSpPr>
            <p:cNvPr id="17" name="Rechte verbindingslijn met pijl 8">
              <a:extLst>
                <a:ext uri="{FF2B5EF4-FFF2-40B4-BE49-F238E27FC236}">
                  <a16:creationId xmlns:a16="http://schemas.microsoft.com/office/drawing/2014/main" id="{C75FCA58-11D8-6F4B-2BDB-7EADC3587213}"/>
                </a:ext>
              </a:extLst>
            </p:cNvPr>
            <p:cNvCxnSpPr>
              <a:cxnSpLocks/>
            </p:cNvCxnSpPr>
            <p:nvPr/>
          </p:nvCxnSpPr>
          <p:spPr>
            <a:xfrm>
              <a:off x="1931363" y="2771754"/>
              <a:ext cx="1020304" cy="0"/>
            </a:xfrm>
            <a:prstGeom prst="straightConnector1">
              <a:avLst/>
            </a:prstGeom>
            <a:ln w="28575" cmpd="sng">
              <a:solidFill>
                <a:schemeClr val="accent2"/>
              </a:solidFill>
              <a:tailEnd type="triangle"/>
            </a:ln>
            <a:effectLst/>
          </p:spPr>
          <p:style>
            <a:lnRef idx="2">
              <a:schemeClr val="accent1"/>
            </a:lnRef>
            <a:fillRef idx="0">
              <a:schemeClr val="accent1"/>
            </a:fillRef>
            <a:effectRef idx="1">
              <a:schemeClr val="accent1"/>
            </a:effectRef>
            <a:fontRef idx="minor">
              <a:schemeClr val="tx1"/>
            </a:fontRef>
          </p:style>
        </p:cxnSp>
        <p:cxnSp>
          <p:nvCxnSpPr>
            <p:cNvPr id="18" name="Rechte verbindingslijn met pijl 9">
              <a:extLst>
                <a:ext uri="{FF2B5EF4-FFF2-40B4-BE49-F238E27FC236}">
                  <a16:creationId xmlns:a16="http://schemas.microsoft.com/office/drawing/2014/main" id="{AC6600F1-DD9D-C18A-E68D-AA4D8EDD642A}"/>
                </a:ext>
              </a:extLst>
            </p:cNvPr>
            <p:cNvCxnSpPr>
              <a:cxnSpLocks/>
            </p:cNvCxnSpPr>
            <p:nvPr/>
          </p:nvCxnSpPr>
          <p:spPr>
            <a:xfrm flipH="1">
              <a:off x="1931363" y="3184340"/>
              <a:ext cx="1020305" cy="0"/>
            </a:xfrm>
            <a:prstGeom prst="straightConnector1">
              <a:avLst/>
            </a:prstGeom>
            <a:ln w="28575" cmpd="sng">
              <a:solidFill>
                <a:schemeClr val="accent2"/>
              </a:solidFill>
              <a:tailEnd type="triangle"/>
            </a:ln>
            <a:effectLst/>
          </p:spPr>
          <p:style>
            <a:lnRef idx="2">
              <a:schemeClr val="accent1"/>
            </a:lnRef>
            <a:fillRef idx="0">
              <a:schemeClr val="accent1"/>
            </a:fillRef>
            <a:effectRef idx="1">
              <a:schemeClr val="accent1"/>
            </a:effectRef>
            <a:fontRef idx="minor">
              <a:schemeClr val="tx1"/>
            </a:fontRef>
          </p:style>
        </p:cxnSp>
      </p:grpSp>
      <p:sp>
        <p:nvSpPr>
          <p:cNvPr id="19" name="Tekstvak 12">
            <a:extLst>
              <a:ext uri="{FF2B5EF4-FFF2-40B4-BE49-F238E27FC236}">
                <a16:creationId xmlns:a16="http://schemas.microsoft.com/office/drawing/2014/main" id="{42122B80-944C-BE5D-5CBA-A366B047E520}"/>
              </a:ext>
            </a:extLst>
          </p:cNvPr>
          <p:cNvSpPr txBox="1"/>
          <p:nvPr/>
        </p:nvSpPr>
        <p:spPr>
          <a:xfrm>
            <a:off x="1966778" y="2612339"/>
            <a:ext cx="625491" cy="338554"/>
          </a:xfrm>
          <a:prstGeom prst="rect">
            <a:avLst/>
          </a:prstGeom>
          <a:noFill/>
        </p:spPr>
        <p:txBody>
          <a:bodyPr wrap="none" rtlCol="0">
            <a:spAutoFit/>
          </a:bodyPr>
          <a:lstStyle/>
          <a:p>
            <a:pPr algn="ctr"/>
            <a:r>
              <a:rPr lang="en-US" dirty="0">
                <a:latin typeface="+mn-lt"/>
              </a:rPr>
              <a:t>action</a:t>
            </a:r>
          </a:p>
        </p:txBody>
      </p:sp>
      <p:sp>
        <p:nvSpPr>
          <p:cNvPr id="21" name="Tekstvak 13">
            <a:extLst>
              <a:ext uri="{FF2B5EF4-FFF2-40B4-BE49-F238E27FC236}">
                <a16:creationId xmlns:a16="http://schemas.microsoft.com/office/drawing/2014/main" id="{D93A5542-844D-9D26-4425-91EA44C0481B}"/>
              </a:ext>
            </a:extLst>
          </p:cNvPr>
          <p:cNvSpPr txBox="1"/>
          <p:nvPr/>
        </p:nvSpPr>
        <p:spPr>
          <a:xfrm>
            <a:off x="1809683" y="3531846"/>
            <a:ext cx="939680" cy="584775"/>
          </a:xfrm>
          <a:prstGeom prst="rect">
            <a:avLst/>
          </a:prstGeom>
          <a:noFill/>
        </p:spPr>
        <p:txBody>
          <a:bodyPr wrap="none" rtlCol="0">
            <a:spAutoFit/>
          </a:bodyPr>
          <a:lstStyle/>
          <a:p>
            <a:pPr algn="ctr"/>
            <a:r>
              <a:rPr lang="en-US" dirty="0">
                <a:latin typeface="+mn-lt"/>
              </a:rPr>
              <a:t>next state,</a:t>
            </a:r>
          </a:p>
          <a:p>
            <a:pPr algn="ctr"/>
            <a:r>
              <a:rPr lang="en-US" dirty="0">
                <a:latin typeface="+mn-lt"/>
              </a:rPr>
              <a:t>reward</a:t>
            </a:r>
          </a:p>
        </p:txBody>
      </p:sp>
      <p:sp>
        <p:nvSpPr>
          <p:cNvPr id="22" name="TextBox 21">
            <a:extLst>
              <a:ext uri="{FF2B5EF4-FFF2-40B4-BE49-F238E27FC236}">
                <a16:creationId xmlns:a16="http://schemas.microsoft.com/office/drawing/2014/main" id="{2EC8250A-DCA6-7CB9-7DBC-D4EBBAB7C332}"/>
              </a:ext>
            </a:extLst>
          </p:cNvPr>
          <p:cNvSpPr txBox="1"/>
          <p:nvPr/>
        </p:nvSpPr>
        <p:spPr>
          <a:xfrm>
            <a:off x="4781640" y="1582516"/>
            <a:ext cx="1015667" cy="3154710"/>
          </a:xfrm>
          <a:prstGeom prst="rect">
            <a:avLst/>
          </a:prstGeom>
          <a:noFill/>
        </p:spPr>
        <p:txBody>
          <a:bodyPr wrap="square" rtlCol="0">
            <a:spAutoFit/>
          </a:bodyPr>
          <a:lstStyle/>
          <a:p>
            <a:r>
              <a:rPr lang="en-BE" sz="19900" dirty="0">
                <a:solidFill>
                  <a:schemeClr val="accent3"/>
                </a:solidFill>
                <a:latin typeface="Gill Sans MT Medium" panose="02000603000000000000" pitchFamily="2" charset="0"/>
                <a:cs typeface="Gill Sans" panose="020B0502020104020203" pitchFamily="34" charset="-79"/>
              </a:rPr>
              <a:t>?</a:t>
            </a:r>
          </a:p>
        </p:txBody>
      </p:sp>
      <p:sp>
        <p:nvSpPr>
          <p:cNvPr id="23" name="Arc 22">
            <a:extLst>
              <a:ext uri="{FF2B5EF4-FFF2-40B4-BE49-F238E27FC236}">
                <a16:creationId xmlns:a16="http://schemas.microsoft.com/office/drawing/2014/main" id="{849F57BB-836D-6B09-0513-C99CC919702C}"/>
              </a:ext>
            </a:extLst>
          </p:cNvPr>
          <p:cNvSpPr/>
          <p:nvPr/>
        </p:nvSpPr>
        <p:spPr>
          <a:xfrm rot="19751202">
            <a:off x="1411718" y="2995913"/>
            <a:ext cx="815107" cy="2042040"/>
          </a:xfrm>
          <a:custGeom>
            <a:avLst/>
            <a:gdLst>
              <a:gd name="connsiteX0" fmla="*/ 230010 w 815107"/>
              <a:gd name="connsiteY0" fmla="*/ 1940065 h 2042040"/>
              <a:gd name="connsiteX1" fmla="*/ 2253 w 815107"/>
              <a:gd name="connsiteY1" fmla="*/ 1128246 h 2042040"/>
              <a:gd name="connsiteX2" fmla="*/ 38167 w 815107"/>
              <a:gd name="connsiteY2" fmla="*/ 589611 h 2042040"/>
              <a:gd name="connsiteX3" fmla="*/ 407554 w 815107"/>
              <a:gd name="connsiteY3" fmla="*/ 1021020 h 2042040"/>
              <a:gd name="connsiteX4" fmla="*/ 230010 w 815107"/>
              <a:gd name="connsiteY4" fmla="*/ 1940065 h 2042040"/>
              <a:gd name="connsiteX0" fmla="*/ 230010 w 815107"/>
              <a:gd name="connsiteY0" fmla="*/ 1940065 h 2042040"/>
              <a:gd name="connsiteX1" fmla="*/ 2253 w 815107"/>
              <a:gd name="connsiteY1" fmla="*/ 1128246 h 2042040"/>
              <a:gd name="connsiteX2" fmla="*/ 38167 w 815107"/>
              <a:gd name="connsiteY2" fmla="*/ 589611 h 2042040"/>
            </a:gdLst>
            <a:ahLst/>
            <a:cxnLst>
              <a:cxn ang="0">
                <a:pos x="connsiteX0" y="connsiteY0"/>
              </a:cxn>
              <a:cxn ang="0">
                <a:pos x="connsiteX1" y="connsiteY1"/>
              </a:cxn>
              <a:cxn ang="0">
                <a:pos x="connsiteX2" y="connsiteY2"/>
              </a:cxn>
            </a:cxnLst>
            <a:rect l="l" t="t" r="r" b="b"/>
            <a:pathLst>
              <a:path w="815107" h="2042040" stroke="0" extrusionOk="0">
                <a:moveTo>
                  <a:pt x="230010" y="1940065"/>
                </a:moveTo>
                <a:cubicBezTo>
                  <a:pt x="101548" y="1813381"/>
                  <a:pt x="38460" y="1499737"/>
                  <a:pt x="2253" y="1128246"/>
                </a:cubicBezTo>
                <a:cubicBezTo>
                  <a:pt x="-5321" y="938621"/>
                  <a:pt x="9512" y="764461"/>
                  <a:pt x="38167" y="589611"/>
                </a:cubicBezTo>
                <a:cubicBezTo>
                  <a:pt x="145153" y="660462"/>
                  <a:pt x="308599" y="951202"/>
                  <a:pt x="407554" y="1021020"/>
                </a:cubicBezTo>
                <a:cubicBezTo>
                  <a:pt x="413979" y="1299181"/>
                  <a:pt x="291615" y="1651877"/>
                  <a:pt x="230010" y="1940065"/>
                </a:cubicBezTo>
                <a:close/>
              </a:path>
              <a:path w="815107" h="2042040" fill="none" extrusionOk="0">
                <a:moveTo>
                  <a:pt x="230010" y="1940065"/>
                </a:moveTo>
                <a:cubicBezTo>
                  <a:pt x="111208" y="1771221"/>
                  <a:pt x="39041" y="1495434"/>
                  <a:pt x="2253" y="1128246"/>
                </a:cubicBezTo>
                <a:cubicBezTo>
                  <a:pt x="-3491" y="948327"/>
                  <a:pt x="-2364" y="771270"/>
                  <a:pt x="38167" y="589611"/>
                </a:cubicBezTo>
              </a:path>
            </a:pathLst>
          </a:custGeom>
          <a:noFill/>
          <a:ln w="38100">
            <a:solidFill>
              <a:schemeClr val="accent3"/>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BE"/>
          </a:p>
        </p:txBody>
      </p:sp>
      <p:sp>
        <p:nvSpPr>
          <p:cNvPr id="26" name="TextBox 25">
            <a:extLst>
              <a:ext uri="{FF2B5EF4-FFF2-40B4-BE49-F238E27FC236}">
                <a16:creationId xmlns:a16="http://schemas.microsoft.com/office/drawing/2014/main" id="{446DD11E-6A35-8161-5205-676BE2A3E086}"/>
              </a:ext>
            </a:extLst>
          </p:cNvPr>
          <p:cNvSpPr txBox="1"/>
          <p:nvPr/>
        </p:nvSpPr>
        <p:spPr>
          <a:xfrm>
            <a:off x="2096312" y="4759642"/>
            <a:ext cx="5094198" cy="1225272"/>
          </a:xfrm>
          <a:prstGeom prst="rect">
            <a:avLst/>
          </a:prstGeom>
          <a:noFill/>
        </p:spPr>
        <p:txBody>
          <a:bodyPr wrap="square" rtlCol="0">
            <a:spAutoFit/>
          </a:bodyPr>
          <a:lstStyle/>
          <a:p>
            <a:pPr>
              <a:lnSpc>
                <a:spcPct val="75000"/>
              </a:lnSpc>
            </a:pPr>
            <a:r>
              <a:rPr lang="en-BE" sz="3200" b="1" dirty="0">
                <a:solidFill>
                  <a:schemeClr val="accent3"/>
                </a:solidFill>
                <a:latin typeface="Caveat" pitchFamily="2" charset="77"/>
              </a:rPr>
              <a:t>Focus of our research: controllers, based on reinforcement learning, to exploit energy flexibility</a:t>
            </a:r>
          </a:p>
        </p:txBody>
      </p:sp>
      <p:sp>
        <p:nvSpPr>
          <p:cNvPr id="5" name="Slide Number Placeholder 4">
            <a:extLst>
              <a:ext uri="{FF2B5EF4-FFF2-40B4-BE49-F238E27FC236}">
                <a16:creationId xmlns:a16="http://schemas.microsoft.com/office/drawing/2014/main" id="{7AD21EFC-B686-2D0A-93F6-66D82FC2FB02}"/>
              </a:ext>
            </a:extLst>
          </p:cNvPr>
          <p:cNvSpPr>
            <a:spLocks noGrp="1"/>
          </p:cNvSpPr>
          <p:nvPr>
            <p:ph type="sldNum" sz="quarter" idx="11"/>
          </p:nvPr>
        </p:nvSpPr>
        <p:spPr/>
        <p:txBody>
          <a:bodyPr/>
          <a:lstStyle/>
          <a:p>
            <a:pPr>
              <a:defRPr/>
            </a:pPr>
            <a:fld id="{4908A2AA-746C-4DBB-9102-670E2680A299}" type="slidenum">
              <a:rPr lang="en-US" smtClean="0"/>
              <a:pPr>
                <a:defRPr/>
              </a:pPr>
              <a:t>36</a:t>
            </a:fld>
            <a:endParaRPr lang="en-US"/>
          </a:p>
        </p:txBody>
      </p:sp>
    </p:spTree>
    <p:extLst>
      <p:ext uri="{BB962C8B-B14F-4D97-AF65-F5344CB8AC3E}">
        <p14:creationId xmlns:p14="http://schemas.microsoft.com/office/powerpoint/2010/main" val="4140768259"/>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40976BA-C754-4898-FED7-4D8DB1239279}"/>
              </a:ext>
            </a:extLst>
          </p:cNvPr>
          <p:cNvSpPr>
            <a:spLocks noGrp="1"/>
          </p:cNvSpPr>
          <p:nvPr>
            <p:ph type="title"/>
          </p:nvPr>
        </p:nvSpPr>
        <p:spPr/>
        <p:txBody>
          <a:bodyPr/>
          <a:lstStyle/>
          <a:p>
            <a:r>
              <a:rPr lang="en-BE" dirty="0"/>
              <a:t>HomeLabGym</a:t>
            </a:r>
          </a:p>
        </p:txBody>
      </p:sp>
      <p:sp>
        <p:nvSpPr>
          <p:cNvPr id="4" name="Footer Placeholder 3">
            <a:extLst>
              <a:ext uri="{FF2B5EF4-FFF2-40B4-BE49-F238E27FC236}">
                <a16:creationId xmlns:a16="http://schemas.microsoft.com/office/drawing/2014/main" id="{C115EB78-28A3-2BF0-B2E3-B8240F415AD3}"/>
              </a:ext>
            </a:extLst>
          </p:cNvPr>
          <p:cNvSpPr>
            <a:spLocks noGrp="1"/>
          </p:cNvSpPr>
          <p:nvPr>
            <p:ph type="ftr" sz="quarter" idx="10"/>
          </p:nvPr>
        </p:nvSpPr>
        <p:spPr/>
        <p:txBody>
          <a:bodyPr/>
          <a:lstStyle/>
          <a:p>
            <a:pPr>
              <a:defRPr/>
            </a:pPr>
            <a:r>
              <a:rPr lang="en-US"/>
              <a:t>C. Develder, "AI4E: Data-efficient and scalable algorithmss to exploit energy flexibility"</a:t>
            </a:r>
            <a:endParaRPr lang="en-US" dirty="0"/>
          </a:p>
        </p:txBody>
      </p:sp>
      <p:sp>
        <p:nvSpPr>
          <p:cNvPr id="3" name="Cloud 2">
            <a:extLst>
              <a:ext uri="{FF2B5EF4-FFF2-40B4-BE49-F238E27FC236}">
                <a16:creationId xmlns:a16="http://schemas.microsoft.com/office/drawing/2014/main" id="{2FF8FA74-1B64-940D-5969-E82944C1A796}"/>
              </a:ext>
            </a:extLst>
          </p:cNvPr>
          <p:cNvSpPr/>
          <p:nvPr/>
        </p:nvSpPr>
        <p:spPr>
          <a:xfrm>
            <a:off x="3300456" y="1582516"/>
            <a:ext cx="3978036" cy="3043764"/>
          </a:xfrm>
          <a:prstGeom prst="cloud">
            <a:avLst/>
          </a:prstGeom>
          <a:solidFill>
            <a:schemeClr val="bg1"/>
          </a:solidFill>
          <a:ln>
            <a:solidFill>
              <a:schemeClr val="bg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BE"/>
          </a:p>
        </p:txBody>
      </p:sp>
      <p:sp>
        <p:nvSpPr>
          <p:cNvPr id="12" name="Tekstvak 10">
            <a:extLst>
              <a:ext uri="{FF2B5EF4-FFF2-40B4-BE49-F238E27FC236}">
                <a16:creationId xmlns:a16="http://schemas.microsoft.com/office/drawing/2014/main" id="{75CC47AF-1671-1451-9F8A-30460BB892A2}"/>
              </a:ext>
            </a:extLst>
          </p:cNvPr>
          <p:cNvSpPr txBox="1"/>
          <p:nvPr/>
        </p:nvSpPr>
        <p:spPr>
          <a:xfrm>
            <a:off x="3938342" y="2017021"/>
            <a:ext cx="3347196" cy="2246769"/>
          </a:xfrm>
          <a:prstGeom prst="rect">
            <a:avLst/>
          </a:prstGeom>
          <a:noFill/>
        </p:spPr>
        <p:txBody>
          <a:bodyPr wrap="square" rtlCol="0">
            <a:spAutoFit/>
          </a:bodyPr>
          <a:lstStyle/>
          <a:p>
            <a:r>
              <a:rPr lang="en-US" sz="2000" dirty="0">
                <a:latin typeface="+mn-lt"/>
              </a:rPr>
              <a:t>Wishlist:</a:t>
            </a:r>
          </a:p>
          <a:p>
            <a:pPr marL="227013" indent="-227013">
              <a:buFont typeface="Wingdings" pitchFamily="2" charset="2"/>
              <a:buChar char="§"/>
            </a:pPr>
            <a:r>
              <a:rPr lang="en-US" sz="2000" dirty="0">
                <a:latin typeface="+mn-lt"/>
              </a:rPr>
              <a:t>Standardized approach</a:t>
            </a:r>
          </a:p>
          <a:p>
            <a:pPr marL="227013" indent="-227013">
              <a:buFont typeface="Wingdings" pitchFamily="2" charset="2"/>
              <a:buChar char="§"/>
            </a:pPr>
            <a:r>
              <a:rPr lang="en-US" sz="2000" dirty="0">
                <a:latin typeface="+mn-lt"/>
              </a:rPr>
              <a:t>Plug-and-play</a:t>
            </a:r>
          </a:p>
          <a:p>
            <a:pPr marL="227013" indent="-227013">
              <a:buFont typeface="Wingdings" pitchFamily="2" charset="2"/>
              <a:buChar char="§"/>
            </a:pPr>
            <a:r>
              <a:rPr lang="en-US" sz="2000" dirty="0">
                <a:latin typeface="+mn-lt"/>
              </a:rPr>
              <a:t>Extensible solution</a:t>
            </a:r>
          </a:p>
          <a:p>
            <a:pPr marL="227013" indent="-227013">
              <a:buFont typeface="Wingdings" pitchFamily="2" charset="2"/>
              <a:buChar char="§"/>
            </a:pPr>
            <a:r>
              <a:rPr lang="en-US" sz="2000" dirty="0">
                <a:latin typeface="+mn-lt"/>
              </a:rPr>
              <a:t>Broad range of</a:t>
            </a:r>
            <a:br>
              <a:rPr lang="en-US" sz="2000" dirty="0">
                <a:latin typeface="+mn-lt"/>
              </a:rPr>
            </a:br>
            <a:r>
              <a:rPr lang="en-US" sz="2000" dirty="0">
                <a:latin typeface="+mn-lt"/>
              </a:rPr>
              <a:t>communication protocols </a:t>
            </a:r>
          </a:p>
          <a:p>
            <a:pPr marL="227013" indent="-227013">
              <a:buFont typeface="Wingdings" pitchFamily="2" charset="2"/>
              <a:buChar char="§"/>
            </a:pPr>
            <a:r>
              <a:rPr lang="en-US" sz="2000" dirty="0">
                <a:latin typeface="+mn-lt"/>
              </a:rPr>
              <a:t>. . .</a:t>
            </a:r>
          </a:p>
        </p:txBody>
      </p:sp>
      <p:pic>
        <p:nvPicPr>
          <p:cNvPr id="13" name="Afbeelding 4">
            <a:extLst>
              <a:ext uri="{FF2B5EF4-FFF2-40B4-BE49-F238E27FC236}">
                <a16:creationId xmlns:a16="http://schemas.microsoft.com/office/drawing/2014/main" id="{887E125D-CE6C-35E8-9AB5-EDF20857F468}"/>
              </a:ext>
            </a:extLst>
          </p:cNvPr>
          <p:cNvPicPr>
            <a:picLocks noChangeAspect="1"/>
          </p:cNvPicPr>
          <p:nvPr/>
        </p:nvPicPr>
        <p:blipFill>
          <a:blip r:embed="rId2"/>
          <a:stretch>
            <a:fillRect/>
          </a:stretch>
        </p:blipFill>
        <p:spPr>
          <a:xfrm>
            <a:off x="7610201" y="2124068"/>
            <a:ext cx="3870442" cy="2349225"/>
          </a:xfrm>
          <a:prstGeom prst="rect">
            <a:avLst/>
          </a:prstGeom>
        </p:spPr>
      </p:pic>
      <p:sp>
        <p:nvSpPr>
          <p:cNvPr id="14" name="Trapezium 13">
            <a:extLst>
              <a:ext uri="{FF2B5EF4-FFF2-40B4-BE49-F238E27FC236}">
                <a16:creationId xmlns:a16="http://schemas.microsoft.com/office/drawing/2014/main" id="{1E4FA15C-4739-5A2A-FAB5-DD63B3F64A88}"/>
              </a:ext>
            </a:extLst>
          </p:cNvPr>
          <p:cNvSpPr/>
          <p:nvPr/>
        </p:nvSpPr>
        <p:spPr>
          <a:xfrm rot="5400000">
            <a:off x="8042067" y="2910164"/>
            <a:ext cx="1724300" cy="693891"/>
          </a:xfrm>
          <a:prstGeom prst="trapezoid">
            <a:avLst>
              <a:gd name="adj" fmla="val 28056"/>
            </a:avLst>
          </a:prstGeom>
          <a:gradFill flip="none" rotWithShape="1">
            <a:gsLst>
              <a:gs pos="0">
                <a:schemeClr val="accent2">
                  <a:lumMod val="60000"/>
                  <a:lumOff val="40000"/>
                  <a:tint val="66000"/>
                  <a:satMod val="160000"/>
                </a:schemeClr>
              </a:gs>
              <a:gs pos="50000">
                <a:schemeClr val="accent2">
                  <a:lumMod val="60000"/>
                  <a:lumOff val="40000"/>
                  <a:tint val="44500"/>
                  <a:satMod val="160000"/>
                </a:schemeClr>
              </a:gs>
              <a:gs pos="100000">
                <a:schemeClr val="accent2">
                  <a:lumMod val="60000"/>
                  <a:lumOff val="40000"/>
                  <a:tint val="23500"/>
                  <a:satMod val="160000"/>
                </a:schemeClr>
              </a:gs>
            </a:gsLst>
            <a:lin ang="5400000" scaled="1"/>
            <a:tileRect/>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400" dirty="0"/>
          </a:p>
        </p:txBody>
      </p:sp>
      <p:sp>
        <p:nvSpPr>
          <p:cNvPr id="15" name="Rechthoek: afgeronde hoeken 6">
            <a:extLst>
              <a:ext uri="{FF2B5EF4-FFF2-40B4-BE49-F238E27FC236}">
                <a16:creationId xmlns:a16="http://schemas.microsoft.com/office/drawing/2014/main" id="{1AD9047E-2DDE-2AD9-F241-0F870A6E6D51}"/>
              </a:ext>
            </a:extLst>
          </p:cNvPr>
          <p:cNvSpPr/>
          <p:nvPr/>
        </p:nvSpPr>
        <p:spPr>
          <a:xfrm>
            <a:off x="643342" y="2792007"/>
            <a:ext cx="1250721" cy="909563"/>
          </a:xfrm>
          <a:prstGeom prst="roundRect">
            <a:avLst/>
          </a:prstGeom>
          <a:solidFill>
            <a:srgbClr val="EAB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2000" dirty="0">
                <a:solidFill>
                  <a:schemeClr val="tx1"/>
                </a:solidFill>
              </a:rPr>
              <a:t>Controller</a:t>
            </a:r>
          </a:p>
        </p:txBody>
      </p:sp>
      <p:grpSp>
        <p:nvGrpSpPr>
          <p:cNvPr id="16" name="Group 15">
            <a:extLst>
              <a:ext uri="{FF2B5EF4-FFF2-40B4-BE49-F238E27FC236}">
                <a16:creationId xmlns:a16="http://schemas.microsoft.com/office/drawing/2014/main" id="{A7E87224-1A54-4915-2A07-041CD1CAA470}"/>
              </a:ext>
            </a:extLst>
          </p:cNvPr>
          <p:cNvGrpSpPr/>
          <p:nvPr/>
        </p:nvGrpSpPr>
        <p:grpSpPr>
          <a:xfrm>
            <a:off x="1894062" y="3021209"/>
            <a:ext cx="812829" cy="412586"/>
            <a:chOff x="1931363" y="2771754"/>
            <a:chExt cx="1020305" cy="412586"/>
          </a:xfrm>
        </p:grpSpPr>
        <p:cxnSp>
          <p:nvCxnSpPr>
            <p:cNvPr id="17" name="Rechte verbindingslijn met pijl 8">
              <a:extLst>
                <a:ext uri="{FF2B5EF4-FFF2-40B4-BE49-F238E27FC236}">
                  <a16:creationId xmlns:a16="http://schemas.microsoft.com/office/drawing/2014/main" id="{C75FCA58-11D8-6F4B-2BDB-7EADC3587213}"/>
                </a:ext>
              </a:extLst>
            </p:cNvPr>
            <p:cNvCxnSpPr>
              <a:cxnSpLocks/>
            </p:cNvCxnSpPr>
            <p:nvPr/>
          </p:nvCxnSpPr>
          <p:spPr>
            <a:xfrm>
              <a:off x="1931363" y="2771754"/>
              <a:ext cx="1020304" cy="0"/>
            </a:xfrm>
            <a:prstGeom prst="straightConnector1">
              <a:avLst/>
            </a:prstGeom>
            <a:ln w="28575" cmpd="sng">
              <a:solidFill>
                <a:schemeClr val="accent2"/>
              </a:solidFill>
              <a:tailEnd type="triangle"/>
            </a:ln>
            <a:effectLst/>
          </p:spPr>
          <p:style>
            <a:lnRef idx="2">
              <a:schemeClr val="accent1"/>
            </a:lnRef>
            <a:fillRef idx="0">
              <a:schemeClr val="accent1"/>
            </a:fillRef>
            <a:effectRef idx="1">
              <a:schemeClr val="accent1"/>
            </a:effectRef>
            <a:fontRef idx="minor">
              <a:schemeClr val="tx1"/>
            </a:fontRef>
          </p:style>
        </p:cxnSp>
        <p:cxnSp>
          <p:nvCxnSpPr>
            <p:cNvPr id="18" name="Rechte verbindingslijn met pijl 9">
              <a:extLst>
                <a:ext uri="{FF2B5EF4-FFF2-40B4-BE49-F238E27FC236}">
                  <a16:creationId xmlns:a16="http://schemas.microsoft.com/office/drawing/2014/main" id="{AC6600F1-DD9D-C18A-E68D-AA4D8EDD642A}"/>
                </a:ext>
              </a:extLst>
            </p:cNvPr>
            <p:cNvCxnSpPr>
              <a:cxnSpLocks/>
            </p:cNvCxnSpPr>
            <p:nvPr/>
          </p:nvCxnSpPr>
          <p:spPr>
            <a:xfrm flipH="1">
              <a:off x="1931363" y="3184340"/>
              <a:ext cx="1020305" cy="0"/>
            </a:xfrm>
            <a:prstGeom prst="straightConnector1">
              <a:avLst/>
            </a:prstGeom>
            <a:ln w="28575" cmpd="sng">
              <a:solidFill>
                <a:schemeClr val="accent2"/>
              </a:solidFill>
              <a:tailEnd type="triangle"/>
            </a:ln>
            <a:effectLst/>
          </p:spPr>
          <p:style>
            <a:lnRef idx="2">
              <a:schemeClr val="accent1"/>
            </a:lnRef>
            <a:fillRef idx="0">
              <a:schemeClr val="accent1"/>
            </a:fillRef>
            <a:effectRef idx="1">
              <a:schemeClr val="accent1"/>
            </a:effectRef>
            <a:fontRef idx="minor">
              <a:schemeClr val="tx1"/>
            </a:fontRef>
          </p:style>
        </p:cxnSp>
      </p:grpSp>
      <p:sp>
        <p:nvSpPr>
          <p:cNvPr id="19" name="Tekstvak 12">
            <a:extLst>
              <a:ext uri="{FF2B5EF4-FFF2-40B4-BE49-F238E27FC236}">
                <a16:creationId xmlns:a16="http://schemas.microsoft.com/office/drawing/2014/main" id="{42122B80-944C-BE5D-5CBA-A366B047E520}"/>
              </a:ext>
            </a:extLst>
          </p:cNvPr>
          <p:cNvSpPr txBox="1"/>
          <p:nvPr/>
        </p:nvSpPr>
        <p:spPr>
          <a:xfrm>
            <a:off x="1966778" y="2612339"/>
            <a:ext cx="625491" cy="338554"/>
          </a:xfrm>
          <a:prstGeom prst="rect">
            <a:avLst/>
          </a:prstGeom>
          <a:noFill/>
        </p:spPr>
        <p:txBody>
          <a:bodyPr wrap="none" rtlCol="0">
            <a:spAutoFit/>
          </a:bodyPr>
          <a:lstStyle/>
          <a:p>
            <a:pPr algn="ctr"/>
            <a:r>
              <a:rPr lang="en-US" dirty="0">
                <a:latin typeface="+mn-lt"/>
              </a:rPr>
              <a:t>action</a:t>
            </a:r>
          </a:p>
        </p:txBody>
      </p:sp>
      <p:sp>
        <p:nvSpPr>
          <p:cNvPr id="21" name="Tekstvak 13">
            <a:extLst>
              <a:ext uri="{FF2B5EF4-FFF2-40B4-BE49-F238E27FC236}">
                <a16:creationId xmlns:a16="http://schemas.microsoft.com/office/drawing/2014/main" id="{D93A5542-844D-9D26-4425-91EA44C0481B}"/>
              </a:ext>
            </a:extLst>
          </p:cNvPr>
          <p:cNvSpPr txBox="1"/>
          <p:nvPr/>
        </p:nvSpPr>
        <p:spPr>
          <a:xfrm>
            <a:off x="1809683" y="3531846"/>
            <a:ext cx="939680" cy="584775"/>
          </a:xfrm>
          <a:prstGeom prst="rect">
            <a:avLst/>
          </a:prstGeom>
          <a:noFill/>
        </p:spPr>
        <p:txBody>
          <a:bodyPr wrap="none" rtlCol="0">
            <a:spAutoFit/>
          </a:bodyPr>
          <a:lstStyle/>
          <a:p>
            <a:pPr algn="ctr"/>
            <a:r>
              <a:rPr lang="en-US" dirty="0">
                <a:latin typeface="+mn-lt"/>
              </a:rPr>
              <a:t>next state,</a:t>
            </a:r>
          </a:p>
          <a:p>
            <a:pPr algn="ctr"/>
            <a:r>
              <a:rPr lang="en-US" dirty="0">
                <a:latin typeface="+mn-lt"/>
              </a:rPr>
              <a:t>reward</a:t>
            </a:r>
          </a:p>
        </p:txBody>
      </p:sp>
      <p:sp>
        <p:nvSpPr>
          <p:cNvPr id="5" name="Slide Number Placeholder 4">
            <a:extLst>
              <a:ext uri="{FF2B5EF4-FFF2-40B4-BE49-F238E27FC236}">
                <a16:creationId xmlns:a16="http://schemas.microsoft.com/office/drawing/2014/main" id="{009EE8DF-83DE-B18F-4657-14C118153B61}"/>
              </a:ext>
            </a:extLst>
          </p:cNvPr>
          <p:cNvSpPr>
            <a:spLocks noGrp="1"/>
          </p:cNvSpPr>
          <p:nvPr>
            <p:ph type="sldNum" sz="quarter" idx="11"/>
          </p:nvPr>
        </p:nvSpPr>
        <p:spPr/>
        <p:txBody>
          <a:bodyPr/>
          <a:lstStyle/>
          <a:p>
            <a:pPr>
              <a:defRPr/>
            </a:pPr>
            <a:fld id="{4908A2AA-746C-4DBB-9102-670E2680A299}" type="slidenum">
              <a:rPr lang="en-US" smtClean="0"/>
              <a:pPr>
                <a:defRPr/>
              </a:pPr>
              <a:t>37</a:t>
            </a:fld>
            <a:endParaRPr lang="en-US"/>
          </a:p>
        </p:txBody>
      </p:sp>
    </p:spTree>
    <p:extLst>
      <p:ext uri="{BB962C8B-B14F-4D97-AF65-F5344CB8AC3E}">
        <p14:creationId xmlns:p14="http://schemas.microsoft.com/office/powerpoint/2010/main" val="5051053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0" name="Group 29">
            <a:extLst>
              <a:ext uri="{FF2B5EF4-FFF2-40B4-BE49-F238E27FC236}">
                <a16:creationId xmlns:a16="http://schemas.microsoft.com/office/drawing/2014/main" id="{4094049D-6068-4A89-B553-4274F1D2633F}"/>
              </a:ext>
            </a:extLst>
          </p:cNvPr>
          <p:cNvGrpSpPr/>
          <p:nvPr/>
        </p:nvGrpSpPr>
        <p:grpSpPr>
          <a:xfrm>
            <a:off x="2770216" y="2641233"/>
            <a:ext cx="1441561" cy="1047542"/>
            <a:chOff x="2770216" y="2381458"/>
            <a:chExt cx="1441561" cy="1047542"/>
          </a:xfrm>
        </p:grpSpPr>
        <p:sp>
          <p:nvSpPr>
            <p:cNvPr id="28" name="Rectangle 27">
              <a:extLst>
                <a:ext uri="{FF2B5EF4-FFF2-40B4-BE49-F238E27FC236}">
                  <a16:creationId xmlns:a16="http://schemas.microsoft.com/office/drawing/2014/main" id="{236BFE4B-74A5-5D21-A7B3-5202F09F8C12}"/>
                </a:ext>
              </a:extLst>
            </p:cNvPr>
            <p:cNvSpPr/>
            <p:nvPr/>
          </p:nvSpPr>
          <p:spPr>
            <a:xfrm>
              <a:off x="2770216" y="2542552"/>
              <a:ext cx="1441561" cy="886448"/>
            </a:xfrm>
            <a:prstGeom prst="rect">
              <a:avLst/>
            </a:prstGeom>
            <a:solidFill>
              <a:srgbClr val="EAB3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BE" sz="2000" dirty="0">
                  <a:solidFill>
                    <a:schemeClr val="tx1"/>
                  </a:solidFill>
                  <a:latin typeface="UGent Panno Text" panose="02000506040000040003" pitchFamily="2" charset="0"/>
                </a:rPr>
                <a:t>HomeLabGym</a:t>
              </a:r>
            </a:p>
          </p:txBody>
        </p:sp>
        <p:sp>
          <p:nvSpPr>
            <p:cNvPr id="29" name="Rectangle 28">
              <a:extLst>
                <a:ext uri="{FF2B5EF4-FFF2-40B4-BE49-F238E27FC236}">
                  <a16:creationId xmlns:a16="http://schemas.microsoft.com/office/drawing/2014/main" id="{89CD5D9D-0F54-0662-7D53-BE7FBB79B849}"/>
                </a:ext>
              </a:extLst>
            </p:cNvPr>
            <p:cNvSpPr/>
            <p:nvPr/>
          </p:nvSpPr>
          <p:spPr>
            <a:xfrm>
              <a:off x="2774755" y="2381458"/>
              <a:ext cx="583497" cy="163597"/>
            </a:xfrm>
            <a:prstGeom prst="rect">
              <a:avLst/>
            </a:prstGeom>
            <a:solidFill>
              <a:srgbClr val="EAB3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BE"/>
            </a:p>
          </p:txBody>
        </p:sp>
      </p:grpSp>
      <p:sp>
        <p:nvSpPr>
          <p:cNvPr id="2" name="Title 1">
            <a:extLst>
              <a:ext uri="{FF2B5EF4-FFF2-40B4-BE49-F238E27FC236}">
                <a16:creationId xmlns:a16="http://schemas.microsoft.com/office/drawing/2014/main" id="{540976BA-C754-4898-FED7-4D8DB1239279}"/>
              </a:ext>
            </a:extLst>
          </p:cNvPr>
          <p:cNvSpPr>
            <a:spLocks noGrp="1"/>
          </p:cNvSpPr>
          <p:nvPr>
            <p:ph type="title"/>
          </p:nvPr>
        </p:nvSpPr>
        <p:spPr/>
        <p:txBody>
          <a:bodyPr/>
          <a:lstStyle/>
          <a:p>
            <a:r>
              <a:rPr lang="en-BE" dirty="0"/>
              <a:t>HomeLabGym</a:t>
            </a:r>
          </a:p>
        </p:txBody>
      </p:sp>
      <p:sp>
        <p:nvSpPr>
          <p:cNvPr id="4" name="Footer Placeholder 3">
            <a:extLst>
              <a:ext uri="{FF2B5EF4-FFF2-40B4-BE49-F238E27FC236}">
                <a16:creationId xmlns:a16="http://schemas.microsoft.com/office/drawing/2014/main" id="{C115EB78-28A3-2BF0-B2E3-B8240F415AD3}"/>
              </a:ext>
            </a:extLst>
          </p:cNvPr>
          <p:cNvSpPr>
            <a:spLocks noGrp="1"/>
          </p:cNvSpPr>
          <p:nvPr>
            <p:ph type="ftr" sz="quarter" idx="10"/>
          </p:nvPr>
        </p:nvSpPr>
        <p:spPr/>
        <p:txBody>
          <a:bodyPr/>
          <a:lstStyle/>
          <a:p>
            <a:pPr>
              <a:defRPr/>
            </a:pPr>
            <a:r>
              <a:rPr lang="en-US"/>
              <a:t>C. Develder, "AI4E: Data-efficient and scalable algorithmss to exploit energy flexibility"</a:t>
            </a:r>
            <a:endParaRPr lang="en-US" dirty="0"/>
          </a:p>
        </p:txBody>
      </p:sp>
      <p:pic>
        <p:nvPicPr>
          <p:cNvPr id="5" name="Afbeelding 4">
            <a:extLst>
              <a:ext uri="{FF2B5EF4-FFF2-40B4-BE49-F238E27FC236}">
                <a16:creationId xmlns:a16="http://schemas.microsoft.com/office/drawing/2014/main" id="{FFA72E75-D582-E907-FBA7-61CE774C7CDA}"/>
              </a:ext>
            </a:extLst>
          </p:cNvPr>
          <p:cNvPicPr>
            <a:picLocks noChangeAspect="1"/>
          </p:cNvPicPr>
          <p:nvPr/>
        </p:nvPicPr>
        <p:blipFill>
          <a:blip r:embed="rId3"/>
          <a:stretch>
            <a:fillRect/>
          </a:stretch>
        </p:blipFill>
        <p:spPr>
          <a:xfrm>
            <a:off x="7610201" y="2124068"/>
            <a:ext cx="3870442" cy="2349225"/>
          </a:xfrm>
          <a:prstGeom prst="rect">
            <a:avLst/>
          </a:prstGeom>
        </p:spPr>
      </p:pic>
      <p:sp>
        <p:nvSpPr>
          <p:cNvPr id="6" name="Trapezium 5">
            <a:extLst>
              <a:ext uri="{FF2B5EF4-FFF2-40B4-BE49-F238E27FC236}">
                <a16:creationId xmlns:a16="http://schemas.microsoft.com/office/drawing/2014/main" id="{929A4754-5EAE-12D8-25EC-BD1ABC5BACB5}"/>
              </a:ext>
            </a:extLst>
          </p:cNvPr>
          <p:cNvSpPr/>
          <p:nvPr/>
        </p:nvSpPr>
        <p:spPr>
          <a:xfrm rot="5400000">
            <a:off x="8042067" y="2910164"/>
            <a:ext cx="1724300" cy="693891"/>
          </a:xfrm>
          <a:prstGeom prst="trapezoid">
            <a:avLst>
              <a:gd name="adj" fmla="val 28056"/>
            </a:avLst>
          </a:prstGeom>
          <a:gradFill flip="none" rotWithShape="1">
            <a:gsLst>
              <a:gs pos="0">
                <a:schemeClr val="accent2">
                  <a:lumMod val="60000"/>
                  <a:lumOff val="40000"/>
                  <a:tint val="66000"/>
                  <a:satMod val="160000"/>
                </a:schemeClr>
              </a:gs>
              <a:gs pos="50000">
                <a:schemeClr val="accent2">
                  <a:lumMod val="60000"/>
                  <a:lumOff val="40000"/>
                  <a:tint val="44500"/>
                  <a:satMod val="160000"/>
                </a:schemeClr>
              </a:gs>
              <a:gs pos="100000">
                <a:schemeClr val="accent2">
                  <a:lumMod val="60000"/>
                  <a:lumOff val="40000"/>
                  <a:tint val="23500"/>
                  <a:satMod val="160000"/>
                </a:schemeClr>
              </a:gs>
            </a:gsLst>
            <a:lin ang="5400000" scaled="1"/>
            <a:tileRect/>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400" dirty="0"/>
          </a:p>
        </p:txBody>
      </p:sp>
      <p:sp>
        <p:nvSpPr>
          <p:cNvPr id="3" name="Trapezium 2">
            <a:extLst>
              <a:ext uri="{FF2B5EF4-FFF2-40B4-BE49-F238E27FC236}">
                <a16:creationId xmlns:a16="http://schemas.microsoft.com/office/drawing/2014/main" id="{F7BF410B-8843-4915-B71F-1EAE7CB526B3}"/>
              </a:ext>
            </a:extLst>
          </p:cNvPr>
          <p:cNvSpPr/>
          <p:nvPr/>
        </p:nvSpPr>
        <p:spPr>
          <a:xfrm rot="16200000">
            <a:off x="3589292" y="2958354"/>
            <a:ext cx="1915703" cy="670733"/>
          </a:xfrm>
          <a:prstGeom prst="trapezoid">
            <a:avLst>
              <a:gd name="adj" fmla="val 80505"/>
            </a:avLst>
          </a:prstGeom>
          <a:gradFill flip="none" rotWithShape="1">
            <a:gsLst>
              <a:gs pos="0">
                <a:srgbClr val="EAB200">
                  <a:tint val="66000"/>
                  <a:satMod val="160000"/>
                </a:srgbClr>
              </a:gs>
              <a:gs pos="50000">
                <a:srgbClr val="EAB200">
                  <a:tint val="44500"/>
                  <a:satMod val="160000"/>
                </a:srgbClr>
              </a:gs>
              <a:gs pos="100000">
                <a:srgbClr val="EAB200">
                  <a:tint val="23500"/>
                  <a:satMod val="160000"/>
                </a:srgbClr>
              </a:gs>
            </a:gsLst>
            <a:lin ang="5400000" scaled="1"/>
            <a:tileRect/>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400" dirty="0"/>
          </a:p>
        </p:txBody>
      </p:sp>
      <p:sp>
        <p:nvSpPr>
          <p:cNvPr id="14" name="Rechthoek: afgeronde hoeken 21">
            <a:extLst>
              <a:ext uri="{FF2B5EF4-FFF2-40B4-BE49-F238E27FC236}">
                <a16:creationId xmlns:a16="http://schemas.microsoft.com/office/drawing/2014/main" id="{D49746CE-828D-84AE-4B6C-58E5D25168D3}"/>
              </a:ext>
            </a:extLst>
          </p:cNvPr>
          <p:cNvSpPr/>
          <p:nvPr/>
        </p:nvSpPr>
        <p:spPr>
          <a:xfrm>
            <a:off x="4867787" y="2335868"/>
            <a:ext cx="1077721" cy="406400"/>
          </a:xfrm>
          <a:prstGeom prst="roundRect">
            <a:avLst/>
          </a:prstGeom>
          <a:solidFill>
            <a:srgbClr val="EAB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1400" dirty="0">
                <a:solidFill>
                  <a:schemeClr val="tx1"/>
                </a:solidFill>
              </a:rPr>
              <a:t>PV</a:t>
            </a:r>
          </a:p>
        </p:txBody>
      </p:sp>
      <p:sp>
        <p:nvSpPr>
          <p:cNvPr id="16" name="Rechthoek: afgeronde hoeken 22">
            <a:extLst>
              <a:ext uri="{FF2B5EF4-FFF2-40B4-BE49-F238E27FC236}">
                <a16:creationId xmlns:a16="http://schemas.microsoft.com/office/drawing/2014/main" id="{872DC1C7-96E7-CA2A-ADB9-6621BC2840C6}"/>
              </a:ext>
            </a:extLst>
          </p:cNvPr>
          <p:cNvSpPr/>
          <p:nvPr/>
        </p:nvSpPr>
        <p:spPr>
          <a:xfrm>
            <a:off x="4867787" y="2838970"/>
            <a:ext cx="1089035" cy="406400"/>
          </a:xfrm>
          <a:prstGeom prst="roundRect">
            <a:avLst/>
          </a:prstGeom>
          <a:solidFill>
            <a:srgbClr val="EAB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1400" dirty="0">
                <a:solidFill>
                  <a:schemeClr val="tx1"/>
                </a:solidFill>
              </a:rPr>
              <a:t>Battery</a:t>
            </a:r>
          </a:p>
        </p:txBody>
      </p:sp>
      <p:sp>
        <p:nvSpPr>
          <p:cNvPr id="17" name="Rechthoek: afgeronde hoeken 23">
            <a:extLst>
              <a:ext uri="{FF2B5EF4-FFF2-40B4-BE49-F238E27FC236}">
                <a16:creationId xmlns:a16="http://schemas.microsoft.com/office/drawing/2014/main" id="{BE36D855-635D-1990-30A6-4E771B05211D}"/>
              </a:ext>
            </a:extLst>
          </p:cNvPr>
          <p:cNvSpPr/>
          <p:nvPr/>
        </p:nvSpPr>
        <p:spPr>
          <a:xfrm>
            <a:off x="4867787" y="3342072"/>
            <a:ext cx="1089036" cy="406400"/>
          </a:xfrm>
          <a:prstGeom prst="roundRect">
            <a:avLst/>
          </a:prstGeom>
          <a:solidFill>
            <a:srgbClr val="EAB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1400" dirty="0">
                <a:solidFill>
                  <a:schemeClr val="tx1"/>
                </a:solidFill>
              </a:rPr>
              <a:t>Heat Pump</a:t>
            </a:r>
          </a:p>
        </p:txBody>
      </p:sp>
      <p:sp>
        <p:nvSpPr>
          <p:cNvPr id="21" name="Tekstvak 25">
            <a:extLst>
              <a:ext uri="{FF2B5EF4-FFF2-40B4-BE49-F238E27FC236}">
                <a16:creationId xmlns:a16="http://schemas.microsoft.com/office/drawing/2014/main" id="{CA068A1E-237A-86B7-AB97-691BEDF024CA}"/>
              </a:ext>
            </a:extLst>
          </p:cNvPr>
          <p:cNvSpPr txBox="1"/>
          <p:nvPr/>
        </p:nvSpPr>
        <p:spPr>
          <a:xfrm>
            <a:off x="6133592" y="2600653"/>
            <a:ext cx="1511428" cy="1569660"/>
          </a:xfrm>
          <a:prstGeom prst="rect">
            <a:avLst/>
          </a:prstGeom>
          <a:noFill/>
        </p:spPr>
        <p:txBody>
          <a:bodyPr wrap="square" rtlCol="0">
            <a:spAutoFit/>
          </a:bodyPr>
          <a:lstStyle/>
          <a:p>
            <a:pPr algn="ctr"/>
            <a:r>
              <a:rPr lang="en-US" dirty="0">
                <a:latin typeface="+mn-lt"/>
              </a:rPr>
              <a:t>Modbus, API, TCP/IP</a:t>
            </a:r>
          </a:p>
          <a:p>
            <a:pPr algn="ctr"/>
            <a:endParaRPr lang="en-US" dirty="0">
              <a:latin typeface="+mn-lt"/>
            </a:endParaRPr>
          </a:p>
          <a:p>
            <a:pPr algn="ctr"/>
            <a:endParaRPr lang="en-US" dirty="0">
              <a:latin typeface="+mn-lt"/>
            </a:endParaRPr>
          </a:p>
          <a:p>
            <a:pPr algn="ctr"/>
            <a:r>
              <a:rPr lang="en-US" dirty="0">
                <a:latin typeface="+mn-lt"/>
              </a:rPr>
              <a:t>Docker,</a:t>
            </a:r>
            <a:br>
              <a:rPr lang="en-US" dirty="0">
                <a:latin typeface="+mn-lt"/>
              </a:rPr>
            </a:br>
            <a:r>
              <a:rPr lang="en-US" dirty="0">
                <a:latin typeface="+mn-lt"/>
              </a:rPr>
              <a:t>Grafana</a:t>
            </a:r>
          </a:p>
        </p:txBody>
      </p:sp>
      <p:sp>
        <p:nvSpPr>
          <p:cNvPr id="22" name="Left-right Arrow 21">
            <a:extLst>
              <a:ext uri="{FF2B5EF4-FFF2-40B4-BE49-F238E27FC236}">
                <a16:creationId xmlns:a16="http://schemas.microsoft.com/office/drawing/2014/main" id="{66DD9683-DBFB-75E3-894E-8D323053D904}"/>
              </a:ext>
            </a:extLst>
          </p:cNvPr>
          <p:cNvSpPr/>
          <p:nvPr/>
        </p:nvSpPr>
        <p:spPr>
          <a:xfrm>
            <a:off x="6162659" y="3220304"/>
            <a:ext cx="1537855" cy="285058"/>
          </a:xfrm>
          <a:prstGeom prst="leftRightArrow">
            <a:avLst/>
          </a:prstGeom>
          <a:ln/>
        </p:spPr>
        <p:style>
          <a:lnRef idx="2">
            <a:schemeClr val="dk1"/>
          </a:lnRef>
          <a:fillRef idx="1">
            <a:schemeClr val="lt1"/>
          </a:fillRef>
          <a:effectRef idx="0">
            <a:schemeClr val="dk1"/>
          </a:effectRef>
          <a:fontRef idx="minor">
            <a:schemeClr val="dk1"/>
          </a:fontRef>
        </p:style>
        <p:txBody>
          <a:bodyPr rtlCol="0" anchor="ctr"/>
          <a:lstStyle/>
          <a:p>
            <a:pPr algn="ctr"/>
            <a:endParaRPr lang="en-BE"/>
          </a:p>
        </p:txBody>
      </p:sp>
      <p:sp>
        <p:nvSpPr>
          <p:cNvPr id="19" name="Rechthoek: afgeronde hoeken 23">
            <a:extLst>
              <a:ext uri="{FF2B5EF4-FFF2-40B4-BE49-F238E27FC236}">
                <a16:creationId xmlns:a16="http://schemas.microsoft.com/office/drawing/2014/main" id="{55C87BE8-882B-B888-40FF-DED36B854E2F}"/>
              </a:ext>
            </a:extLst>
          </p:cNvPr>
          <p:cNvSpPr/>
          <p:nvPr/>
        </p:nvSpPr>
        <p:spPr>
          <a:xfrm>
            <a:off x="4867787" y="3845174"/>
            <a:ext cx="1089036" cy="406400"/>
          </a:xfrm>
          <a:prstGeom prst="roundRect">
            <a:avLst/>
          </a:prstGeom>
          <a:solidFill>
            <a:srgbClr val="EAB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1400" dirty="0">
                <a:solidFill>
                  <a:schemeClr val="tx1"/>
                </a:solidFill>
              </a:rPr>
              <a:t>. . .</a:t>
            </a:r>
          </a:p>
        </p:txBody>
      </p:sp>
      <p:pic>
        <p:nvPicPr>
          <p:cNvPr id="27" name="Picture 26">
            <a:extLst>
              <a:ext uri="{FF2B5EF4-FFF2-40B4-BE49-F238E27FC236}">
                <a16:creationId xmlns:a16="http://schemas.microsoft.com/office/drawing/2014/main" id="{32440B42-73B5-7D19-FB04-DF1D59131FC8}"/>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3805445" y="2473832"/>
            <a:ext cx="701675" cy="529552"/>
          </a:xfrm>
          <a:prstGeom prst="rect">
            <a:avLst/>
          </a:prstGeom>
        </p:spPr>
      </p:pic>
      <p:grpSp>
        <p:nvGrpSpPr>
          <p:cNvPr id="35" name="Group 34">
            <a:extLst>
              <a:ext uri="{FF2B5EF4-FFF2-40B4-BE49-F238E27FC236}">
                <a16:creationId xmlns:a16="http://schemas.microsoft.com/office/drawing/2014/main" id="{EEF85225-4AB7-FD93-ADE6-2CE863623140}"/>
              </a:ext>
            </a:extLst>
          </p:cNvPr>
          <p:cNvGrpSpPr/>
          <p:nvPr/>
        </p:nvGrpSpPr>
        <p:grpSpPr>
          <a:xfrm>
            <a:off x="2888673" y="4480875"/>
            <a:ext cx="4644736" cy="1496103"/>
            <a:chOff x="2888673" y="4480875"/>
            <a:chExt cx="4644736" cy="1496103"/>
          </a:xfrm>
        </p:grpSpPr>
        <p:pic>
          <p:nvPicPr>
            <p:cNvPr id="32" name="Picture 31">
              <a:extLst>
                <a:ext uri="{FF2B5EF4-FFF2-40B4-BE49-F238E27FC236}">
                  <a16:creationId xmlns:a16="http://schemas.microsoft.com/office/drawing/2014/main" id="{9E128D0C-9539-E531-CF85-B49260A5159B}"/>
                </a:ext>
              </a:extLst>
            </p:cNvPr>
            <p:cNvPicPr>
              <a:picLocks noChangeAspect="1"/>
            </p:cNvPicPr>
            <p:nvPr/>
          </p:nvPicPr>
          <p:blipFill>
            <a:blip r:embed="rId5">
              <a:clrChange>
                <a:clrFrom>
                  <a:srgbClr val="FFFFFF"/>
                </a:clrFrom>
                <a:clrTo>
                  <a:srgbClr val="FFFFFF">
                    <a:alpha val="0"/>
                  </a:srgbClr>
                </a:clrTo>
              </a:clrChange>
              <a:duotone>
                <a:schemeClr val="accent3">
                  <a:shade val="45000"/>
                  <a:satMod val="135000"/>
                </a:schemeClr>
                <a:prstClr val="white"/>
              </a:duotone>
              <a:extLst>
                <a:ext uri="{28A0092B-C50C-407E-A947-70E740481C1C}">
                  <a14:useLocalDpi xmlns:a14="http://schemas.microsoft.com/office/drawing/2010/main" val="0"/>
                </a:ext>
              </a:extLst>
            </a:blip>
            <a:stretch>
              <a:fillRect/>
            </a:stretch>
          </p:blipFill>
          <p:spPr>
            <a:xfrm>
              <a:off x="3258987" y="4480875"/>
              <a:ext cx="3904109" cy="1041281"/>
            </a:xfrm>
            <a:prstGeom prst="rect">
              <a:avLst/>
            </a:prstGeom>
          </p:spPr>
        </p:pic>
        <p:sp>
          <p:nvSpPr>
            <p:cNvPr id="33" name="Rectangular Callout 32">
              <a:extLst>
                <a:ext uri="{FF2B5EF4-FFF2-40B4-BE49-F238E27FC236}">
                  <a16:creationId xmlns:a16="http://schemas.microsoft.com/office/drawing/2014/main" id="{262E5BCC-1BED-A07F-1E5B-922FD834D3B8}"/>
                </a:ext>
              </a:extLst>
            </p:cNvPr>
            <p:cNvSpPr/>
            <p:nvPr/>
          </p:nvSpPr>
          <p:spPr>
            <a:xfrm>
              <a:off x="2888673" y="4533977"/>
              <a:ext cx="4644736" cy="1443001"/>
            </a:xfrm>
            <a:prstGeom prst="wedgeRectCallout">
              <a:avLst>
                <a:gd name="adj1" fmla="val -61325"/>
                <a:gd name="adj2" fmla="val -49113"/>
              </a:avLst>
            </a:prstGeom>
            <a:noFill/>
            <a:ln>
              <a:solidFill>
                <a:schemeClr val="accent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BE"/>
            </a:p>
          </p:txBody>
        </p:sp>
        <p:sp>
          <p:nvSpPr>
            <p:cNvPr id="34" name="TextBox 33">
              <a:extLst>
                <a:ext uri="{FF2B5EF4-FFF2-40B4-BE49-F238E27FC236}">
                  <a16:creationId xmlns:a16="http://schemas.microsoft.com/office/drawing/2014/main" id="{D2EC4582-D5BC-012F-E64A-855FB0962E9F}"/>
                </a:ext>
              </a:extLst>
            </p:cNvPr>
            <p:cNvSpPr txBox="1"/>
            <p:nvPr/>
          </p:nvSpPr>
          <p:spPr>
            <a:xfrm>
              <a:off x="3123061" y="5340629"/>
              <a:ext cx="4175961" cy="584775"/>
            </a:xfrm>
            <a:prstGeom prst="rect">
              <a:avLst/>
            </a:prstGeom>
            <a:noFill/>
          </p:spPr>
          <p:txBody>
            <a:bodyPr wrap="square" rtlCol="0">
              <a:spAutoFit/>
            </a:bodyPr>
            <a:lstStyle/>
            <a:p>
              <a:pPr algn="ctr"/>
              <a:r>
                <a:rPr lang="en-BE" dirty="0">
                  <a:solidFill>
                    <a:schemeClr val="accent3"/>
                  </a:solidFill>
                  <a:latin typeface="+mn-lt"/>
                </a:rPr>
                <a:t>Standardized interface, used for many RL benchmarks (cf. OpenAI gym environments)</a:t>
              </a:r>
            </a:p>
          </p:txBody>
        </p:sp>
      </p:grpSp>
      <p:sp>
        <p:nvSpPr>
          <p:cNvPr id="36" name="Rechthoek: afgeronde hoeken 6">
            <a:extLst>
              <a:ext uri="{FF2B5EF4-FFF2-40B4-BE49-F238E27FC236}">
                <a16:creationId xmlns:a16="http://schemas.microsoft.com/office/drawing/2014/main" id="{4C393362-AC36-051F-97C8-18B648F1AF13}"/>
              </a:ext>
            </a:extLst>
          </p:cNvPr>
          <p:cNvSpPr/>
          <p:nvPr/>
        </p:nvSpPr>
        <p:spPr>
          <a:xfrm>
            <a:off x="643342" y="2792007"/>
            <a:ext cx="1250721" cy="909563"/>
          </a:xfrm>
          <a:prstGeom prst="roundRect">
            <a:avLst/>
          </a:prstGeom>
          <a:solidFill>
            <a:srgbClr val="EAB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2000" dirty="0">
                <a:solidFill>
                  <a:schemeClr val="tx1"/>
                </a:solidFill>
              </a:rPr>
              <a:t>Controller</a:t>
            </a:r>
          </a:p>
        </p:txBody>
      </p:sp>
      <p:grpSp>
        <p:nvGrpSpPr>
          <p:cNvPr id="37" name="Group 36">
            <a:extLst>
              <a:ext uri="{FF2B5EF4-FFF2-40B4-BE49-F238E27FC236}">
                <a16:creationId xmlns:a16="http://schemas.microsoft.com/office/drawing/2014/main" id="{87C95F74-21CC-0EEA-2C85-A7E4D08545D6}"/>
              </a:ext>
            </a:extLst>
          </p:cNvPr>
          <p:cNvGrpSpPr/>
          <p:nvPr/>
        </p:nvGrpSpPr>
        <p:grpSpPr>
          <a:xfrm>
            <a:off x="1894062" y="3021209"/>
            <a:ext cx="812829" cy="412586"/>
            <a:chOff x="1931363" y="2771754"/>
            <a:chExt cx="1020305" cy="412586"/>
          </a:xfrm>
        </p:grpSpPr>
        <p:cxnSp>
          <p:nvCxnSpPr>
            <p:cNvPr id="38" name="Rechte verbindingslijn met pijl 8">
              <a:extLst>
                <a:ext uri="{FF2B5EF4-FFF2-40B4-BE49-F238E27FC236}">
                  <a16:creationId xmlns:a16="http://schemas.microsoft.com/office/drawing/2014/main" id="{02990B05-FE89-9581-8619-E2178526B34E}"/>
                </a:ext>
              </a:extLst>
            </p:cNvPr>
            <p:cNvCxnSpPr>
              <a:cxnSpLocks/>
            </p:cNvCxnSpPr>
            <p:nvPr/>
          </p:nvCxnSpPr>
          <p:spPr>
            <a:xfrm>
              <a:off x="1931363" y="2771754"/>
              <a:ext cx="1020304" cy="0"/>
            </a:xfrm>
            <a:prstGeom prst="straightConnector1">
              <a:avLst/>
            </a:prstGeom>
            <a:ln w="28575" cmpd="sng">
              <a:solidFill>
                <a:schemeClr val="accent2"/>
              </a:solidFill>
              <a:tailEnd type="triangle"/>
            </a:ln>
            <a:effectLst/>
          </p:spPr>
          <p:style>
            <a:lnRef idx="2">
              <a:schemeClr val="accent1"/>
            </a:lnRef>
            <a:fillRef idx="0">
              <a:schemeClr val="accent1"/>
            </a:fillRef>
            <a:effectRef idx="1">
              <a:schemeClr val="accent1"/>
            </a:effectRef>
            <a:fontRef idx="minor">
              <a:schemeClr val="tx1"/>
            </a:fontRef>
          </p:style>
        </p:cxnSp>
        <p:cxnSp>
          <p:nvCxnSpPr>
            <p:cNvPr id="39" name="Rechte verbindingslijn met pijl 9">
              <a:extLst>
                <a:ext uri="{FF2B5EF4-FFF2-40B4-BE49-F238E27FC236}">
                  <a16:creationId xmlns:a16="http://schemas.microsoft.com/office/drawing/2014/main" id="{51224655-CAF2-8FF5-D25D-ECB9C7AA7159}"/>
                </a:ext>
              </a:extLst>
            </p:cNvPr>
            <p:cNvCxnSpPr>
              <a:cxnSpLocks/>
            </p:cNvCxnSpPr>
            <p:nvPr/>
          </p:nvCxnSpPr>
          <p:spPr>
            <a:xfrm flipH="1">
              <a:off x="1931363" y="3184340"/>
              <a:ext cx="1020305" cy="0"/>
            </a:xfrm>
            <a:prstGeom prst="straightConnector1">
              <a:avLst/>
            </a:prstGeom>
            <a:ln w="28575" cmpd="sng">
              <a:solidFill>
                <a:schemeClr val="accent2"/>
              </a:solidFill>
              <a:tailEnd type="triangle"/>
            </a:ln>
            <a:effectLst/>
          </p:spPr>
          <p:style>
            <a:lnRef idx="2">
              <a:schemeClr val="accent1"/>
            </a:lnRef>
            <a:fillRef idx="0">
              <a:schemeClr val="accent1"/>
            </a:fillRef>
            <a:effectRef idx="1">
              <a:schemeClr val="accent1"/>
            </a:effectRef>
            <a:fontRef idx="minor">
              <a:schemeClr val="tx1"/>
            </a:fontRef>
          </p:style>
        </p:cxnSp>
      </p:grpSp>
      <p:sp>
        <p:nvSpPr>
          <p:cNvPr id="40" name="Tekstvak 12">
            <a:extLst>
              <a:ext uri="{FF2B5EF4-FFF2-40B4-BE49-F238E27FC236}">
                <a16:creationId xmlns:a16="http://schemas.microsoft.com/office/drawing/2014/main" id="{65CFDEA5-CF40-BD1D-08D0-9AF3F3212ACD}"/>
              </a:ext>
            </a:extLst>
          </p:cNvPr>
          <p:cNvSpPr txBox="1"/>
          <p:nvPr/>
        </p:nvSpPr>
        <p:spPr>
          <a:xfrm>
            <a:off x="1966778" y="2612339"/>
            <a:ext cx="625491" cy="338554"/>
          </a:xfrm>
          <a:prstGeom prst="rect">
            <a:avLst/>
          </a:prstGeom>
          <a:noFill/>
        </p:spPr>
        <p:txBody>
          <a:bodyPr wrap="none" rtlCol="0">
            <a:spAutoFit/>
          </a:bodyPr>
          <a:lstStyle/>
          <a:p>
            <a:pPr algn="ctr"/>
            <a:r>
              <a:rPr lang="en-US" dirty="0">
                <a:latin typeface="+mn-lt"/>
              </a:rPr>
              <a:t>action</a:t>
            </a:r>
          </a:p>
        </p:txBody>
      </p:sp>
      <p:sp>
        <p:nvSpPr>
          <p:cNvPr id="41" name="Tekstvak 13">
            <a:extLst>
              <a:ext uri="{FF2B5EF4-FFF2-40B4-BE49-F238E27FC236}">
                <a16:creationId xmlns:a16="http://schemas.microsoft.com/office/drawing/2014/main" id="{801963E6-2EF9-E740-4A49-A51B4D3E8C2A}"/>
              </a:ext>
            </a:extLst>
          </p:cNvPr>
          <p:cNvSpPr txBox="1"/>
          <p:nvPr/>
        </p:nvSpPr>
        <p:spPr>
          <a:xfrm>
            <a:off x="1809683" y="3531846"/>
            <a:ext cx="939680" cy="584775"/>
          </a:xfrm>
          <a:prstGeom prst="rect">
            <a:avLst/>
          </a:prstGeom>
          <a:noFill/>
        </p:spPr>
        <p:txBody>
          <a:bodyPr wrap="none" rtlCol="0">
            <a:spAutoFit/>
          </a:bodyPr>
          <a:lstStyle/>
          <a:p>
            <a:pPr algn="ctr"/>
            <a:r>
              <a:rPr lang="en-US" dirty="0">
                <a:latin typeface="+mn-lt"/>
              </a:rPr>
              <a:t>next state,</a:t>
            </a:r>
          </a:p>
          <a:p>
            <a:pPr algn="ctr"/>
            <a:r>
              <a:rPr lang="en-US" dirty="0">
                <a:latin typeface="+mn-lt"/>
              </a:rPr>
              <a:t>reward</a:t>
            </a:r>
          </a:p>
        </p:txBody>
      </p:sp>
      <p:cxnSp>
        <p:nvCxnSpPr>
          <p:cNvPr id="42" name="Straight Connector 41">
            <a:extLst>
              <a:ext uri="{FF2B5EF4-FFF2-40B4-BE49-F238E27FC236}">
                <a16:creationId xmlns:a16="http://schemas.microsoft.com/office/drawing/2014/main" id="{4B1DDB72-0124-D4C6-2BF2-13C984003414}"/>
              </a:ext>
            </a:extLst>
          </p:cNvPr>
          <p:cNvCxnSpPr>
            <a:cxnSpLocks/>
          </p:cNvCxnSpPr>
          <p:nvPr/>
        </p:nvCxnSpPr>
        <p:spPr>
          <a:xfrm>
            <a:off x="2316824" y="1357255"/>
            <a:ext cx="0" cy="3959116"/>
          </a:xfrm>
          <a:prstGeom prst="line">
            <a:avLst/>
          </a:prstGeom>
          <a:ln w="19050">
            <a:solidFill>
              <a:schemeClr val="accent3"/>
            </a:solidFill>
            <a:prstDash val="dash"/>
          </a:ln>
        </p:spPr>
        <p:style>
          <a:lnRef idx="1">
            <a:schemeClr val="accent1"/>
          </a:lnRef>
          <a:fillRef idx="0">
            <a:schemeClr val="accent1"/>
          </a:fillRef>
          <a:effectRef idx="0">
            <a:schemeClr val="accent1"/>
          </a:effectRef>
          <a:fontRef idx="minor">
            <a:schemeClr val="tx1"/>
          </a:fontRef>
        </p:style>
      </p:cxnSp>
      <p:sp>
        <p:nvSpPr>
          <p:cNvPr id="7" name="Slide Number Placeholder 6">
            <a:extLst>
              <a:ext uri="{FF2B5EF4-FFF2-40B4-BE49-F238E27FC236}">
                <a16:creationId xmlns:a16="http://schemas.microsoft.com/office/drawing/2014/main" id="{075051A1-5BD6-39F7-DEA0-5F0B9A9068E1}"/>
              </a:ext>
            </a:extLst>
          </p:cNvPr>
          <p:cNvSpPr>
            <a:spLocks noGrp="1"/>
          </p:cNvSpPr>
          <p:nvPr>
            <p:ph type="sldNum" sz="quarter" idx="11"/>
          </p:nvPr>
        </p:nvSpPr>
        <p:spPr/>
        <p:txBody>
          <a:bodyPr/>
          <a:lstStyle/>
          <a:p>
            <a:pPr>
              <a:defRPr/>
            </a:pPr>
            <a:fld id="{4908A2AA-746C-4DBB-9102-670E2680A299}" type="slidenum">
              <a:rPr lang="en-US" smtClean="0"/>
              <a:pPr>
                <a:defRPr/>
              </a:pPr>
              <a:t>38</a:t>
            </a:fld>
            <a:endParaRPr lang="en-US"/>
          </a:p>
        </p:txBody>
      </p:sp>
    </p:spTree>
    <p:extLst>
      <p:ext uri="{BB962C8B-B14F-4D97-AF65-F5344CB8AC3E}">
        <p14:creationId xmlns:p14="http://schemas.microsoft.com/office/powerpoint/2010/main" val="192323680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4" fill="hold" nodeType="afterEffect">
                                  <p:stCondLst>
                                    <p:cond delay="0"/>
                                  </p:stCondLst>
                                  <p:childTnLst>
                                    <p:set>
                                      <p:cBhvr>
                                        <p:cTn id="6" dur="1" fill="hold">
                                          <p:stCondLst>
                                            <p:cond delay="0"/>
                                          </p:stCondLst>
                                        </p:cTn>
                                        <p:tgtEl>
                                          <p:spTgt spid="42"/>
                                        </p:tgtEl>
                                        <p:attrNameLst>
                                          <p:attrName>style.visibility</p:attrName>
                                        </p:attrNameLst>
                                      </p:cBhvr>
                                      <p:to>
                                        <p:strVal val="visible"/>
                                      </p:to>
                                    </p:set>
                                    <p:anim calcmode="lin" valueType="num">
                                      <p:cBhvr additive="base">
                                        <p:cTn id="7" dur="500" fill="hold"/>
                                        <p:tgtEl>
                                          <p:spTgt spid="42"/>
                                        </p:tgtEl>
                                        <p:attrNameLst>
                                          <p:attrName>ppt_x</p:attrName>
                                        </p:attrNameLst>
                                      </p:cBhvr>
                                      <p:tavLst>
                                        <p:tav tm="0">
                                          <p:val>
                                            <p:strVal val="#ppt_x"/>
                                          </p:val>
                                        </p:tav>
                                        <p:tav tm="100000">
                                          <p:val>
                                            <p:strVal val="#ppt_x"/>
                                          </p:val>
                                        </p:tav>
                                      </p:tavLst>
                                    </p:anim>
                                    <p:anim calcmode="lin" valueType="num">
                                      <p:cBhvr additive="base">
                                        <p:cTn id="8" dur="500" fill="hold"/>
                                        <p:tgtEl>
                                          <p:spTgt spid="42"/>
                                        </p:tgtEl>
                                        <p:attrNameLst>
                                          <p:attrName>ppt_y</p:attrName>
                                        </p:attrNameLst>
                                      </p:cBhvr>
                                      <p:tavLst>
                                        <p:tav tm="0">
                                          <p:val>
                                            <p:strVal val="1+#ppt_h/2"/>
                                          </p:val>
                                        </p:tav>
                                        <p:tav tm="100000">
                                          <p:val>
                                            <p:strVal val="#ppt_y"/>
                                          </p:val>
                                        </p:tav>
                                      </p:tavLst>
                                    </p:anim>
                                  </p:childTnLst>
                                </p:cTn>
                              </p:par>
                              <p:par>
                                <p:cTn id="9" presetID="2" presetClass="entr" presetSubtype="4" fill="hold" nodeType="withEffect">
                                  <p:stCondLst>
                                    <p:cond delay="0"/>
                                  </p:stCondLst>
                                  <p:childTnLst>
                                    <p:set>
                                      <p:cBhvr>
                                        <p:cTn id="10" dur="1" fill="hold">
                                          <p:stCondLst>
                                            <p:cond delay="0"/>
                                          </p:stCondLst>
                                        </p:cTn>
                                        <p:tgtEl>
                                          <p:spTgt spid="35"/>
                                        </p:tgtEl>
                                        <p:attrNameLst>
                                          <p:attrName>style.visibility</p:attrName>
                                        </p:attrNameLst>
                                      </p:cBhvr>
                                      <p:to>
                                        <p:strVal val="visible"/>
                                      </p:to>
                                    </p:set>
                                    <p:anim calcmode="lin" valueType="num">
                                      <p:cBhvr additive="base">
                                        <p:cTn id="11" dur="500" fill="hold"/>
                                        <p:tgtEl>
                                          <p:spTgt spid="35"/>
                                        </p:tgtEl>
                                        <p:attrNameLst>
                                          <p:attrName>ppt_x</p:attrName>
                                        </p:attrNameLst>
                                      </p:cBhvr>
                                      <p:tavLst>
                                        <p:tav tm="0">
                                          <p:val>
                                            <p:strVal val="#ppt_x"/>
                                          </p:val>
                                        </p:tav>
                                        <p:tav tm="100000">
                                          <p:val>
                                            <p:strVal val="#ppt_x"/>
                                          </p:val>
                                        </p:tav>
                                      </p:tavLst>
                                    </p:anim>
                                    <p:anim calcmode="lin" valueType="num">
                                      <p:cBhvr additive="base">
                                        <p:cTn id="12" dur="500" fill="hold"/>
                                        <p:tgtEl>
                                          <p:spTgt spid="35"/>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1" name="Group 30">
            <a:extLst>
              <a:ext uri="{FF2B5EF4-FFF2-40B4-BE49-F238E27FC236}">
                <a16:creationId xmlns:a16="http://schemas.microsoft.com/office/drawing/2014/main" id="{A0C05D52-141D-D62D-825C-A1775A119549}"/>
              </a:ext>
            </a:extLst>
          </p:cNvPr>
          <p:cNvGrpSpPr/>
          <p:nvPr/>
        </p:nvGrpSpPr>
        <p:grpSpPr>
          <a:xfrm>
            <a:off x="2327565" y="904009"/>
            <a:ext cx="9578727" cy="2680855"/>
            <a:chOff x="2327565" y="904009"/>
            <a:chExt cx="9578727" cy="2680855"/>
          </a:xfrm>
        </p:grpSpPr>
        <p:sp>
          <p:nvSpPr>
            <p:cNvPr id="24" name="Process 23">
              <a:extLst>
                <a:ext uri="{FF2B5EF4-FFF2-40B4-BE49-F238E27FC236}">
                  <a16:creationId xmlns:a16="http://schemas.microsoft.com/office/drawing/2014/main" id="{6F3271D8-16C0-0C41-8B27-47CC65C4B916}"/>
                </a:ext>
              </a:extLst>
            </p:cNvPr>
            <p:cNvSpPr/>
            <p:nvPr/>
          </p:nvSpPr>
          <p:spPr>
            <a:xfrm>
              <a:off x="2847109" y="904009"/>
              <a:ext cx="9059183" cy="2531580"/>
            </a:xfrm>
            <a:prstGeom prst="flowChartProcess">
              <a:avLst/>
            </a:prstGeom>
            <a:solidFill>
              <a:schemeClr val="accent4">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BE"/>
            </a:p>
          </p:txBody>
        </p:sp>
        <p:sp>
          <p:nvSpPr>
            <p:cNvPr id="26" name="Freeform 25">
              <a:extLst>
                <a:ext uri="{FF2B5EF4-FFF2-40B4-BE49-F238E27FC236}">
                  <a16:creationId xmlns:a16="http://schemas.microsoft.com/office/drawing/2014/main" id="{E21C1C30-0E0E-4742-864C-E633A97A7D2B}"/>
                </a:ext>
              </a:extLst>
            </p:cNvPr>
            <p:cNvSpPr/>
            <p:nvPr/>
          </p:nvSpPr>
          <p:spPr>
            <a:xfrm>
              <a:off x="2327565" y="918946"/>
              <a:ext cx="526904" cy="2665918"/>
            </a:xfrm>
            <a:custGeom>
              <a:avLst/>
              <a:gdLst>
                <a:gd name="connsiteX0" fmla="*/ 540327 w 540327"/>
                <a:gd name="connsiteY0" fmla="*/ 0 h 2701637"/>
                <a:gd name="connsiteX1" fmla="*/ 0 w 540327"/>
                <a:gd name="connsiteY1" fmla="*/ 2057400 h 2701637"/>
                <a:gd name="connsiteX2" fmla="*/ 0 w 540327"/>
                <a:gd name="connsiteY2" fmla="*/ 2701637 h 2701637"/>
                <a:gd name="connsiteX3" fmla="*/ 540327 w 540327"/>
                <a:gd name="connsiteY3" fmla="*/ 2556164 h 2701637"/>
                <a:gd name="connsiteX4" fmla="*/ 540327 w 540327"/>
                <a:gd name="connsiteY4" fmla="*/ 0 h 2701637"/>
                <a:gd name="connsiteX0" fmla="*/ 540327 w 668914"/>
                <a:gd name="connsiteY0" fmla="*/ 0 h 2701637"/>
                <a:gd name="connsiteX1" fmla="*/ 0 w 668914"/>
                <a:gd name="connsiteY1" fmla="*/ 2057400 h 2701637"/>
                <a:gd name="connsiteX2" fmla="*/ 0 w 668914"/>
                <a:gd name="connsiteY2" fmla="*/ 2701637 h 2701637"/>
                <a:gd name="connsiteX3" fmla="*/ 668914 w 668914"/>
                <a:gd name="connsiteY3" fmla="*/ 2306133 h 2701637"/>
                <a:gd name="connsiteX4" fmla="*/ 540327 w 668914"/>
                <a:gd name="connsiteY4" fmla="*/ 0 h 2701637"/>
                <a:gd name="connsiteX0" fmla="*/ 540327 w 540327"/>
                <a:gd name="connsiteY0" fmla="*/ 0 h 2701637"/>
                <a:gd name="connsiteX1" fmla="*/ 0 w 540327"/>
                <a:gd name="connsiteY1" fmla="*/ 2057400 h 2701637"/>
                <a:gd name="connsiteX2" fmla="*/ 0 w 540327"/>
                <a:gd name="connsiteY2" fmla="*/ 2701637 h 2701637"/>
                <a:gd name="connsiteX3" fmla="*/ 526039 w 540327"/>
                <a:gd name="connsiteY3" fmla="*/ 2556165 h 2701637"/>
                <a:gd name="connsiteX4" fmla="*/ 540327 w 540327"/>
                <a:gd name="connsiteY4" fmla="*/ 0 h 2701637"/>
                <a:gd name="connsiteX0" fmla="*/ 211714 w 526091"/>
                <a:gd name="connsiteY0" fmla="*/ 0 h 2637343"/>
                <a:gd name="connsiteX1" fmla="*/ 0 w 526091"/>
                <a:gd name="connsiteY1" fmla="*/ 1993106 h 2637343"/>
                <a:gd name="connsiteX2" fmla="*/ 0 w 526091"/>
                <a:gd name="connsiteY2" fmla="*/ 2637343 h 2637343"/>
                <a:gd name="connsiteX3" fmla="*/ 526039 w 526091"/>
                <a:gd name="connsiteY3" fmla="*/ 2491871 h 2637343"/>
                <a:gd name="connsiteX4" fmla="*/ 211714 w 526091"/>
                <a:gd name="connsiteY4" fmla="*/ 0 h 2637343"/>
                <a:gd name="connsiteX0" fmla="*/ 518896 w 526904"/>
                <a:gd name="connsiteY0" fmla="*/ 0 h 2665918"/>
                <a:gd name="connsiteX1" fmla="*/ 0 w 526904"/>
                <a:gd name="connsiteY1" fmla="*/ 2021681 h 2665918"/>
                <a:gd name="connsiteX2" fmla="*/ 0 w 526904"/>
                <a:gd name="connsiteY2" fmla="*/ 2665918 h 2665918"/>
                <a:gd name="connsiteX3" fmla="*/ 526039 w 526904"/>
                <a:gd name="connsiteY3" fmla="*/ 2520446 h 2665918"/>
                <a:gd name="connsiteX4" fmla="*/ 518896 w 526904"/>
                <a:gd name="connsiteY4" fmla="*/ 0 h 266591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6904" h="2665918">
                  <a:moveTo>
                    <a:pt x="518896" y="0"/>
                  </a:moveTo>
                  <a:lnTo>
                    <a:pt x="0" y="2021681"/>
                  </a:lnTo>
                  <a:lnTo>
                    <a:pt x="0" y="2665918"/>
                  </a:lnTo>
                  <a:lnTo>
                    <a:pt x="526039" y="2520446"/>
                  </a:lnTo>
                  <a:cubicBezTo>
                    <a:pt x="530802" y="1668391"/>
                    <a:pt x="514133" y="852055"/>
                    <a:pt x="518896" y="0"/>
                  </a:cubicBezTo>
                  <a:close/>
                </a:path>
              </a:pathLst>
            </a:custGeom>
            <a:solidFill>
              <a:schemeClr val="accent4">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BE"/>
            </a:p>
          </p:txBody>
        </p:sp>
      </p:grpSp>
      <p:sp>
        <p:nvSpPr>
          <p:cNvPr id="2" name="Title 1">
            <a:extLst>
              <a:ext uri="{FF2B5EF4-FFF2-40B4-BE49-F238E27FC236}">
                <a16:creationId xmlns:a16="http://schemas.microsoft.com/office/drawing/2014/main" id="{540976BA-C754-4898-FED7-4D8DB1239279}"/>
              </a:ext>
            </a:extLst>
          </p:cNvPr>
          <p:cNvSpPr>
            <a:spLocks noGrp="1"/>
          </p:cNvSpPr>
          <p:nvPr>
            <p:ph type="title"/>
          </p:nvPr>
        </p:nvSpPr>
        <p:spPr/>
        <p:txBody>
          <a:bodyPr/>
          <a:lstStyle/>
          <a:p>
            <a:r>
              <a:rPr lang="en-BE" dirty="0"/>
              <a:t>HomeLabGym</a:t>
            </a:r>
          </a:p>
        </p:txBody>
      </p:sp>
      <p:sp>
        <p:nvSpPr>
          <p:cNvPr id="4" name="Footer Placeholder 3">
            <a:extLst>
              <a:ext uri="{FF2B5EF4-FFF2-40B4-BE49-F238E27FC236}">
                <a16:creationId xmlns:a16="http://schemas.microsoft.com/office/drawing/2014/main" id="{C115EB78-28A3-2BF0-B2E3-B8240F415AD3}"/>
              </a:ext>
            </a:extLst>
          </p:cNvPr>
          <p:cNvSpPr>
            <a:spLocks noGrp="1"/>
          </p:cNvSpPr>
          <p:nvPr>
            <p:ph type="ftr" sz="quarter" idx="10"/>
          </p:nvPr>
        </p:nvSpPr>
        <p:spPr/>
        <p:txBody>
          <a:bodyPr/>
          <a:lstStyle/>
          <a:p>
            <a:pPr>
              <a:defRPr/>
            </a:pPr>
            <a:r>
              <a:rPr lang="en-US"/>
              <a:t>C. Develder, "AI4E: Data-efficient and scalable algorithmss to exploit energy flexibility"</a:t>
            </a:r>
            <a:endParaRPr lang="en-US" dirty="0"/>
          </a:p>
        </p:txBody>
      </p:sp>
      <p:sp>
        <p:nvSpPr>
          <p:cNvPr id="7" name="Rechthoek: afgeronde hoeken 6">
            <a:extLst>
              <a:ext uri="{FF2B5EF4-FFF2-40B4-BE49-F238E27FC236}">
                <a16:creationId xmlns:a16="http://schemas.microsoft.com/office/drawing/2014/main" id="{F2E571BD-C3D6-A06F-CC60-6712C59C049B}"/>
              </a:ext>
            </a:extLst>
          </p:cNvPr>
          <p:cNvSpPr/>
          <p:nvPr/>
        </p:nvSpPr>
        <p:spPr>
          <a:xfrm>
            <a:off x="643342" y="2792007"/>
            <a:ext cx="1250721" cy="909563"/>
          </a:xfrm>
          <a:prstGeom prst="roundRect">
            <a:avLst/>
          </a:prstGeom>
          <a:solidFill>
            <a:srgbClr val="EAB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2000" dirty="0">
                <a:solidFill>
                  <a:schemeClr val="tx1"/>
                </a:solidFill>
              </a:rPr>
              <a:t>Controller</a:t>
            </a:r>
          </a:p>
        </p:txBody>
      </p:sp>
      <p:grpSp>
        <p:nvGrpSpPr>
          <p:cNvPr id="20" name="Group 19">
            <a:extLst>
              <a:ext uri="{FF2B5EF4-FFF2-40B4-BE49-F238E27FC236}">
                <a16:creationId xmlns:a16="http://schemas.microsoft.com/office/drawing/2014/main" id="{A7A9F3A0-1A57-488E-F6CE-605DDD0E8B07}"/>
              </a:ext>
            </a:extLst>
          </p:cNvPr>
          <p:cNvGrpSpPr/>
          <p:nvPr/>
        </p:nvGrpSpPr>
        <p:grpSpPr>
          <a:xfrm>
            <a:off x="1894062" y="3021209"/>
            <a:ext cx="812829" cy="412586"/>
            <a:chOff x="1931363" y="2771754"/>
            <a:chExt cx="1020305" cy="412586"/>
          </a:xfrm>
        </p:grpSpPr>
        <p:cxnSp>
          <p:nvCxnSpPr>
            <p:cNvPr id="8" name="Rechte verbindingslijn met pijl 8">
              <a:extLst>
                <a:ext uri="{FF2B5EF4-FFF2-40B4-BE49-F238E27FC236}">
                  <a16:creationId xmlns:a16="http://schemas.microsoft.com/office/drawing/2014/main" id="{78FB20F1-029E-97F0-E768-8E49462FC731}"/>
                </a:ext>
              </a:extLst>
            </p:cNvPr>
            <p:cNvCxnSpPr>
              <a:cxnSpLocks/>
            </p:cNvCxnSpPr>
            <p:nvPr/>
          </p:nvCxnSpPr>
          <p:spPr>
            <a:xfrm>
              <a:off x="1931363" y="2771754"/>
              <a:ext cx="1020304" cy="0"/>
            </a:xfrm>
            <a:prstGeom prst="straightConnector1">
              <a:avLst/>
            </a:prstGeom>
            <a:ln w="28575" cmpd="sng">
              <a:solidFill>
                <a:schemeClr val="accent2"/>
              </a:solidFill>
              <a:tailEnd type="triangle"/>
            </a:ln>
            <a:effectLst/>
          </p:spPr>
          <p:style>
            <a:lnRef idx="2">
              <a:schemeClr val="accent1"/>
            </a:lnRef>
            <a:fillRef idx="0">
              <a:schemeClr val="accent1"/>
            </a:fillRef>
            <a:effectRef idx="1">
              <a:schemeClr val="accent1"/>
            </a:effectRef>
            <a:fontRef idx="minor">
              <a:schemeClr val="tx1"/>
            </a:fontRef>
          </p:style>
        </p:cxnSp>
        <p:cxnSp>
          <p:nvCxnSpPr>
            <p:cNvPr id="9" name="Rechte verbindingslijn met pijl 9">
              <a:extLst>
                <a:ext uri="{FF2B5EF4-FFF2-40B4-BE49-F238E27FC236}">
                  <a16:creationId xmlns:a16="http://schemas.microsoft.com/office/drawing/2014/main" id="{D62651C3-B674-8099-4F08-0350EED1C355}"/>
                </a:ext>
              </a:extLst>
            </p:cNvPr>
            <p:cNvCxnSpPr>
              <a:cxnSpLocks/>
            </p:cNvCxnSpPr>
            <p:nvPr/>
          </p:nvCxnSpPr>
          <p:spPr>
            <a:xfrm flipH="1">
              <a:off x="1931363" y="3184340"/>
              <a:ext cx="1020305" cy="0"/>
            </a:xfrm>
            <a:prstGeom prst="straightConnector1">
              <a:avLst/>
            </a:prstGeom>
            <a:ln w="28575" cmpd="sng">
              <a:solidFill>
                <a:schemeClr val="accent2"/>
              </a:solidFill>
              <a:tailEnd type="triangle"/>
            </a:ln>
            <a:effectLst/>
          </p:spPr>
          <p:style>
            <a:lnRef idx="2">
              <a:schemeClr val="accent1"/>
            </a:lnRef>
            <a:fillRef idx="0">
              <a:schemeClr val="accent1"/>
            </a:fillRef>
            <a:effectRef idx="1">
              <a:schemeClr val="accent1"/>
            </a:effectRef>
            <a:fontRef idx="minor">
              <a:schemeClr val="tx1"/>
            </a:fontRef>
          </p:style>
        </p:cxnSp>
      </p:grpSp>
      <p:sp>
        <p:nvSpPr>
          <p:cNvPr id="10" name="Tekstvak 12">
            <a:extLst>
              <a:ext uri="{FF2B5EF4-FFF2-40B4-BE49-F238E27FC236}">
                <a16:creationId xmlns:a16="http://schemas.microsoft.com/office/drawing/2014/main" id="{D1EA0247-DDF6-E011-9436-73C2DB9DD408}"/>
              </a:ext>
            </a:extLst>
          </p:cNvPr>
          <p:cNvSpPr txBox="1"/>
          <p:nvPr/>
        </p:nvSpPr>
        <p:spPr>
          <a:xfrm>
            <a:off x="1966778" y="2612339"/>
            <a:ext cx="625491" cy="338554"/>
          </a:xfrm>
          <a:prstGeom prst="rect">
            <a:avLst/>
          </a:prstGeom>
          <a:noFill/>
        </p:spPr>
        <p:txBody>
          <a:bodyPr wrap="none" rtlCol="0">
            <a:spAutoFit/>
          </a:bodyPr>
          <a:lstStyle/>
          <a:p>
            <a:pPr algn="ctr"/>
            <a:r>
              <a:rPr lang="en-US" dirty="0">
                <a:latin typeface="+mn-lt"/>
              </a:rPr>
              <a:t>action</a:t>
            </a:r>
          </a:p>
        </p:txBody>
      </p:sp>
      <p:sp>
        <p:nvSpPr>
          <p:cNvPr id="11" name="Tekstvak 13">
            <a:extLst>
              <a:ext uri="{FF2B5EF4-FFF2-40B4-BE49-F238E27FC236}">
                <a16:creationId xmlns:a16="http://schemas.microsoft.com/office/drawing/2014/main" id="{3606227F-A4D3-57EA-6BD5-B7D76E81BBC1}"/>
              </a:ext>
            </a:extLst>
          </p:cNvPr>
          <p:cNvSpPr txBox="1"/>
          <p:nvPr/>
        </p:nvSpPr>
        <p:spPr>
          <a:xfrm>
            <a:off x="1809683" y="3531846"/>
            <a:ext cx="939680" cy="584775"/>
          </a:xfrm>
          <a:prstGeom prst="rect">
            <a:avLst/>
          </a:prstGeom>
          <a:noFill/>
        </p:spPr>
        <p:txBody>
          <a:bodyPr wrap="none" rtlCol="0">
            <a:spAutoFit/>
          </a:bodyPr>
          <a:lstStyle/>
          <a:p>
            <a:pPr algn="ctr"/>
            <a:r>
              <a:rPr lang="en-US" dirty="0">
                <a:latin typeface="+mn-lt"/>
              </a:rPr>
              <a:t>next state,</a:t>
            </a:r>
          </a:p>
          <a:p>
            <a:pPr algn="ctr"/>
            <a:r>
              <a:rPr lang="en-US" dirty="0">
                <a:latin typeface="+mn-lt"/>
              </a:rPr>
              <a:t>reward</a:t>
            </a:r>
          </a:p>
        </p:txBody>
      </p:sp>
      <p:cxnSp>
        <p:nvCxnSpPr>
          <p:cNvPr id="15" name="Straight Connector 14">
            <a:extLst>
              <a:ext uri="{FF2B5EF4-FFF2-40B4-BE49-F238E27FC236}">
                <a16:creationId xmlns:a16="http://schemas.microsoft.com/office/drawing/2014/main" id="{4F30A060-D121-798A-EB78-49F81D96FB9A}"/>
              </a:ext>
            </a:extLst>
          </p:cNvPr>
          <p:cNvCxnSpPr>
            <a:cxnSpLocks/>
          </p:cNvCxnSpPr>
          <p:nvPr/>
        </p:nvCxnSpPr>
        <p:spPr>
          <a:xfrm>
            <a:off x="2316824" y="1357255"/>
            <a:ext cx="0" cy="3959116"/>
          </a:xfrm>
          <a:prstGeom prst="line">
            <a:avLst/>
          </a:prstGeom>
          <a:ln w="19050">
            <a:solidFill>
              <a:schemeClr val="accent3"/>
            </a:solidFill>
            <a:prstDash val="dash"/>
          </a:ln>
        </p:spPr>
        <p:style>
          <a:lnRef idx="1">
            <a:schemeClr val="accent1"/>
          </a:lnRef>
          <a:fillRef idx="0">
            <a:schemeClr val="accent1"/>
          </a:fillRef>
          <a:effectRef idx="0">
            <a:schemeClr val="accent1"/>
          </a:effectRef>
          <a:fontRef idx="minor">
            <a:schemeClr val="tx1"/>
          </a:fontRef>
        </p:style>
      </p:cxnSp>
      <p:grpSp>
        <p:nvGrpSpPr>
          <p:cNvPr id="42" name="Group 41">
            <a:extLst>
              <a:ext uri="{FF2B5EF4-FFF2-40B4-BE49-F238E27FC236}">
                <a16:creationId xmlns:a16="http://schemas.microsoft.com/office/drawing/2014/main" id="{3CDCEFED-A9E4-420F-3E8C-52FC9844C173}"/>
              </a:ext>
            </a:extLst>
          </p:cNvPr>
          <p:cNvGrpSpPr/>
          <p:nvPr/>
        </p:nvGrpSpPr>
        <p:grpSpPr>
          <a:xfrm>
            <a:off x="3009209" y="1086364"/>
            <a:ext cx="8710427" cy="2349225"/>
            <a:chOff x="2770216" y="1169492"/>
            <a:chExt cx="8710427" cy="2349225"/>
          </a:xfrm>
        </p:grpSpPr>
        <p:grpSp>
          <p:nvGrpSpPr>
            <p:cNvPr id="30" name="Group 29">
              <a:extLst>
                <a:ext uri="{FF2B5EF4-FFF2-40B4-BE49-F238E27FC236}">
                  <a16:creationId xmlns:a16="http://schemas.microsoft.com/office/drawing/2014/main" id="{4094049D-6068-4A89-B553-4274F1D2633F}"/>
                </a:ext>
              </a:extLst>
            </p:cNvPr>
            <p:cNvGrpSpPr/>
            <p:nvPr/>
          </p:nvGrpSpPr>
          <p:grpSpPr>
            <a:xfrm>
              <a:off x="2770216" y="1686657"/>
              <a:ext cx="1441561" cy="1047542"/>
              <a:chOff x="2770216" y="2381458"/>
              <a:chExt cx="1441561" cy="1047542"/>
            </a:xfrm>
          </p:grpSpPr>
          <p:sp>
            <p:nvSpPr>
              <p:cNvPr id="28" name="Rectangle 27">
                <a:extLst>
                  <a:ext uri="{FF2B5EF4-FFF2-40B4-BE49-F238E27FC236}">
                    <a16:creationId xmlns:a16="http://schemas.microsoft.com/office/drawing/2014/main" id="{236BFE4B-74A5-5D21-A7B3-5202F09F8C12}"/>
                  </a:ext>
                </a:extLst>
              </p:cNvPr>
              <p:cNvSpPr/>
              <p:nvPr/>
            </p:nvSpPr>
            <p:spPr>
              <a:xfrm>
                <a:off x="2770216" y="2542552"/>
                <a:ext cx="1441561" cy="886448"/>
              </a:xfrm>
              <a:prstGeom prst="rect">
                <a:avLst/>
              </a:prstGeom>
              <a:solidFill>
                <a:srgbClr val="EAB3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BE" sz="2000" dirty="0">
                    <a:solidFill>
                      <a:schemeClr val="tx1"/>
                    </a:solidFill>
                    <a:latin typeface="UGent Panno Text" panose="02000506040000040003" pitchFamily="2" charset="0"/>
                  </a:rPr>
                  <a:t>HomeLabGym</a:t>
                </a:r>
              </a:p>
            </p:txBody>
          </p:sp>
          <p:sp>
            <p:nvSpPr>
              <p:cNvPr id="29" name="Rectangle 28">
                <a:extLst>
                  <a:ext uri="{FF2B5EF4-FFF2-40B4-BE49-F238E27FC236}">
                    <a16:creationId xmlns:a16="http://schemas.microsoft.com/office/drawing/2014/main" id="{89CD5D9D-0F54-0662-7D53-BE7FBB79B849}"/>
                  </a:ext>
                </a:extLst>
              </p:cNvPr>
              <p:cNvSpPr/>
              <p:nvPr/>
            </p:nvSpPr>
            <p:spPr>
              <a:xfrm>
                <a:off x="2770216" y="2381458"/>
                <a:ext cx="583497" cy="163597"/>
              </a:xfrm>
              <a:prstGeom prst="rect">
                <a:avLst/>
              </a:prstGeom>
              <a:solidFill>
                <a:srgbClr val="EAB3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BE"/>
              </a:p>
            </p:txBody>
          </p:sp>
        </p:grpSp>
        <p:pic>
          <p:nvPicPr>
            <p:cNvPr id="5" name="Afbeelding 4">
              <a:extLst>
                <a:ext uri="{FF2B5EF4-FFF2-40B4-BE49-F238E27FC236}">
                  <a16:creationId xmlns:a16="http://schemas.microsoft.com/office/drawing/2014/main" id="{FFA72E75-D582-E907-FBA7-61CE774C7CDA}"/>
                </a:ext>
              </a:extLst>
            </p:cNvPr>
            <p:cNvPicPr>
              <a:picLocks noChangeAspect="1"/>
            </p:cNvPicPr>
            <p:nvPr/>
          </p:nvPicPr>
          <p:blipFill>
            <a:blip r:embed="rId3">
              <a:clrChange>
                <a:clrFrom>
                  <a:srgbClr val="FFFFFF"/>
                </a:clrFrom>
                <a:clrTo>
                  <a:srgbClr val="FFFFFF">
                    <a:alpha val="0"/>
                  </a:srgbClr>
                </a:clrTo>
              </a:clrChange>
            </a:blip>
            <a:stretch>
              <a:fillRect/>
            </a:stretch>
          </p:blipFill>
          <p:spPr>
            <a:xfrm>
              <a:off x="7610201" y="1169492"/>
              <a:ext cx="3870442" cy="2349225"/>
            </a:xfrm>
            <a:prstGeom prst="rect">
              <a:avLst/>
            </a:prstGeom>
          </p:spPr>
        </p:pic>
        <p:sp>
          <p:nvSpPr>
            <p:cNvPr id="6" name="Trapezium 5">
              <a:extLst>
                <a:ext uri="{FF2B5EF4-FFF2-40B4-BE49-F238E27FC236}">
                  <a16:creationId xmlns:a16="http://schemas.microsoft.com/office/drawing/2014/main" id="{929A4754-5EAE-12D8-25EC-BD1ABC5BACB5}"/>
                </a:ext>
              </a:extLst>
            </p:cNvPr>
            <p:cNvSpPr/>
            <p:nvPr/>
          </p:nvSpPr>
          <p:spPr>
            <a:xfrm rot="5400000">
              <a:off x="8042067" y="1955588"/>
              <a:ext cx="1724300" cy="693891"/>
            </a:xfrm>
            <a:prstGeom prst="trapezoid">
              <a:avLst>
                <a:gd name="adj" fmla="val 28056"/>
              </a:avLst>
            </a:prstGeom>
            <a:gradFill flip="none" rotWithShape="1">
              <a:gsLst>
                <a:gs pos="0">
                  <a:schemeClr val="accent2">
                    <a:lumMod val="60000"/>
                    <a:lumOff val="40000"/>
                    <a:tint val="66000"/>
                    <a:satMod val="160000"/>
                  </a:schemeClr>
                </a:gs>
                <a:gs pos="50000">
                  <a:schemeClr val="accent2">
                    <a:lumMod val="60000"/>
                    <a:lumOff val="40000"/>
                    <a:tint val="44500"/>
                    <a:satMod val="160000"/>
                  </a:schemeClr>
                </a:gs>
                <a:gs pos="100000">
                  <a:schemeClr val="accent2">
                    <a:lumMod val="60000"/>
                    <a:lumOff val="40000"/>
                    <a:tint val="23500"/>
                    <a:satMod val="160000"/>
                  </a:schemeClr>
                </a:gs>
              </a:gsLst>
              <a:lin ang="5400000" scaled="1"/>
              <a:tileRect/>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400" dirty="0"/>
            </a:p>
          </p:txBody>
        </p:sp>
        <p:sp>
          <p:nvSpPr>
            <p:cNvPr id="3" name="Trapezium 2">
              <a:extLst>
                <a:ext uri="{FF2B5EF4-FFF2-40B4-BE49-F238E27FC236}">
                  <a16:creationId xmlns:a16="http://schemas.microsoft.com/office/drawing/2014/main" id="{F7BF410B-8843-4915-B71F-1EAE7CB526B3}"/>
                </a:ext>
              </a:extLst>
            </p:cNvPr>
            <p:cNvSpPr/>
            <p:nvPr/>
          </p:nvSpPr>
          <p:spPr>
            <a:xfrm rot="16200000">
              <a:off x="3589292" y="2003778"/>
              <a:ext cx="1915703" cy="670733"/>
            </a:xfrm>
            <a:prstGeom prst="trapezoid">
              <a:avLst>
                <a:gd name="adj" fmla="val 80505"/>
              </a:avLst>
            </a:prstGeom>
            <a:gradFill flip="none" rotWithShape="1">
              <a:gsLst>
                <a:gs pos="0">
                  <a:srgbClr val="EAB200">
                    <a:tint val="66000"/>
                    <a:satMod val="160000"/>
                  </a:srgbClr>
                </a:gs>
                <a:gs pos="50000">
                  <a:srgbClr val="EAB200">
                    <a:tint val="44500"/>
                    <a:satMod val="160000"/>
                  </a:srgbClr>
                </a:gs>
                <a:gs pos="100000">
                  <a:srgbClr val="EAB200">
                    <a:tint val="23500"/>
                    <a:satMod val="160000"/>
                  </a:srgbClr>
                </a:gs>
              </a:gsLst>
              <a:lin ang="5400000" scaled="1"/>
              <a:tileRect/>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400" dirty="0"/>
            </a:p>
          </p:txBody>
        </p:sp>
        <p:sp>
          <p:nvSpPr>
            <p:cNvPr id="14" name="Rechthoek: afgeronde hoeken 21">
              <a:extLst>
                <a:ext uri="{FF2B5EF4-FFF2-40B4-BE49-F238E27FC236}">
                  <a16:creationId xmlns:a16="http://schemas.microsoft.com/office/drawing/2014/main" id="{D49746CE-828D-84AE-4B6C-58E5D25168D3}"/>
                </a:ext>
              </a:extLst>
            </p:cNvPr>
            <p:cNvSpPr/>
            <p:nvPr/>
          </p:nvSpPr>
          <p:spPr>
            <a:xfrm>
              <a:off x="4867787" y="1381292"/>
              <a:ext cx="1077721" cy="406400"/>
            </a:xfrm>
            <a:prstGeom prst="roundRect">
              <a:avLst/>
            </a:prstGeom>
            <a:solidFill>
              <a:srgbClr val="EAB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1400" dirty="0">
                  <a:solidFill>
                    <a:schemeClr val="tx1"/>
                  </a:solidFill>
                </a:rPr>
                <a:t>PV</a:t>
              </a:r>
            </a:p>
          </p:txBody>
        </p:sp>
        <p:sp>
          <p:nvSpPr>
            <p:cNvPr id="16" name="Rechthoek: afgeronde hoeken 22">
              <a:extLst>
                <a:ext uri="{FF2B5EF4-FFF2-40B4-BE49-F238E27FC236}">
                  <a16:creationId xmlns:a16="http://schemas.microsoft.com/office/drawing/2014/main" id="{872DC1C7-96E7-CA2A-ADB9-6621BC2840C6}"/>
                </a:ext>
              </a:extLst>
            </p:cNvPr>
            <p:cNvSpPr/>
            <p:nvPr/>
          </p:nvSpPr>
          <p:spPr>
            <a:xfrm>
              <a:off x="4867787" y="1884394"/>
              <a:ext cx="1089035" cy="406400"/>
            </a:xfrm>
            <a:prstGeom prst="roundRect">
              <a:avLst/>
            </a:prstGeom>
            <a:solidFill>
              <a:srgbClr val="EAB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1400" dirty="0">
                  <a:solidFill>
                    <a:schemeClr val="tx1"/>
                  </a:solidFill>
                </a:rPr>
                <a:t>Battery</a:t>
              </a:r>
            </a:p>
          </p:txBody>
        </p:sp>
        <p:sp>
          <p:nvSpPr>
            <p:cNvPr id="17" name="Rechthoek: afgeronde hoeken 23">
              <a:extLst>
                <a:ext uri="{FF2B5EF4-FFF2-40B4-BE49-F238E27FC236}">
                  <a16:creationId xmlns:a16="http://schemas.microsoft.com/office/drawing/2014/main" id="{BE36D855-635D-1990-30A6-4E771B05211D}"/>
                </a:ext>
              </a:extLst>
            </p:cNvPr>
            <p:cNvSpPr/>
            <p:nvPr/>
          </p:nvSpPr>
          <p:spPr>
            <a:xfrm>
              <a:off x="4867787" y="2387496"/>
              <a:ext cx="1089036" cy="406400"/>
            </a:xfrm>
            <a:prstGeom prst="roundRect">
              <a:avLst/>
            </a:prstGeom>
            <a:solidFill>
              <a:srgbClr val="EAB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1400" dirty="0">
                  <a:solidFill>
                    <a:schemeClr val="tx1"/>
                  </a:solidFill>
                </a:rPr>
                <a:t>Heat Pump</a:t>
              </a:r>
            </a:p>
          </p:txBody>
        </p:sp>
        <p:sp>
          <p:nvSpPr>
            <p:cNvPr id="21" name="Tekstvak 25">
              <a:extLst>
                <a:ext uri="{FF2B5EF4-FFF2-40B4-BE49-F238E27FC236}">
                  <a16:creationId xmlns:a16="http://schemas.microsoft.com/office/drawing/2014/main" id="{CA068A1E-237A-86B7-AB97-691BEDF024CA}"/>
                </a:ext>
              </a:extLst>
            </p:cNvPr>
            <p:cNvSpPr txBox="1"/>
            <p:nvPr/>
          </p:nvSpPr>
          <p:spPr>
            <a:xfrm>
              <a:off x="6133592" y="1646077"/>
              <a:ext cx="1511428" cy="1569660"/>
            </a:xfrm>
            <a:prstGeom prst="rect">
              <a:avLst/>
            </a:prstGeom>
            <a:noFill/>
          </p:spPr>
          <p:txBody>
            <a:bodyPr wrap="square" rtlCol="0">
              <a:spAutoFit/>
            </a:bodyPr>
            <a:lstStyle/>
            <a:p>
              <a:pPr algn="ctr"/>
              <a:r>
                <a:rPr lang="en-US" dirty="0">
                  <a:latin typeface="+mn-lt"/>
                </a:rPr>
                <a:t>Modbus, API, TCP/IP</a:t>
              </a:r>
            </a:p>
            <a:p>
              <a:pPr algn="ctr"/>
              <a:endParaRPr lang="en-US" dirty="0">
                <a:latin typeface="+mn-lt"/>
              </a:endParaRPr>
            </a:p>
            <a:p>
              <a:pPr algn="ctr"/>
              <a:endParaRPr lang="en-US" dirty="0">
                <a:latin typeface="+mn-lt"/>
              </a:endParaRPr>
            </a:p>
            <a:p>
              <a:pPr algn="ctr"/>
              <a:r>
                <a:rPr lang="en-US" dirty="0">
                  <a:latin typeface="+mn-lt"/>
                </a:rPr>
                <a:t>Docker,</a:t>
              </a:r>
              <a:br>
                <a:rPr lang="en-US" dirty="0">
                  <a:latin typeface="+mn-lt"/>
                </a:rPr>
              </a:br>
              <a:r>
                <a:rPr lang="en-US" dirty="0">
                  <a:latin typeface="+mn-lt"/>
                </a:rPr>
                <a:t>Grafana</a:t>
              </a:r>
            </a:p>
          </p:txBody>
        </p:sp>
        <p:sp>
          <p:nvSpPr>
            <p:cNvPr id="22" name="Left-right Arrow 21">
              <a:extLst>
                <a:ext uri="{FF2B5EF4-FFF2-40B4-BE49-F238E27FC236}">
                  <a16:creationId xmlns:a16="http://schemas.microsoft.com/office/drawing/2014/main" id="{66DD9683-DBFB-75E3-894E-8D323053D904}"/>
                </a:ext>
              </a:extLst>
            </p:cNvPr>
            <p:cNvSpPr/>
            <p:nvPr/>
          </p:nvSpPr>
          <p:spPr>
            <a:xfrm>
              <a:off x="6162659" y="2265728"/>
              <a:ext cx="1537855" cy="285058"/>
            </a:xfrm>
            <a:prstGeom prst="leftRightArrow">
              <a:avLst/>
            </a:prstGeom>
            <a:noFill/>
            <a:ln/>
          </p:spPr>
          <p:style>
            <a:lnRef idx="2">
              <a:schemeClr val="dk1"/>
            </a:lnRef>
            <a:fillRef idx="1">
              <a:schemeClr val="lt1"/>
            </a:fillRef>
            <a:effectRef idx="0">
              <a:schemeClr val="dk1"/>
            </a:effectRef>
            <a:fontRef idx="minor">
              <a:schemeClr val="dk1"/>
            </a:fontRef>
          </p:style>
          <p:txBody>
            <a:bodyPr rtlCol="0" anchor="ctr"/>
            <a:lstStyle/>
            <a:p>
              <a:pPr algn="ctr"/>
              <a:endParaRPr lang="en-BE"/>
            </a:p>
          </p:txBody>
        </p:sp>
        <p:sp>
          <p:nvSpPr>
            <p:cNvPr id="19" name="Rechthoek: afgeronde hoeken 23">
              <a:extLst>
                <a:ext uri="{FF2B5EF4-FFF2-40B4-BE49-F238E27FC236}">
                  <a16:creationId xmlns:a16="http://schemas.microsoft.com/office/drawing/2014/main" id="{55C87BE8-882B-B888-40FF-DED36B854E2F}"/>
                </a:ext>
              </a:extLst>
            </p:cNvPr>
            <p:cNvSpPr/>
            <p:nvPr/>
          </p:nvSpPr>
          <p:spPr>
            <a:xfrm>
              <a:off x="4867787" y="2890598"/>
              <a:ext cx="1089036" cy="406400"/>
            </a:xfrm>
            <a:prstGeom prst="roundRect">
              <a:avLst/>
            </a:prstGeom>
            <a:solidFill>
              <a:srgbClr val="EAB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1400" dirty="0">
                  <a:solidFill>
                    <a:schemeClr val="tx1"/>
                  </a:solidFill>
                </a:rPr>
                <a:t>. . .</a:t>
              </a:r>
            </a:p>
          </p:txBody>
        </p:sp>
        <p:pic>
          <p:nvPicPr>
            <p:cNvPr id="27" name="Picture 26">
              <a:extLst>
                <a:ext uri="{FF2B5EF4-FFF2-40B4-BE49-F238E27FC236}">
                  <a16:creationId xmlns:a16="http://schemas.microsoft.com/office/drawing/2014/main" id="{32440B42-73B5-7D19-FB04-DF1D59131FC8}"/>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3805445" y="1519256"/>
              <a:ext cx="701675" cy="529552"/>
            </a:xfrm>
            <a:prstGeom prst="rect">
              <a:avLst/>
            </a:prstGeom>
          </p:spPr>
        </p:pic>
      </p:grpSp>
      <p:grpSp>
        <p:nvGrpSpPr>
          <p:cNvPr id="43" name="Group 42">
            <a:extLst>
              <a:ext uri="{FF2B5EF4-FFF2-40B4-BE49-F238E27FC236}">
                <a16:creationId xmlns:a16="http://schemas.microsoft.com/office/drawing/2014/main" id="{1423D7FA-DEE3-4AF8-1EA1-67AA928ED318}"/>
              </a:ext>
            </a:extLst>
          </p:cNvPr>
          <p:cNvGrpSpPr/>
          <p:nvPr/>
        </p:nvGrpSpPr>
        <p:grpSpPr>
          <a:xfrm>
            <a:off x="2983184" y="3757913"/>
            <a:ext cx="2112294" cy="1915703"/>
            <a:chOff x="2744191" y="3695567"/>
            <a:chExt cx="2112294" cy="1915703"/>
          </a:xfrm>
        </p:grpSpPr>
        <p:grpSp>
          <p:nvGrpSpPr>
            <p:cNvPr id="12" name="Group 11">
              <a:extLst>
                <a:ext uri="{FF2B5EF4-FFF2-40B4-BE49-F238E27FC236}">
                  <a16:creationId xmlns:a16="http://schemas.microsoft.com/office/drawing/2014/main" id="{E5369BD8-EA70-E462-22B4-234BFA9735F3}"/>
                </a:ext>
              </a:extLst>
            </p:cNvPr>
            <p:cNvGrpSpPr/>
            <p:nvPr/>
          </p:nvGrpSpPr>
          <p:grpSpPr>
            <a:xfrm>
              <a:off x="2744191" y="4000931"/>
              <a:ext cx="1441561" cy="1047542"/>
              <a:chOff x="2770216" y="2381458"/>
              <a:chExt cx="1441561" cy="1047542"/>
            </a:xfrm>
            <a:solidFill>
              <a:srgbClr val="97D5EB"/>
            </a:solidFill>
          </p:grpSpPr>
          <p:sp>
            <p:nvSpPr>
              <p:cNvPr id="13" name="Rectangle 12">
                <a:extLst>
                  <a:ext uri="{FF2B5EF4-FFF2-40B4-BE49-F238E27FC236}">
                    <a16:creationId xmlns:a16="http://schemas.microsoft.com/office/drawing/2014/main" id="{34AC98F5-6984-3A90-3DF0-682063627EEE}"/>
                  </a:ext>
                </a:extLst>
              </p:cNvPr>
              <p:cNvSpPr/>
              <p:nvPr/>
            </p:nvSpPr>
            <p:spPr>
              <a:xfrm>
                <a:off x="2770216" y="2542552"/>
                <a:ext cx="1441561" cy="886448"/>
              </a:xfrm>
              <a:prstGeom prst="rect">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BE" sz="2000" dirty="0">
                    <a:solidFill>
                      <a:schemeClr val="tx1"/>
                    </a:solidFill>
                    <a:latin typeface="UGent Panno Text" panose="02000506040000040003" pitchFamily="2" charset="0"/>
                  </a:rPr>
                  <a:t>HomeSimGym</a:t>
                </a:r>
              </a:p>
              <a:p>
                <a:pPr algn="ctr"/>
                <a:r>
                  <a:rPr lang="en-BE" dirty="0">
                    <a:solidFill>
                      <a:schemeClr val="tx1"/>
                    </a:solidFill>
                    <a:latin typeface="UGent Panno Text" panose="02000506040000040003" pitchFamily="2" charset="0"/>
                  </a:rPr>
                  <a:t>(Matlab engine)</a:t>
                </a:r>
                <a:endParaRPr lang="en-BE" sz="2000" dirty="0">
                  <a:solidFill>
                    <a:schemeClr val="tx1"/>
                  </a:solidFill>
                  <a:latin typeface="UGent Panno Text" panose="02000506040000040003" pitchFamily="2" charset="0"/>
                </a:endParaRPr>
              </a:p>
            </p:txBody>
          </p:sp>
          <p:sp>
            <p:nvSpPr>
              <p:cNvPr id="18" name="Rectangle 17">
                <a:extLst>
                  <a:ext uri="{FF2B5EF4-FFF2-40B4-BE49-F238E27FC236}">
                    <a16:creationId xmlns:a16="http://schemas.microsoft.com/office/drawing/2014/main" id="{B7D7C6D9-49DE-FF00-5A86-B2E7BFC474E8}"/>
                  </a:ext>
                </a:extLst>
              </p:cNvPr>
              <p:cNvSpPr/>
              <p:nvPr/>
            </p:nvSpPr>
            <p:spPr>
              <a:xfrm>
                <a:off x="2770216" y="2381458"/>
                <a:ext cx="583497" cy="163597"/>
              </a:xfrm>
              <a:prstGeom prst="rect">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BE"/>
              </a:p>
            </p:txBody>
          </p:sp>
        </p:grpSp>
        <p:sp>
          <p:nvSpPr>
            <p:cNvPr id="25" name="Trapezium 24">
              <a:extLst>
                <a:ext uri="{FF2B5EF4-FFF2-40B4-BE49-F238E27FC236}">
                  <a16:creationId xmlns:a16="http://schemas.microsoft.com/office/drawing/2014/main" id="{4446E1A9-BA9A-77E7-7E37-35483CA20835}"/>
                </a:ext>
              </a:extLst>
            </p:cNvPr>
            <p:cNvSpPr/>
            <p:nvPr/>
          </p:nvSpPr>
          <p:spPr>
            <a:xfrm rot="16200000">
              <a:off x="3563267" y="4318052"/>
              <a:ext cx="1915703" cy="670733"/>
            </a:xfrm>
            <a:prstGeom prst="trapezoid">
              <a:avLst>
                <a:gd name="adj" fmla="val 80505"/>
              </a:avLst>
            </a:prstGeom>
            <a:gradFill flip="none" rotWithShape="1">
              <a:gsLst>
                <a:gs pos="0">
                  <a:srgbClr val="97D5EB">
                    <a:tint val="66000"/>
                    <a:satMod val="160000"/>
                  </a:srgbClr>
                </a:gs>
                <a:gs pos="50000">
                  <a:srgbClr val="97D5EB">
                    <a:tint val="44500"/>
                    <a:satMod val="160000"/>
                  </a:srgbClr>
                </a:gs>
                <a:gs pos="100000">
                  <a:srgbClr val="97D5EB">
                    <a:tint val="23500"/>
                    <a:satMod val="160000"/>
                  </a:srgbClr>
                </a:gs>
              </a:gsLst>
              <a:lin ang="5400000" scaled="1"/>
              <a:tileRect/>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400" dirty="0"/>
            </a:p>
          </p:txBody>
        </p:sp>
        <p:pic>
          <p:nvPicPr>
            <p:cNvPr id="40" name="Picture 39">
              <a:extLst>
                <a:ext uri="{FF2B5EF4-FFF2-40B4-BE49-F238E27FC236}">
                  <a16:creationId xmlns:a16="http://schemas.microsoft.com/office/drawing/2014/main" id="{5AE10242-4CB8-168F-AED2-1CD8DF7BEE24}"/>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3779420" y="3833530"/>
              <a:ext cx="701675" cy="529552"/>
            </a:xfrm>
            <a:prstGeom prst="rect">
              <a:avLst/>
            </a:prstGeom>
          </p:spPr>
        </p:pic>
      </p:grpSp>
      <p:pic>
        <p:nvPicPr>
          <p:cNvPr id="49" name="Picture 48">
            <a:extLst>
              <a:ext uri="{FF2B5EF4-FFF2-40B4-BE49-F238E27FC236}">
                <a16:creationId xmlns:a16="http://schemas.microsoft.com/office/drawing/2014/main" id="{5B9979DD-E77B-D6ED-0799-836944A087DD}"/>
              </a:ext>
            </a:extLst>
          </p:cNvPr>
          <p:cNvPicPr>
            <a:picLocks noChangeAspect="1"/>
          </p:cNvPicPr>
          <p:nvPr/>
        </p:nvPicPr>
        <p:blipFill rotWithShape="1">
          <a:blip r:embed="rId5">
            <a:clrChange>
              <a:clrFrom>
                <a:srgbClr val="FFFFFF"/>
              </a:clrFrom>
              <a:clrTo>
                <a:srgbClr val="FFFFFF">
                  <a:alpha val="0"/>
                </a:srgbClr>
              </a:clrTo>
            </a:clrChange>
            <a:extLst>
              <a:ext uri="{28A0092B-C50C-407E-A947-70E740481C1C}">
                <a14:useLocalDpi xmlns:a14="http://schemas.microsoft.com/office/drawing/2010/main" val="0"/>
              </a:ext>
            </a:extLst>
          </a:blip>
          <a:srcRect l="46564" t="54598"/>
          <a:stretch/>
        </p:blipFill>
        <p:spPr>
          <a:xfrm>
            <a:off x="5121503" y="3623094"/>
            <a:ext cx="6393729" cy="2291274"/>
          </a:xfrm>
          <a:prstGeom prst="rect">
            <a:avLst/>
          </a:prstGeom>
        </p:spPr>
      </p:pic>
      <p:sp>
        <p:nvSpPr>
          <p:cNvPr id="23" name="Slide Number Placeholder 22">
            <a:extLst>
              <a:ext uri="{FF2B5EF4-FFF2-40B4-BE49-F238E27FC236}">
                <a16:creationId xmlns:a16="http://schemas.microsoft.com/office/drawing/2014/main" id="{8C83C9C9-B5CF-9BA1-346E-D7865AB21FE5}"/>
              </a:ext>
            </a:extLst>
          </p:cNvPr>
          <p:cNvSpPr>
            <a:spLocks noGrp="1"/>
          </p:cNvSpPr>
          <p:nvPr>
            <p:ph type="sldNum" sz="quarter" idx="11"/>
          </p:nvPr>
        </p:nvSpPr>
        <p:spPr/>
        <p:txBody>
          <a:bodyPr/>
          <a:lstStyle/>
          <a:p>
            <a:pPr>
              <a:defRPr/>
            </a:pPr>
            <a:fld id="{4908A2AA-746C-4DBB-9102-670E2680A299}" type="slidenum">
              <a:rPr lang="en-US" smtClean="0"/>
              <a:pPr>
                <a:defRPr/>
              </a:pPr>
              <a:t>39</a:t>
            </a:fld>
            <a:endParaRPr lang="en-US"/>
          </a:p>
        </p:txBody>
      </p:sp>
    </p:spTree>
    <p:extLst>
      <p:ext uri="{BB962C8B-B14F-4D97-AF65-F5344CB8AC3E}">
        <p14:creationId xmlns:p14="http://schemas.microsoft.com/office/powerpoint/2010/main" val="266132722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49"/>
                                        </p:tgtEl>
                                        <p:attrNameLst>
                                          <p:attrName>style.visibility</p:attrName>
                                        </p:attrNameLst>
                                      </p:cBhvr>
                                      <p:to>
                                        <p:strVal val="visible"/>
                                      </p:to>
                                    </p:set>
                                    <p:animEffect transition="in" filter="fade">
                                      <p:cBhvr>
                                        <p:cTn id="7" dur="500"/>
                                        <p:tgtEl>
                                          <p:spTgt spid="49"/>
                                        </p:tgtEl>
                                      </p:cBhvr>
                                    </p:animEffect>
                                  </p:childTnLst>
                                </p:cTn>
                              </p:par>
                              <p:par>
                                <p:cTn id="8" presetID="10" presetClass="entr" presetSubtype="0" fill="hold" nodeType="withEffect">
                                  <p:stCondLst>
                                    <p:cond delay="0"/>
                                  </p:stCondLst>
                                  <p:childTnLst>
                                    <p:set>
                                      <p:cBhvr>
                                        <p:cTn id="9" dur="1" fill="hold">
                                          <p:stCondLst>
                                            <p:cond delay="0"/>
                                          </p:stCondLst>
                                        </p:cTn>
                                        <p:tgtEl>
                                          <p:spTgt spid="43"/>
                                        </p:tgtEl>
                                        <p:attrNameLst>
                                          <p:attrName>style.visibility</p:attrName>
                                        </p:attrNameLst>
                                      </p:cBhvr>
                                      <p:to>
                                        <p:strVal val="visible"/>
                                      </p:to>
                                    </p:set>
                                    <p:animEffect transition="in" filter="fade">
                                      <p:cBhvr>
                                        <p:cTn id="10" dur="500"/>
                                        <p:tgtEl>
                                          <p:spTgt spid="4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 name="Freeform 45">
            <a:extLst>
              <a:ext uri="{FF2B5EF4-FFF2-40B4-BE49-F238E27FC236}">
                <a16:creationId xmlns:a16="http://schemas.microsoft.com/office/drawing/2014/main" id="{629388D0-A017-32BD-8E67-E577C7275055}"/>
              </a:ext>
            </a:extLst>
          </p:cNvPr>
          <p:cNvSpPr/>
          <p:nvPr/>
        </p:nvSpPr>
        <p:spPr>
          <a:xfrm>
            <a:off x="2316824" y="2973406"/>
            <a:ext cx="540327" cy="3065319"/>
          </a:xfrm>
          <a:custGeom>
            <a:avLst/>
            <a:gdLst>
              <a:gd name="connsiteX0" fmla="*/ 540327 w 540327"/>
              <a:gd name="connsiteY0" fmla="*/ 0 h 2701637"/>
              <a:gd name="connsiteX1" fmla="*/ 0 w 540327"/>
              <a:gd name="connsiteY1" fmla="*/ 2057400 h 2701637"/>
              <a:gd name="connsiteX2" fmla="*/ 0 w 540327"/>
              <a:gd name="connsiteY2" fmla="*/ 2701637 h 2701637"/>
              <a:gd name="connsiteX3" fmla="*/ 540327 w 540327"/>
              <a:gd name="connsiteY3" fmla="*/ 2556164 h 2701637"/>
              <a:gd name="connsiteX4" fmla="*/ 540327 w 540327"/>
              <a:gd name="connsiteY4" fmla="*/ 0 h 2701637"/>
              <a:gd name="connsiteX0" fmla="*/ 540327 w 540327"/>
              <a:gd name="connsiteY0" fmla="*/ 509155 h 3210792"/>
              <a:gd name="connsiteX1" fmla="*/ 0 w 540327"/>
              <a:gd name="connsiteY1" fmla="*/ 0 h 3210792"/>
              <a:gd name="connsiteX2" fmla="*/ 0 w 540327"/>
              <a:gd name="connsiteY2" fmla="*/ 3210792 h 3210792"/>
              <a:gd name="connsiteX3" fmla="*/ 540327 w 540327"/>
              <a:gd name="connsiteY3" fmla="*/ 3065319 h 3210792"/>
              <a:gd name="connsiteX4" fmla="*/ 540327 w 540327"/>
              <a:gd name="connsiteY4" fmla="*/ 509155 h 3210792"/>
              <a:gd name="connsiteX0" fmla="*/ 540327 w 540327"/>
              <a:gd name="connsiteY0" fmla="*/ 509155 h 3065319"/>
              <a:gd name="connsiteX1" fmla="*/ 0 w 540327"/>
              <a:gd name="connsiteY1" fmla="*/ 0 h 3065319"/>
              <a:gd name="connsiteX2" fmla="*/ 259773 w 540327"/>
              <a:gd name="connsiteY2" fmla="*/ 872838 h 3065319"/>
              <a:gd name="connsiteX3" fmla="*/ 540327 w 540327"/>
              <a:gd name="connsiteY3" fmla="*/ 3065319 h 3065319"/>
              <a:gd name="connsiteX4" fmla="*/ 540327 w 540327"/>
              <a:gd name="connsiteY4" fmla="*/ 509155 h 3065319"/>
              <a:gd name="connsiteX0" fmla="*/ 540327 w 540327"/>
              <a:gd name="connsiteY0" fmla="*/ 509155 h 3065319"/>
              <a:gd name="connsiteX1" fmla="*/ 0 w 540327"/>
              <a:gd name="connsiteY1" fmla="*/ 0 h 3065319"/>
              <a:gd name="connsiteX2" fmla="*/ 20782 w 540327"/>
              <a:gd name="connsiteY2" fmla="*/ 613065 h 3065319"/>
              <a:gd name="connsiteX3" fmla="*/ 540327 w 540327"/>
              <a:gd name="connsiteY3" fmla="*/ 3065319 h 3065319"/>
              <a:gd name="connsiteX4" fmla="*/ 540327 w 540327"/>
              <a:gd name="connsiteY4" fmla="*/ 509155 h 306531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40327" h="3065319">
                <a:moveTo>
                  <a:pt x="540327" y="509155"/>
                </a:moveTo>
                <a:lnTo>
                  <a:pt x="0" y="0"/>
                </a:lnTo>
                <a:lnTo>
                  <a:pt x="20782" y="613065"/>
                </a:lnTo>
                <a:lnTo>
                  <a:pt x="540327" y="3065319"/>
                </a:lnTo>
                <a:lnTo>
                  <a:pt x="540327" y="509155"/>
                </a:lnTo>
                <a:close/>
              </a:path>
            </a:pathLst>
          </a:custGeom>
          <a:solidFill>
            <a:schemeClr val="accent4">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BE"/>
          </a:p>
        </p:txBody>
      </p:sp>
      <p:sp>
        <p:nvSpPr>
          <p:cNvPr id="45" name="Process 44">
            <a:extLst>
              <a:ext uri="{FF2B5EF4-FFF2-40B4-BE49-F238E27FC236}">
                <a16:creationId xmlns:a16="http://schemas.microsoft.com/office/drawing/2014/main" id="{C314B4BE-8D08-BA77-DC05-66976B5BC48B}"/>
              </a:ext>
            </a:extLst>
          </p:cNvPr>
          <p:cNvSpPr/>
          <p:nvPr/>
        </p:nvSpPr>
        <p:spPr>
          <a:xfrm>
            <a:off x="2836369" y="3503344"/>
            <a:ext cx="9059183" cy="2531580"/>
          </a:xfrm>
          <a:prstGeom prst="flowChartProcess">
            <a:avLst/>
          </a:prstGeom>
          <a:solidFill>
            <a:schemeClr val="accent4">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BE"/>
          </a:p>
        </p:txBody>
      </p:sp>
      <p:sp>
        <p:nvSpPr>
          <p:cNvPr id="2" name="Title 1">
            <a:extLst>
              <a:ext uri="{FF2B5EF4-FFF2-40B4-BE49-F238E27FC236}">
                <a16:creationId xmlns:a16="http://schemas.microsoft.com/office/drawing/2014/main" id="{540976BA-C754-4898-FED7-4D8DB1239279}"/>
              </a:ext>
            </a:extLst>
          </p:cNvPr>
          <p:cNvSpPr>
            <a:spLocks noGrp="1"/>
          </p:cNvSpPr>
          <p:nvPr>
            <p:ph type="title"/>
          </p:nvPr>
        </p:nvSpPr>
        <p:spPr/>
        <p:txBody>
          <a:bodyPr/>
          <a:lstStyle/>
          <a:p>
            <a:r>
              <a:rPr lang="en-BE" dirty="0"/>
              <a:t>HomeLabGym</a:t>
            </a:r>
          </a:p>
        </p:txBody>
      </p:sp>
      <p:sp>
        <p:nvSpPr>
          <p:cNvPr id="4" name="Footer Placeholder 3">
            <a:extLst>
              <a:ext uri="{FF2B5EF4-FFF2-40B4-BE49-F238E27FC236}">
                <a16:creationId xmlns:a16="http://schemas.microsoft.com/office/drawing/2014/main" id="{C115EB78-28A3-2BF0-B2E3-B8240F415AD3}"/>
              </a:ext>
            </a:extLst>
          </p:cNvPr>
          <p:cNvSpPr>
            <a:spLocks noGrp="1"/>
          </p:cNvSpPr>
          <p:nvPr>
            <p:ph type="ftr" sz="quarter" idx="10"/>
          </p:nvPr>
        </p:nvSpPr>
        <p:spPr/>
        <p:txBody>
          <a:bodyPr/>
          <a:lstStyle/>
          <a:p>
            <a:pPr>
              <a:defRPr/>
            </a:pPr>
            <a:r>
              <a:rPr lang="en-US"/>
              <a:t>C. Develder, "AI4E: Data-efficient and scalable algorithmss to exploit energy flexibility"</a:t>
            </a:r>
            <a:endParaRPr lang="en-US" dirty="0"/>
          </a:p>
        </p:txBody>
      </p:sp>
      <p:sp>
        <p:nvSpPr>
          <p:cNvPr id="7" name="Rechthoek: afgeronde hoeken 6">
            <a:extLst>
              <a:ext uri="{FF2B5EF4-FFF2-40B4-BE49-F238E27FC236}">
                <a16:creationId xmlns:a16="http://schemas.microsoft.com/office/drawing/2014/main" id="{F2E571BD-C3D6-A06F-CC60-6712C59C049B}"/>
              </a:ext>
            </a:extLst>
          </p:cNvPr>
          <p:cNvSpPr/>
          <p:nvPr/>
        </p:nvSpPr>
        <p:spPr>
          <a:xfrm>
            <a:off x="643342" y="2792007"/>
            <a:ext cx="1250721" cy="909563"/>
          </a:xfrm>
          <a:prstGeom prst="roundRect">
            <a:avLst/>
          </a:prstGeom>
          <a:solidFill>
            <a:srgbClr val="EAB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2000" dirty="0">
                <a:solidFill>
                  <a:schemeClr val="tx1"/>
                </a:solidFill>
              </a:rPr>
              <a:t>Controller</a:t>
            </a:r>
          </a:p>
        </p:txBody>
      </p:sp>
      <p:grpSp>
        <p:nvGrpSpPr>
          <p:cNvPr id="20" name="Group 19">
            <a:extLst>
              <a:ext uri="{FF2B5EF4-FFF2-40B4-BE49-F238E27FC236}">
                <a16:creationId xmlns:a16="http://schemas.microsoft.com/office/drawing/2014/main" id="{A7A9F3A0-1A57-488E-F6CE-605DDD0E8B07}"/>
              </a:ext>
            </a:extLst>
          </p:cNvPr>
          <p:cNvGrpSpPr/>
          <p:nvPr/>
        </p:nvGrpSpPr>
        <p:grpSpPr>
          <a:xfrm>
            <a:off x="1894062" y="3021209"/>
            <a:ext cx="812829" cy="412586"/>
            <a:chOff x="1931363" y="2771754"/>
            <a:chExt cx="1020305" cy="412586"/>
          </a:xfrm>
        </p:grpSpPr>
        <p:cxnSp>
          <p:nvCxnSpPr>
            <p:cNvPr id="8" name="Rechte verbindingslijn met pijl 8">
              <a:extLst>
                <a:ext uri="{FF2B5EF4-FFF2-40B4-BE49-F238E27FC236}">
                  <a16:creationId xmlns:a16="http://schemas.microsoft.com/office/drawing/2014/main" id="{78FB20F1-029E-97F0-E768-8E49462FC731}"/>
                </a:ext>
              </a:extLst>
            </p:cNvPr>
            <p:cNvCxnSpPr>
              <a:cxnSpLocks/>
            </p:cNvCxnSpPr>
            <p:nvPr/>
          </p:nvCxnSpPr>
          <p:spPr>
            <a:xfrm>
              <a:off x="1931363" y="2771754"/>
              <a:ext cx="1020304" cy="0"/>
            </a:xfrm>
            <a:prstGeom prst="straightConnector1">
              <a:avLst/>
            </a:prstGeom>
            <a:ln w="28575" cmpd="sng">
              <a:solidFill>
                <a:schemeClr val="accent2"/>
              </a:solidFill>
              <a:tailEnd type="triangle"/>
            </a:ln>
            <a:effectLst/>
          </p:spPr>
          <p:style>
            <a:lnRef idx="2">
              <a:schemeClr val="accent1"/>
            </a:lnRef>
            <a:fillRef idx="0">
              <a:schemeClr val="accent1"/>
            </a:fillRef>
            <a:effectRef idx="1">
              <a:schemeClr val="accent1"/>
            </a:effectRef>
            <a:fontRef idx="minor">
              <a:schemeClr val="tx1"/>
            </a:fontRef>
          </p:style>
        </p:cxnSp>
        <p:cxnSp>
          <p:nvCxnSpPr>
            <p:cNvPr id="9" name="Rechte verbindingslijn met pijl 9">
              <a:extLst>
                <a:ext uri="{FF2B5EF4-FFF2-40B4-BE49-F238E27FC236}">
                  <a16:creationId xmlns:a16="http://schemas.microsoft.com/office/drawing/2014/main" id="{D62651C3-B674-8099-4F08-0350EED1C355}"/>
                </a:ext>
              </a:extLst>
            </p:cNvPr>
            <p:cNvCxnSpPr>
              <a:cxnSpLocks/>
            </p:cNvCxnSpPr>
            <p:nvPr/>
          </p:nvCxnSpPr>
          <p:spPr>
            <a:xfrm flipH="1">
              <a:off x="1931363" y="3184340"/>
              <a:ext cx="1020305" cy="0"/>
            </a:xfrm>
            <a:prstGeom prst="straightConnector1">
              <a:avLst/>
            </a:prstGeom>
            <a:ln w="28575" cmpd="sng">
              <a:solidFill>
                <a:schemeClr val="accent2"/>
              </a:solidFill>
              <a:tailEnd type="triangle"/>
            </a:ln>
            <a:effectLst/>
          </p:spPr>
          <p:style>
            <a:lnRef idx="2">
              <a:schemeClr val="accent1"/>
            </a:lnRef>
            <a:fillRef idx="0">
              <a:schemeClr val="accent1"/>
            </a:fillRef>
            <a:effectRef idx="1">
              <a:schemeClr val="accent1"/>
            </a:effectRef>
            <a:fontRef idx="minor">
              <a:schemeClr val="tx1"/>
            </a:fontRef>
          </p:style>
        </p:cxnSp>
      </p:grpSp>
      <p:sp>
        <p:nvSpPr>
          <p:cNvPr id="10" name="Tekstvak 12">
            <a:extLst>
              <a:ext uri="{FF2B5EF4-FFF2-40B4-BE49-F238E27FC236}">
                <a16:creationId xmlns:a16="http://schemas.microsoft.com/office/drawing/2014/main" id="{D1EA0247-DDF6-E011-9436-73C2DB9DD408}"/>
              </a:ext>
            </a:extLst>
          </p:cNvPr>
          <p:cNvSpPr txBox="1"/>
          <p:nvPr/>
        </p:nvSpPr>
        <p:spPr>
          <a:xfrm>
            <a:off x="1966778" y="2612339"/>
            <a:ext cx="625491" cy="338554"/>
          </a:xfrm>
          <a:prstGeom prst="rect">
            <a:avLst/>
          </a:prstGeom>
          <a:noFill/>
        </p:spPr>
        <p:txBody>
          <a:bodyPr wrap="none" rtlCol="0">
            <a:spAutoFit/>
          </a:bodyPr>
          <a:lstStyle/>
          <a:p>
            <a:pPr algn="ctr"/>
            <a:r>
              <a:rPr lang="en-US" dirty="0">
                <a:latin typeface="+mn-lt"/>
              </a:rPr>
              <a:t>action</a:t>
            </a:r>
          </a:p>
        </p:txBody>
      </p:sp>
      <p:sp>
        <p:nvSpPr>
          <p:cNvPr id="11" name="Tekstvak 13">
            <a:extLst>
              <a:ext uri="{FF2B5EF4-FFF2-40B4-BE49-F238E27FC236}">
                <a16:creationId xmlns:a16="http://schemas.microsoft.com/office/drawing/2014/main" id="{3606227F-A4D3-57EA-6BD5-B7D76E81BBC1}"/>
              </a:ext>
            </a:extLst>
          </p:cNvPr>
          <p:cNvSpPr txBox="1"/>
          <p:nvPr/>
        </p:nvSpPr>
        <p:spPr>
          <a:xfrm>
            <a:off x="1809683" y="3531846"/>
            <a:ext cx="939680" cy="584775"/>
          </a:xfrm>
          <a:prstGeom prst="rect">
            <a:avLst/>
          </a:prstGeom>
          <a:noFill/>
        </p:spPr>
        <p:txBody>
          <a:bodyPr wrap="none" rtlCol="0">
            <a:spAutoFit/>
          </a:bodyPr>
          <a:lstStyle/>
          <a:p>
            <a:pPr algn="ctr"/>
            <a:r>
              <a:rPr lang="en-US" dirty="0">
                <a:latin typeface="+mn-lt"/>
              </a:rPr>
              <a:t>next state,</a:t>
            </a:r>
          </a:p>
          <a:p>
            <a:pPr algn="ctr"/>
            <a:r>
              <a:rPr lang="en-US" dirty="0">
                <a:latin typeface="+mn-lt"/>
              </a:rPr>
              <a:t>reward</a:t>
            </a:r>
          </a:p>
        </p:txBody>
      </p:sp>
      <p:cxnSp>
        <p:nvCxnSpPr>
          <p:cNvPr id="15" name="Straight Connector 14">
            <a:extLst>
              <a:ext uri="{FF2B5EF4-FFF2-40B4-BE49-F238E27FC236}">
                <a16:creationId xmlns:a16="http://schemas.microsoft.com/office/drawing/2014/main" id="{4F30A060-D121-798A-EB78-49F81D96FB9A}"/>
              </a:ext>
            </a:extLst>
          </p:cNvPr>
          <p:cNvCxnSpPr>
            <a:cxnSpLocks/>
          </p:cNvCxnSpPr>
          <p:nvPr/>
        </p:nvCxnSpPr>
        <p:spPr>
          <a:xfrm>
            <a:off x="2316824" y="1357255"/>
            <a:ext cx="0" cy="3959116"/>
          </a:xfrm>
          <a:prstGeom prst="line">
            <a:avLst/>
          </a:prstGeom>
          <a:ln w="19050">
            <a:solidFill>
              <a:schemeClr val="accent3"/>
            </a:solidFill>
            <a:prstDash val="dash"/>
          </a:ln>
        </p:spPr>
        <p:style>
          <a:lnRef idx="1">
            <a:schemeClr val="accent1"/>
          </a:lnRef>
          <a:fillRef idx="0">
            <a:schemeClr val="accent1"/>
          </a:fillRef>
          <a:effectRef idx="0">
            <a:schemeClr val="accent1"/>
          </a:effectRef>
          <a:fontRef idx="minor">
            <a:schemeClr val="tx1"/>
          </a:fontRef>
        </p:style>
      </p:cxnSp>
      <p:grpSp>
        <p:nvGrpSpPr>
          <p:cNvPr id="42" name="Group 41">
            <a:extLst>
              <a:ext uri="{FF2B5EF4-FFF2-40B4-BE49-F238E27FC236}">
                <a16:creationId xmlns:a16="http://schemas.microsoft.com/office/drawing/2014/main" id="{3CDCEFED-A9E4-420F-3E8C-52FC9844C173}"/>
              </a:ext>
            </a:extLst>
          </p:cNvPr>
          <p:cNvGrpSpPr/>
          <p:nvPr/>
        </p:nvGrpSpPr>
        <p:grpSpPr>
          <a:xfrm>
            <a:off x="3009209" y="1086364"/>
            <a:ext cx="8710427" cy="2349225"/>
            <a:chOff x="2770216" y="1169492"/>
            <a:chExt cx="8710427" cy="2349225"/>
          </a:xfrm>
        </p:grpSpPr>
        <p:grpSp>
          <p:nvGrpSpPr>
            <p:cNvPr id="30" name="Group 29">
              <a:extLst>
                <a:ext uri="{FF2B5EF4-FFF2-40B4-BE49-F238E27FC236}">
                  <a16:creationId xmlns:a16="http://schemas.microsoft.com/office/drawing/2014/main" id="{4094049D-6068-4A89-B553-4274F1D2633F}"/>
                </a:ext>
              </a:extLst>
            </p:cNvPr>
            <p:cNvGrpSpPr/>
            <p:nvPr/>
          </p:nvGrpSpPr>
          <p:grpSpPr>
            <a:xfrm>
              <a:off x="2770216" y="1686657"/>
              <a:ext cx="1441561" cy="1047542"/>
              <a:chOff x="2770216" y="2381458"/>
              <a:chExt cx="1441561" cy="1047542"/>
            </a:xfrm>
          </p:grpSpPr>
          <p:sp>
            <p:nvSpPr>
              <p:cNvPr id="28" name="Rectangle 27">
                <a:extLst>
                  <a:ext uri="{FF2B5EF4-FFF2-40B4-BE49-F238E27FC236}">
                    <a16:creationId xmlns:a16="http://schemas.microsoft.com/office/drawing/2014/main" id="{236BFE4B-74A5-5D21-A7B3-5202F09F8C12}"/>
                  </a:ext>
                </a:extLst>
              </p:cNvPr>
              <p:cNvSpPr/>
              <p:nvPr/>
            </p:nvSpPr>
            <p:spPr>
              <a:xfrm>
                <a:off x="2770216" y="2542552"/>
                <a:ext cx="1441561" cy="886448"/>
              </a:xfrm>
              <a:prstGeom prst="rect">
                <a:avLst/>
              </a:prstGeom>
              <a:solidFill>
                <a:srgbClr val="EAB3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BE" sz="2000" dirty="0">
                    <a:solidFill>
                      <a:schemeClr val="tx1"/>
                    </a:solidFill>
                    <a:latin typeface="UGent Panno Text" panose="02000506040000040003" pitchFamily="2" charset="0"/>
                  </a:rPr>
                  <a:t>HomeLabGym</a:t>
                </a:r>
              </a:p>
            </p:txBody>
          </p:sp>
          <p:sp>
            <p:nvSpPr>
              <p:cNvPr id="29" name="Rectangle 28">
                <a:extLst>
                  <a:ext uri="{FF2B5EF4-FFF2-40B4-BE49-F238E27FC236}">
                    <a16:creationId xmlns:a16="http://schemas.microsoft.com/office/drawing/2014/main" id="{89CD5D9D-0F54-0662-7D53-BE7FBB79B849}"/>
                  </a:ext>
                </a:extLst>
              </p:cNvPr>
              <p:cNvSpPr/>
              <p:nvPr/>
            </p:nvSpPr>
            <p:spPr>
              <a:xfrm>
                <a:off x="2770216" y="2381458"/>
                <a:ext cx="583497" cy="163597"/>
              </a:xfrm>
              <a:prstGeom prst="rect">
                <a:avLst/>
              </a:prstGeom>
              <a:solidFill>
                <a:srgbClr val="EAB3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BE"/>
              </a:p>
            </p:txBody>
          </p:sp>
        </p:grpSp>
        <p:pic>
          <p:nvPicPr>
            <p:cNvPr id="5" name="Afbeelding 4">
              <a:extLst>
                <a:ext uri="{FF2B5EF4-FFF2-40B4-BE49-F238E27FC236}">
                  <a16:creationId xmlns:a16="http://schemas.microsoft.com/office/drawing/2014/main" id="{FFA72E75-D582-E907-FBA7-61CE774C7CDA}"/>
                </a:ext>
              </a:extLst>
            </p:cNvPr>
            <p:cNvPicPr>
              <a:picLocks noChangeAspect="1"/>
            </p:cNvPicPr>
            <p:nvPr/>
          </p:nvPicPr>
          <p:blipFill>
            <a:blip r:embed="rId3">
              <a:clrChange>
                <a:clrFrom>
                  <a:srgbClr val="FFFFFF"/>
                </a:clrFrom>
                <a:clrTo>
                  <a:srgbClr val="FFFFFF">
                    <a:alpha val="0"/>
                  </a:srgbClr>
                </a:clrTo>
              </a:clrChange>
            </a:blip>
            <a:stretch>
              <a:fillRect/>
            </a:stretch>
          </p:blipFill>
          <p:spPr>
            <a:xfrm>
              <a:off x="7610201" y="1169492"/>
              <a:ext cx="3870442" cy="2349225"/>
            </a:xfrm>
            <a:prstGeom prst="rect">
              <a:avLst/>
            </a:prstGeom>
          </p:spPr>
        </p:pic>
        <p:sp>
          <p:nvSpPr>
            <p:cNvPr id="6" name="Trapezium 5">
              <a:extLst>
                <a:ext uri="{FF2B5EF4-FFF2-40B4-BE49-F238E27FC236}">
                  <a16:creationId xmlns:a16="http://schemas.microsoft.com/office/drawing/2014/main" id="{929A4754-5EAE-12D8-25EC-BD1ABC5BACB5}"/>
                </a:ext>
              </a:extLst>
            </p:cNvPr>
            <p:cNvSpPr/>
            <p:nvPr/>
          </p:nvSpPr>
          <p:spPr>
            <a:xfrm rot="5400000">
              <a:off x="8042067" y="1955588"/>
              <a:ext cx="1724300" cy="693891"/>
            </a:xfrm>
            <a:prstGeom prst="trapezoid">
              <a:avLst>
                <a:gd name="adj" fmla="val 28056"/>
              </a:avLst>
            </a:prstGeom>
            <a:gradFill flip="none" rotWithShape="1">
              <a:gsLst>
                <a:gs pos="0">
                  <a:schemeClr val="accent2">
                    <a:lumMod val="60000"/>
                    <a:lumOff val="40000"/>
                    <a:tint val="66000"/>
                    <a:satMod val="160000"/>
                  </a:schemeClr>
                </a:gs>
                <a:gs pos="50000">
                  <a:schemeClr val="accent2">
                    <a:lumMod val="60000"/>
                    <a:lumOff val="40000"/>
                    <a:tint val="44500"/>
                    <a:satMod val="160000"/>
                  </a:schemeClr>
                </a:gs>
                <a:gs pos="100000">
                  <a:schemeClr val="accent2">
                    <a:lumMod val="60000"/>
                    <a:lumOff val="40000"/>
                    <a:tint val="23500"/>
                    <a:satMod val="160000"/>
                  </a:schemeClr>
                </a:gs>
              </a:gsLst>
              <a:lin ang="5400000" scaled="1"/>
              <a:tileRect/>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400" dirty="0"/>
            </a:p>
          </p:txBody>
        </p:sp>
        <p:sp>
          <p:nvSpPr>
            <p:cNvPr id="3" name="Trapezium 2">
              <a:extLst>
                <a:ext uri="{FF2B5EF4-FFF2-40B4-BE49-F238E27FC236}">
                  <a16:creationId xmlns:a16="http://schemas.microsoft.com/office/drawing/2014/main" id="{F7BF410B-8843-4915-B71F-1EAE7CB526B3}"/>
                </a:ext>
              </a:extLst>
            </p:cNvPr>
            <p:cNvSpPr/>
            <p:nvPr/>
          </p:nvSpPr>
          <p:spPr>
            <a:xfrm rot="16200000">
              <a:off x="3589292" y="2003778"/>
              <a:ext cx="1915703" cy="670733"/>
            </a:xfrm>
            <a:prstGeom prst="trapezoid">
              <a:avLst>
                <a:gd name="adj" fmla="val 80505"/>
              </a:avLst>
            </a:prstGeom>
            <a:gradFill flip="none" rotWithShape="1">
              <a:gsLst>
                <a:gs pos="0">
                  <a:srgbClr val="EAB200">
                    <a:tint val="66000"/>
                    <a:satMod val="160000"/>
                  </a:srgbClr>
                </a:gs>
                <a:gs pos="50000">
                  <a:srgbClr val="EAB200">
                    <a:tint val="44500"/>
                    <a:satMod val="160000"/>
                  </a:srgbClr>
                </a:gs>
                <a:gs pos="100000">
                  <a:srgbClr val="EAB200">
                    <a:tint val="23500"/>
                    <a:satMod val="160000"/>
                  </a:srgbClr>
                </a:gs>
              </a:gsLst>
              <a:lin ang="5400000" scaled="1"/>
              <a:tileRect/>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400" dirty="0"/>
            </a:p>
          </p:txBody>
        </p:sp>
        <p:sp>
          <p:nvSpPr>
            <p:cNvPr id="14" name="Rechthoek: afgeronde hoeken 21">
              <a:extLst>
                <a:ext uri="{FF2B5EF4-FFF2-40B4-BE49-F238E27FC236}">
                  <a16:creationId xmlns:a16="http://schemas.microsoft.com/office/drawing/2014/main" id="{D49746CE-828D-84AE-4B6C-58E5D25168D3}"/>
                </a:ext>
              </a:extLst>
            </p:cNvPr>
            <p:cNvSpPr/>
            <p:nvPr/>
          </p:nvSpPr>
          <p:spPr>
            <a:xfrm>
              <a:off x="4867787" y="1381292"/>
              <a:ext cx="1077721" cy="406400"/>
            </a:xfrm>
            <a:prstGeom prst="roundRect">
              <a:avLst/>
            </a:prstGeom>
            <a:solidFill>
              <a:srgbClr val="EAB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1400" dirty="0">
                  <a:solidFill>
                    <a:schemeClr val="tx1"/>
                  </a:solidFill>
                </a:rPr>
                <a:t>PV</a:t>
              </a:r>
            </a:p>
          </p:txBody>
        </p:sp>
        <p:sp>
          <p:nvSpPr>
            <p:cNvPr id="16" name="Rechthoek: afgeronde hoeken 22">
              <a:extLst>
                <a:ext uri="{FF2B5EF4-FFF2-40B4-BE49-F238E27FC236}">
                  <a16:creationId xmlns:a16="http://schemas.microsoft.com/office/drawing/2014/main" id="{872DC1C7-96E7-CA2A-ADB9-6621BC2840C6}"/>
                </a:ext>
              </a:extLst>
            </p:cNvPr>
            <p:cNvSpPr/>
            <p:nvPr/>
          </p:nvSpPr>
          <p:spPr>
            <a:xfrm>
              <a:off x="4867787" y="1884394"/>
              <a:ext cx="1089035" cy="406400"/>
            </a:xfrm>
            <a:prstGeom prst="roundRect">
              <a:avLst/>
            </a:prstGeom>
            <a:solidFill>
              <a:srgbClr val="EAB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1400" dirty="0">
                  <a:solidFill>
                    <a:schemeClr val="tx1"/>
                  </a:solidFill>
                </a:rPr>
                <a:t>Battery</a:t>
              </a:r>
            </a:p>
          </p:txBody>
        </p:sp>
        <p:sp>
          <p:nvSpPr>
            <p:cNvPr id="17" name="Rechthoek: afgeronde hoeken 23">
              <a:extLst>
                <a:ext uri="{FF2B5EF4-FFF2-40B4-BE49-F238E27FC236}">
                  <a16:creationId xmlns:a16="http://schemas.microsoft.com/office/drawing/2014/main" id="{BE36D855-635D-1990-30A6-4E771B05211D}"/>
                </a:ext>
              </a:extLst>
            </p:cNvPr>
            <p:cNvSpPr/>
            <p:nvPr/>
          </p:nvSpPr>
          <p:spPr>
            <a:xfrm>
              <a:off x="4867787" y="2387496"/>
              <a:ext cx="1089036" cy="406400"/>
            </a:xfrm>
            <a:prstGeom prst="roundRect">
              <a:avLst/>
            </a:prstGeom>
            <a:solidFill>
              <a:srgbClr val="EAB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1400" dirty="0">
                  <a:solidFill>
                    <a:schemeClr val="tx1"/>
                  </a:solidFill>
                </a:rPr>
                <a:t>Heat Pump</a:t>
              </a:r>
            </a:p>
          </p:txBody>
        </p:sp>
        <p:sp>
          <p:nvSpPr>
            <p:cNvPr id="21" name="Tekstvak 25">
              <a:extLst>
                <a:ext uri="{FF2B5EF4-FFF2-40B4-BE49-F238E27FC236}">
                  <a16:creationId xmlns:a16="http://schemas.microsoft.com/office/drawing/2014/main" id="{CA068A1E-237A-86B7-AB97-691BEDF024CA}"/>
                </a:ext>
              </a:extLst>
            </p:cNvPr>
            <p:cNvSpPr txBox="1"/>
            <p:nvPr/>
          </p:nvSpPr>
          <p:spPr>
            <a:xfrm>
              <a:off x="6133592" y="1646077"/>
              <a:ext cx="1511428" cy="1569660"/>
            </a:xfrm>
            <a:prstGeom prst="rect">
              <a:avLst/>
            </a:prstGeom>
            <a:noFill/>
          </p:spPr>
          <p:txBody>
            <a:bodyPr wrap="square" rtlCol="0">
              <a:spAutoFit/>
            </a:bodyPr>
            <a:lstStyle/>
            <a:p>
              <a:pPr algn="ctr"/>
              <a:r>
                <a:rPr lang="en-US" dirty="0">
                  <a:latin typeface="+mn-lt"/>
                </a:rPr>
                <a:t>Modbus, API, TCP/IP</a:t>
              </a:r>
            </a:p>
            <a:p>
              <a:pPr algn="ctr"/>
              <a:endParaRPr lang="en-US" dirty="0">
                <a:latin typeface="+mn-lt"/>
              </a:endParaRPr>
            </a:p>
            <a:p>
              <a:pPr algn="ctr"/>
              <a:endParaRPr lang="en-US" dirty="0">
                <a:latin typeface="+mn-lt"/>
              </a:endParaRPr>
            </a:p>
            <a:p>
              <a:pPr algn="ctr"/>
              <a:r>
                <a:rPr lang="en-US" dirty="0">
                  <a:latin typeface="+mn-lt"/>
                </a:rPr>
                <a:t>Docker,</a:t>
              </a:r>
              <a:br>
                <a:rPr lang="en-US" dirty="0">
                  <a:latin typeface="+mn-lt"/>
                </a:rPr>
              </a:br>
              <a:r>
                <a:rPr lang="en-US" dirty="0">
                  <a:latin typeface="+mn-lt"/>
                </a:rPr>
                <a:t>Grafana</a:t>
              </a:r>
            </a:p>
          </p:txBody>
        </p:sp>
        <p:sp>
          <p:nvSpPr>
            <p:cNvPr id="22" name="Left-right Arrow 21">
              <a:extLst>
                <a:ext uri="{FF2B5EF4-FFF2-40B4-BE49-F238E27FC236}">
                  <a16:creationId xmlns:a16="http://schemas.microsoft.com/office/drawing/2014/main" id="{66DD9683-DBFB-75E3-894E-8D323053D904}"/>
                </a:ext>
              </a:extLst>
            </p:cNvPr>
            <p:cNvSpPr/>
            <p:nvPr/>
          </p:nvSpPr>
          <p:spPr>
            <a:xfrm>
              <a:off x="6162659" y="2265728"/>
              <a:ext cx="1537855" cy="285058"/>
            </a:xfrm>
            <a:prstGeom prst="leftRightArrow">
              <a:avLst/>
            </a:prstGeom>
            <a:noFill/>
            <a:ln/>
          </p:spPr>
          <p:style>
            <a:lnRef idx="2">
              <a:schemeClr val="dk1"/>
            </a:lnRef>
            <a:fillRef idx="1">
              <a:schemeClr val="lt1"/>
            </a:fillRef>
            <a:effectRef idx="0">
              <a:schemeClr val="dk1"/>
            </a:effectRef>
            <a:fontRef idx="minor">
              <a:schemeClr val="dk1"/>
            </a:fontRef>
          </p:style>
          <p:txBody>
            <a:bodyPr rtlCol="0" anchor="ctr"/>
            <a:lstStyle/>
            <a:p>
              <a:pPr algn="ctr"/>
              <a:endParaRPr lang="en-BE"/>
            </a:p>
          </p:txBody>
        </p:sp>
        <p:sp>
          <p:nvSpPr>
            <p:cNvPr id="19" name="Rechthoek: afgeronde hoeken 23">
              <a:extLst>
                <a:ext uri="{FF2B5EF4-FFF2-40B4-BE49-F238E27FC236}">
                  <a16:creationId xmlns:a16="http://schemas.microsoft.com/office/drawing/2014/main" id="{55C87BE8-882B-B888-40FF-DED36B854E2F}"/>
                </a:ext>
              </a:extLst>
            </p:cNvPr>
            <p:cNvSpPr/>
            <p:nvPr/>
          </p:nvSpPr>
          <p:spPr>
            <a:xfrm>
              <a:off x="4867787" y="2890598"/>
              <a:ext cx="1089036" cy="406400"/>
            </a:xfrm>
            <a:prstGeom prst="roundRect">
              <a:avLst/>
            </a:prstGeom>
            <a:solidFill>
              <a:srgbClr val="EAB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1400" dirty="0">
                  <a:solidFill>
                    <a:schemeClr val="tx1"/>
                  </a:solidFill>
                </a:rPr>
                <a:t>. . .</a:t>
              </a:r>
            </a:p>
          </p:txBody>
        </p:sp>
        <p:pic>
          <p:nvPicPr>
            <p:cNvPr id="27" name="Picture 26">
              <a:extLst>
                <a:ext uri="{FF2B5EF4-FFF2-40B4-BE49-F238E27FC236}">
                  <a16:creationId xmlns:a16="http://schemas.microsoft.com/office/drawing/2014/main" id="{32440B42-73B5-7D19-FB04-DF1D59131FC8}"/>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3805445" y="1519256"/>
              <a:ext cx="701675" cy="529552"/>
            </a:xfrm>
            <a:prstGeom prst="rect">
              <a:avLst/>
            </a:prstGeom>
          </p:spPr>
        </p:pic>
      </p:grpSp>
      <p:grpSp>
        <p:nvGrpSpPr>
          <p:cNvPr id="43" name="Group 42">
            <a:extLst>
              <a:ext uri="{FF2B5EF4-FFF2-40B4-BE49-F238E27FC236}">
                <a16:creationId xmlns:a16="http://schemas.microsoft.com/office/drawing/2014/main" id="{1423D7FA-DEE3-4AF8-1EA1-67AA928ED318}"/>
              </a:ext>
            </a:extLst>
          </p:cNvPr>
          <p:cNvGrpSpPr/>
          <p:nvPr/>
        </p:nvGrpSpPr>
        <p:grpSpPr>
          <a:xfrm>
            <a:off x="2983184" y="3757913"/>
            <a:ext cx="2112294" cy="1915703"/>
            <a:chOff x="2744191" y="3695567"/>
            <a:chExt cx="2112294" cy="1915703"/>
          </a:xfrm>
        </p:grpSpPr>
        <p:grpSp>
          <p:nvGrpSpPr>
            <p:cNvPr id="12" name="Group 11">
              <a:extLst>
                <a:ext uri="{FF2B5EF4-FFF2-40B4-BE49-F238E27FC236}">
                  <a16:creationId xmlns:a16="http://schemas.microsoft.com/office/drawing/2014/main" id="{E5369BD8-EA70-E462-22B4-234BFA9735F3}"/>
                </a:ext>
              </a:extLst>
            </p:cNvPr>
            <p:cNvGrpSpPr/>
            <p:nvPr/>
          </p:nvGrpSpPr>
          <p:grpSpPr>
            <a:xfrm>
              <a:off x="2744191" y="4000931"/>
              <a:ext cx="1441561" cy="1047542"/>
              <a:chOff x="2770216" y="2381458"/>
              <a:chExt cx="1441561" cy="1047542"/>
            </a:xfrm>
            <a:solidFill>
              <a:srgbClr val="97D5EB"/>
            </a:solidFill>
          </p:grpSpPr>
          <p:sp>
            <p:nvSpPr>
              <p:cNvPr id="13" name="Rectangle 12">
                <a:extLst>
                  <a:ext uri="{FF2B5EF4-FFF2-40B4-BE49-F238E27FC236}">
                    <a16:creationId xmlns:a16="http://schemas.microsoft.com/office/drawing/2014/main" id="{34AC98F5-6984-3A90-3DF0-682063627EEE}"/>
                  </a:ext>
                </a:extLst>
              </p:cNvPr>
              <p:cNvSpPr/>
              <p:nvPr/>
            </p:nvSpPr>
            <p:spPr>
              <a:xfrm>
                <a:off x="2770216" y="2542552"/>
                <a:ext cx="1441561" cy="886448"/>
              </a:xfrm>
              <a:prstGeom prst="rect">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BE" sz="2000" dirty="0">
                    <a:solidFill>
                      <a:schemeClr val="tx1"/>
                    </a:solidFill>
                    <a:latin typeface="UGent Panno Text" panose="02000506040000040003" pitchFamily="2" charset="0"/>
                  </a:rPr>
                  <a:t>HomeSimGym</a:t>
                </a:r>
              </a:p>
              <a:p>
                <a:pPr algn="ctr"/>
                <a:r>
                  <a:rPr lang="en-BE" dirty="0">
                    <a:solidFill>
                      <a:schemeClr val="tx1"/>
                    </a:solidFill>
                    <a:latin typeface="UGent Panno Text" panose="02000506040000040003" pitchFamily="2" charset="0"/>
                  </a:rPr>
                  <a:t>(Matlab engine)</a:t>
                </a:r>
                <a:endParaRPr lang="en-BE" sz="2000" dirty="0">
                  <a:solidFill>
                    <a:schemeClr val="tx1"/>
                  </a:solidFill>
                  <a:latin typeface="UGent Panno Text" panose="02000506040000040003" pitchFamily="2" charset="0"/>
                </a:endParaRPr>
              </a:p>
            </p:txBody>
          </p:sp>
          <p:sp>
            <p:nvSpPr>
              <p:cNvPr id="18" name="Rectangle 17">
                <a:extLst>
                  <a:ext uri="{FF2B5EF4-FFF2-40B4-BE49-F238E27FC236}">
                    <a16:creationId xmlns:a16="http://schemas.microsoft.com/office/drawing/2014/main" id="{B7D7C6D9-49DE-FF00-5A86-B2E7BFC474E8}"/>
                  </a:ext>
                </a:extLst>
              </p:cNvPr>
              <p:cNvSpPr/>
              <p:nvPr/>
            </p:nvSpPr>
            <p:spPr>
              <a:xfrm>
                <a:off x="2770216" y="2381458"/>
                <a:ext cx="583497" cy="163597"/>
              </a:xfrm>
              <a:prstGeom prst="rect">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BE"/>
              </a:p>
            </p:txBody>
          </p:sp>
        </p:grpSp>
        <p:sp>
          <p:nvSpPr>
            <p:cNvPr id="25" name="Trapezium 24">
              <a:extLst>
                <a:ext uri="{FF2B5EF4-FFF2-40B4-BE49-F238E27FC236}">
                  <a16:creationId xmlns:a16="http://schemas.microsoft.com/office/drawing/2014/main" id="{4446E1A9-BA9A-77E7-7E37-35483CA20835}"/>
                </a:ext>
              </a:extLst>
            </p:cNvPr>
            <p:cNvSpPr/>
            <p:nvPr/>
          </p:nvSpPr>
          <p:spPr>
            <a:xfrm rot="16200000">
              <a:off x="3563267" y="4318052"/>
              <a:ext cx="1915703" cy="670733"/>
            </a:xfrm>
            <a:prstGeom prst="trapezoid">
              <a:avLst>
                <a:gd name="adj" fmla="val 80505"/>
              </a:avLst>
            </a:prstGeom>
            <a:gradFill flip="none" rotWithShape="1">
              <a:gsLst>
                <a:gs pos="0">
                  <a:srgbClr val="97D5EB">
                    <a:tint val="66000"/>
                    <a:satMod val="160000"/>
                  </a:srgbClr>
                </a:gs>
                <a:gs pos="50000">
                  <a:srgbClr val="97D5EB">
                    <a:tint val="44500"/>
                    <a:satMod val="160000"/>
                  </a:srgbClr>
                </a:gs>
                <a:gs pos="100000">
                  <a:srgbClr val="97D5EB">
                    <a:tint val="23500"/>
                    <a:satMod val="160000"/>
                  </a:srgbClr>
                </a:gs>
              </a:gsLst>
              <a:lin ang="5400000" scaled="1"/>
              <a:tileRect/>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400" dirty="0"/>
            </a:p>
          </p:txBody>
        </p:sp>
        <p:pic>
          <p:nvPicPr>
            <p:cNvPr id="40" name="Picture 39">
              <a:extLst>
                <a:ext uri="{FF2B5EF4-FFF2-40B4-BE49-F238E27FC236}">
                  <a16:creationId xmlns:a16="http://schemas.microsoft.com/office/drawing/2014/main" id="{5AE10242-4CB8-168F-AED2-1CD8DF7BEE24}"/>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3779420" y="3833530"/>
              <a:ext cx="701675" cy="529552"/>
            </a:xfrm>
            <a:prstGeom prst="rect">
              <a:avLst/>
            </a:prstGeom>
          </p:spPr>
        </p:pic>
      </p:grpSp>
      <p:pic>
        <p:nvPicPr>
          <p:cNvPr id="49" name="Picture 48">
            <a:extLst>
              <a:ext uri="{FF2B5EF4-FFF2-40B4-BE49-F238E27FC236}">
                <a16:creationId xmlns:a16="http://schemas.microsoft.com/office/drawing/2014/main" id="{5B9979DD-E77B-D6ED-0799-836944A087DD}"/>
              </a:ext>
            </a:extLst>
          </p:cNvPr>
          <p:cNvPicPr>
            <a:picLocks noChangeAspect="1"/>
          </p:cNvPicPr>
          <p:nvPr/>
        </p:nvPicPr>
        <p:blipFill rotWithShape="1">
          <a:blip r:embed="rId5">
            <a:clrChange>
              <a:clrFrom>
                <a:srgbClr val="FFFFFF"/>
              </a:clrFrom>
              <a:clrTo>
                <a:srgbClr val="FFFFFF">
                  <a:alpha val="0"/>
                </a:srgbClr>
              </a:clrTo>
            </a:clrChange>
            <a:extLst>
              <a:ext uri="{28A0092B-C50C-407E-A947-70E740481C1C}">
                <a14:useLocalDpi xmlns:a14="http://schemas.microsoft.com/office/drawing/2010/main" val="0"/>
              </a:ext>
            </a:extLst>
          </a:blip>
          <a:srcRect l="46564" t="54598"/>
          <a:stretch/>
        </p:blipFill>
        <p:spPr>
          <a:xfrm>
            <a:off x="5121503" y="3623094"/>
            <a:ext cx="6393729" cy="2291274"/>
          </a:xfrm>
          <a:prstGeom prst="rect">
            <a:avLst/>
          </a:prstGeom>
        </p:spPr>
      </p:pic>
      <p:sp>
        <p:nvSpPr>
          <p:cNvPr id="23" name="Slide Number Placeholder 22">
            <a:extLst>
              <a:ext uri="{FF2B5EF4-FFF2-40B4-BE49-F238E27FC236}">
                <a16:creationId xmlns:a16="http://schemas.microsoft.com/office/drawing/2014/main" id="{FC1DE7A4-AE3D-9016-239A-253AED349CE1}"/>
              </a:ext>
            </a:extLst>
          </p:cNvPr>
          <p:cNvSpPr>
            <a:spLocks noGrp="1"/>
          </p:cNvSpPr>
          <p:nvPr>
            <p:ph type="sldNum" sz="quarter" idx="11"/>
          </p:nvPr>
        </p:nvSpPr>
        <p:spPr/>
        <p:txBody>
          <a:bodyPr/>
          <a:lstStyle/>
          <a:p>
            <a:pPr>
              <a:defRPr/>
            </a:pPr>
            <a:fld id="{4908A2AA-746C-4DBB-9102-670E2680A299}" type="slidenum">
              <a:rPr lang="en-US" smtClean="0"/>
              <a:pPr>
                <a:defRPr/>
              </a:pPr>
              <a:t>40</a:t>
            </a:fld>
            <a:endParaRPr lang="en-US"/>
          </a:p>
        </p:txBody>
      </p:sp>
    </p:spTree>
    <p:extLst>
      <p:ext uri="{BB962C8B-B14F-4D97-AF65-F5344CB8AC3E}">
        <p14:creationId xmlns:p14="http://schemas.microsoft.com/office/powerpoint/2010/main" val="4094374642"/>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F7F2C37-676D-5795-2030-5971C38879C7}"/>
              </a:ext>
            </a:extLst>
          </p:cNvPr>
          <p:cNvSpPr>
            <a:spLocks noGrp="1"/>
          </p:cNvSpPr>
          <p:nvPr>
            <p:ph type="title"/>
          </p:nvPr>
        </p:nvSpPr>
        <p:spPr/>
        <p:txBody>
          <a:bodyPr/>
          <a:lstStyle/>
          <a:p>
            <a:r>
              <a:rPr lang="en-BE" dirty="0"/>
              <a:t>Example use case for HomeLabGym:</a:t>
            </a:r>
            <a:br>
              <a:rPr lang="en-BE" dirty="0"/>
            </a:br>
            <a:r>
              <a:rPr lang="en-BE" dirty="0"/>
              <a:t>Validation of RL for energy arbitrage</a:t>
            </a:r>
          </a:p>
        </p:txBody>
      </p:sp>
      <p:sp>
        <p:nvSpPr>
          <p:cNvPr id="3" name="Footer Placeholder 2">
            <a:extLst>
              <a:ext uri="{FF2B5EF4-FFF2-40B4-BE49-F238E27FC236}">
                <a16:creationId xmlns:a16="http://schemas.microsoft.com/office/drawing/2014/main" id="{3E2FA429-5418-B92F-A1D6-48FD5CEFDEAE}"/>
              </a:ext>
            </a:extLst>
          </p:cNvPr>
          <p:cNvSpPr>
            <a:spLocks noGrp="1"/>
          </p:cNvSpPr>
          <p:nvPr>
            <p:ph type="ftr" sz="quarter" idx="10"/>
          </p:nvPr>
        </p:nvSpPr>
        <p:spPr/>
        <p:txBody>
          <a:bodyPr/>
          <a:lstStyle/>
          <a:p>
            <a:pPr>
              <a:defRPr/>
            </a:pPr>
            <a:r>
              <a:rPr lang="en-US"/>
              <a:t>C. Develder, "AI4E: Data-efficient and scalable algorithmss to exploit energy flexibility"</a:t>
            </a:r>
          </a:p>
        </p:txBody>
      </p:sp>
      <p:sp>
        <p:nvSpPr>
          <p:cNvPr id="5" name="Horizontal Scroll 4">
            <a:extLst>
              <a:ext uri="{FF2B5EF4-FFF2-40B4-BE49-F238E27FC236}">
                <a16:creationId xmlns:a16="http://schemas.microsoft.com/office/drawing/2014/main" id="{F3DA9A7E-0E52-80E3-BB1B-AE65AD1E6110}"/>
              </a:ext>
            </a:extLst>
          </p:cNvPr>
          <p:cNvSpPr/>
          <p:nvPr/>
        </p:nvSpPr>
        <p:spPr>
          <a:xfrm>
            <a:off x="6991288" y="174028"/>
            <a:ext cx="4885330" cy="1132364"/>
          </a:xfrm>
          <a:prstGeom prst="horizontalScroll">
            <a:avLst>
              <a:gd name="adj" fmla="val 14424"/>
            </a:avLst>
          </a:prstGeom>
          <a:solidFill>
            <a:schemeClr val="accent4">
              <a:lumMod val="20000"/>
              <a:lumOff val="80000"/>
            </a:schemeClr>
          </a:solidFill>
          <a:ln>
            <a:noFill/>
          </a:ln>
        </p:spPr>
        <p:style>
          <a:lnRef idx="1">
            <a:schemeClr val="accent1"/>
          </a:lnRef>
          <a:fillRef idx="3">
            <a:schemeClr val="accent1"/>
          </a:fillRef>
          <a:effectRef idx="2">
            <a:schemeClr val="accent1"/>
          </a:effectRef>
          <a:fontRef idx="minor">
            <a:schemeClr val="lt1"/>
          </a:fontRef>
        </p:style>
        <p:txBody>
          <a:bodyPr tIns="46800" rIns="90000" rtlCol="0" anchor="ctr"/>
          <a:lstStyle/>
          <a:p>
            <a:r>
              <a:rPr lang="en-GB" sz="1200" dirty="0">
                <a:solidFill>
                  <a:schemeClr val="accent4">
                    <a:lumMod val="75000"/>
                  </a:schemeClr>
                </a:solidFill>
              </a:rPr>
              <a:t>S.S. Karimi </a:t>
            </a:r>
            <a:r>
              <a:rPr lang="en-GB" sz="1200" dirty="0" err="1">
                <a:solidFill>
                  <a:schemeClr val="accent4">
                    <a:lumMod val="75000"/>
                  </a:schemeClr>
                </a:solidFill>
              </a:rPr>
              <a:t>Madahi</a:t>
            </a:r>
            <a:r>
              <a:rPr lang="en-GB" sz="1200" dirty="0">
                <a:solidFill>
                  <a:schemeClr val="accent4">
                    <a:lumMod val="75000"/>
                  </a:schemeClr>
                </a:solidFill>
              </a:rPr>
              <a:t>, G. Gokhale, M.-S. </a:t>
            </a:r>
            <a:r>
              <a:rPr lang="en-GB" sz="1200" dirty="0" err="1">
                <a:solidFill>
                  <a:schemeClr val="accent4">
                    <a:lumMod val="75000"/>
                  </a:schemeClr>
                </a:solidFill>
              </a:rPr>
              <a:t>Verwee</a:t>
            </a:r>
            <a:r>
              <a:rPr lang="en-GB" sz="1200" dirty="0">
                <a:solidFill>
                  <a:schemeClr val="accent4">
                    <a:lumMod val="75000"/>
                  </a:schemeClr>
                </a:solidFill>
              </a:rPr>
              <a:t>, B. </a:t>
            </a:r>
            <a:r>
              <a:rPr lang="en-GB" sz="1200" dirty="0" err="1">
                <a:solidFill>
                  <a:schemeClr val="accent4">
                    <a:lumMod val="75000"/>
                  </a:schemeClr>
                </a:solidFill>
              </a:rPr>
              <a:t>Claessens</a:t>
            </a:r>
            <a:r>
              <a:rPr lang="en-GB" sz="1200" dirty="0">
                <a:solidFill>
                  <a:schemeClr val="accent4">
                    <a:lumMod val="75000"/>
                  </a:schemeClr>
                </a:solidFill>
              </a:rPr>
              <a:t> and C. Develder, </a:t>
            </a:r>
            <a:r>
              <a:rPr lang="en-GB" sz="1200" b="1" dirty="0">
                <a:solidFill>
                  <a:schemeClr val="accent4">
                    <a:lumMod val="75000"/>
                  </a:schemeClr>
                </a:solidFill>
              </a:rPr>
              <a:t>"Control policy correction framework for reinforcement learning-based energy arbitrage strategies"</a:t>
            </a:r>
            <a:r>
              <a:rPr lang="en-GB" sz="1200" dirty="0">
                <a:solidFill>
                  <a:schemeClr val="accent4">
                    <a:lumMod val="75000"/>
                  </a:schemeClr>
                </a:solidFill>
              </a:rPr>
              <a:t>, in Proc. 15th ACM Int. Conf. Future Energy Sys. (e-Energy 2024), Singapore, 4-7 Jun. 2024, pp. 1-9.. </a:t>
            </a:r>
            <a:r>
              <a:rPr lang="en-GB" sz="1200" dirty="0">
                <a:solidFill>
                  <a:schemeClr val="accent4">
                    <a:lumMod val="75000"/>
                  </a:schemeClr>
                </a:solidFill>
                <a:hlinkClick r:id="rId2">
                  <a:extLst>
                    <a:ext uri="{A12FA001-AC4F-418D-AE19-62706E023703}">
                      <ahyp:hlinkClr xmlns:ahyp="http://schemas.microsoft.com/office/drawing/2018/hyperlinkcolor" val="tx"/>
                    </a:ext>
                  </a:extLst>
                </a:hlinkClick>
              </a:rPr>
              <a:t>doi:10.1145/3632775.3661948</a:t>
            </a:r>
            <a:endParaRPr lang="en-US" sz="1200" dirty="0">
              <a:solidFill>
                <a:schemeClr val="accent4">
                  <a:lumMod val="75000"/>
                </a:schemeClr>
              </a:solidFill>
              <a:latin typeface="UGent Panno Text" charset="0"/>
              <a:ea typeface="UGent Panno Text" charset="0"/>
              <a:cs typeface="UGent Panno Text" charset="0"/>
            </a:endParaRPr>
          </a:p>
        </p:txBody>
      </p:sp>
      <p:pic>
        <p:nvPicPr>
          <p:cNvPr id="6" name="Picture 5">
            <a:extLst>
              <a:ext uri="{FF2B5EF4-FFF2-40B4-BE49-F238E27FC236}">
                <a16:creationId xmlns:a16="http://schemas.microsoft.com/office/drawing/2014/main" id="{E877E605-8AAA-3ED8-4B2C-0A6550235344}"/>
              </a:ext>
            </a:extLst>
          </p:cNvPr>
          <p:cNvPicPr>
            <a:picLocks noChangeAspect="1"/>
          </p:cNvPicPr>
          <p:nvPr/>
        </p:nvPicPr>
        <p:blipFill>
          <a:blip r:embed="rId3"/>
          <a:stretch>
            <a:fillRect/>
          </a:stretch>
        </p:blipFill>
        <p:spPr>
          <a:xfrm>
            <a:off x="6881870" y="1359878"/>
            <a:ext cx="3451952" cy="4847116"/>
          </a:xfrm>
          <a:prstGeom prst="rect">
            <a:avLst/>
          </a:prstGeom>
        </p:spPr>
      </p:pic>
      <p:sp>
        <p:nvSpPr>
          <p:cNvPr id="12" name="TextBox 11">
            <a:extLst>
              <a:ext uri="{FF2B5EF4-FFF2-40B4-BE49-F238E27FC236}">
                <a16:creationId xmlns:a16="http://schemas.microsoft.com/office/drawing/2014/main" id="{9666B40C-BE8B-5714-BFAF-F789D5585FE4}"/>
              </a:ext>
            </a:extLst>
          </p:cNvPr>
          <p:cNvSpPr txBox="1"/>
          <p:nvPr/>
        </p:nvSpPr>
        <p:spPr>
          <a:xfrm rot="19968531">
            <a:off x="9742366" y="5927372"/>
            <a:ext cx="938077" cy="542649"/>
          </a:xfrm>
          <a:prstGeom prst="rect">
            <a:avLst/>
          </a:prstGeom>
          <a:noFill/>
        </p:spPr>
        <p:txBody>
          <a:bodyPr wrap="none" rtlCol="0">
            <a:spAutoFit/>
          </a:bodyPr>
          <a:lstStyle/>
          <a:p>
            <a:pPr>
              <a:lnSpc>
                <a:spcPct val="70000"/>
              </a:lnSpc>
            </a:pPr>
            <a:r>
              <a:rPr lang="en-US" sz="2000" dirty="0">
                <a:solidFill>
                  <a:schemeClr val="accent4"/>
                </a:solidFill>
                <a:latin typeface="Caveat" charset="0"/>
                <a:ea typeface="Caveat" charset="0"/>
                <a:cs typeface="Caveat" charset="0"/>
              </a:rPr>
              <a:t>Thanks</a:t>
            </a:r>
          </a:p>
          <a:p>
            <a:pPr>
              <a:lnSpc>
                <a:spcPct val="70000"/>
              </a:lnSpc>
            </a:pPr>
            <a:r>
              <a:rPr lang="en-US" sz="2000" dirty="0">
                <a:solidFill>
                  <a:schemeClr val="accent4"/>
                </a:solidFill>
                <a:latin typeface="Caveat" charset="0"/>
                <a:ea typeface="Caveat" charset="0"/>
                <a:cs typeface="Caveat" charset="0"/>
              </a:rPr>
              <a:t>Soroush!</a:t>
            </a:r>
          </a:p>
        </p:txBody>
      </p:sp>
      <p:sp>
        <p:nvSpPr>
          <p:cNvPr id="13" name="Freeform 12">
            <a:extLst>
              <a:ext uri="{FF2B5EF4-FFF2-40B4-BE49-F238E27FC236}">
                <a16:creationId xmlns:a16="http://schemas.microsoft.com/office/drawing/2014/main" id="{65540BDF-EAB6-A81A-2B0E-39F91DA775DD}"/>
              </a:ext>
            </a:extLst>
          </p:cNvPr>
          <p:cNvSpPr/>
          <p:nvPr/>
        </p:nvSpPr>
        <p:spPr>
          <a:xfrm rot="679189">
            <a:off x="10640625" y="5992309"/>
            <a:ext cx="329062" cy="133004"/>
          </a:xfrm>
          <a:custGeom>
            <a:avLst/>
            <a:gdLst>
              <a:gd name="connsiteX0" fmla="*/ 0 w 607162"/>
              <a:gd name="connsiteY0" fmla="*/ 234087 h 234087"/>
              <a:gd name="connsiteX1" fmla="*/ 256032 w 607162"/>
              <a:gd name="connsiteY1" fmla="*/ 14631 h 234087"/>
              <a:gd name="connsiteX2" fmla="*/ 607162 w 607162"/>
              <a:gd name="connsiteY2" fmla="*/ 0 h 234087"/>
              <a:gd name="connsiteX0" fmla="*/ 0 w 607162"/>
              <a:gd name="connsiteY0" fmla="*/ 240072 h 240072"/>
              <a:gd name="connsiteX1" fmla="*/ 256032 w 607162"/>
              <a:gd name="connsiteY1" fmla="*/ 20616 h 240072"/>
              <a:gd name="connsiteX2" fmla="*/ 607162 w 607162"/>
              <a:gd name="connsiteY2" fmla="*/ 5985 h 240072"/>
              <a:gd name="connsiteX0" fmla="*/ 0 w 607162"/>
              <a:gd name="connsiteY0" fmla="*/ 249592 h 249592"/>
              <a:gd name="connsiteX1" fmla="*/ 256032 w 607162"/>
              <a:gd name="connsiteY1" fmla="*/ 30136 h 249592"/>
              <a:gd name="connsiteX2" fmla="*/ 607162 w 607162"/>
              <a:gd name="connsiteY2" fmla="*/ 15505 h 249592"/>
              <a:gd name="connsiteX0" fmla="*/ 0 w 607162"/>
              <a:gd name="connsiteY0" fmla="*/ 249592 h 249592"/>
              <a:gd name="connsiteX1" fmla="*/ 256032 w 607162"/>
              <a:gd name="connsiteY1" fmla="*/ 30136 h 249592"/>
              <a:gd name="connsiteX2" fmla="*/ 607162 w 607162"/>
              <a:gd name="connsiteY2" fmla="*/ 15505 h 249592"/>
              <a:gd name="connsiteX0" fmla="*/ 0 w 607162"/>
              <a:gd name="connsiteY0" fmla="*/ 249592 h 249592"/>
              <a:gd name="connsiteX1" fmla="*/ 256032 w 607162"/>
              <a:gd name="connsiteY1" fmla="*/ 30136 h 249592"/>
              <a:gd name="connsiteX2" fmla="*/ 607162 w 607162"/>
              <a:gd name="connsiteY2" fmla="*/ 15505 h 249592"/>
              <a:gd name="connsiteX0" fmla="*/ 0 w 607162"/>
              <a:gd name="connsiteY0" fmla="*/ 258833 h 258833"/>
              <a:gd name="connsiteX1" fmla="*/ 256032 w 607162"/>
              <a:gd name="connsiteY1" fmla="*/ 39377 h 258833"/>
              <a:gd name="connsiteX2" fmla="*/ 607162 w 607162"/>
              <a:gd name="connsiteY2" fmla="*/ 24746 h 258833"/>
              <a:gd name="connsiteX0" fmla="*/ 0 w 607162"/>
              <a:gd name="connsiteY0" fmla="*/ 258833 h 258833"/>
              <a:gd name="connsiteX1" fmla="*/ 256032 w 607162"/>
              <a:gd name="connsiteY1" fmla="*/ 39377 h 258833"/>
              <a:gd name="connsiteX2" fmla="*/ 607162 w 607162"/>
              <a:gd name="connsiteY2" fmla="*/ 24746 h 258833"/>
              <a:gd name="connsiteX0" fmla="*/ 0 w 607162"/>
              <a:gd name="connsiteY0" fmla="*/ 257095 h 257095"/>
              <a:gd name="connsiteX1" fmla="*/ 235862 w 607162"/>
              <a:gd name="connsiteY1" fmla="*/ 41001 h 257095"/>
              <a:gd name="connsiteX2" fmla="*/ 607162 w 607162"/>
              <a:gd name="connsiteY2" fmla="*/ 23008 h 257095"/>
              <a:gd name="connsiteX0" fmla="*/ 0 w 607162"/>
              <a:gd name="connsiteY0" fmla="*/ 257095 h 257095"/>
              <a:gd name="connsiteX1" fmla="*/ 235862 w 607162"/>
              <a:gd name="connsiteY1" fmla="*/ 41001 h 257095"/>
              <a:gd name="connsiteX2" fmla="*/ 607162 w 607162"/>
              <a:gd name="connsiteY2" fmla="*/ 23008 h 257095"/>
              <a:gd name="connsiteX0" fmla="*/ 0 w 607162"/>
              <a:gd name="connsiteY0" fmla="*/ 253450 h 253450"/>
              <a:gd name="connsiteX1" fmla="*/ 235862 w 607162"/>
              <a:gd name="connsiteY1" fmla="*/ 37356 h 253450"/>
              <a:gd name="connsiteX2" fmla="*/ 607162 w 607162"/>
              <a:gd name="connsiteY2" fmla="*/ 19363 h 253450"/>
              <a:gd name="connsiteX0" fmla="*/ 0 w 607162"/>
              <a:gd name="connsiteY0" fmla="*/ 253450 h 253450"/>
              <a:gd name="connsiteX1" fmla="*/ 235862 w 607162"/>
              <a:gd name="connsiteY1" fmla="*/ 37356 h 253450"/>
              <a:gd name="connsiteX2" fmla="*/ 607162 w 607162"/>
              <a:gd name="connsiteY2" fmla="*/ 19363 h 253450"/>
            </a:gdLst>
            <a:ahLst/>
            <a:cxnLst>
              <a:cxn ang="0">
                <a:pos x="connsiteX0" y="connsiteY0"/>
              </a:cxn>
              <a:cxn ang="0">
                <a:pos x="connsiteX1" y="connsiteY1"/>
              </a:cxn>
              <a:cxn ang="0">
                <a:pos x="connsiteX2" y="connsiteY2"/>
              </a:cxn>
            </a:cxnLst>
            <a:rect l="l" t="t" r="r" b="b"/>
            <a:pathLst>
              <a:path w="607162" h="253450">
                <a:moveTo>
                  <a:pt x="0" y="253450"/>
                </a:moveTo>
                <a:cubicBezTo>
                  <a:pt x="20286" y="217088"/>
                  <a:pt x="96317" y="98316"/>
                  <a:pt x="235862" y="37356"/>
                </a:cubicBezTo>
                <a:cubicBezTo>
                  <a:pt x="375407" y="-23604"/>
                  <a:pt x="523145" y="5065"/>
                  <a:pt x="607162" y="19363"/>
                </a:cubicBezTo>
              </a:path>
            </a:pathLst>
          </a:custGeom>
          <a:noFill/>
          <a:ln w="12700">
            <a:solidFill>
              <a:schemeClr val="accent4"/>
            </a:solidFill>
            <a:headEnd type="none" w="med" len="med"/>
            <a:tailEnd type="triangl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4" name="Picture 13">
            <a:extLst>
              <a:ext uri="{FF2B5EF4-FFF2-40B4-BE49-F238E27FC236}">
                <a16:creationId xmlns:a16="http://schemas.microsoft.com/office/drawing/2014/main" id="{D868DFC8-11B8-49B8-260B-A79C20E6FDF0}"/>
              </a:ext>
            </a:extLst>
          </p:cNvPr>
          <p:cNvPicPr>
            <a:picLocks noChangeAspect="1"/>
          </p:cNvPicPr>
          <p:nvPr/>
        </p:nvPicPr>
        <p:blipFill>
          <a:blip r:embed="rId4">
            <a:extLst>
              <a:ext uri="{28A0092B-C50C-407E-A947-70E740481C1C}">
                <a14:useLocalDpi xmlns:a14="http://schemas.microsoft.com/office/drawing/2010/main" val="0"/>
              </a:ext>
            </a:extLst>
          </a:blip>
          <a:srcRect l="1467" r="1467"/>
          <a:stretch/>
        </p:blipFill>
        <p:spPr>
          <a:xfrm rot="20700000">
            <a:off x="11047150" y="5480379"/>
            <a:ext cx="802912" cy="827190"/>
          </a:xfrm>
          <a:prstGeom prst="rect">
            <a:avLst/>
          </a:prstGeom>
          <a:ln>
            <a:noFill/>
          </a:ln>
          <a:effectLst>
            <a:outerShdw blurRad="292100" dist="139700" dir="2700000" algn="tl" rotWithShape="0">
              <a:srgbClr val="333333">
                <a:alpha val="65000"/>
              </a:srgbClr>
            </a:outerShdw>
          </a:effectLst>
        </p:spPr>
      </p:pic>
      <p:grpSp>
        <p:nvGrpSpPr>
          <p:cNvPr id="8" name="Group 7">
            <a:extLst>
              <a:ext uri="{FF2B5EF4-FFF2-40B4-BE49-F238E27FC236}">
                <a16:creationId xmlns:a16="http://schemas.microsoft.com/office/drawing/2014/main" id="{2CD66AD8-8762-69E3-D84D-F7DC0DE1076F}"/>
              </a:ext>
            </a:extLst>
          </p:cNvPr>
          <p:cNvGrpSpPr/>
          <p:nvPr/>
        </p:nvGrpSpPr>
        <p:grpSpPr>
          <a:xfrm>
            <a:off x="1678624" y="3809022"/>
            <a:ext cx="1332597" cy="391443"/>
            <a:chOff x="2770216" y="2480611"/>
            <a:chExt cx="1441561" cy="453384"/>
          </a:xfrm>
        </p:grpSpPr>
        <p:sp>
          <p:nvSpPr>
            <p:cNvPr id="9" name="Rectangle 8">
              <a:extLst>
                <a:ext uri="{FF2B5EF4-FFF2-40B4-BE49-F238E27FC236}">
                  <a16:creationId xmlns:a16="http://schemas.microsoft.com/office/drawing/2014/main" id="{A5CC7022-96E6-6256-1905-736FB76A63A4}"/>
                </a:ext>
              </a:extLst>
            </p:cNvPr>
            <p:cNvSpPr/>
            <p:nvPr/>
          </p:nvSpPr>
          <p:spPr>
            <a:xfrm>
              <a:off x="2770216" y="2542552"/>
              <a:ext cx="1441561" cy="391443"/>
            </a:xfrm>
            <a:prstGeom prst="rect">
              <a:avLst/>
            </a:prstGeom>
            <a:solidFill>
              <a:srgbClr val="EAB3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BE" sz="2000" dirty="0">
                <a:solidFill>
                  <a:schemeClr val="tx1"/>
                </a:solidFill>
                <a:latin typeface="UGent Panno Text" panose="02000506040000040003" pitchFamily="2" charset="0"/>
              </a:endParaRPr>
            </a:p>
          </p:txBody>
        </p:sp>
        <p:sp>
          <p:nvSpPr>
            <p:cNvPr id="10" name="Rectangle 9">
              <a:extLst>
                <a:ext uri="{FF2B5EF4-FFF2-40B4-BE49-F238E27FC236}">
                  <a16:creationId xmlns:a16="http://schemas.microsoft.com/office/drawing/2014/main" id="{FF148319-D9DE-1A9B-9809-967E9FCAF3B5}"/>
                </a:ext>
              </a:extLst>
            </p:cNvPr>
            <p:cNvSpPr/>
            <p:nvPr/>
          </p:nvSpPr>
          <p:spPr>
            <a:xfrm>
              <a:off x="2770216" y="2480611"/>
              <a:ext cx="583497" cy="163596"/>
            </a:xfrm>
            <a:prstGeom prst="rect">
              <a:avLst/>
            </a:prstGeom>
            <a:solidFill>
              <a:srgbClr val="EAB3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BE"/>
            </a:p>
          </p:txBody>
        </p:sp>
      </p:grpSp>
      <p:pic>
        <p:nvPicPr>
          <p:cNvPr id="11" name="Picture 10">
            <a:extLst>
              <a:ext uri="{FF2B5EF4-FFF2-40B4-BE49-F238E27FC236}">
                <a16:creationId xmlns:a16="http://schemas.microsoft.com/office/drawing/2014/main" id="{2B751375-1527-D45A-080B-437420C33CA6}"/>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2820743" y="3683331"/>
            <a:ext cx="447814" cy="337964"/>
          </a:xfrm>
          <a:prstGeom prst="rect">
            <a:avLst/>
          </a:prstGeom>
        </p:spPr>
      </p:pic>
      <p:sp>
        <p:nvSpPr>
          <p:cNvPr id="7" name="Content Placeholder 6">
            <a:extLst>
              <a:ext uri="{FF2B5EF4-FFF2-40B4-BE49-F238E27FC236}">
                <a16:creationId xmlns:a16="http://schemas.microsoft.com/office/drawing/2014/main" id="{97A1C2F4-9C9E-0603-CE84-184CE49FF4E9}"/>
              </a:ext>
            </a:extLst>
          </p:cNvPr>
          <p:cNvSpPr>
            <a:spLocks noGrp="1"/>
          </p:cNvSpPr>
          <p:nvPr>
            <p:ph idx="1"/>
          </p:nvPr>
        </p:nvSpPr>
        <p:spPr/>
        <p:txBody>
          <a:bodyPr/>
          <a:lstStyle/>
          <a:p>
            <a:r>
              <a:rPr lang="en-BE" dirty="0"/>
              <a:t>Case study: </a:t>
            </a:r>
          </a:p>
          <a:p>
            <a:pPr lvl="1"/>
            <a:r>
              <a:rPr lang="en-BE" dirty="0"/>
              <a:t>Home battery</a:t>
            </a:r>
          </a:p>
          <a:p>
            <a:pPr lvl="1"/>
            <a:r>
              <a:rPr lang="en-BE" dirty="0"/>
              <a:t>Time-varying prices (qh-based)</a:t>
            </a:r>
          </a:p>
          <a:p>
            <a:pPr lvl="1"/>
            <a:r>
              <a:rPr lang="en-BE" dirty="0"/>
              <a:t>Distributional DQN strategy accounting</a:t>
            </a:r>
          </a:p>
          <a:p>
            <a:pPr lvl="1"/>
            <a:endParaRPr lang="en-BE" sz="1050" dirty="0"/>
          </a:p>
          <a:p>
            <a:r>
              <a:rPr lang="en-BE" dirty="0"/>
              <a:t>Validation of simulation </a:t>
            </a:r>
          </a:p>
          <a:p>
            <a:pPr lvl="1"/>
            <a:r>
              <a:rPr lang="en-BE" dirty="0"/>
              <a:t>Real-world battery</a:t>
            </a:r>
          </a:p>
          <a:p>
            <a:pPr lvl="1"/>
            <a:r>
              <a:rPr lang="en-BE" dirty="0"/>
              <a:t>Using HomeLabGym</a:t>
            </a:r>
          </a:p>
          <a:p>
            <a:pPr lvl="1"/>
            <a:endParaRPr lang="en-BE" sz="1050" dirty="0"/>
          </a:p>
          <a:p>
            <a:r>
              <a:rPr lang="en-BE" dirty="0"/>
              <a:t>Results</a:t>
            </a:r>
          </a:p>
          <a:p>
            <a:pPr lvl="1"/>
            <a:r>
              <a:rPr lang="en-BE" b="1" dirty="0">
                <a:solidFill>
                  <a:schemeClr val="accent2"/>
                </a:solidFill>
              </a:rPr>
              <a:t>Latency</a:t>
            </a:r>
            <a:r>
              <a:rPr lang="en-BE" dirty="0">
                <a:solidFill>
                  <a:schemeClr val="accent2"/>
                </a:solidFill>
              </a:rPr>
              <a:t> in communication (up to ~10s)</a:t>
            </a:r>
          </a:p>
          <a:p>
            <a:pPr lvl="1"/>
            <a:r>
              <a:rPr lang="en-BE" b="1" dirty="0">
                <a:solidFill>
                  <a:schemeClr val="accent2"/>
                </a:solidFill>
              </a:rPr>
              <a:t>Battery efficiency </a:t>
            </a:r>
            <a:r>
              <a:rPr lang="en-BE" dirty="0">
                <a:solidFill>
                  <a:schemeClr val="accent2"/>
                </a:solidFill>
              </a:rPr>
              <a:t>affected by temperature</a:t>
            </a:r>
          </a:p>
          <a:p>
            <a:pPr lvl="1"/>
            <a:r>
              <a:rPr lang="en-BE" dirty="0">
                <a:solidFill>
                  <a:schemeClr val="accent2"/>
                </a:solidFill>
              </a:rPr>
              <a:t>Effect on </a:t>
            </a:r>
            <a:r>
              <a:rPr lang="en-BE" b="1" dirty="0">
                <a:solidFill>
                  <a:schemeClr val="accent2"/>
                </a:solidFill>
              </a:rPr>
              <a:t>daily revenue</a:t>
            </a:r>
            <a:r>
              <a:rPr lang="en-BE" dirty="0">
                <a:solidFill>
                  <a:schemeClr val="accent2"/>
                </a:solidFill>
              </a:rPr>
              <a:t>: real profit </a:t>
            </a:r>
            <a:r>
              <a:rPr lang="en-BE" sz="2000" i="0" dirty="0">
                <a:solidFill>
                  <a:schemeClr val="accent2"/>
                </a:solidFill>
                <a:effectLst/>
                <a:latin typeface="UGent Panno Text" panose="02000506040000040003" pitchFamily="2" charset="0"/>
              </a:rPr>
              <a:t>€</a:t>
            </a:r>
            <a:r>
              <a:rPr lang="en-BE" dirty="0">
                <a:solidFill>
                  <a:schemeClr val="accent2"/>
                </a:solidFill>
              </a:rPr>
              <a:t>5.6 vs. simulated </a:t>
            </a:r>
            <a:r>
              <a:rPr lang="en-BE" sz="2000" i="0" dirty="0">
                <a:solidFill>
                  <a:schemeClr val="accent2"/>
                </a:solidFill>
                <a:effectLst/>
                <a:latin typeface="UGent Panno Text" panose="02000506040000040003" pitchFamily="2" charset="0"/>
              </a:rPr>
              <a:t>€</a:t>
            </a:r>
            <a:r>
              <a:rPr lang="en-BE" i="0" dirty="0">
                <a:solidFill>
                  <a:schemeClr val="accent2"/>
                </a:solidFill>
                <a:effectLst/>
                <a:latin typeface="UGent Panno Text" panose="02000506040000040003" pitchFamily="2" charset="0"/>
              </a:rPr>
              <a:t>6</a:t>
            </a:r>
            <a:endParaRPr lang="en-BE" sz="2000" dirty="0">
              <a:solidFill>
                <a:schemeClr val="accent2"/>
              </a:solidFill>
              <a:latin typeface="UGent Panno Text" panose="02000506040000040003" pitchFamily="2" charset="0"/>
            </a:endParaRPr>
          </a:p>
        </p:txBody>
      </p:sp>
      <p:sp>
        <p:nvSpPr>
          <p:cNvPr id="4" name="Slide Number Placeholder 3">
            <a:extLst>
              <a:ext uri="{FF2B5EF4-FFF2-40B4-BE49-F238E27FC236}">
                <a16:creationId xmlns:a16="http://schemas.microsoft.com/office/drawing/2014/main" id="{DEC23101-2467-5A64-F120-B6E84A0BEDB1}"/>
              </a:ext>
            </a:extLst>
          </p:cNvPr>
          <p:cNvSpPr>
            <a:spLocks noGrp="1"/>
          </p:cNvSpPr>
          <p:nvPr>
            <p:ph type="sldNum" sz="quarter" idx="11"/>
          </p:nvPr>
        </p:nvSpPr>
        <p:spPr/>
        <p:txBody>
          <a:bodyPr/>
          <a:lstStyle/>
          <a:p>
            <a:pPr>
              <a:defRPr/>
            </a:pPr>
            <a:fld id="{968663A2-1950-48E6-8399-8A0176E7D7D3}" type="slidenum">
              <a:rPr lang="en-US" smtClean="0"/>
              <a:pPr>
                <a:defRPr/>
              </a:pPr>
              <a:t>41</a:t>
            </a:fld>
            <a:endParaRPr lang="en-US"/>
          </a:p>
        </p:txBody>
      </p:sp>
    </p:spTree>
    <p:extLst>
      <p:ext uri="{BB962C8B-B14F-4D97-AF65-F5344CB8AC3E}">
        <p14:creationId xmlns:p14="http://schemas.microsoft.com/office/powerpoint/2010/main" val="183568949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after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wipe(left)">
                                      <p:cBhvr>
                                        <p:cTn id="7" dur="500"/>
                                        <p:tgtEl>
                                          <p:spTgt spid="5"/>
                                        </p:tgtEl>
                                      </p:cBhvr>
                                    </p:animEffect>
                                  </p:childTnLst>
                                </p:cTn>
                              </p:par>
                            </p:childTnLst>
                          </p:cTn>
                        </p:par>
                        <p:par>
                          <p:cTn id="8" fill="hold">
                            <p:stCondLst>
                              <p:cond delay="500"/>
                            </p:stCondLst>
                            <p:childTnLst>
                              <p:par>
                                <p:cTn id="9" presetID="1" presetClass="entr" presetSubtype="0" fill="hold" grpId="0" nodeType="afterEffect">
                                  <p:stCondLst>
                                    <p:cond delay="0"/>
                                  </p:stCondLst>
                                  <p:childTnLst>
                                    <p:set>
                                      <p:cBhvr>
                                        <p:cTn id="10" dur="1" fill="hold">
                                          <p:stCondLst>
                                            <p:cond delay="0"/>
                                          </p:stCondLst>
                                        </p:cTn>
                                        <p:tgtEl>
                                          <p:spTgt spid="12"/>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13"/>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1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12" grpId="0"/>
      <p:bldP spid="13" grpId="0" animBg="1"/>
    </p:bld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1" name="Group 10"/>
          <p:cNvGrpSpPr/>
          <p:nvPr/>
        </p:nvGrpSpPr>
        <p:grpSpPr>
          <a:xfrm>
            <a:off x="9597332" y="2748333"/>
            <a:ext cx="2015235" cy="2407939"/>
            <a:chOff x="6913151" y="4869456"/>
            <a:chExt cx="1575262" cy="2113463"/>
          </a:xfrm>
        </p:grpSpPr>
        <p:pic>
          <p:nvPicPr>
            <p:cNvPr id="7" name="Picture 6"/>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rot="1033226">
              <a:off x="6913151" y="5407657"/>
              <a:ext cx="1575262" cy="1575262"/>
            </a:xfrm>
            <a:prstGeom prst="rect">
              <a:avLst/>
            </a:prstGeom>
          </p:spPr>
        </p:pic>
        <p:sp>
          <p:nvSpPr>
            <p:cNvPr id="8" name="TextBox 7"/>
            <p:cNvSpPr txBox="1"/>
            <p:nvPr/>
          </p:nvSpPr>
          <p:spPr>
            <a:xfrm rot="760148">
              <a:off x="7359885" y="4869456"/>
              <a:ext cx="969449" cy="414330"/>
            </a:xfrm>
            <a:prstGeom prst="rect">
              <a:avLst/>
            </a:prstGeom>
            <a:noFill/>
          </p:spPr>
          <p:txBody>
            <a:bodyPr wrap="none" rtlCol="0">
              <a:spAutoFit/>
            </a:bodyPr>
            <a:lstStyle/>
            <a:p>
              <a:pPr>
                <a:lnSpc>
                  <a:spcPct val="70000"/>
                </a:lnSpc>
              </a:pPr>
              <a:r>
                <a:rPr lang="en-US" sz="2400" dirty="0">
                  <a:solidFill>
                    <a:srgbClr val="C2D940"/>
                  </a:solidFill>
                  <a:latin typeface="Caveat" charset="0"/>
                  <a:ea typeface="Caveat" charset="0"/>
                  <a:cs typeface="Caveat" charset="0"/>
                </a:rPr>
                <a:t>It’s not easy</a:t>
              </a:r>
            </a:p>
            <a:p>
              <a:pPr>
                <a:lnSpc>
                  <a:spcPct val="70000"/>
                </a:lnSpc>
              </a:pPr>
              <a:r>
                <a:rPr lang="en-US" sz="2400" dirty="0">
                  <a:solidFill>
                    <a:srgbClr val="C2D940"/>
                  </a:solidFill>
                  <a:latin typeface="Caveat" charset="0"/>
                  <a:ea typeface="Caveat" charset="0"/>
                  <a:cs typeface="Caveat" charset="0"/>
                </a:rPr>
                <a:t>being green </a:t>
              </a:r>
              <a:r>
                <a:rPr lang="is-IS" sz="2400" dirty="0">
                  <a:solidFill>
                    <a:srgbClr val="C2D940"/>
                  </a:solidFill>
                  <a:latin typeface="Caveat" charset="0"/>
                  <a:ea typeface="Caveat" charset="0"/>
                  <a:cs typeface="Caveat" charset="0"/>
                </a:rPr>
                <a:t>…</a:t>
              </a:r>
              <a:endParaRPr lang="en-US" sz="2400" dirty="0">
                <a:solidFill>
                  <a:srgbClr val="C2D940"/>
                </a:solidFill>
                <a:latin typeface="Caveat" charset="0"/>
                <a:ea typeface="Caveat" charset="0"/>
                <a:cs typeface="Caveat" charset="0"/>
              </a:endParaRPr>
            </a:p>
          </p:txBody>
        </p:sp>
      </p:grpSp>
      <p:sp>
        <p:nvSpPr>
          <p:cNvPr id="10" name="Rectangle 9">
            <a:extLst>
              <a:ext uri="{FF2B5EF4-FFF2-40B4-BE49-F238E27FC236}">
                <a16:creationId xmlns:a16="http://schemas.microsoft.com/office/drawing/2014/main" id="{450840E5-49F9-1E69-F5D0-A689B72A942D}"/>
              </a:ext>
            </a:extLst>
          </p:cNvPr>
          <p:cNvSpPr/>
          <p:nvPr/>
        </p:nvSpPr>
        <p:spPr>
          <a:xfrm>
            <a:off x="0" y="5013898"/>
            <a:ext cx="12192000" cy="1844102"/>
          </a:xfrm>
          <a:prstGeom prst="rect">
            <a:avLst/>
          </a:prstGeom>
          <a:solidFill>
            <a:schemeClr val="accent2">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BE"/>
          </a:p>
        </p:txBody>
      </p:sp>
      <p:sp>
        <p:nvSpPr>
          <p:cNvPr id="5" name="Title 4"/>
          <p:cNvSpPr>
            <a:spLocks noGrp="1"/>
          </p:cNvSpPr>
          <p:nvPr>
            <p:ph type="title"/>
          </p:nvPr>
        </p:nvSpPr>
        <p:spPr>
          <a:xfrm>
            <a:off x="2209800" y="927787"/>
            <a:ext cx="7772400" cy="1780813"/>
          </a:xfrm>
        </p:spPr>
        <p:txBody>
          <a:bodyPr anchor="b"/>
          <a:lstStyle/>
          <a:p>
            <a:pPr>
              <a:lnSpc>
                <a:spcPct val="80000"/>
              </a:lnSpc>
            </a:pPr>
            <a:r>
              <a:rPr lang="en-US" sz="6000" dirty="0"/>
              <a:t>Thank you!</a:t>
            </a:r>
            <a:br>
              <a:rPr lang="en-US" sz="6000" dirty="0"/>
            </a:br>
            <a:r>
              <a:rPr lang="en-US" sz="6000" dirty="0"/>
              <a:t>Any questions?</a:t>
            </a:r>
          </a:p>
        </p:txBody>
      </p:sp>
      <p:sp>
        <p:nvSpPr>
          <p:cNvPr id="6" name="Text Placeholder 5"/>
          <p:cNvSpPr>
            <a:spLocks noGrp="1"/>
          </p:cNvSpPr>
          <p:nvPr>
            <p:ph type="body" idx="1"/>
          </p:nvPr>
        </p:nvSpPr>
        <p:spPr>
          <a:xfrm>
            <a:off x="2209800" y="2927245"/>
            <a:ext cx="7772400" cy="1832377"/>
          </a:xfrm>
        </p:spPr>
        <p:txBody>
          <a:bodyPr/>
          <a:lstStyle/>
          <a:p>
            <a:r>
              <a:rPr lang="en-US" dirty="0">
                <a:solidFill>
                  <a:schemeClr val="accent6">
                    <a:lumMod val="20000"/>
                    <a:lumOff val="80000"/>
                  </a:schemeClr>
                </a:solidFill>
              </a:rPr>
              <a:t>chris.develder@ugent.be</a:t>
            </a:r>
          </a:p>
          <a:p>
            <a:r>
              <a:rPr lang="en-US" dirty="0">
                <a:solidFill>
                  <a:schemeClr val="accent6">
                    <a:lumMod val="20000"/>
                    <a:lumOff val="80000"/>
                  </a:schemeClr>
                </a:solidFill>
              </a:rPr>
              <a:t>http://users.ugent.be/~</a:t>
            </a:r>
            <a:r>
              <a:rPr lang="en-US" dirty="0" err="1">
                <a:solidFill>
                  <a:schemeClr val="accent6">
                    <a:lumMod val="20000"/>
                    <a:lumOff val="80000"/>
                  </a:schemeClr>
                </a:solidFill>
              </a:rPr>
              <a:t>cdvelder</a:t>
            </a:r>
            <a:br>
              <a:rPr lang="en-US" dirty="0">
                <a:solidFill>
                  <a:schemeClr val="accent6">
                    <a:lumMod val="20000"/>
                    <a:lumOff val="80000"/>
                  </a:schemeClr>
                </a:solidFill>
              </a:rPr>
            </a:br>
            <a:r>
              <a:rPr lang="en-US" dirty="0">
                <a:solidFill>
                  <a:schemeClr val="accent6">
                    <a:lumMod val="20000"/>
                    <a:lumOff val="80000"/>
                  </a:schemeClr>
                </a:solidFill>
              </a:rPr>
              <a:t>https://ugentai4e.github.io</a:t>
            </a:r>
          </a:p>
        </p:txBody>
      </p:sp>
      <p:sp>
        <p:nvSpPr>
          <p:cNvPr id="9" name="Cloud Callout 8"/>
          <p:cNvSpPr/>
          <p:nvPr/>
        </p:nvSpPr>
        <p:spPr>
          <a:xfrm rot="833058">
            <a:off x="12858917" y="3437506"/>
            <a:ext cx="1687957" cy="978795"/>
          </a:xfrm>
          <a:prstGeom prst="cloudCallout">
            <a:avLst>
              <a:gd name="adj1" fmla="val 489"/>
              <a:gd name="adj2" fmla="val 85863"/>
            </a:avLst>
          </a:prstGeom>
          <a:noFill/>
          <a:ln w="19050">
            <a:solidFill>
              <a:srgbClr val="D3D1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Footer Placeholder 1">
            <a:extLst>
              <a:ext uri="{FF2B5EF4-FFF2-40B4-BE49-F238E27FC236}">
                <a16:creationId xmlns:a16="http://schemas.microsoft.com/office/drawing/2014/main" id="{6943F6AE-46F6-E87B-2C52-814676C24767}"/>
              </a:ext>
            </a:extLst>
          </p:cNvPr>
          <p:cNvSpPr>
            <a:spLocks noGrp="1"/>
          </p:cNvSpPr>
          <p:nvPr>
            <p:ph type="ftr" sz="quarter" idx="10"/>
          </p:nvPr>
        </p:nvSpPr>
        <p:spPr/>
        <p:txBody>
          <a:bodyPr/>
          <a:lstStyle/>
          <a:p>
            <a:pPr>
              <a:defRPr/>
            </a:pPr>
            <a:r>
              <a:rPr lang="en-US">
                <a:solidFill>
                  <a:schemeClr val="accent2"/>
                </a:solidFill>
              </a:rPr>
              <a:t>C. Develder, "AI4E: Data-efficient and scalable algorithmss to exploit energy flexibility"</a:t>
            </a:r>
            <a:endParaRPr lang="en-US" dirty="0">
              <a:solidFill>
                <a:schemeClr val="accent2"/>
              </a:solidFill>
            </a:endParaRPr>
          </a:p>
        </p:txBody>
      </p:sp>
      <p:pic>
        <p:nvPicPr>
          <p:cNvPr id="12" name="Logo EN">
            <a:extLst>
              <a:ext uri="{FF2B5EF4-FFF2-40B4-BE49-F238E27FC236}">
                <a16:creationId xmlns:a16="http://schemas.microsoft.com/office/drawing/2014/main" id="{9DD5D780-FD8C-630C-5815-D171294F099C}"/>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297443" y="5938847"/>
            <a:ext cx="1045346" cy="836613"/>
          </a:xfrm>
          <a:prstGeom prst="rect">
            <a:avLst/>
          </a:prstGeom>
        </p:spPr>
      </p:pic>
      <p:grpSp>
        <p:nvGrpSpPr>
          <p:cNvPr id="16" name="Group 15">
            <a:extLst>
              <a:ext uri="{FF2B5EF4-FFF2-40B4-BE49-F238E27FC236}">
                <a16:creationId xmlns:a16="http://schemas.microsoft.com/office/drawing/2014/main" id="{C293D2AF-DECF-2F17-0FE9-5AD022F4769B}"/>
              </a:ext>
            </a:extLst>
          </p:cNvPr>
          <p:cNvGrpSpPr/>
          <p:nvPr/>
        </p:nvGrpSpPr>
        <p:grpSpPr>
          <a:xfrm>
            <a:off x="3941385" y="5334330"/>
            <a:ext cx="4840441" cy="694006"/>
            <a:chOff x="2844105" y="5294905"/>
            <a:chExt cx="4840441" cy="694006"/>
          </a:xfrm>
        </p:grpSpPr>
        <p:pic>
          <p:nvPicPr>
            <p:cNvPr id="3" name="Picture 2">
              <a:extLst>
                <a:ext uri="{FF2B5EF4-FFF2-40B4-BE49-F238E27FC236}">
                  <a16:creationId xmlns:a16="http://schemas.microsoft.com/office/drawing/2014/main" id="{C23855B7-A870-5D22-125E-067BCA331DD8}"/>
                </a:ext>
              </a:extLst>
            </p:cNvPr>
            <p:cNvPicPr>
              <a:picLocks noChangeAspect="1"/>
            </p:cNvPicPr>
            <p:nvPr/>
          </p:nvPicPr>
          <p:blipFill>
            <a:blip r:embed="rId5"/>
            <a:stretch>
              <a:fillRect/>
            </a:stretch>
          </p:blipFill>
          <p:spPr>
            <a:xfrm>
              <a:off x="2844105" y="5294905"/>
              <a:ext cx="1467927" cy="694006"/>
            </a:xfrm>
            <a:prstGeom prst="rect">
              <a:avLst/>
            </a:prstGeom>
          </p:spPr>
        </p:pic>
        <p:pic>
          <p:nvPicPr>
            <p:cNvPr id="4" name="Picture 3" descr="Blue text on a black background&#10;&#10;AI-generated content may be incorrect.">
              <a:extLst>
                <a:ext uri="{FF2B5EF4-FFF2-40B4-BE49-F238E27FC236}">
                  <a16:creationId xmlns:a16="http://schemas.microsoft.com/office/drawing/2014/main" id="{8C104426-E730-930E-955C-D52828C62339}"/>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4685800" y="5308714"/>
              <a:ext cx="2998746" cy="666388"/>
            </a:xfrm>
            <a:prstGeom prst="rect">
              <a:avLst/>
            </a:prstGeom>
          </p:spPr>
        </p:pic>
        <p:sp>
          <p:nvSpPr>
            <p:cNvPr id="13" name="Rectangle 12">
              <a:extLst>
                <a:ext uri="{FF2B5EF4-FFF2-40B4-BE49-F238E27FC236}">
                  <a16:creationId xmlns:a16="http://schemas.microsoft.com/office/drawing/2014/main" id="{9334A6FC-4197-C7A5-999E-58DA57A9D480}"/>
                </a:ext>
              </a:extLst>
            </p:cNvPr>
            <p:cNvSpPr/>
            <p:nvPr/>
          </p:nvSpPr>
          <p:spPr>
            <a:xfrm>
              <a:off x="4738094" y="5348804"/>
              <a:ext cx="873125" cy="584200"/>
            </a:xfrm>
            <a:prstGeom prst="rect">
              <a:avLst/>
            </a:prstGeom>
            <a:noFill/>
            <a:ln w="38100">
              <a:solidFill>
                <a:schemeClr val="accent2">
                  <a:lumMod val="20000"/>
                  <a:lumOff val="8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BE"/>
            </a:p>
          </p:txBody>
        </p:sp>
      </p:grpSp>
      <p:pic>
        <p:nvPicPr>
          <p:cNvPr id="15" name="Picture 14">
            <a:extLst>
              <a:ext uri="{FF2B5EF4-FFF2-40B4-BE49-F238E27FC236}">
                <a16:creationId xmlns:a16="http://schemas.microsoft.com/office/drawing/2014/main" id="{3837C043-E9F1-C0B3-2EB8-AD6FB673FB06}"/>
              </a:ext>
            </a:extLst>
          </p:cNvPr>
          <p:cNvPicPr>
            <a:picLocks noChangeAspect="1"/>
          </p:cNvPicPr>
          <p:nvPr/>
        </p:nvPicPr>
        <p:blipFill>
          <a:blip r:embed="rId7">
            <a:extLst>
              <a:ext uri="{28A0092B-C50C-407E-A947-70E740481C1C}">
                <a14:useLocalDpi xmlns:a14="http://schemas.microsoft.com/office/drawing/2010/main" val="0"/>
              </a:ext>
            </a:extLst>
          </a:blip>
          <a:srcRect/>
          <a:stretch>
            <a:fillRect/>
          </a:stretch>
        </p:blipFill>
        <p:spPr bwMode="auto">
          <a:xfrm>
            <a:off x="1104899" y="6194231"/>
            <a:ext cx="1014176" cy="301769"/>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pic>
      <p:sp>
        <p:nvSpPr>
          <p:cNvPr id="14" name="Slide Number Placeholder 13">
            <a:extLst>
              <a:ext uri="{FF2B5EF4-FFF2-40B4-BE49-F238E27FC236}">
                <a16:creationId xmlns:a16="http://schemas.microsoft.com/office/drawing/2014/main" id="{A98D66CC-3F1F-DA9B-BBF2-F7DEB7526E6D}"/>
              </a:ext>
            </a:extLst>
          </p:cNvPr>
          <p:cNvSpPr>
            <a:spLocks noGrp="1"/>
          </p:cNvSpPr>
          <p:nvPr>
            <p:ph type="sldNum" sz="quarter" idx="11"/>
          </p:nvPr>
        </p:nvSpPr>
        <p:spPr/>
        <p:txBody>
          <a:bodyPr/>
          <a:lstStyle/>
          <a:p>
            <a:pPr>
              <a:defRPr/>
            </a:pPr>
            <a:fld id="{837B71E7-1BA8-4BCA-B4F0-4746BEDF418B}" type="slidenum">
              <a:rPr lang="en-US" smtClean="0"/>
              <a:pPr>
                <a:defRPr/>
              </a:pPr>
              <a:t>42</a:t>
            </a:fld>
            <a:endParaRPr lang="en-US"/>
          </a:p>
        </p:txBody>
      </p:sp>
    </p:spTree>
    <p:extLst>
      <p:ext uri="{BB962C8B-B14F-4D97-AF65-F5344CB8AC3E}">
        <p14:creationId xmlns:p14="http://schemas.microsoft.com/office/powerpoint/2010/main" val="118942148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6" fill="hold" nodeType="afterEffect">
                                  <p:stCondLst>
                                    <p:cond delay="500"/>
                                  </p:stCondLst>
                                  <p:childTnLst>
                                    <p:set>
                                      <p:cBhvr>
                                        <p:cTn id="6" dur="1" fill="hold">
                                          <p:stCondLst>
                                            <p:cond delay="0"/>
                                          </p:stCondLst>
                                        </p:cTn>
                                        <p:tgtEl>
                                          <p:spTgt spid="11"/>
                                        </p:tgtEl>
                                        <p:attrNameLst>
                                          <p:attrName>style.visibility</p:attrName>
                                        </p:attrNameLst>
                                      </p:cBhvr>
                                      <p:to>
                                        <p:strVal val="visible"/>
                                      </p:to>
                                    </p:set>
                                    <p:anim calcmode="lin" valueType="num">
                                      <p:cBhvr additive="base">
                                        <p:cTn id="7" dur="1000" fill="hold"/>
                                        <p:tgtEl>
                                          <p:spTgt spid="11"/>
                                        </p:tgtEl>
                                        <p:attrNameLst>
                                          <p:attrName>ppt_x</p:attrName>
                                        </p:attrNameLst>
                                      </p:cBhvr>
                                      <p:tavLst>
                                        <p:tav tm="0">
                                          <p:val>
                                            <p:strVal val="1+#ppt_w/2"/>
                                          </p:val>
                                        </p:tav>
                                        <p:tav tm="100000">
                                          <p:val>
                                            <p:strVal val="#ppt_x"/>
                                          </p:val>
                                        </p:tav>
                                      </p:tavLst>
                                    </p:anim>
                                    <p:anim calcmode="lin" valueType="num">
                                      <p:cBhvr additive="base">
                                        <p:cTn id="8" dur="1000" fill="hold"/>
                                        <p:tgtEl>
                                          <p:spTgt spid="11"/>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p:cNvSpPr>
            <a:spLocks noGrp="1"/>
          </p:cNvSpPr>
          <p:nvPr>
            <p:ph type="title"/>
          </p:nvPr>
        </p:nvSpPr>
        <p:spPr>
          <a:xfrm>
            <a:off x="914400" y="712856"/>
            <a:ext cx="10363200" cy="1141619"/>
          </a:xfrm>
        </p:spPr>
        <p:txBody>
          <a:bodyPr anchor="ctr"/>
          <a:lstStyle/>
          <a:p>
            <a:r>
              <a:rPr lang="en-GB" dirty="0"/>
              <a:t>The AI4E team at </a:t>
            </a:r>
            <a:r>
              <a:rPr lang="en-GB" dirty="0" err="1"/>
              <a:t>IDLab</a:t>
            </a:r>
            <a:r>
              <a:rPr lang="en-GB" dirty="0"/>
              <a:t>, Ghent University – imec </a:t>
            </a:r>
            <a:endParaRPr lang="nl-BE" u="none" dirty="0"/>
          </a:p>
        </p:txBody>
      </p:sp>
      <p:sp>
        <p:nvSpPr>
          <p:cNvPr id="21" name="Footer Placeholder 20">
            <a:extLst>
              <a:ext uri="{FF2B5EF4-FFF2-40B4-BE49-F238E27FC236}">
                <a16:creationId xmlns:a16="http://schemas.microsoft.com/office/drawing/2014/main" id="{7E1927B9-4DEA-47FD-42B7-6BD96C328F47}"/>
              </a:ext>
            </a:extLst>
          </p:cNvPr>
          <p:cNvSpPr>
            <a:spLocks noGrp="1"/>
          </p:cNvSpPr>
          <p:nvPr>
            <p:ph type="ftr" sz="quarter" idx="10"/>
          </p:nvPr>
        </p:nvSpPr>
        <p:spPr/>
        <p:txBody>
          <a:bodyPr/>
          <a:lstStyle/>
          <a:p>
            <a:pPr>
              <a:defRPr/>
            </a:pPr>
            <a:r>
              <a:rPr lang="en-US"/>
              <a:t>C. Develder, "AI4E: Data-efficient and scalable algorithmss to exploit energy flexibility"</a:t>
            </a:r>
          </a:p>
        </p:txBody>
      </p:sp>
      <p:sp>
        <p:nvSpPr>
          <p:cNvPr id="2" name="Hexagon 1">
            <a:extLst>
              <a:ext uri="{FF2B5EF4-FFF2-40B4-BE49-F238E27FC236}">
                <a16:creationId xmlns:a16="http://schemas.microsoft.com/office/drawing/2014/main" id="{0D9E5F29-394B-0702-AC32-8C0822BD4D18}"/>
              </a:ext>
            </a:extLst>
          </p:cNvPr>
          <p:cNvSpPr/>
          <p:nvPr/>
        </p:nvSpPr>
        <p:spPr>
          <a:xfrm>
            <a:off x="2678854" y="3988991"/>
            <a:ext cx="1487108" cy="1472349"/>
          </a:xfrm>
          <a:prstGeom prst="hexagon">
            <a:avLst/>
          </a:prstGeom>
          <a:solidFill>
            <a:schemeClr val="accent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BE" sz="1400"/>
          </a:p>
        </p:txBody>
      </p:sp>
      <p:sp>
        <p:nvSpPr>
          <p:cNvPr id="7" name="Text Placeholder 5">
            <a:extLst>
              <a:ext uri="{FF2B5EF4-FFF2-40B4-BE49-F238E27FC236}">
                <a16:creationId xmlns:a16="http://schemas.microsoft.com/office/drawing/2014/main" id="{1423ED32-4B0A-05FA-0C5F-54F07CC85BB3}"/>
              </a:ext>
            </a:extLst>
          </p:cNvPr>
          <p:cNvSpPr>
            <a:spLocks noGrp="1"/>
          </p:cNvSpPr>
          <p:nvPr>
            <p:ph type="body" idx="1"/>
          </p:nvPr>
        </p:nvSpPr>
        <p:spPr>
          <a:xfrm>
            <a:off x="2209800" y="5175830"/>
            <a:ext cx="7772400" cy="1263652"/>
          </a:xfrm>
        </p:spPr>
        <p:txBody>
          <a:bodyPr/>
          <a:lstStyle/>
          <a:p>
            <a:r>
              <a:rPr lang="en-US" dirty="0">
                <a:solidFill>
                  <a:schemeClr val="accent6">
                    <a:lumMod val="20000"/>
                    <a:lumOff val="80000"/>
                  </a:schemeClr>
                </a:solidFill>
              </a:rPr>
              <a:t>https://ugentai4e.github.io/</a:t>
            </a:r>
          </a:p>
        </p:txBody>
      </p:sp>
      <p:pic>
        <p:nvPicPr>
          <p:cNvPr id="8" name="Picture 7">
            <a:extLst>
              <a:ext uri="{FF2B5EF4-FFF2-40B4-BE49-F238E27FC236}">
                <a16:creationId xmlns:a16="http://schemas.microsoft.com/office/drawing/2014/main" id="{1FADAAE7-56C3-CC9F-4200-300646F043DA}"/>
              </a:ext>
            </a:extLst>
          </p:cNvPr>
          <p:cNvPicPr>
            <a:picLocks noChangeAspect="1"/>
          </p:cNvPicPr>
          <p:nvPr/>
        </p:nvPicPr>
        <p:blipFill>
          <a:blip r:embed="rId3">
            <a:lum bright="70000" contrast="-70000"/>
            <a:extLst>
              <a:ext uri="{28A0092B-C50C-407E-A947-70E740481C1C}">
                <a14:useLocalDpi xmlns:a14="http://schemas.microsoft.com/office/drawing/2010/main" val="0"/>
              </a:ext>
            </a:extLst>
          </a:blip>
          <a:srcRect/>
          <a:stretch>
            <a:fillRect/>
          </a:stretch>
        </p:blipFill>
        <p:spPr bwMode="auto">
          <a:xfrm>
            <a:off x="1104899" y="6194231"/>
            <a:ext cx="1014176" cy="301769"/>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pic>
      <p:grpSp>
        <p:nvGrpSpPr>
          <p:cNvPr id="9" name="Group 8">
            <a:extLst>
              <a:ext uri="{FF2B5EF4-FFF2-40B4-BE49-F238E27FC236}">
                <a16:creationId xmlns:a16="http://schemas.microsoft.com/office/drawing/2014/main" id="{FFCC20E3-ECAB-73CF-3590-AB99E45D359C}"/>
              </a:ext>
            </a:extLst>
          </p:cNvPr>
          <p:cNvGrpSpPr/>
          <p:nvPr/>
        </p:nvGrpSpPr>
        <p:grpSpPr>
          <a:xfrm>
            <a:off x="3212067" y="1914001"/>
            <a:ext cx="5767866" cy="3482682"/>
            <a:chOff x="5111553" y="625452"/>
            <a:chExt cx="4392064" cy="2651962"/>
          </a:xfrm>
        </p:grpSpPr>
        <p:pic>
          <p:nvPicPr>
            <p:cNvPr id="10" name="Picture 9">
              <a:extLst>
                <a:ext uri="{FF2B5EF4-FFF2-40B4-BE49-F238E27FC236}">
                  <a16:creationId xmlns:a16="http://schemas.microsoft.com/office/drawing/2014/main" id="{9BA339D0-FBC0-DA1C-CB63-E4F1FA692F45}"/>
                </a:ext>
              </a:extLst>
            </p:cNvPr>
            <p:cNvPicPr>
              <a:picLocks noChangeAspect="1"/>
            </p:cNvPicPr>
            <p:nvPr/>
          </p:nvPicPr>
          <p:blipFill>
            <a:blip r:embed="rId4"/>
            <a:srcRect l="23" r="23"/>
            <a:stretch/>
          </p:blipFill>
          <p:spPr>
            <a:xfrm>
              <a:off x="8503188" y="1169492"/>
              <a:ext cx="1000332" cy="1000800"/>
            </a:xfrm>
            <a:prstGeom prst="hexagon">
              <a:avLst/>
            </a:prstGeom>
            <a:ln w="28575">
              <a:noFill/>
            </a:ln>
          </p:spPr>
        </p:pic>
        <p:pic>
          <p:nvPicPr>
            <p:cNvPr id="11" name="Picture 10">
              <a:extLst>
                <a:ext uri="{FF2B5EF4-FFF2-40B4-BE49-F238E27FC236}">
                  <a16:creationId xmlns:a16="http://schemas.microsoft.com/office/drawing/2014/main" id="{5882ABAB-11C2-C0BA-4CE5-A144F6F2DC56}"/>
                </a:ext>
              </a:extLst>
            </p:cNvPr>
            <p:cNvPicPr>
              <a:picLocks noChangeAspect="1"/>
            </p:cNvPicPr>
            <p:nvPr/>
          </p:nvPicPr>
          <p:blipFill>
            <a:blip r:embed="rId5"/>
            <a:stretch>
              <a:fillRect/>
            </a:stretch>
          </p:blipFill>
          <p:spPr>
            <a:xfrm>
              <a:off x="7653774" y="625452"/>
              <a:ext cx="1000995" cy="1000996"/>
            </a:xfrm>
            <a:prstGeom prst="hexagon">
              <a:avLst/>
            </a:prstGeom>
            <a:ln w="28575">
              <a:noFill/>
            </a:ln>
          </p:spPr>
        </p:pic>
        <p:pic>
          <p:nvPicPr>
            <p:cNvPr id="12" name="Picture 11">
              <a:extLst>
                <a:ext uri="{FF2B5EF4-FFF2-40B4-BE49-F238E27FC236}">
                  <a16:creationId xmlns:a16="http://schemas.microsoft.com/office/drawing/2014/main" id="{A0C6E49A-42AF-CED8-8EAD-5273D59864A4}"/>
                </a:ext>
              </a:extLst>
            </p:cNvPr>
            <p:cNvPicPr>
              <a:picLocks noChangeAspect="1"/>
            </p:cNvPicPr>
            <p:nvPr/>
          </p:nvPicPr>
          <p:blipFill>
            <a:blip r:embed="rId6"/>
            <a:stretch>
              <a:fillRect/>
            </a:stretch>
          </p:blipFill>
          <p:spPr>
            <a:xfrm>
              <a:off x="5111553" y="1169492"/>
              <a:ext cx="1000995" cy="1000996"/>
            </a:xfrm>
            <a:prstGeom prst="hexagon">
              <a:avLst/>
            </a:prstGeom>
            <a:ln w="28575">
              <a:noFill/>
            </a:ln>
          </p:spPr>
        </p:pic>
        <p:pic>
          <p:nvPicPr>
            <p:cNvPr id="13" name="Picture 12">
              <a:extLst>
                <a:ext uri="{FF2B5EF4-FFF2-40B4-BE49-F238E27FC236}">
                  <a16:creationId xmlns:a16="http://schemas.microsoft.com/office/drawing/2014/main" id="{01451F83-CEC9-0191-31C3-53969967FA62}"/>
                </a:ext>
              </a:extLst>
            </p:cNvPr>
            <p:cNvPicPr>
              <a:picLocks noChangeAspect="1"/>
            </p:cNvPicPr>
            <p:nvPr/>
          </p:nvPicPr>
          <p:blipFill>
            <a:blip r:embed="rId7"/>
            <a:stretch>
              <a:fillRect/>
            </a:stretch>
          </p:blipFill>
          <p:spPr>
            <a:xfrm>
              <a:off x="6818702" y="1160527"/>
              <a:ext cx="1000995" cy="1000996"/>
            </a:xfrm>
            <a:prstGeom prst="hexagon">
              <a:avLst/>
            </a:prstGeom>
            <a:ln>
              <a:noFill/>
            </a:ln>
          </p:spPr>
        </p:pic>
        <p:pic>
          <p:nvPicPr>
            <p:cNvPr id="14" name="Picture 13">
              <a:extLst>
                <a:ext uri="{FF2B5EF4-FFF2-40B4-BE49-F238E27FC236}">
                  <a16:creationId xmlns:a16="http://schemas.microsoft.com/office/drawing/2014/main" id="{8B166FA4-42EA-0145-3A24-126194E9C2EA}"/>
                </a:ext>
              </a:extLst>
            </p:cNvPr>
            <p:cNvPicPr>
              <a:picLocks noChangeAspect="1"/>
            </p:cNvPicPr>
            <p:nvPr/>
          </p:nvPicPr>
          <p:blipFill>
            <a:blip r:embed="rId8"/>
            <a:stretch>
              <a:fillRect/>
            </a:stretch>
          </p:blipFill>
          <p:spPr>
            <a:xfrm>
              <a:off x="6822623" y="2276418"/>
              <a:ext cx="1000995" cy="1000996"/>
            </a:xfrm>
            <a:prstGeom prst="hexagon">
              <a:avLst/>
            </a:prstGeom>
            <a:ln w="28575">
              <a:noFill/>
            </a:ln>
          </p:spPr>
        </p:pic>
        <p:pic>
          <p:nvPicPr>
            <p:cNvPr id="19" name="Picture 18">
              <a:extLst>
                <a:ext uri="{FF2B5EF4-FFF2-40B4-BE49-F238E27FC236}">
                  <a16:creationId xmlns:a16="http://schemas.microsoft.com/office/drawing/2014/main" id="{B762CCC3-FC21-2565-1836-53E9F02644DE}"/>
                </a:ext>
              </a:extLst>
            </p:cNvPr>
            <p:cNvPicPr>
              <a:picLocks noChangeAspect="1"/>
            </p:cNvPicPr>
            <p:nvPr/>
          </p:nvPicPr>
          <p:blipFill>
            <a:blip r:embed="rId9"/>
            <a:stretch>
              <a:fillRect/>
            </a:stretch>
          </p:blipFill>
          <p:spPr>
            <a:xfrm>
              <a:off x="7662858" y="1723086"/>
              <a:ext cx="1000995" cy="1000996"/>
            </a:xfrm>
            <a:prstGeom prst="hexagon">
              <a:avLst/>
            </a:prstGeom>
            <a:ln w="28575">
              <a:noFill/>
            </a:ln>
          </p:spPr>
        </p:pic>
        <p:pic>
          <p:nvPicPr>
            <p:cNvPr id="26" name="Picture 25">
              <a:extLst>
                <a:ext uri="{FF2B5EF4-FFF2-40B4-BE49-F238E27FC236}">
                  <a16:creationId xmlns:a16="http://schemas.microsoft.com/office/drawing/2014/main" id="{A3C33416-7784-3469-1368-46EE23BD0DAA}"/>
                </a:ext>
              </a:extLst>
            </p:cNvPr>
            <p:cNvPicPr>
              <a:picLocks noChangeAspect="1"/>
            </p:cNvPicPr>
            <p:nvPr/>
          </p:nvPicPr>
          <p:blipFill>
            <a:blip r:embed="rId10"/>
            <a:srcRect l="24" r="24"/>
            <a:stretch/>
          </p:blipFill>
          <p:spPr>
            <a:xfrm>
              <a:off x="8503092" y="2276418"/>
              <a:ext cx="1000525" cy="1000996"/>
            </a:xfrm>
            <a:prstGeom prst="hexagon">
              <a:avLst/>
            </a:prstGeom>
            <a:ln w="28575">
              <a:noFill/>
            </a:ln>
          </p:spPr>
        </p:pic>
        <p:pic>
          <p:nvPicPr>
            <p:cNvPr id="33" name="Picture 32">
              <a:extLst>
                <a:ext uri="{FF2B5EF4-FFF2-40B4-BE49-F238E27FC236}">
                  <a16:creationId xmlns:a16="http://schemas.microsoft.com/office/drawing/2014/main" id="{5AFC9F81-A1C0-C545-597A-97D34BCABF6D}"/>
                </a:ext>
              </a:extLst>
            </p:cNvPr>
            <p:cNvPicPr>
              <a:picLocks noChangeAspect="1"/>
            </p:cNvPicPr>
            <p:nvPr/>
          </p:nvPicPr>
          <p:blipFill>
            <a:blip r:embed="rId11"/>
            <a:srcRect l="23" r="23"/>
            <a:stretch/>
          </p:blipFill>
          <p:spPr>
            <a:xfrm>
              <a:off x="5112023" y="2276418"/>
              <a:ext cx="1000525" cy="1000995"/>
            </a:xfrm>
            <a:prstGeom prst="hexagon">
              <a:avLst/>
            </a:prstGeom>
            <a:ln w="28575">
              <a:noFill/>
            </a:ln>
          </p:spPr>
        </p:pic>
        <p:pic>
          <p:nvPicPr>
            <p:cNvPr id="34" name="Picture 33">
              <a:extLst>
                <a:ext uri="{FF2B5EF4-FFF2-40B4-BE49-F238E27FC236}">
                  <a16:creationId xmlns:a16="http://schemas.microsoft.com/office/drawing/2014/main" id="{DF0EE636-0A3D-D4F8-9D12-AA5E3EBA9AC3}"/>
                </a:ext>
              </a:extLst>
            </p:cNvPr>
            <p:cNvPicPr>
              <a:picLocks/>
            </p:cNvPicPr>
            <p:nvPr/>
          </p:nvPicPr>
          <p:blipFill rotWithShape="1">
            <a:blip r:embed="rId12">
              <a:extLst>
                <a:ext uri="{28A0092B-C50C-407E-A947-70E740481C1C}">
                  <a14:useLocalDpi xmlns:a14="http://schemas.microsoft.com/office/drawing/2010/main" val="0"/>
                </a:ext>
              </a:extLst>
            </a:blip>
            <a:srcRect l="27252" t="17163" r="16528" b="44352"/>
            <a:stretch/>
          </p:blipFill>
          <p:spPr>
            <a:xfrm>
              <a:off x="5951788" y="1723086"/>
              <a:ext cx="1031595" cy="1005511"/>
            </a:xfrm>
            <a:prstGeom prst="hexagon">
              <a:avLst/>
            </a:prstGeom>
            <a:ln w="28575">
              <a:noFill/>
            </a:ln>
          </p:spPr>
        </p:pic>
        <p:pic>
          <p:nvPicPr>
            <p:cNvPr id="35" name="Picture 34">
              <a:extLst>
                <a:ext uri="{FF2B5EF4-FFF2-40B4-BE49-F238E27FC236}">
                  <a16:creationId xmlns:a16="http://schemas.microsoft.com/office/drawing/2014/main" id="{5165DE6D-0526-3987-E152-97635B18A2B9}"/>
                </a:ext>
              </a:extLst>
            </p:cNvPr>
            <p:cNvPicPr>
              <a:picLocks noChangeAspect="1"/>
            </p:cNvPicPr>
            <p:nvPr/>
          </p:nvPicPr>
          <p:blipFill>
            <a:blip r:embed="rId13"/>
            <a:srcRect/>
            <a:stretch/>
          </p:blipFill>
          <p:spPr>
            <a:xfrm>
              <a:off x="5962897" y="625452"/>
              <a:ext cx="1000995" cy="1000996"/>
            </a:xfrm>
            <a:prstGeom prst="hexagon">
              <a:avLst/>
            </a:prstGeom>
            <a:ln w="28575">
              <a:noFill/>
            </a:ln>
          </p:spPr>
        </p:pic>
      </p:grpSp>
      <p:pic>
        <p:nvPicPr>
          <p:cNvPr id="36" name="Picture 35">
            <a:extLst>
              <a:ext uri="{FF2B5EF4-FFF2-40B4-BE49-F238E27FC236}">
                <a16:creationId xmlns:a16="http://schemas.microsoft.com/office/drawing/2014/main" id="{48183E14-BE3E-0FE0-00CD-58535A6AB968}"/>
              </a:ext>
            </a:extLst>
          </p:cNvPr>
          <p:cNvPicPr>
            <a:picLocks noChangeAspect="1"/>
          </p:cNvPicPr>
          <p:nvPr/>
        </p:nvPicPr>
        <p:blipFill>
          <a:blip r:embed="rId3">
            <a:lum bright="70000" contrast="-70000"/>
            <a:extLst>
              <a:ext uri="{28A0092B-C50C-407E-A947-70E740481C1C}">
                <a14:useLocalDpi xmlns:a14="http://schemas.microsoft.com/office/drawing/2010/main" val="0"/>
              </a:ext>
            </a:extLst>
          </a:blip>
          <a:srcRect/>
          <a:stretch>
            <a:fillRect/>
          </a:stretch>
        </p:blipFill>
        <p:spPr bwMode="auto">
          <a:xfrm>
            <a:off x="5557380" y="1963575"/>
            <a:ext cx="1014176" cy="301769"/>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pic>
      <p:sp>
        <p:nvSpPr>
          <p:cNvPr id="37" name="Slide Number Placeholder 36">
            <a:extLst>
              <a:ext uri="{FF2B5EF4-FFF2-40B4-BE49-F238E27FC236}">
                <a16:creationId xmlns:a16="http://schemas.microsoft.com/office/drawing/2014/main" id="{A96B76DC-0F90-3CBF-C32E-E803CA1F8F4C}"/>
              </a:ext>
            </a:extLst>
          </p:cNvPr>
          <p:cNvSpPr>
            <a:spLocks noGrp="1"/>
          </p:cNvSpPr>
          <p:nvPr>
            <p:ph type="sldNum" sz="quarter" idx="11"/>
          </p:nvPr>
        </p:nvSpPr>
        <p:spPr/>
        <p:txBody>
          <a:bodyPr/>
          <a:lstStyle/>
          <a:p>
            <a:pPr>
              <a:defRPr/>
            </a:pPr>
            <a:fld id="{837B71E7-1BA8-4BCA-B4F0-4746BEDF418B}" type="slidenum">
              <a:rPr lang="en-US" smtClean="0"/>
              <a:pPr>
                <a:defRPr/>
              </a:pPr>
              <a:t>43</a:t>
            </a:fld>
            <a:endParaRPr lang="en-US"/>
          </a:p>
        </p:txBody>
      </p:sp>
    </p:spTree>
    <p:extLst>
      <p:ext uri="{BB962C8B-B14F-4D97-AF65-F5344CB8AC3E}">
        <p14:creationId xmlns:p14="http://schemas.microsoft.com/office/powerpoint/2010/main" val="1865411303"/>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C174F7EB-8A9F-EF55-8199-7D5066BE20E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D630334-A633-037F-AA22-F08795DE319C}"/>
              </a:ext>
            </a:extLst>
          </p:cNvPr>
          <p:cNvSpPr>
            <a:spLocks noGrp="1"/>
          </p:cNvSpPr>
          <p:nvPr>
            <p:ph type="title"/>
          </p:nvPr>
        </p:nvSpPr>
        <p:spPr/>
        <p:txBody>
          <a:bodyPr/>
          <a:lstStyle/>
          <a:p>
            <a:r>
              <a:rPr lang="en-US" dirty="0"/>
              <a:t>Simulation Setup</a:t>
            </a:r>
            <a:endParaRPr lang="en-BE" dirty="0"/>
          </a:p>
        </p:txBody>
      </p:sp>
      <p:sp>
        <p:nvSpPr>
          <p:cNvPr id="4" name="Content Placeholder 3">
            <a:extLst>
              <a:ext uri="{FF2B5EF4-FFF2-40B4-BE49-F238E27FC236}">
                <a16:creationId xmlns:a16="http://schemas.microsoft.com/office/drawing/2014/main" id="{A2C9A734-DE5B-AAA6-5BD4-8A7168245C53}"/>
              </a:ext>
            </a:extLst>
          </p:cNvPr>
          <p:cNvSpPr>
            <a:spLocks noGrp="1"/>
          </p:cNvSpPr>
          <p:nvPr>
            <p:ph idx="4294967295"/>
          </p:nvPr>
        </p:nvSpPr>
        <p:spPr>
          <a:xfrm>
            <a:off x="476211" y="1359878"/>
            <a:ext cx="11400407" cy="4731847"/>
          </a:xfrm>
          <a:prstGeom prst="rect">
            <a:avLst/>
          </a:prstGeom>
        </p:spPr>
        <p:txBody>
          <a:bodyPr/>
          <a:lstStyle/>
          <a:p>
            <a:pPr marL="0" indent="0">
              <a:buNone/>
            </a:pPr>
            <a:r>
              <a:rPr lang="en-US" b="1" dirty="0"/>
              <a:t>Datasets</a:t>
            </a:r>
            <a:endParaRPr lang="en-BE" b="1" dirty="0"/>
          </a:p>
          <a:p>
            <a:r>
              <a:rPr lang="en-US" dirty="0"/>
              <a:t>Historical real-world dataset of 20 EVs</a:t>
            </a:r>
          </a:p>
          <a:p>
            <a:pPr lvl="1"/>
            <a:r>
              <a:rPr lang="en-US" dirty="0"/>
              <a:t>Belgian residential charging sessions</a:t>
            </a:r>
          </a:p>
          <a:p>
            <a:pPr lvl="1"/>
            <a:r>
              <a:rPr lang="en-US" dirty="0"/>
              <a:t>Data split: 40d train / 5d eval / 5d test</a:t>
            </a:r>
            <a:endParaRPr lang="en-BE" dirty="0"/>
          </a:p>
          <a:p>
            <a:r>
              <a:rPr lang="en-US" dirty="0"/>
              <a:t>Scaled dataset of 100 EVs</a:t>
            </a:r>
          </a:p>
          <a:p>
            <a:pPr lvl="1"/>
            <a:r>
              <a:rPr lang="en-US" dirty="0"/>
              <a:t>Fit Gaussian mixture model on historical dataset</a:t>
            </a:r>
          </a:p>
          <a:p>
            <a:pPr lvl="1"/>
            <a:r>
              <a:rPr lang="en-US" dirty="0"/>
              <a:t>Data split: 30d train / 7d eval / 7d test</a:t>
            </a:r>
            <a:endParaRPr lang="en-BE" dirty="0"/>
          </a:p>
          <a:p>
            <a:pPr marL="0" indent="0">
              <a:buNone/>
            </a:pPr>
            <a:endParaRPr lang="en-BE" sz="1400" dirty="0"/>
          </a:p>
          <a:p>
            <a:pPr marL="0" indent="0">
              <a:buNone/>
            </a:pPr>
            <a:r>
              <a:rPr lang="en-US" b="1" dirty="0"/>
              <a:t>Benchmark controllers</a:t>
            </a:r>
            <a:endParaRPr lang="en-BE" b="1" dirty="0"/>
          </a:p>
          <a:p>
            <a:r>
              <a:rPr lang="en-US" dirty="0"/>
              <a:t>Business-as-usual (BAU)</a:t>
            </a:r>
            <a:r>
              <a:rPr lang="en-BE" dirty="0"/>
              <a:t>:  </a:t>
            </a:r>
            <a:r>
              <a:rPr lang="en-US" dirty="0"/>
              <a:t>Start charging upon arrival</a:t>
            </a:r>
            <a:endParaRPr lang="en-BE" dirty="0"/>
          </a:p>
          <a:p>
            <a:r>
              <a:rPr lang="en-US" dirty="0"/>
              <a:t>Optimal</a:t>
            </a:r>
            <a:r>
              <a:rPr lang="en-BE" dirty="0"/>
              <a:t>:  </a:t>
            </a:r>
            <a:r>
              <a:rPr lang="en-US" dirty="0"/>
              <a:t>MPC optimization with perfect foresight over full day</a:t>
            </a:r>
            <a:endParaRPr lang="en-BE" dirty="0"/>
          </a:p>
        </p:txBody>
      </p:sp>
      <p:pic>
        <p:nvPicPr>
          <p:cNvPr id="6" name="Picture 5">
            <a:extLst>
              <a:ext uri="{FF2B5EF4-FFF2-40B4-BE49-F238E27FC236}">
                <a16:creationId xmlns:a16="http://schemas.microsoft.com/office/drawing/2014/main" id="{14E4E352-98AF-FF64-9EAB-7CCB7076FCA2}"/>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5848350" y="1805561"/>
            <a:ext cx="6187440" cy="2651760"/>
          </a:xfrm>
          <a:prstGeom prst="rect">
            <a:avLst/>
          </a:prstGeom>
        </p:spPr>
      </p:pic>
      <p:sp>
        <p:nvSpPr>
          <p:cNvPr id="3" name="Footer Placeholder 2">
            <a:extLst>
              <a:ext uri="{FF2B5EF4-FFF2-40B4-BE49-F238E27FC236}">
                <a16:creationId xmlns:a16="http://schemas.microsoft.com/office/drawing/2014/main" id="{19F778D0-99D1-ACB2-9C93-22259B7C0343}"/>
              </a:ext>
            </a:extLst>
          </p:cNvPr>
          <p:cNvSpPr>
            <a:spLocks noGrp="1"/>
          </p:cNvSpPr>
          <p:nvPr>
            <p:ph type="ftr" sz="quarter" idx="10"/>
          </p:nvPr>
        </p:nvSpPr>
        <p:spPr/>
        <p:txBody>
          <a:bodyPr/>
          <a:lstStyle/>
          <a:p>
            <a:pPr>
              <a:defRPr/>
            </a:pPr>
            <a:r>
              <a:rPr lang="en-US"/>
              <a:t>S.S.K Madahi, G. Gabriele,  B. Claessens, and C. Develder, "Scalable Attention-based Reinforcement Learning Method for Multi-asset Control", CO-BUILD @ ICML 2025</a:t>
            </a:r>
            <a:endParaRPr lang="en-US" dirty="0"/>
          </a:p>
        </p:txBody>
      </p:sp>
      <p:sp>
        <p:nvSpPr>
          <p:cNvPr id="5" name="TextBox 4">
            <a:extLst>
              <a:ext uri="{FF2B5EF4-FFF2-40B4-BE49-F238E27FC236}">
                <a16:creationId xmlns:a16="http://schemas.microsoft.com/office/drawing/2014/main" id="{ABB3A807-1F1C-B170-2808-C84EC7EED823}"/>
              </a:ext>
            </a:extLst>
          </p:cNvPr>
          <p:cNvSpPr txBox="1"/>
          <p:nvPr/>
        </p:nvSpPr>
        <p:spPr>
          <a:xfrm>
            <a:off x="6558455" y="2858819"/>
            <a:ext cx="1243817" cy="400110"/>
          </a:xfrm>
          <a:prstGeom prst="rect">
            <a:avLst/>
          </a:prstGeom>
          <a:noFill/>
        </p:spPr>
        <p:txBody>
          <a:bodyPr wrap="square" rtlCol="0">
            <a:spAutoFit/>
          </a:bodyPr>
          <a:lstStyle/>
          <a:p>
            <a:r>
              <a:rPr lang="en-GB" sz="2000" b="1" dirty="0">
                <a:solidFill>
                  <a:srgbClr val="FFA207"/>
                </a:solidFill>
                <a:latin typeface="+mn-lt"/>
              </a:rPr>
              <a:t>Departures</a:t>
            </a:r>
            <a:endParaRPr lang="en-BE" sz="2000" b="1" dirty="0">
              <a:solidFill>
                <a:srgbClr val="FFA207"/>
              </a:solidFill>
              <a:latin typeface="+mn-lt"/>
            </a:endParaRPr>
          </a:p>
        </p:txBody>
      </p:sp>
      <p:sp>
        <p:nvSpPr>
          <p:cNvPr id="7" name="TextBox 6">
            <a:extLst>
              <a:ext uri="{FF2B5EF4-FFF2-40B4-BE49-F238E27FC236}">
                <a16:creationId xmlns:a16="http://schemas.microsoft.com/office/drawing/2014/main" id="{5D42AB66-306A-88D3-6793-C07AC3920D9B}"/>
              </a:ext>
            </a:extLst>
          </p:cNvPr>
          <p:cNvSpPr txBox="1"/>
          <p:nvPr/>
        </p:nvSpPr>
        <p:spPr>
          <a:xfrm>
            <a:off x="9083531" y="2858819"/>
            <a:ext cx="1374263" cy="400110"/>
          </a:xfrm>
          <a:prstGeom prst="rect">
            <a:avLst/>
          </a:prstGeom>
          <a:noFill/>
        </p:spPr>
        <p:txBody>
          <a:bodyPr wrap="square" rtlCol="0">
            <a:spAutoFit/>
          </a:bodyPr>
          <a:lstStyle/>
          <a:p>
            <a:r>
              <a:rPr lang="en-GB" sz="2000" b="1" dirty="0">
                <a:solidFill>
                  <a:srgbClr val="4242FF"/>
                </a:solidFill>
                <a:latin typeface="+mn-lt"/>
              </a:rPr>
              <a:t>Arrivals</a:t>
            </a:r>
            <a:endParaRPr lang="en-BE" sz="2000" b="1" dirty="0">
              <a:solidFill>
                <a:srgbClr val="4242FF"/>
              </a:solidFill>
              <a:latin typeface="+mn-lt"/>
            </a:endParaRPr>
          </a:p>
        </p:txBody>
      </p:sp>
    </p:spTree>
    <p:extLst>
      <p:ext uri="{BB962C8B-B14F-4D97-AF65-F5344CB8AC3E}">
        <p14:creationId xmlns:p14="http://schemas.microsoft.com/office/powerpoint/2010/main" val="79203520"/>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EA5BEE6D-EAB0-9100-9025-FBE0DCB33BBA}"/>
            </a:ext>
          </a:extLst>
        </p:cNvPr>
        <p:cNvGrpSpPr/>
        <p:nvPr/>
      </p:nvGrpSpPr>
      <p:grpSpPr>
        <a:xfrm>
          <a:off x="0" y="0"/>
          <a:ext cx="0" cy="0"/>
          <a:chOff x="0" y="0"/>
          <a:chExt cx="0" cy="0"/>
        </a:xfrm>
      </p:grpSpPr>
      <p:sp>
        <p:nvSpPr>
          <p:cNvPr id="630" name="Rounded Rectangle 629">
            <a:extLst>
              <a:ext uri="{FF2B5EF4-FFF2-40B4-BE49-F238E27FC236}">
                <a16:creationId xmlns:a16="http://schemas.microsoft.com/office/drawing/2014/main" id="{7C8CF950-319F-3F01-643F-0D62350FAB24}"/>
              </a:ext>
            </a:extLst>
          </p:cNvPr>
          <p:cNvSpPr/>
          <p:nvPr/>
        </p:nvSpPr>
        <p:spPr>
          <a:xfrm>
            <a:off x="8929467" y="3626897"/>
            <a:ext cx="2631881" cy="1186064"/>
          </a:xfrm>
          <a:prstGeom prst="roundRect">
            <a:avLst/>
          </a:prstGeom>
          <a:solidFill>
            <a:srgbClr val="FFD9DA"/>
          </a:solidFill>
          <a:ln>
            <a:solidFill>
              <a:schemeClr val="accent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BE" dirty="0"/>
          </a:p>
        </p:txBody>
      </p:sp>
      <p:sp>
        <p:nvSpPr>
          <p:cNvPr id="2" name="Title 1">
            <a:extLst>
              <a:ext uri="{FF2B5EF4-FFF2-40B4-BE49-F238E27FC236}">
                <a16:creationId xmlns:a16="http://schemas.microsoft.com/office/drawing/2014/main" id="{CEA24993-9004-05D4-ED57-C09F5A19CC92}"/>
              </a:ext>
            </a:extLst>
          </p:cNvPr>
          <p:cNvSpPr>
            <a:spLocks noGrp="1"/>
          </p:cNvSpPr>
          <p:nvPr>
            <p:ph type="title"/>
          </p:nvPr>
        </p:nvSpPr>
        <p:spPr/>
        <p:txBody>
          <a:bodyPr/>
          <a:lstStyle/>
          <a:p>
            <a:r>
              <a:rPr lang="en-BE" dirty="0"/>
              <a:t>MCTS based imbalance price forecasting</a:t>
            </a:r>
          </a:p>
        </p:txBody>
      </p:sp>
      <p:sp>
        <p:nvSpPr>
          <p:cNvPr id="3" name="Footer Placeholder 2">
            <a:extLst>
              <a:ext uri="{FF2B5EF4-FFF2-40B4-BE49-F238E27FC236}">
                <a16:creationId xmlns:a16="http://schemas.microsoft.com/office/drawing/2014/main" id="{FD823A98-BEA4-ED6D-BFA5-CB82C2D60135}"/>
              </a:ext>
            </a:extLst>
          </p:cNvPr>
          <p:cNvSpPr>
            <a:spLocks noGrp="1"/>
          </p:cNvSpPr>
          <p:nvPr>
            <p:ph type="ftr" sz="quarter" idx="10"/>
          </p:nvPr>
        </p:nvSpPr>
        <p:spPr/>
        <p:txBody>
          <a:bodyPr/>
          <a:lstStyle/>
          <a:p>
            <a:pPr>
              <a:defRPr/>
            </a:pPr>
            <a:r>
              <a:rPr lang="en-US"/>
              <a:t>C. Develder, "AI4E: Data-efficient and scalable algorithmss to exploit energy flexibility"</a:t>
            </a:r>
          </a:p>
        </p:txBody>
      </p:sp>
      <p:grpSp>
        <p:nvGrpSpPr>
          <p:cNvPr id="12" name="Group 11">
            <a:extLst>
              <a:ext uri="{FF2B5EF4-FFF2-40B4-BE49-F238E27FC236}">
                <a16:creationId xmlns:a16="http://schemas.microsoft.com/office/drawing/2014/main" id="{EEF204BD-3761-4FFB-734B-C10D3F8D6C37}"/>
              </a:ext>
            </a:extLst>
          </p:cNvPr>
          <p:cNvGrpSpPr/>
          <p:nvPr/>
        </p:nvGrpSpPr>
        <p:grpSpPr>
          <a:xfrm>
            <a:off x="4952462" y="3635163"/>
            <a:ext cx="1711524" cy="1160673"/>
            <a:chOff x="5545038" y="2639947"/>
            <a:chExt cx="1711524" cy="1160673"/>
          </a:xfrm>
        </p:grpSpPr>
        <p:pic>
          <p:nvPicPr>
            <p:cNvPr id="9" name="Picture 8">
              <a:extLst>
                <a:ext uri="{FF2B5EF4-FFF2-40B4-BE49-F238E27FC236}">
                  <a16:creationId xmlns:a16="http://schemas.microsoft.com/office/drawing/2014/main" id="{7E4FD8F3-3253-31CF-4569-4084EDAAE748}"/>
                </a:ext>
              </a:extLst>
            </p:cNvPr>
            <p:cNvPicPr>
              <a:picLocks noChangeAspect="1"/>
            </p:cNvPicPr>
            <p:nvPr/>
          </p:nvPicPr>
          <p:blipFill>
            <a:blip r:embed="rId3"/>
            <a:srcRect l="56012" t="24206" r="26984" b="24930"/>
            <a:stretch>
              <a:fillRect/>
            </a:stretch>
          </p:blipFill>
          <p:spPr>
            <a:xfrm>
              <a:off x="5545038" y="2639948"/>
              <a:ext cx="617621" cy="954505"/>
            </a:xfrm>
            <a:prstGeom prst="rect">
              <a:avLst/>
            </a:prstGeom>
          </p:spPr>
        </p:pic>
        <p:pic>
          <p:nvPicPr>
            <p:cNvPr id="10" name="Picture 9">
              <a:extLst>
                <a:ext uri="{FF2B5EF4-FFF2-40B4-BE49-F238E27FC236}">
                  <a16:creationId xmlns:a16="http://schemas.microsoft.com/office/drawing/2014/main" id="{9BA769C7-C0DE-1859-F7E6-998B8EDA8153}"/>
                </a:ext>
              </a:extLst>
            </p:cNvPr>
            <p:cNvPicPr>
              <a:picLocks noChangeAspect="1"/>
            </p:cNvPicPr>
            <p:nvPr/>
          </p:nvPicPr>
          <p:blipFill>
            <a:blip r:embed="rId3"/>
            <a:srcRect l="56012" t="24206" r="26984" b="24930"/>
            <a:stretch>
              <a:fillRect/>
            </a:stretch>
          </p:blipFill>
          <p:spPr>
            <a:xfrm>
              <a:off x="6096000" y="2846115"/>
              <a:ext cx="617621" cy="954505"/>
            </a:xfrm>
            <a:prstGeom prst="rect">
              <a:avLst/>
            </a:prstGeom>
          </p:spPr>
        </p:pic>
        <p:pic>
          <p:nvPicPr>
            <p:cNvPr id="11" name="Picture 10">
              <a:extLst>
                <a:ext uri="{FF2B5EF4-FFF2-40B4-BE49-F238E27FC236}">
                  <a16:creationId xmlns:a16="http://schemas.microsoft.com/office/drawing/2014/main" id="{F2BB0479-8486-A2CA-0BEF-91032D112AAF}"/>
                </a:ext>
              </a:extLst>
            </p:cNvPr>
            <p:cNvPicPr>
              <a:picLocks noChangeAspect="1"/>
            </p:cNvPicPr>
            <p:nvPr/>
          </p:nvPicPr>
          <p:blipFill>
            <a:blip r:embed="rId3"/>
            <a:srcRect l="56012" t="24206" r="26984" b="24930"/>
            <a:stretch>
              <a:fillRect/>
            </a:stretch>
          </p:blipFill>
          <p:spPr>
            <a:xfrm>
              <a:off x="6638941" y="2639947"/>
              <a:ext cx="617621" cy="954505"/>
            </a:xfrm>
            <a:prstGeom prst="rect">
              <a:avLst/>
            </a:prstGeom>
          </p:spPr>
        </p:pic>
      </p:grpSp>
      <p:grpSp>
        <p:nvGrpSpPr>
          <p:cNvPr id="508" name="Group 507">
            <a:extLst>
              <a:ext uri="{FF2B5EF4-FFF2-40B4-BE49-F238E27FC236}">
                <a16:creationId xmlns:a16="http://schemas.microsoft.com/office/drawing/2014/main" id="{66CC7EBE-E063-4735-A5B4-8DF6A8F6F96F}"/>
              </a:ext>
            </a:extLst>
          </p:cNvPr>
          <p:cNvGrpSpPr/>
          <p:nvPr/>
        </p:nvGrpSpPr>
        <p:grpSpPr>
          <a:xfrm>
            <a:off x="9043387" y="3860763"/>
            <a:ext cx="882456" cy="826170"/>
            <a:chOff x="8214387" y="3173369"/>
            <a:chExt cx="1671163" cy="1564570"/>
          </a:xfrm>
        </p:grpSpPr>
        <p:grpSp>
          <p:nvGrpSpPr>
            <p:cNvPr id="509" name="Group 508">
              <a:extLst>
                <a:ext uri="{FF2B5EF4-FFF2-40B4-BE49-F238E27FC236}">
                  <a16:creationId xmlns:a16="http://schemas.microsoft.com/office/drawing/2014/main" id="{BED96D27-F1D7-345E-B4BB-B872954F2156}"/>
                </a:ext>
              </a:extLst>
            </p:cNvPr>
            <p:cNvGrpSpPr/>
            <p:nvPr/>
          </p:nvGrpSpPr>
          <p:grpSpPr>
            <a:xfrm>
              <a:off x="8214387" y="3173369"/>
              <a:ext cx="1366363" cy="1259770"/>
              <a:chOff x="8119062" y="2903708"/>
              <a:chExt cx="2085112" cy="1922448"/>
            </a:xfrm>
          </p:grpSpPr>
          <p:sp>
            <p:nvSpPr>
              <p:cNvPr id="574" name="Rounded Rectangle 573">
                <a:extLst>
                  <a:ext uri="{FF2B5EF4-FFF2-40B4-BE49-F238E27FC236}">
                    <a16:creationId xmlns:a16="http://schemas.microsoft.com/office/drawing/2014/main" id="{CCBEC15D-512A-1304-3C10-B2868783E5C4}"/>
                  </a:ext>
                </a:extLst>
              </p:cNvPr>
              <p:cNvSpPr/>
              <p:nvPr/>
            </p:nvSpPr>
            <p:spPr>
              <a:xfrm>
                <a:off x="8119062" y="2903708"/>
                <a:ext cx="2085112" cy="1922448"/>
              </a:xfrm>
              <a:prstGeom prst="roundRect">
                <a:avLst/>
              </a:prstGeom>
              <a:solidFill>
                <a:schemeClr val="bg1">
                  <a:lumMod val="95000"/>
                </a:schemeClr>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BE"/>
              </a:p>
            </p:txBody>
          </p:sp>
          <p:grpSp>
            <p:nvGrpSpPr>
              <p:cNvPr id="575" name="Group 574">
                <a:extLst>
                  <a:ext uri="{FF2B5EF4-FFF2-40B4-BE49-F238E27FC236}">
                    <a16:creationId xmlns:a16="http://schemas.microsoft.com/office/drawing/2014/main" id="{CDE4DBD1-B053-7415-7427-53F02606DC28}"/>
                  </a:ext>
                </a:extLst>
              </p:cNvPr>
              <p:cNvGrpSpPr/>
              <p:nvPr/>
            </p:nvGrpSpPr>
            <p:grpSpPr>
              <a:xfrm>
                <a:off x="8339159" y="3138112"/>
                <a:ext cx="1772251" cy="1473558"/>
                <a:chOff x="6383257" y="1250651"/>
                <a:chExt cx="1974694" cy="1641880"/>
              </a:xfrm>
            </p:grpSpPr>
            <p:sp>
              <p:nvSpPr>
                <p:cNvPr id="576" name="Freeform: Shape 77">
                  <a:extLst>
                    <a:ext uri="{FF2B5EF4-FFF2-40B4-BE49-F238E27FC236}">
                      <a16:creationId xmlns:a16="http://schemas.microsoft.com/office/drawing/2014/main" id="{BDABF301-4129-FF68-A309-FCB2797ADCDE}"/>
                    </a:ext>
                  </a:extLst>
                </p:cNvPr>
                <p:cNvSpPr/>
                <p:nvPr/>
              </p:nvSpPr>
              <p:spPr>
                <a:xfrm>
                  <a:off x="6505288" y="1372684"/>
                  <a:ext cx="576876" cy="232968"/>
                </a:xfrm>
                <a:custGeom>
                  <a:avLst/>
                  <a:gdLst>
                    <a:gd name="connsiteX0" fmla="*/ -1 w 309562"/>
                    <a:gd name="connsiteY0" fmla="*/ 125016 h 125015"/>
                    <a:gd name="connsiteX1" fmla="*/ 309562 w 309562"/>
                    <a:gd name="connsiteY1" fmla="*/ 0 h 125015"/>
                  </a:gdLst>
                  <a:ahLst/>
                  <a:cxnLst>
                    <a:cxn ang="0">
                      <a:pos x="connsiteX0" y="connsiteY0"/>
                    </a:cxn>
                    <a:cxn ang="0">
                      <a:pos x="connsiteX1" y="connsiteY1"/>
                    </a:cxn>
                  </a:cxnLst>
                  <a:rect l="l" t="t" r="r" b="b"/>
                  <a:pathLst>
                    <a:path w="309562" h="125015">
                      <a:moveTo>
                        <a:pt x="-1" y="125016"/>
                      </a:moveTo>
                      <a:lnTo>
                        <a:pt x="309562" y="0"/>
                      </a:lnTo>
                    </a:path>
                  </a:pathLst>
                </a:custGeom>
                <a:noFill/>
                <a:ln w="28575" cap="flat">
                  <a:solidFill>
                    <a:schemeClr val="tx1"/>
                  </a:solidFill>
                  <a:prstDash val="solid"/>
                  <a:miter/>
                </a:ln>
              </p:spPr>
              <p:txBody>
                <a:bodyPr rtlCol="0" anchor="ctr"/>
                <a:lstStyle/>
                <a:p>
                  <a:endParaRPr lang="en-US"/>
                </a:p>
              </p:txBody>
            </p:sp>
            <p:sp>
              <p:nvSpPr>
                <p:cNvPr id="577" name="Freeform: Shape 78">
                  <a:extLst>
                    <a:ext uri="{FF2B5EF4-FFF2-40B4-BE49-F238E27FC236}">
                      <a16:creationId xmlns:a16="http://schemas.microsoft.com/office/drawing/2014/main" id="{2D597F84-B65C-FFA2-E62A-48B63779E9B5}"/>
                    </a:ext>
                  </a:extLst>
                </p:cNvPr>
                <p:cNvSpPr/>
                <p:nvPr/>
              </p:nvSpPr>
              <p:spPr>
                <a:xfrm>
                  <a:off x="6505288" y="1605652"/>
                  <a:ext cx="576876" cy="698907"/>
                </a:xfrm>
                <a:custGeom>
                  <a:avLst/>
                  <a:gdLst>
                    <a:gd name="connsiteX0" fmla="*/ -1 w 309562"/>
                    <a:gd name="connsiteY0" fmla="*/ 0 h 375046"/>
                    <a:gd name="connsiteX1" fmla="*/ 309562 w 309562"/>
                    <a:gd name="connsiteY1" fmla="*/ 375047 h 375046"/>
                  </a:gdLst>
                  <a:ahLst/>
                  <a:cxnLst>
                    <a:cxn ang="0">
                      <a:pos x="connsiteX0" y="connsiteY0"/>
                    </a:cxn>
                    <a:cxn ang="0">
                      <a:pos x="connsiteX1" y="connsiteY1"/>
                    </a:cxn>
                  </a:cxnLst>
                  <a:rect l="l" t="t" r="r" b="b"/>
                  <a:pathLst>
                    <a:path w="309562" h="375046">
                      <a:moveTo>
                        <a:pt x="-1" y="0"/>
                      </a:moveTo>
                      <a:lnTo>
                        <a:pt x="309562" y="375047"/>
                      </a:lnTo>
                    </a:path>
                  </a:pathLst>
                </a:custGeom>
                <a:noFill/>
                <a:ln w="28575" cap="flat">
                  <a:solidFill>
                    <a:schemeClr val="tx1"/>
                  </a:solidFill>
                  <a:prstDash val="solid"/>
                  <a:miter/>
                </a:ln>
              </p:spPr>
              <p:txBody>
                <a:bodyPr rtlCol="0" anchor="ctr"/>
                <a:lstStyle/>
                <a:p>
                  <a:endParaRPr lang="en-US"/>
                </a:p>
              </p:txBody>
            </p:sp>
            <p:sp>
              <p:nvSpPr>
                <p:cNvPr id="578" name="Freeform: Shape 81">
                  <a:extLst>
                    <a:ext uri="{FF2B5EF4-FFF2-40B4-BE49-F238E27FC236}">
                      <a16:creationId xmlns:a16="http://schemas.microsoft.com/office/drawing/2014/main" id="{4C0C7C8D-E4CE-7521-969C-9EDE87966630}"/>
                    </a:ext>
                  </a:extLst>
                </p:cNvPr>
                <p:cNvSpPr/>
                <p:nvPr/>
              </p:nvSpPr>
              <p:spPr>
                <a:xfrm>
                  <a:off x="6505288" y="1838623"/>
                  <a:ext cx="576876" cy="232968"/>
                </a:xfrm>
                <a:custGeom>
                  <a:avLst/>
                  <a:gdLst>
                    <a:gd name="connsiteX0" fmla="*/ -1 w 309562"/>
                    <a:gd name="connsiteY0" fmla="*/ 125016 h 125015"/>
                    <a:gd name="connsiteX1" fmla="*/ 309562 w 309562"/>
                    <a:gd name="connsiteY1" fmla="*/ 0 h 125015"/>
                  </a:gdLst>
                  <a:ahLst/>
                  <a:cxnLst>
                    <a:cxn ang="0">
                      <a:pos x="connsiteX0" y="connsiteY0"/>
                    </a:cxn>
                    <a:cxn ang="0">
                      <a:pos x="connsiteX1" y="connsiteY1"/>
                    </a:cxn>
                  </a:cxnLst>
                  <a:rect l="l" t="t" r="r" b="b"/>
                  <a:pathLst>
                    <a:path w="309562" h="125015">
                      <a:moveTo>
                        <a:pt x="-1" y="125016"/>
                      </a:moveTo>
                      <a:lnTo>
                        <a:pt x="309562" y="0"/>
                      </a:lnTo>
                    </a:path>
                  </a:pathLst>
                </a:custGeom>
                <a:noFill/>
                <a:ln w="28575" cap="flat">
                  <a:solidFill>
                    <a:schemeClr val="tx1"/>
                  </a:solidFill>
                  <a:prstDash val="solid"/>
                  <a:miter/>
                </a:ln>
              </p:spPr>
              <p:txBody>
                <a:bodyPr rtlCol="0" anchor="ctr"/>
                <a:lstStyle/>
                <a:p>
                  <a:endParaRPr lang="en-US"/>
                </a:p>
              </p:txBody>
            </p:sp>
            <p:sp>
              <p:nvSpPr>
                <p:cNvPr id="579" name="Freeform: Shape 82">
                  <a:extLst>
                    <a:ext uri="{FF2B5EF4-FFF2-40B4-BE49-F238E27FC236}">
                      <a16:creationId xmlns:a16="http://schemas.microsoft.com/office/drawing/2014/main" id="{481F7807-547A-FEC3-8627-2B835447ED60}"/>
                    </a:ext>
                  </a:extLst>
                </p:cNvPr>
                <p:cNvSpPr/>
                <p:nvPr/>
              </p:nvSpPr>
              <p:spPr>
                <a:xfrm>
                  <a:off x="6505288" y="2071593"/>
                  <a:ext cx="576876" cy="232968"/>
                </a:xfrm>
                <a:custGeom>
                  <a:avLst/>
                  <a:gdLst>
                    <a:gd name="connsiteX0" fmla="*/ -1 w 309562"/>
                    <a:gd name="connsiteY0" fmla="*/ 0 h 125015"/>
                    <a:gd name="connsiteX1" fmla="*/ 309562 w 309562"/>
                    <a:gd name="connsiteY1" fmla="*/ 125016 h 125015"/>
                  </a:gdLst>
                  <a:ahLst/>
                  <a:cxnLst>
                    <a:cxn ang="0">
                      <a:pos x="connsiteX0" y="connsiteY0"/>
                    </a:cxn>
                    <a:cxn ang="0">
                      <a:pos x="connsiteX1" y="connsiteY1"/>
                    </a:cxn>
                  </a:cxnLst>
                  <a:rect l="l" t="t" r="r" b="b"/>
                  <a:pathLst>
                    <a:path w="309562" h="125015">
                      <a:moveTo>
                        <a:pt x="-1" y="0"/>
                      </a:moveTo>
                      <a:lnTo>
                        <a:pt x="309562" y="125016"/>
                      </a:lnTo>
                    </a:path>
                  </a:pathLst>
                </a:custGeom>
                <a:noFill/>
                <a:ln w="28575" cap="flat">
                  <a:solidFill>
                    <a:schemeClr val="tx1"/>
                  </a:solidFill>
                  <a:prstDash val="solid"/>
                  <a:miter/>
                </a:ln>
              </p:spPr>
              <p:txBody>
                <a:bodyPr rtlCol="0" anchor="ctr"/>
                <a:lstStyle/>
                <a:p>
                  <a:endParaRPr lang="en-US"/>
                </a:p>
              </p:txBody>
            </p:sp>
            <p:sp>
              <p:nvSpPr>
                <p:cNvPr id="580" name="Freeform: Shape 83">
                  <a:extLst>
                    <a:ext uri="{FF2B5EF4-FFF2-40B4-BE49-F238E27FC236}">
                      <a16:creationId xmlns:a16="http://schemas.microsoft.com/office/drawing/2014/main" id="{492CA0AE-AF58-006A-C8D2-748DBC089258}"/>
                    </a:ext>
                  </a:extLst>
                </p:cNvPr>
                <p:cNvSpPr/>
                <p:nvPr/>
              </p:nvSpPr>
              <p:spPr>
                <a:xfrm>
                  <a:off x="6505288" y="2071593"/>
                  <a:ext cx="576876" cy="698907"/>
                </a:xfrm>
                <a:custGeom>
                  <a:avLst/>
                  <a:gdLst>
                    <a:gd name="connsiteX0" fmla="*/ -1 w 309562"/>
                    <a:gd name="connsiteY0" fmla="*/ 0 h 375046"/>
                    <a:gd name="connsiteX1" fmla="*/ 309562 w 309562"/>
                    <a:gd name="connsiteY1" fmla="*/ 375047 h 375046"/>
                  </a:gdLst>
                  <a:ahLst/>
                  <a:cxnLst>
                    <a:cxn ang="0">
                      <a:pos x="connsiteX0" y="connsiteY0"/>
                    </a:cxn>
                    <a:cxn ang="0">
                      <a:pos x="connsiteX1" y="connsiteY1"/>
                    </a:cxn>
                  </a:cxnLst>
                  <a:rect l="l" t="t" r="r" b="b"/>
                  <a:pathLst>
                    <a:path w="309562" h="375046">
                      <a:moveTo>
                        <a:pt x="-1" y="0"/>
                      </a:moveTo>
                      <a:lnTo>
                        <a:pt x="309562" y="375047"/>
                      </a:lnTo>
                    </a:path>
                  </a:pathLst>
                </a:custGeom>
                <a:noFill/>
                <a:ln w="28575" cap="flat">
                  <a:solidFill>
                    <a:schemeClr val="tx1"/>
                  </a:solidFill>
                  <a:prstDash val="solid"/>
                  <a:miter/>
                </a:ln>
              </p:spPr>
              <p:txBody>
                <a:bodyPr rtlCol="0" anchor="ctr"/>
                <a:lstStyle/>
                <a:p>
                  <a:endParaRPr lang="en-US"/>
                </a:p>
              </p:txBody>
            </p:sp>
            <p:sp>
              <p:nvSpPr>
                <p:cNvPr id="581" name="Freeform: Shape 84">
                  <a:extLst>
                    <a:ext uri="{FF2B5EF4-FFF2-40B4-BE49-F238E27FC236}">
                      <a16:creationId xmlns:a16="http://schemas.microsoft.com/office/drawing/2014/main" id="{3A284A26-7693-3D10-D094-0186046131CD}"/>
                    </a:ext>
                  </a:extLst>
                </p:cNvPr>
                <p:cNvSpPr/>
                <p:nvPr/>
              </p:nvSpPr>
              <p:spPr>
                <a:xfrm>
                  <a:off x="6505288" y="2304561"/>
                  <a:ext cx="576876" cy="232968"/>
                </a:xfrm>
                <a:custGeom>
                  <a:avLst/>
                  <a:gdLst>
                    <a:gd name="connsiteX0" fmla="*/ -1 w 309562"/>
                    <a:gd name="connsiteY0" fmla="*/ 125016 h 125015"/>
                    <a:gd name="connsiteX1" fmla="*/ 309562 w 309562"/>
                    <a:gd name="connsiteY1" fmla="*/ 0 h 125015"/>
                  </a:gdLst>
                  <a:ahLst/>
                  <a:cxnLst>
                    <a:cxn ang="0">
                      <a:pos x="connsiteX0" y="connsiteY0"/>
                    </a:cxn>
                    <a:cxn ang="0">
                      <a:pos x="connsiteX1" y="connsiteY1"/>
                    </a:cxn>
                  </a:cxnLst>
                  <a:rect l="l" t="t" r="r" b="b"/>
                  <a:pathLst>
                    <a:path w="309562" h="125015">
                      <a:moveTo>
                        <a:pt x="-1" y="125016"/>
                      </a:moveTo>
                      <a:lnTo>
                        <a:pt x="309562" y="0"/>
                      </a:lnTo>
                    </a:path>
                  </a:pathLst>
                </a:custGeom>
                <a:noFill/>
                <a:ln w="28575" cap="flat">
                  <a:solidFill>
                    <a:schemeClr val="tx1"/>
                  </a:solidFill>
                  <a:prstDash val="solid"/>
                  <a:miter/>
                </a:ln>
              </p:spPr>
              <p:txBody>
                <a:bodyPr rtlCol="0" anchor="ctr"/>
                <a:lstStyle/>
                <a:p>
                  <a:endParaRPr lang="en-US"/>
                </a:p>
              </p:txBody>
            </p:sp>
            <p:sp>
              <p:nvSpPr>
                <p:cNvPr id="582" name="Freeform: Shape 85">
                  <a:extLst>
                    <a:ext uri="{FF2B5EF4-FFF2-40B4-BE49-F238E27FC236}">
                      <a16:creationId xmlns:a16="http://schemas.microsoft.com/office/drawing/2014/main" id="{AD25B74B-57FB-5A34-45FD-C9FCD2600F2D}"/>
                    </a:ext>
                  </a:extLst>
                </p:cNvPr>
                <p:cNvSpPr/>
                <p:nvPr/>
              </p:nvSpPr>
              <p:spPr>
                <a:xfrm>
                  <a:off x="6505288" y="2537532"/>
                  <a:ext cx="576876" cy="232968"/>
                </a:xfrm>
                <a:custGeom>
                  <a:avLst/>
                  <a:gdLst>
                    <a:gd name="connsiteX0" fmla="*/ -1 w 309562"/>
                    <a:gd name="connsiteY0" fmla="*/ 0 h 125015"/>
                    <a:gd name="connsiteX1" fmla="*/ 309562 w 309562"/>
                    <a:gd name="connsiteY1" fmla="*/ 125016 h 125015"/>
                  </a:gdLst>
                  <a:ahLst/>
                  <a:cxnLst>
                    <a:cxn ang="0">
                      <a:pos x="connsiteX0" y="connsiteY0"/>
                    </a:cxn>
                    <a:cxn ang="0">
                      <a:pos x="connsiteX1" y="connsiteY1"/>
                    </a:cxn>
                  </a:cxnLst>
                  <a:rect l="l" t="t" r="r" b="b"/>
                  <a:pathLst>
                    <a:path w="309562" h="125015">
                      <a:moveTo>
                        <a:pt x="-1" y="0"/>
                      </a:moveTo>
                      <a:lnTo>
                        <a:pt x="309562" y="125016"/>
                      </a:lnTo>
                    </a:path>
                  </a:pathLst>
                </a:custGeom>
                <a:noFill/>
                <a:ln w="28575" cap="flat">
                  <a:solidFill>
                    <a:schemeClr val="tx1"/>
                  </a:solidFill>
                  <a:prstDash val="solid"/>
                  <a:miter/>
                </a:ln>
              </p:spPr>
              <p:txBody>
                <a:bodyPr rtlCol="0" anchor="ctr"/>
                <a:lstStyle/>
                <a:p>
                  <a:endParaRPr lang="en-US"/>
                </a:p>
              </p:txBody>
            </p:sp>
            <p:sp>
              <p:nvSpPr>
                <p:cNvPr id="583" name="Freeform: Shape 86">
                  <a:extLst>
                    <a:ext uri="{FF2B5EF4-FFF2-40B4-BE49-F238E27FC236}">
                      <a16:creationId xmlns:a16="http://schemas.microsoft.com/office/drawing/2014/main" id="{AC8D0393-4F61-EE31-CCE3-F89BD4502CCE}"/>
                    </a:ext>
                  </a:extLst>
                </p:cNvPr>
                <p:cNvSpPr/>
                <p:nvPr/>
              </p:nvSpPr>
              <p:spPr>
                <a:xfrm>
                  <a:off x="7082166" y="1372684"/>
                  <a:ext cx="576876" cy="232968"/>
                </a:xfrm>
                <a:custGeom>
                  <a:avLst/>
                  <a:gdLst>
                    <a:gd name="connsiteX0" fmla="*/ -1 w 309562"/>
                    <a:gd name="connsiteY0" fmla="*/ 0 h 125015"/>
                    <a:gd name="connsiteX1" fmla="*/ 309562 w 309562"/>
                    <a:gd name="connsiteY1" fmla="*/ 125016 h 125015"/>
                  </a:gdLst>
                  <a:ahLst/>
                  <a:cxnLst>
                    <a:cxn ang="0">
                      <a:pos x="connsiteX0" y="connsiteY0"/>
                    </a:cxn>
                    <a:cxn ang="0">
                      <a:pos x="connsiteX1" y="connsiteY1"/>
                    </a:cxn>
                  </a:cxnLst>
                  <a:rect l="l" t="t" r="r" b="b"/>
                  <a:pathLst>
                    <a:path w="309562" h="125015">
                      <a:moveTo>
                        <a:pt x="-1" y="0"/>
                      </a:moveTo>
                      <a:lnTo>
                        <a:pt x="309562" y="125016"/>
                      </a:lnTo>
                    </a:path>
                  </a:pathLst>
                </a:custGeom>
                <a:noFill/>
                <a:ln w="28575" cap="flat">
                  <a:solidFill>
                    <a:schemeClr val="tx1"/>
                  </a:solidFill>
                  <a:prstDash val="solid"/>
                  <a:miter/>
                </a:ln>
              </p:spPr>
              <p:txBody>
                <a:bodyPr rtlCol="0" anchor="ctr"/>
                <a:lstStyle/>
                <a:p>
                  <a:endParaRPr lang="en-US"/>
                </a:p>
              </p:txBody>
            </p:sp>
            <p:sp>
              <p:nvSpPr>
                <p:cNvPr id="584" name="Freeform: Shape 87">
                  <a:extLst>
                    <a:ext uri="{FF2B5EF4-FFF2-40B4-BE49-F238E27FC236}">
                      <a16:creationId xmlns:a16="http://schemas.microsoft.com/office/drawing/2014/main" id="{3DF6B462-1F15-4974-587E-4B17BF09AE06}"/>
                    </a:ext>
                  </a:extLst>
                </p:cNvPr>
                <p:cNvSpPr/>
                <p:nvPr/>
              </p:nvSpPr>
              <p:spPr>
                <a:xfrm>
                  <a:off x="7082166" y="1372684"/>
                  <a:ext cx="576876" cy="698907"/>
                </a:xfrm>
                <a:custGeom>
                  <a:avLst/>
                  <a:gdLst>
                    <a:gd name="connsiteX0" fmla="*/ -1 w 309562"/>
                    <a:gd name="connsiteY0" fmla="*/ 0 h 375046"/>
                    <a:gd name="connsiteX1" fmla="*/ 309562 w 309562"/>
                    <a:gd name="connsiteY1" fmla="*/ 375047 h 375046"/>
                  </a:gdLst>
                  <a:ahLst/>
                  <a:cxnLst>
                    <a:cxn ang="0">
                      <a:pos x="connsiteX0" y="connsiteY0"/>
                    </a:cxn>
                    <a:cxn ang="0">
                      <a:pos x="connsiteX1" y="connsiteY1"/>
                    </a:cxn>
                  </a:cxnLst>
                  <a:rect l="l" t="t" r="r" b="b"/>
                  <a:pathLst>
                    <a:path w="309562" h="375046">
                      <a:moveTo>
                        <a:pt x="-1" y="0"/>
                      </a:moveTo>
                      <a:lnTo>
                        <a:pt x="309562" y="375047"/>
                      </a:lnTo>
                    </a:path>
                  </a:pathLst>
                </a:custGeom>
                <a:noFill/>
                <a:ln w="28575" cap="flat">
                  <a:solidFill>
                    <a:schemeClr val="tx1"/>
                  </a:solidFill>
                  <a:prstDash val="solid"/>
                  <a:miter/>
                </a:ln>
              </p:spPr>
              <p:txBody>
                <a:bodyPr rtlCol="0" anchor="ctr"/>
                <a:lstStyle/>
                <a:p>
                  <a:endParaRPr lang="en-US"/>
                </a:p>
              </p:txBody>
            </p:sp>
            <p:sp>
              <p:nvSpPr>
                <p:cNvPr id="585" name="Freeform: Shape 88">
                  <a:extLst>
                    <a:ext uri="{FF2B5EF4-FFF2-40B4-BE49-F238E27FC236}">
                      <a16:creationId xmlns:a16="http://schemas.microsoft.com/office/drawing/2014/main" id="{FF3EF3CE-DC09-0220-09F0-063E6399D8B1}"/>
                    </a:ext>
                  </a:extLst>
                </p:cNvPr>
                <p:cNvSpPr/>
                <p:nvPr/>
              </p:nvSpPr>
              <p:spPr>
                <a:xfrm>
                  <a:off x="7082166" y="1605652"/>
                  <a:ext cx="576876" cy="232968"/>
                </a:xfrm>
                <a:custGeom>
                  <a:avLst/>
                  <a:gdLst>
                    <a:gd name="connsiteX0" fmla="*/ -1 w 309562"/>
                    <a:gd name="connsiteY0" fmla="*/ 125016 h 125015"/>
                    <a:gd name="connsiteX1" fmla="*/ 309562 w 309562"/>
                    <a:gd name="connsiteY1" fmla="*/ 0 h 125015"/>
                  </a:gdLst>
                  <a:ahLst/>
                  <a:cxnLst>
                    <a:cxn ang="0">
                      <a:pos x="connsiteX0" y="connsiteY0"/>
                    </a:cxn>
                    <a:cxn ang="0">
                      <a:pos x="connsiteX1" y="connsiteY1"/>
                    </a:cxn>
                  </a:cxnLst>
                  <a:rect l="l" t="t" r="r" b="b"/>
                  <a:pathLst>
                    <a:path w="309562" h="125015">
                      <a:moveTo>
                        <a:pt x="-1" y="125016"/>
                      </a:moveTo>
                      <a:lnTo>
                        <a:pt x="309562" y="0"/>
                      </a:lnTo>
                    </a:path>
                  </a:pathLst>
                </a:custGeom>
                <a:noFill/>
                <a:ln w="28575" cap="flat">
                  <a:solidFill>
                    <a:schemeClr val="tx1"/>
                  </a:solidFill>
                  <a:prstDash val="solid"/>
                  <a:miter/>
                </a:ln>
              </p:spPr>
              <p:txBody>
                <a:bodyPr rtlCol="0" anchor="ctr"/>
                <a:lstStyle/>
                <a:p>
                  <a:endParaRPr lang="en-US"/>
                </a:p>
              </p:txBody>
            </p:sp>
            <p:sp>
              <p:nvSpPr>
                <p:cNvPr id="586" name="Freeform: Shape 89">
                  <a:extLst>
                    <a:ext uri="{FF2B5EF4-FFF2-40B4-BE49-F238E27FC236}">
                      <a16:creationId xmlns:a16="http://schemas.microsoft.com/office/drawing/2014/main" id="{2F718C8F-C443-FB91-6B19-3F692D9EEE92}"/>
                    </a:ext>
                  </a:extLst>
                </p:cNvPr>
                <p:cNvSpPr/>
                <p:nvPr/>
              </p:nvSpPr>
              <p:spPr>
                <a:xfrm>
                  <a:off x="7082166" y="1838623"/>
                  <a:ext cx="576876" cy="232968"/>
                </a:xfrm>
                <a:custGeom>
                  <a:avLst/>
                  <a:gdLst>
                    <a:gd name="connsiteX0" fmla="*/ -1 w 309562"/>
                    <a:gd name="connsiteY0" fmla="*/ 0 h 125015"/>
                    <a:gd name="connsiteX1" fmla="*/ 309562 w 309562"/>
                    <a:gd name="connsiteY1" fmla="*/ 125016 h 125015"/>
                  </a:gdLst>
                  <a:ahLst/>
                  <a:cxnLst>
                    <a:cxn ang="0">
                      <a:pos x="connsiteX0" y="connsiteY0"/>
                    </a:cxn>
                    <a:cxn ang="0">
                      <a:pos x="connsiteX1" y="connsiteY1"/>
                    </a:cxn>
                  </a:cxnLst>
                  <a:rect l="l" t="t" r="r" b="b"/>
                  <a:pathLst>
                    <a:path w="309562" h="125015">
                      <a:moveTo>
                        <a:pt x="-1" y="0"/>
                      </a:moveTo>
                      <a:lnTo>
                        <a:pt x="309562" y="125016"/>
                      </a:lnTo>
                    </a:path>
                  </a:pathLst>
                </a:custGeom>
                <a:noFill/>
                <a:ln w="28575" cap="flat">
                  <a:solidFill>
                    <a:schemeClr val="tx1"/>
                  </a:solidFill>
                  <a:prstDash val="solid"/>
                  <a:miter/>
                </a:ln>
              </p:spPr>
              <p:txBody>
                <a:bodyPr rtlCol="0" anchor="ctr"/>
                <a:lstStyle/>
                <a:p>
                  <a:endParaRPr lang="en-US"/>
                </a:p>
              </p:txBody>
            </p:sp>
            <p:sp>
              <p:nvSpPr>
                <p:cNvPr id="587" name="Freeform: Shape 90">
                  <a:extLst>
                    <a:ext uri="{FF2B5EF4-FFF2-40B4-BE49-F238E27FC236}">
                      <a16:creationId xmlns:a16="http://schemas.microsoft.com/office/drawing/2014/main" id="{4A038224-556F-2257-FEC2-D5935C5C66B4}"/>
                    </a:ext>
                  </a:extLst>
                </p:cNvPr>
                <p:cNvSpPr/>
                <p:nvPr/>
              </p:nvSpPr>
              <p:spPr>
                <a:xfrm>
                  <a:off x="7082166" y="1605652"/>
                  <a:ext cx="576876" cy="698907"/>
                </a:xfrm>
                <a:custGeom>
                  <a:avLst/>
                  <a:gdLst>
                    <a:gd name="connsiteX0" fmla="*/ -1 w 309562"/>
                    <a:gd name="connsiteY0" fmla="*/ 375047 h 375046"/>
                    <a:gd name="connsiteX1" fmla="*/ 309562 w 309562"/>
                    <a:gd name="connsiteY1" fmla="*/ 0 h 375046"/>
                  </a:gdLst>
                  <a:ahLst/>
                  <a:cxnLst>
                    <a:cxn ang="0">
                      <a:pos x="connsiteX0" y="connsiteY0"/>
                    </a:cxn>
                    <a:cxn ang="0">
                      <a:pos x="connsiteX1" y="connsiteY1"/>
                    </a:cxn>
                  </a:cxnLst>
                  <a:rect l="l" t="t" r="r" b="b"/>
                  <a:pathLst>
                    <a:path w="309562" h="375046">
                      <a:moveTo>
                        <a:pt x="-1" y="375047"/>
                      </a:moveTo>
                      <a:lnTo>
                        <a:pt x="309562" y="0"/>
                      </a:lnTo>
                    </a:path>
                  </a:pathLst>
                </a:custGeom>
                <a:noFill/>
                <a:ln w="28575" cap="flat">
                  <a:solidFill>
                    <a:schemeClr val="tx1"/>
                  </a:solidFill>
                  <a:prstDash val="solid"/>
                  <a:miter/>
                </a:ln>
              </p:spPr>
              <p:txBody>
                <a:bodyPr rtlCol="0" anchor="ctr"/>
                <a:lstStyle/>
                <a:p>
                  <a:endParaRPr lang="en-US"/>
                </a:p>
              </p:txBody>
            </p:sp>
            <p:sp>
              <p:nvSpPr>
                <p:cNvPr id="588" name="Freeform: Shape 91">
                  <a:extLst>
                    <a:ext uri="{FF2B5EF4-FFF2-40B4-BE49-F238E27FC236}">
                      <a16:creationId xmlns:a16="http://schemas.microsoft.com/office/drawing/2014/main" id="{345A2DFD-F268-BF60-62B3-816F20684200}"/>
                    </a:ext>
                  </a:extLst>
                </p:cNvPr>
                <p:cNvSpPr/>
                <p:nvPr/>
              </p:nvSpPr>
              <p:spPr>
                <a:xfrm>
                  <a:off x="7082166" y="2071593"/>
                  <a:ext cx="576876" cy="232968"/>
                </a:xfrm>
                <a:custGeom>
                  <a:avLst/>
                  <a:gdLst>
                    <a:gd name="connsiteX0" fmla="*/ -1 w 309562"/>
                    <a:gd name="connsiteY0" fmla="*/ 125016 h 125015"/>
                    <a:gd name="connsiteX1" fmla="*/ 309562 w 309562"/>
                    <a:gd name="connsiteY1" fmla="*/ 0 h 125015"/>
                  </a:gdLst>
                  <a:ahLst/>
                  <a:cxnLst>
                    <a:cxn ang="0">
                      <a:pos x="connsiteX0" y="connsiteY0"/>
                    </a:cxn>
                    <a:cxn ang="0">
                      <a:pos x="connsiteX1" y="connsiteY1"/>
                    </a:cxn>
                  </a:cxnLst>
                  <a:rect l="l" t="t" r="r" b="b"/>
                  <a:pathLst>
                    <a:path w="309562" h="125015">
                      <a:moveTo>
                        <a:pt x="-1" y="125016"/>
                      </a:moveTo>
                      <a:lnTo>
                        <a:pt x="309562" y="0"/>
                      </a:lnTo>
                    </a:path>
                  </a:pathLst>
                </a:custGeom>
                <a:noFill/>
                <a:ln w="28575" cap="flat">
                  <a:solidFill>
                    <a:schemeClr val="tx1"/>
                  </a:solidFill>
                  <a:prstDash val="solid"/>
                  <a:miter/>
                </a:ln>
              </p:spPr>
              <p:txBody>
                <a:bodyPr rtlCol="0" anchor="ctr"/>
                <a:lstStyle/>
                <a:p>
                  <a:endParaRPr lang="en-US"/>
                </a:p>
              </p:txBody>
            </p:sp>
            <p:sp>
              <p:nvSpPr>
                <p:cNvPr id="589" name="Freeform: Shape 92">
                  <a:extLst>
                    <a:ext uri="{FF2B5EF4-FFF2-40B4-BE49-F238E27FC236}">
                      <a16:creationId xmlns:a16="http://schemas.microsoft.com/office/drawing/2014/main" id="{04BBEED2-0A3C-1753-E6CA-6F43A3CCC8C1}"/>
                    </a:ext>
                  </a:extLst>
                </p:cNvPr>
                <p:cNvSpPr/>
                <p:nvPr/>
              </p:nvSpPr>
              <p:spPr>
                <a:xfrm>
                  <a:off x="7659042" y="1605652"/>
                  <a:ext cx="576876" cy="465939"/>
                </a:xfrm>
                <a:custGeom>
                  <a:avLst/>
                  <a:gdLst>
                    <a:gd name="connsiteX0" fmla="*/ -1 w 309562"/>
                    <a:gd name="connsiteY0" fmla="*/ 0 h 250031"/>
                    <a:gd name="connsiteX1" fmla="*/ 309562 w 309562"/>
                    <a:gd name="connsiteY1" fmla="*/ 250031 h 250031"/>
                  </a:gdLst>
                  <a:ahLst/>
                  <a:cxnLst>
                    <a:cxn ang="0">
                      <a:pos x="connsiteX0" y="connsiteY0"/>
                    </a:cxn>
                    <a:cxn ang="0">
                      <a:pos x="connsiteX1" y="connsiteY1"/>
                    </a:cxn>
                  </a:cxnLst>
                  <a:rect l="l" t="t" r="r" b="b"/>
                  <a:pathLst>
                    <a:path w="309562" h="250031">
                      <a:moveTo>
                        <a:pt x="-1" y="0"/>
                      </a:moveTo>
                      <a:lnTo>
                        <a:pt x="309562" y="250031"/>
                      </a:lnTo>
                    </a:path>
                  </a:pathLst>
                </a:custGeom>
                <a:noFill/>
                <a:ln w="28575" cap="flat">
                  <a:solidFill>
                    <a:schemeClr val="tx1"/>
                  </a:solidFill>
                  <a:prstDash val="solid"/>
                  <a:miter/>
                </a:ln>
              </p:spPr>
              <p:txBody>
                <a:bodyPr rtlCol="0" anchor="ctr"/>
                <a:lstStyle/>
                <a:p>
                  <a:endParaRPr lang="en-US"/>
                </a:p>
              </p:txBody>
            </p:sp>
            <p:sp>
              <p:nvSpPr>
                <p:cNvPr id="590" name="Freeform: Shape 93">
                  <a:extLst>
                    <a:ext uri="{FF2B5EF4-FFF2-40B4-BE49-F238E27FC236}">
                      <a16:creationId xmlns:a16="http://schemas.microsoft.com/office/drawing/2014/main" id="{586E3EE8-9ADD-8C33-91D8-8BAD661873EC}"/>
                    </a:ext>
                  </a:extLst>
                </p:cNvPr>
                <p:cNvSpPr/>
                <p:nvPr/>
              </p:nvSpPr>
              <p:spPr>
                <a:xfrm>
                  <a:off x="7659042" y="2071593"/>
                  <a:ext cx="576876" cy="11094"/>
                </a:xfrm>
                <a:custGeom>
                  <a:avLst/>
                  <a:gdLst>
                    <a:gd name="connsiteX0" fmla="*/ -1 w 309562"/>
                    <a:gd name="connsiteY0" fmla="*/ 0 h 5953"/>
                    <a:gd name="connsiteX1" fmla="*/ 309562 w 309562"/>
                    <a:gd name="connsiteY1" fmla="*/ 0 h 5953"/>
                  </a:gdLst>
                  <a:ahLst/>
                  <a:cxnLst>
                    <a:cxn ang="0">
                      <a:pos x="connsiteX0" y="connsiteY0"/>
                    </a:cxn>
                    <a:cxn ang="0">
                      <a:pos x="connsiteX1" y="connsiteY1"/>
                    </a:cxn>
                  </a:cxnLst>
                  <a:rect l="l" t="t" r="r" b="b"/>
                  <a:pathLst>
                    <a:path w="309562" h="5953">
                      <a:moveTo>
                        <a:pt x="-1" y="0"/>
                      </a:moveTo>
                      <a:lnTo>
                        <a:pt x="309562" y="0"/>
                      </a:lnTo>
                    </a:path>
                  </a:pathLst>
                </a:custGeom>
                <a:noFill/>
                <a:ln w="28575" cap="flat">
                  <a:solidFill>
                    <a:schemeClr val="tx1"/>
                  </a:solidFill>
                  <a:prstDash val="solid"/>
                  <a:miter/>
                </a:ln>
              </p:spPr>
              <p:txBody>
                <a:bodyPr rtlCol="0" anchor="ctr"/>
                <a:lstStyle/>
                <a:p>
                  <a:endParaRPr lang="en-US"/>
                </a:p>
              </p:txBody>
            </p:sp>
            <p:sp>
              <p:nvSpPr>
                <p:cNvPr id="591" name="Freeform: Shape 94">
                  <a:extLst>
                    <a:ext uri="{FF2B5EF4-FFF2-40B4-BE49-F238E27FC236}">
                      <a16:creationId xmlns:a16="http://schemas.microsoft.com/office/drawing/2014/main" id="{099D6097-343B-BD94-80F2-F2BADA3ED764}"/>
                    </a:ext>
                  </a:extLst>
                </p:cNvPr>
                <p:cNvSpPr/>
                <p:nvPr/>
              </p:nvSpPr>
              <p:spPr>
                <a:xfrm>
                  <a:off x="7082166" y="2304561"/>
                  <a:ext cx="576876" cy="232968"/>
                </a:xfrm>
                <a:custGeom>
                  <a:avLst/>
                  <a:gdLst>
                    <a:gd name="connsiteX0" fmla="*/ -1 w 309562"/>
                    <a:gd name="connsiteY0" fmla="*/ 0 h 125015"/>
                    <a:gd name="connsiteX1" fmla="*/ 309562 w 309562"/>
                    <a:gd name="connsiteY1" fmla="*/ 125016 h 125015"/>
                  </a:gdLst>
                  <a:ahLst/>
                  <a:cxnLst>
                    <a:cxn ang="0">
                      <a:pos x="connsiteX0" y="connsiteY0"/>
                    </a:cxn>
                    <a:cxn ang="0">
                      <a:pos x="connsiteX1" y="connsiteY1"/>
                    </a:cxn>
                  </a:cxnLst>
                  <a:rect l="l" t="t" r="r" b="b"/>
                  <a:pathLst>
                    <a:path w="309562" h="125015">
                      <a:moveTo>
                        <a:pt x="-1" y="0"/>
                      </a:moveTo>
                      <a:lnTo>
                        <a:pt x="309562" y="125016"/>
                      </a:lnTo>
                    </a:path>
                  </a:pathLst>
                </a:custGeom>
                <a:noFill/>
                <a:ln w="28575" cap="flat">
                  <a:solidFill>
                    <a:schemeClr val="tx1"/>
                  </a:solidFill>
                  <a:prstDash val="solid"/>
                  <a:miter/>
                </a:ln>
              </p:spPr>
              <p:txBody>
                <a:bodyPr rtlCol="0" anchor="ctr"/>
                <a:lstStyle/>
                <a:p>
                  <a:endParaRPr lang="en-US"/>
                </a:p>
              </p:txBody>
            </p:sp>
            <p:sp>
              <p:nvSpPr>
                <p:cNvPr id="592" name="Freeform: Shape 95">
                  <a:extLst>
                    <a:ext uri="{FF2B5EF4-FFF2-40B4-BE49-F238E27FC236}">
                      <a16:creationId xmlns:a16="http://schemas.microsoft.com/office/drawing/2014/main" id="{7EF08172-11C7-3E68-7830-83F7E7FC7A1D}"/>
                    </a:ext>
                  </a:extLst>
                </p:cNvPr>
                <p:cNvSpPr/>
                <p:nvPr/>
              </p:nvSpPr>
              <p:spPr>
                <a:xfrm>
                  <a:off x="7082166" y="2537532"/>
                  <a:ext cx="576876" cy="232968"/>
                </a:xfrm>
                <a:custGeom>
                  <a:avLst/>
                  <a:gdLst>
                    <a:gd name="connsiteX0" fmla="*/ -1 w 309562"/>
                    <a:gd name="connsiteY0" fmla="*/ 125016 h 125015"/>
                    <a:gd name="connsiteX1" fmla="*/ 309562 w 309562"/>
                    <a:gd name="connsiteY1" fmla="*/ 0 h 125015"/>
                  </a:gdLst>
                  <a:ahLst/>
                  <a:cxnLst>
                    <a:cxn ang="0">
                      <a:pos x="connsiteX0" y="connsiteY0"/>
                    </a:cxn>
                    <a:cxn ang="0">
                      <a:pos x="connsiteX1" y="connsiteY1"/>
                    </a:cxn>
                  </a:cxnLst>
                  <a:rect l="l" t="t" r="r" b="b"/>
                  <a:pathLst>
                    <a:path w="309562" h="125015">
                      <a:moveTo>
                        <a:pt x="-1" y="125016"/>
                      </a:moveTo>
                      <a:lnTo>
                        <a:pt x="309562" y="0"/>
                      </a:lnTo>
                    </a:path>
                  </a:pathLst>
                </a:custGeom>
                <a:noFill/>
                <a:ln w="28575" cap="flat">
                  <a:solidFill>
                    <a:schemeClr val="tx1"/>
                  </a:solidFill>
                  <a:prstDash val="solid"/>
                  <a:miter/>
                </a:ln>
              </p:spPr>
              <p:txBody>
                <a:bodyPr rtlCol="0" anchor="ctr"/>
                <a:lstStyle/>
                <a:p>
                  <a:endParaRPr lang="en-US"/>
                </a:p>
              </p:txBody>
            </p:sp>
            <p:sp>
              <p:nvSpPr>
                <p:cNvPr id="593" name="Freeform: Shape 96">
                  <a:extLst>
                    <a:ext uri="{FF2B5EF4-FFF2-40B4-BE49-F238E27FC236}">
                      <a16:creationId xmlns:a16="http://schemas.microsoft.com/office/drawing/2014/main" id="{20849996-38EA-BF6E-C8B1-AB436ECC757C}"/>
                    </a:ext>
                  </a:extLst>
                </p:cNvPr>
                <p:cNvSpPr/>
                <p:nvPr/>
              </p:nvSpPr>
              <p:spPr>
                <a:xfrm>
                  <a:off x="7659042" y="2071593"/>
                  <a:ext cx="576876" cy="465939"/>
                </a:xfrm>
                <a:custGeom>
                  <a:avLst/>
                  <a:gdLst>
                    <a:gd name="connsiteX0" fmla="*/ -1 w 309562"/>
                    <a:gd name="connsiteY0" fmla="*/ 250031 h 250031"/>
                    <a:gd name="connsiteX1" fmla="*/ 309562 w 309562"/>
                    <a:gd name="connsiteY1" fmla="*/ 0 h 250031"/>
                  </a:gdLst>
                  <a:ahLst/>
                  <a:cxnLst>
                    <a:cxn ang="0">
                      <a:pos x="connsiteX0" y="connsiteY0"/>
                    </a:cxn>
                    <a:cxn ang="0">
                      <a:pos x="connsiteX1" y="connsiteY1"/>
                    </a:cxn>
                  </a:cxnLst>
                  <a:rect l="l" t="t" r="r" b="b"/>
                  <a:pathLst>
                    <a:path w="309562" h="250031">
                      <a:moveTo>
                        <a:pt x="-1" y="250031"/>
                      </a:moveTo>
                      <a:lnTo>
                        <a:pt x="309562" y="0"/>
                      </a:lnTo>
                    </a:path>
                  </a:pathLst>
                </a:custGeom>
                <a:noFill/>
                <a:ln w="28575" cap="flat">
                  <a:solidFill>
                    <a:schemeClr val="tx1"/>
                  </a:solidFill>
                  <a:prstDash val="solid"/>
                  <a:miter/>
                </a:ln>
              </p:spPr>
              <p:txBody>
                <a:bodyPr rtlCol="0" anchor="ctr"/>
                <a:lstStyle/>
                <a:p>
                  <a:endParaRPr lang="en-US"/>
                </a:p>
              </p:txBody>
            </p:sp>
            <p:sp>
              <p:nvSpPr>
                <p:cNvPr id="594" name="Freeform: Shape 97">
                  <a:extLst>
                    <a:ext uri="{FF2B5EF4-FFF2-40B4-BE49-F238E27FC236}">
                      <a16:creationId xmlns:a16="http://schemas.microsoft.com/office/drawing/2014/main" id="{C4251967-3451-31E4-BCF1-5160D1BDD35A}"/>
                    </a:ext>
                  </a:extLst>
                </p:cNvPr>
                <p:cNvSpPr/>
                <p:nvPr/>
              </p:nvSpPr>
              <p:spPr>
                <a:xfrm>
                  <a:off x="6383257" y="1483621"/>
                  <a:ext cx="244062" cy="244062"/>
                </a:xfrm>
                <a:custGeom>
                  <a:avLst/>
                  <a:gdLst>
                    <a:gd name="connsiteX0" fmla="*/ 130968 w 130968"/>
                    <a:gd name="connsiteY0" fmla="*/ 65484 h 130968"/>
                    <a:gd name="connsiteX1" fmla="*/ 65483 w 130968"/>
                    <a:gd name="connsiteY1" fmla="*/ 130969 h 130968"/>
                    <a:gd name="connsiteX2" fmla="*/ -1 w 130968"/>
                    <a:gd name="connsiteY2" fmla="*/ 65484 h 130968"/>
                    <a:gd name="connsiteX3" fmla="*/ 65483 w 130968"/>
                    <a:gd name="connsiteY3" fmla="*/ 0 h 130968"/>
                    <a:gd name="connsiteX4" fmla="*/ 130968 w 130968"/>
                    <a:gd name="connsiteY4" fmla="*/ 65484 h 13096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0968" h="130968">
                      <a:moveTo>
                        <a:pt x="130968" y="65484"/>
                      </a:moveTo>
                      <a:cubicBezTo>
                        <a:pt x="130968" y="101650"/>
                        <a:pt x="101649" y="130969"/>
                        <a:pt x="65483" y="130969"/>
                      </a:cubicBezTo>
                      <a:cubicBezTo>
                        <a:pt x="29317" y="130969"/>
                        <a:pt x="-1" y="101650"/>
                        <a:pt x="-1" y="65484"/>
                      </a:cubicBezTo>
                      <a:cubicBezTo>
                        <a:pt x="-1" y="29318"/>
                        <a:pt x="29317" y="0"/>
                        <a:pt x="65483" y="0"/>
                      </a:cubicBezTo>
                      <a:cubicBezTo>
                        <a:pt x="101649" y="0"/>
                        <a:pt x="130968" y="29318"/>
                        <a:pt x="130968" y="65484"/>
                      </a:cubicBezTo>
                      <a:close/>
                    </a:path>
                  </a:pathLst>
                </a:custGeom>
                <a:solidFill>
                  <a:srgbClr val="FFFFFF"/>
                </a:solidFill>
                <a:ln w="28575" cap="flat">
                  <a:solidFill>
                    <a:schemeClr val="tx1"/>
                  </a:solidFill>
                  <a:prstDash val="solid"/>
                  <a:miter/>
                </a:ln>
              </p:spPr>
              <p:txBody>
                <a:bodyPr rtlCol="0" anchor="ctr"/>
                <a:lstStyle/>
                <a:p>
                  <a:endParaRPr lang="en-US"/>
                </a:p>
              </p:txBody>
            </p:sp>
            <p:sp>
              <p:nvSpPr>
                <p:cNvPr id="595" name="Freeform: Shape 98">
                  <a:extLst>
                    <a:ext uri="{FF2B5EF4-FFF2-40B4-BE49-F238E27FC236}">
                      <a16:creationId xmlns:a16="http://schemas.microsoft.com/office/drawing/2014/main" id="{E449446C-79C0-8D62-2804-5A1B06D3C432}"/>
                    </a:ext>
                  </a:extLst>
                </p:cNvPr>
                <p:cNvSpPr/>
                <p:nvPr/>
              </p:nvSpPr>
              <p:spPr>
                <a:xfrm>
                  <a:off x="6383257" y="1949560"/>
                  <a:ext cx="244062" cy="244062"/>
                </a:xfrm>
                <a:custGeom>
                  <a:avLst/>
                  <a:gdLst>
                    <a:gd name="connsiteX0" fmla="*/ 130968 w 130968"/>
                    <a:gd name="connsiteY0" fmla="*/ 65484 h 130968"/>
                    <a:gd name="connsiteX1" fmla="*/ 65483 w 130968"/>
                    <a:gd name="connsiteY1" fmla="*/ 130969 h 130968"/>
                    <a:gd name="connsiteX2" fmla="*/ -1 w 130968"/>
                    <a:gd name="connsiteY2" fmla="*/ 65484 h 130968"/>
                    <a:gd name="connsiteX3" fmla="*/ 65483 w 130968"/>
                    <a:gd name="connsiteY3" fmla="*/ 0 h 130968"/>
                    <a:gd name="connsiteX4" fmla="*/ 130968 w 130968"/>
                    <a:gd name="connsiteY4" fmla="*/ 65484 h 13096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0968" h="130968">
                      <a:moveTo>
                        <a:pt x="130968" y="65484"/>
                      </a:moveTo>
                      <a:cubicBezTo>
                        <a:pt x="130968" y="101650"/>
                        <a:pt x="101649" y="130969"/>
                        <a:pt x="65483" y="130969"/>
                      </a:cubicBezTo>
                      <a:cubicBezTo>
                        <a:pt x="29317" y="130969"/>
                        <a:pt x="-1" y="101650"/>
                        <a:pt x="-1" y="65484"/>
                      </a:cubicBezTo>
                      <a:cubicBezTo>
                        <a:pt x="-1" y="29318"/>
                        <a:pt x="29317" y="0"/>
                        <a:pt x="65483" y="0"/>
                      </a:cubicBezTo>
                      <a:cubicBezTo>
                        <a:pt x="101649" y="0"/>
                        <a:pt x="130968" y="29318"/>
                        <a:pt x="130968" y="65484"/>
                      </a:cubicBezTo>
                      <a:close/>
                    </a:path>
                  </a:pathLst>
                </a:custGeom>
                <a:solidFill>
                  <a:srgbClr val="FFFFFF"/>
                </a:solidFill>
                <a:ln w="28575" cap="flat">
                  <a:solidFill>
                    <a:schemeClr val="tx1"/>
                  </a:solidFill>
                  <a:prstDash val="solid"/>
                  <a:miter/>
                </a:ln>
              </p:spPr>
              <p:txBody>
                <a:bodyPr rtlCol="0" anchor="ctr"/>
                <a:lstStyle/>
                <a:p>
                  <a:endParaRPr lang="en-US"/>
                </a:p>
              </p:txBody>
            </p:sp>
            <p:sp>
              <p:nvSpPr>
                <p:cNvPr id="596" name="Freeform: Shape 99">
                  <a:extLst>
                    <a:ext uri="{FF2B5EF4-FFF2-40B4-BE49-F238E27FC236}">
                      <a16:creationId xmlns:a16="http://schemas.microsoft.com/office/drawing/2014/main" id="{74E07DBD-B8B2-97CE-643A-DB08D4B1600A}"/>
                    </a:ext>
                  </a:extLst>
                </p:cNvPr>
                <p:cNvSpPr/>
                <p:nvPr/>
              </p:nvSpPr>
              <p:spPr>
                <a:xfrm>
                  <a:off x="6383257" y="2415501"/>
                  <a:ext cx="244062" cy="244062"/>
                </a:xfrm>
                <a:custGeom>
                  <a:avLst/>
                  <a:gdLst>
                    <a:gd name="connsiteX0" fmla="*/ 130968 w 130968"/>
                    <a:gd name="connsiteY0" fmla="*/ 65484 h 130968"/>
                    <a:gd name="connsiteX1" fmla="*/ 65483 w 130968"/>
                    <a:gd name="connsiteY1" fmla="*/ 130969 h 130968"/>
                    <a:gd name="connsiteX2" fmla="*/ -1 w 130968"/>
                    <a:gd name="connsiteY2" fmla="*/ 65484 h 130968"/>
                    <a:gd name="connsiteX3" fmla="*/ 65483 w 130968"/>
                    <a:gd name="connsiteY3" fmla="*/ 0 h 130968"/>
                    <a:gd name="connsiteX4" fmla="*/ 130968 w 130968"/>
                    <a:gd name="connsiteY4" fmla="*/ 65484 h 13096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0968" h="130968">
                      <a:moveTo>
                        <a:pt x="130968" y="65484"/>
                      </a:moveTo>
                      <a:cubicBezTo>
                        <a:pt x="130968" y="101650"/>
                        <a:pt x="101649" y="130969"/>
                        <a:pt x="65483" y="130969"/>
                      </a:cubicBezTo>
                      <a:cubicBezTo>
                        <a:pt x="29317" y="130969"/>
                        <a:pt x="-1" y="101650"/>
                        <a:pt x="-1" y="65484"/>
                      </a:cubicBezTo>
                      <a:cubicBezTo>
                        <a:pt x="-1" y="29318"/>
                        <a:pt x="29317" y="0"/>
                        <a:pt x="65483" y="0"/>
                      </a:cubicBezTo>
                      <a:cubicBezTo>
                        <a:pt x="101649" y="0"/>
                        <a:pt x="130968" y="29318"/>
                        <a:pt x="130968" y="65484"/>
                      </a:cubicBezTo>
                      <a:close/>
                    </a:path>
                  </a:pathLst>
                </a:custGeom>
                <a:solidFill>
                  <a:srgbClr val="FFFFFF"/>
                </a:solidFill>
                <a:ln w="28575" cap="flat">
                  <a:solidFill>
                    <a:schemeClr val="tx1"/>
                  </a:solidFill>
                  <a:prstDash val="solid"/>
                  <a:miter/>
                </a:ln>
              </p:spPr>
              <p:txBody>
                <a:bodyPr rtlCol="0" anchor="ctr"/>
                <a:lstStyle/>
                <a:p>
                  <a:endParaRPr lang="en-US"/>
                </a:p>
              </p:txBody>
            </p:sp>
            <p:sp>
              <p:nvSpPr>
                <p:cNvPr id="597" name="Freeform: Shape 100">
                  <a:extLst>
                    <a:ext uri="{FF2B5EF4-FFF2-40B4-BE49-F238E27FC236}">
                      <a16:creationId xmlns:a16="http://schemas.microsoft.com/office/drawing/2014/main" id="{66021661-5E31-9D6A-3924-9E528DC5C0E2}"/>
                    </a:ext>
                  </a:extLst>
                </p:cNvPr>
                <p:cNvSpPr/>
                <p:nvPr/>
              </p:nvSpPr>
              <p:spPr>
                <a:xfrm>
                  <a:off x="6960135" y="1250651"/>
                  <a:ext cx="244062" cy="244062"/>
                </a:xfrm>
                <a:custGeom>
                  <a:avLst/>
                  <a:gdLst>
                    <a:gd name="connsiteX0" fmla="*/ 130968 w 130968"/>
                    <a:gd name="connsiteY0" fmla="*/ 65484 h 130968"/>
                    <a:gd name="connsiteX1" fmla="*/ 65483 w 130968"/>
                    <a:gd name="connsiteY1" fmla="*/ 130969 h 130968"/>
                    <a:gd name="connsiteX2" fmla="*/ -1 w 130968"/>
                    <a:gd name="connsiteY2" fmla="*/ 65484 h 130968"/>
                    <a:gd name="connsiteX3" fmla="*/ 65483 w 130968"/>
                    <a:gd name="connsiteY3" fmla="*/ 0 h 130968"/>
                    <a:gd name="connsiteX4" fmla="*/ 130968 w 130968"/>
                    <a:gd name="connsiteY4" fmla="*/ 65484 h 13096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0968" h="130968">
                      <a:moveTo>
                        <a:pt x="130968" y="65484"/>
                      </a:moveTo>
                      <a:cubicBezTo>
                        <a:pt x="130968" y="101650"/>
                        <a:pt x="101649" y="130969"/>
                        <a:pt x="65483" y="130969"/>
                      </a:cubicBezTo>
                      <a:cubicBezTo>
                        <a:pt x="29317" y="130969"/>
                        <a:pt x="-1" y="101650"/>
                        <a:pt x="-1" y="65484"/>
                      </a:cubicBezTo>
                      <a:cubicBezTo>
                        <a:pt x="-1" y="29318"/>
                        <a:pt x="29317" y="0"/>
                        <a:pt x="65483" y="0"/>
                      </a:cubicBezTo>
                      <a:cubicBezTo>
                        <a:pt x="101649" y="0"/>
                        <a:pt x="130968" y="29318"/>
                        <a:pt x="130968" y="65484"/>
                      </a:cubicBezTo>
                      <a:close/>
                    </a:path>
                  </a:pathLst>
                </a:custGeom>
                <a:solidFill>
                  <a:srgbClr val="FFFFFF"/>
                </a:solidFill>
                <a:ln w="28575" cap="flat">
                  <a:solidFill>
                    <a:schemeClr val="tx1"/>
                  </a:solidFill>
                  <a:prstDash val="solid"/>
                  <a:miter/>
                </a:ln>
              </p:spPr>
              <p:txBody>
                <a:bodyPr rtlCol="0" anchor="ctr"/>
                <a:lstStyle/>
                <a:p>
                  <a:endParaRPr lang="en-US"/>
                </a:p>
              </p:txBody>
            </p:sp>
            <p:sp>
              <p:nvSpPr>
                <p:cNvPr id="598" name="Freeform: Shape 101">
                  <a:extLst>
                    <a:ext uri="{FF2B5EF4-FFF2-40B4-BE49-F238E27FC236}">
                      <a16:creationId xmlns:a16="http://schemas.microsoft.com/office/drawing/2014/main" id="{F36C13D7-B434-21CF-5174-BACA433901BB}"/>
                    </a:ext>
                  </a:extLst>
                </p:cNvPr>
                <p:cNvSpPr/>
                <p:nvPr/>
              </p:nvSpPr>
              <p:spPr>
                <a:xfrm>
                  <a:off x="6960135" y="1716592"/>
                  <a:ext cx="244062" cy="244062"/>
                </a:xfrm>
                <a:custGeom>
                  <a:avLst/>
                  <a:gdLst>
                    <a:gd name="connsiteX0" fmla="*/ 130968 w 130968"/>
                    <a:gd name="connsiteY0" fmla="*/ 65484 h 130968"/>
                    <a:gd name="connsiteX1" fmla="*/ 65483 w 130968"/>
                    <a:gd name="connsiteY1" fmla="*/ 130969 h 130968"/>
                    <a:gd name="connsiteX2" fmla="*/ -1 w 130968"/>
                    <a:gd name="connsiteY2" fmla="*/ 65484 h 130968"/>
                    <a:gd name="connsiteX3" fmla="*/ 65483 w 130968"/>
                    <a:gd name="connsiteY3" fmla="*/ 0 h 130968"/>
                    <a:gd name="connsiteX4" fmla="*/ 130968 w 130968"/>
                    <a:gd name="connsiteY4" fmla="*/ 65484 h 13096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0968" h="130968">
                      <a:moveTo>
                        <a:pt x="130968" y="65484"/>
                      </a:moveTo>
                      <a:cubicBezTo>
                        <a:pt x="130968" y="101650"/>
                        <a:pt x="101649" y="130969"/>
                        <a:pt x="65483" y="130969"/>
                      </a:cubicBezTo>
                      <a:cubicBezTo>
                        <a:pt x="29317" y="130969"/>
                        <a:pt x="-1" y="101650"/>
                        <a:pt x="-1" y="65484"/>
                      </a:cubicBezTo>
                      <a:cubicBezTo>
                        <a:pt x="-1" y="29318"/>
                        <a:pt x="29317" y="0"/>
                        <a:pt x="65483" y="0"/>
                      </a:cubicBezTo>
                      <a:cubicBezTo>
                        <a:pt x="101649" y="0"/>
                        <a:pt x="130968" y="29318"/>
                        <a:pt x="130968" y="65484"/>
                      </a:cubicBezTo>
                      <a:close/>
                    </a:path>
                  </a:pathLst>
                </a:custGeom>
                <a:solidFill>
                  <a:srgbClr val="FFFFFF"/>
                </a:solidFill>
                <a:ln w="28575" cap="flat">
                  <a:solidFill>
                    <a:schemeClr val="tx1"/>
                  </a:solidFill>
                  <a:prstDash val="solid"/>
                  <a:miter/>
                </a:ln>
              </p:spPr>
              <p:txBody>
                <a:bodyPr rtlCol="0" anchor="ctr"/>
                <a:lstStyle/>
                <a:p>
                  <a:endParaRPr lang="en-US"/>
                </a:p>
              </p:txBody>
            </p:sp>
            <p:sp>
              <p:nvSpPr>
                <p:cNvPr id="599" name="Freeform: Shape 102">
                  <a:extLst>
                    <a:ext uri="{FF2B5EF4-FFF2-40B4-BE49-F238E27FC236}">
                      <a16:creationId xmlns:a16="http://schemas.microsoft.com/office/drawing/2014/main" id="{4877148D-4C2B-F803-8651-8630416D4FF5}"/>
                    </a:ext>
                  </a:extLst>
                </p:cNvPr>
                <p:cNvSpPr/>
                <p:nvPr/>
              </p:nvSpPr>
              <p:spPr>
                <a:xfrm>
                  <a:off x="6960135" y="2182530"/>
                  <a:ext cx="244062" cy="244062"/>
                </a:xfrm>
                <a:custGeom>
                  <a:avLst/>
                  <a:gdLst>
                    <a:gd name="connsiteX0" fmla="*/ 130968 w 130968"/>
                    <a:gd name="connsiteY0" fmla="*/ 65484 h 130968"/>
                    <a:gd name="connsiteX1" fmla="*/ 65483 w 130968"/>
                    <a:gd name="connsiteY1" fmla="*/ 130969 h 130968"/>
                    <a:gd name="connsiteX2" fmla="*/ -1 w 130968"/>
                    <a:gd name="connsiteY2" fmla="*/ 65484 h 130968"/>
                    <a:gd name="connsiteX3" fmla="*/ 65483 w 130968"/>
                    <a:gd name="connsiteY3" fmla="*/ 0 h 130968"/>
                    <a:gd name="connsiteX4" fmla="*/ 130968 w 130968"/>
                    <a:gd name="connsiteY4" fmla="*/ 65484 h 13096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0968" h="130968">
                      <a:moveTo>
                        <a:pt x="130968" y="65484"/>
                      </a:moveTo>
                      <a:cubicBezTo>
                        <a:pt x="130968" y="101650"/>
                        <a:pt x="101649" y="130969"/>
                        <a:pt x="65483" y="130969"/>
                      </a:cubicBezTo>
                      <a:cubicBezTo>
                        <a:pt x="29317" y="130969"/>
                        <a:pt x="-1" y="101650"/>
                        <a:pt x="-1" y="65484"/>
                      </a:cubicBezTo>
                      <a:cubicBezTo>
                        <a:pt x="-1" y="29318"/>
                        <a:pt x="29317" y="0"/>
                        <a:pt x="65483" y="0"/>
                      </a:cubicBezTo>
                      <a:cubicBezTo>
                        <a:pt x="101649" y="0"/>
                        <a:pt x="130968" y="29318"/>
                        <a:pt x="130968" y="65484"/>
                      </a:cubicBezTo>
                      <a:close/>
                    </a:path>
                  </a:pathLst>
                </a:custGeom>
                <a:solidFill>
                  <a:srgbClr val="FFFFFF"/>
                </a:solidFill>
                <a:ln w="28575" cap="flat">
                  <a:solidFill>
                    <a:schemeClr val="tx1"/>
                  </a:solidFill>
                  <a:prstDash val="solid"/>
                  <a:miter/>
                </a:ln>
              </p:spPr>
              <p:txBody>
                <a:bodyPr rtlCol="0" anchor="ctr"/>
                <a:lstStyle/>
                <a:p>
                  <a:endParaRPr lang="en-US"/>
                </a:p>
              </p:txBody>
            </p:sp>
            <p:sp>
              <p:nvSpPr>
                <p:cNvPr id="600" name="Freeform: Shape 103">
                  <a:extLst>
                    <a:ext uri="{FF2B5EF4-FFF2-40B4-BE49-F238E27FC236}">
                      <a16:creationId xmlns:a16="http://schemas.microsoft.com/office/drawing/2014/main" id="{3B1F4C92-EB40-2F40-B7EF-EBACB404F322}"/>
                    </a:ext>
                  </a:extLst>
                </p:cNvPr>
                <p:cNvSpPr/>
                <p:nvPr/>
              </p:nvSpPr>
              <p:spPr>
                <a:xfrm>
                  <a:off x="6960135" y="2648469"/>
                  <a:ext cx="244062" cy="244062"/>
                </a:xfrm>
                <a:custGeom>
                  <a:avLst/>
                  <a:gdLst>
                    <a:gd name="connsiteX0" fmla="*/ 130968 w 130968"/>
                    <a:gd name="connsiteY0" fmla="*/ 65484 h 130968"/>
                    <a:gd name="connsiteX1" fmla="*/ 65483 w 130968"/>
                    <a:gd name="connsiteY1" fmla="*/ 130969 h 130968"/>
                    <a:gd name="connsiteX2" fmla="*/ -1 w 130968"/>
                    <a:gd name="connsiteY2" fmla="*/ 65484 h 130968"/>
                    <a:gd name="connsiteX3" fmla="*/ 65483 w 130968"/>
                    <a:gd name="connsiteY3" fmla="*/ 0 h 130968"/>
                    <a:gd name="connsiteX4" fmla="*/ 130968 w 130968"/>
                    <a:gd name="connsiteY4" fmla="*/ 65484 h 13096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0968" h="130968">
                      <a:moveTo>
                        <a:pt x="130968" y="65484"/>
                      </a:moveTo>
                      <a:cubicBezTo>
                        <a:pt x="130968" y="101650"/>
                        <a:pt x="101649" y="130969"/>
                        <a:pt x="65483" y="130969"/>
                      </a:cubicBezTo>
                      <a:cubicBezTo>
                        <a:pt x="29317" y="130969"/>
                        <a:pt x="-1" y="101650"/>
                        <a:pt x="-1" y="65484"/>
                      </a:cubicBezTo>
                      <a:cubicBezTo>
                        <a:pt x="-1" y="29318"/>
                        <a:pt x="29317" y="0"/>
                        <a:pt x="65483" y="0"/>
                      </a:cubicBezTo>
                      <a:cubicBezTo>
                        <a:pt x="101649" y="0"/>
                        <a:pt x="130968" y="29318"/>
                        <a:pt x="130968" y="65484"/>
                      </a:cubicBezTo>
                      <a:close/>
                    </a:path>
                  </a:pathLst>
                </a:custGeom>
                <a:solidFill>
                  <a:srgbClr val="FFFFFF"/>
                </a:solidFill>
                <a:ln w="28575" cap="flat">
                  <a:solidFill>
                    <a:schemeClr val="tx1"/>
                  </a:solidFill>
                  <a:prstDash val="solid"/>
                  <a:miter/>
                </a:ln>
              </p:spPr>
              <p:txBody>
                <a:bodyPr rtlCol="0" anchor="ctr"/>
                <a:lstStyle/>
                <a:p>
                  <a:endParaRPr lang="en-US"/>
                </a:p>
              </p:txBody>
            </p:sp>
            <p:sp>
              <p:nvSpPr>
                <p:cNvPr id="601" name="Freeform: Shape 104">
                  <a:extLst>
                    <a:ext uri="{FF2B5EF4-FFF2-40B4-BE49-F238E27FC236}">
                      <a16:creationId xmlns:a16="http://schemas.microsoft.com/office/drawing/2014/main" id="{7D49ACAE-A757-1BD4-1CC0-EEE6BE6A41FA}"/>
                    </a:ext>
                  </a:extLst>
                </p:cNvPr>
                <p:cNvSpPr/>
                <p:nvPr/>
              </p:nvSpPr>
              <p:spPr>
                <a:xfrm>
                  <a:off x="7537011" y="1483621"/>
                  <a:ext cx="244062" cy="244062"/>
                </a:xfrm>
                <a:custGeom>
                  <a:avLst/>
                  <a:gdLst>
                    <a:gd name="connsiteX0" fmla="*/ 130968 w 130968"/>
                    <a:gd name="connsiteY0" fmla="*/ 65484 h 130968"/>
                    <a:gd name="connsiteX1" fmla="*/ 65483 w 130968"/>
                    <a:gd name="connsiteY1" fmla="*/ 130969 h 130968"/>
                    <a:gd name="connsiteX2" fmla="*/ -1 w 130968"/>
                    <a:gd name="connsiteY2" fmla="*/ 65484 h 130968"/>
                    <a:gd name="connsiteX3" fmla="*/ 65483 w 130968"/>
                    <a:gd name="connsiteY3" fmla="*/ 0 h 130968"/>
                    <a:gd name="connsiteX4" fmla="*/ 130968 w 130968"/>
                    <a:gd name="connsiteY4" fmla="*/ 65484 h 13096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0968" h="130968">
                      <a:moveTo>
                        <a:pt x="130968" y="65484"/>
                      </a:moveTo>
                      <a:cubicBezTo>
                        <a:pt x="130968" y="101650"/>
                        <a:pt x="101649" y="130969"/>
                        <a:pt x="65483" y="130969"/>
                      </a:cubicBezTo>
                      <a:cubicBezTo>
                        <a:pt x="29317" y="130969"/>
                        <a:pt x="-1" y="101650"/>
                        <a:pt x="-1" y="65484"/>
                      </a:cubicBezTo>
                      <a:cubicBezTo>
                        <a:pt x="-1" y="29318"/>
                        <a:pt x="29317" y="0"/>
                        <a:pt x="65483" y="0"/>
                      </a:cubicBezTo>
                      <a:cubicBezTo>
                        <a:pt x="101649" y="0"/>
                        <a:pt x="130968" y="29318"/>
                        <a:pt x="130968" y="65484"/>
                      </a:cubicBezTo>
                      <a:close/>
                    </a:path>
                  </a:pathLst>
                </a:custGeom>
                <a:solidFill>
                  <a:srgbClr val="FFFFFF"/>
                </a:solidFill>
                <a:ln w="28575" cap="flat">
                  <a:solidFill>
                    <a:schemeClr val="tx1"/>
                  </a:solidFill>
                  <a:prstDash val="solid"/>
                  <a:miter/>
                </a:ln>
              </p:spPr>
              <p:txBody>
                <a:bodyPr rtlCol="0" anchor="ctr"/>
                <a:lstStyle/>
                <a:p>
                  <a:endParaRPr lang="en-US"/>
                </a:p>
              </p:txBody>
            </p:sp>
            <p:sp>
              <p:nvSpPr>
                <p:cNvPr id="602" name="Freeform: Shape 105">
                  <a:extLst>
                    <a:ext uri="{FF2B5EF4-FFF2-40B4-BE49-F238E27FC236}">
                      <a16:creationId xmlns:a16="http://schemas.microsoft.com/office/drawing/2014/main" id="{E7547ED5-304C-79F6-F9A3-318CBB00D564}"/>
                    </a:ext>
                  </a:extLst>
                </p:cNvPr>
                <p:cNvSpPr/>
                <p:nvPr/>
              </p:nvSpPr>
              <p:spPr>
                <a:xfrm>
                  <a:off x="7537011" y="1949560"/>
                  <a:ext cx="244062" cy="244062"/>
                </a:xfrm>
                <a:custGeom>
                  <a:avLst/>
                  <a:gdLst>
                    <a:gd name="connsiteX0" fmla="*/ 130968 w 130968"/>
                    <a:gd name="connsiteY0" fmla="*/ 65484 h 130968"/>
                    <a:gd name="connsiteX1" fmla="*/ 65483 w 130968"/>
                    <a:gd name="connsiteY1" fmla="*/ 130969 h 130968"/>
                    <a:gd name="connsiteX2" fmla="*/ -1 w 130968"/>
                    <a:gd name="connsiteY2" fmla="*/ 65484 h 130968"/>
                    <a:gd name="connsiteX3" fmla="*/ 65483 w 130968"/>
                    <a:gd name="connsiteY3" fmla="*/ 0 h 130968"/>
                    <a:gd name="connsiteX4" fmla="*/ 130968 w 130968"/>
                    <a:gd name="connsiteY4" fmla="*/ 65484 h 13096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0968" h="130968">
                      <a:moveTo>
                        <a:pt x="130968" y="65484"/>
                      </a:moveTo>
                      <a:cubicBezTo>
                        <a:pt x="130968" y="101650"/>
                        <a:pt x="101649" y="130969"/>
                        <a:pt x="65483" y="130969"/>
                      </a:cubicBezTo>
                      <a:cubicBezTo>
                        <a:pt x="29317" y="130969"/>
                        <a:pt x="-1" y="101650"/>
                        <a:pt x="-1" y="65484"/>
                      </a:cubicBezTo>
                      <a:cubicBezTo>
                        <a:pt x="-1" y="29318"/>
                        <a:pt x="29317" y="0"/>
                        <a:pt x="65483" y="0"/>
                      </a:cubicBezTo>
                      <a:cubicBezTo>
                        <a:pt x="101649" y="0"/>
                        <a:pt x="130968" y="29318"/>
                        <a:pt x="130968" y="65484"/>
                      </a:cubicBezTo>
                      <a:close/>
                    </a:path>
                  </a:pathLst>
                </a:custGeom>
                <a:solidFill>
                  <a:srgbClr val="FFFFFF"/>
                </a:solidFill>
                <a:ln w="28575" cap="flat">
                  <a:solidFill>
                    <a:schemeClr val="tx1"/>
                  </a:solidFill>
                  <a:prstDash val="solid"/>
                  <a:miter/>
                </a:ln>
              </p:spPr>
              <p:txBody>
                <a:bodyPr rtlCol="0" anchor="ctr"/>
                <a:lstStyle/>
                <a:p>
                  <a:endParaRPr lang="en-US"/>
                </a:p>
              </p:txBody>
            </p:sp>
            <p:sp>
              <p:nvSpPr>
                <p:cNvPr id="603" name="Freeform: Shape 106">
                  <a:extLst>
                    <a:ext uri="{FF2B5EF4-FFF2-40B4-BE49-F238E27FC236}">
                      <a16:creationId xmlns:a16="http://schemas.microsoft.com/office/drawing/2014/main" id="{766110EC-7FAD-C078-1297-40A9573306B0}"/>
                    </a:ext>
                  </a:extLst>
                </p:cNvPr>
                <p:cNvSpPr/>
                <p:nvPr/>
              </p:nvSpPr>
              <p:spPr>
                <a:xfrm>
                  <a:off x="7537011" y="2415501"/>
                  <a:ext cx="244062" cy="244062"/>
                </a:xfrm>
                <a:custGeom>
                  <a:avLst/>
                  <a:gdLst>
                    <a:gd name="connsiteX0" fmla="*/ 130968 w 130968"/>
                    <a:gd name="connsiteY0" fmla="*/ 65484 h 130968"/>
                    <a:gd name="connsiteX1" fmla="*/ 65483 w 130968"/>
                    <a:gd name="connsiteY1" fmla="*/ 130969 h 130968"/>
                    <a:gd name="connsiteX2" fmla="*/ -1 w 130968"/>
                    <a:gd name="connsiteY2" fmla="*/ 65484 h 130968"/>
                    <a:gd name="connsiteX3" fmla="*/ 65483 w 130968"/>
                    <a:gd name="connsiteY3" fmla="*/ 0 h 130968"/>
                    <a:gd name="connsiteX4" fmla="*/ 130968 w 130968"/>
                    <a:gd name="connsiteY4" fmla="*/ 65484 h 13096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0968" h="130968">
                      <a:moveTo>
                        <a:pt x="130968" y="65484"/>
                      </a:moveTo>
                      <a:cubicBezTo>
                        <a:pt x="130968" y="101650"/>
                        <a:pt x="101649" y="130969"/>
                        <a:pt x="65483" y="130969"/>
                      </a:cubicBezTo>
                      <a:cubicBezTo>
                        <a:pt x="29317" y="130969"/>
                        <a:pt x="-1" y="101650"/>
                        <a:pt x="-1" y="65484"/>
                      </a:cubicBezTo>
                      <a:cubicBezTo>
                        <a:pt x="-1" y="29318"/>
                        <a:pt x="29317" y="0"/>
                        <a:pt x="65483" y="0"/>
                      </a:cubicBezTo>
                      <a:cubicBezTo>
                        <a:pt x="101649" y="0"/>
                        <a:pt x="130968" y="29318"/>
                        <a:pt x="130968" y="65484"/>
                      </a:cubicBezTo>
                      <a:close/>
                    </a:path>
                  </a:pathLst>
                </a:custGeom>
                <a:solidFill>
                  <a:srgbClr val="FFFFFF"/>
                </a:solidFill>
                <a:ln w="28575" cap="flat">
                  <a:solidFill>
                    <a:schemeClr val="tx1"/>
                  </a:solidFill>
                  <a:prstDash val="solid"/>
                  <a:miter/>
                </a:ln>
              </p:spPr>
              <p:txBody>
                <a:bodyPr rtlCol="0" anchor="ctr"/>
                <a:lstStyle/>
                <a:p>
                  <a:endParaRPr lang="en-US"/>
                </a:p>
              </p:txBody>
            </p:sp>
            <p:sp>
              <p:nvSpPr>
                <p:cNvPr id="604" name="Freeform: Shape 107">
                  <a:extLst>
                    <a:ext uri="{FF2B5EF4-FFF2-40B4-BE49-F238E27FC236}">
                      <a16:creationId xmlns:a16="http://schemas.microsoft.com/office/drawing/2014/main" id="{215A0C5E-FC9B-80B2-AA12-FEA12877E131}"/>
                    </a:ext>
                  </a:extLst>
                </p:cNvPr>
                <p:cNvSpPr/>
                <p:nvPr/>
              </p:nvSpPr>
              <p:spPr>
                <a:xfrm>
                  <a:off x="8113889" y="1949560"/>
                  <a:ext cx="244062" cy="244062"/>
                </a:xfrm>
                <a:custGeom>
                  <a:avLst/>
                  <a:gdLst>
                    <a:gd name="connsiteX0" fmla="*/ 130968 w 130968"/>
                    <a:gd name="connsiteY0" fmla="*/ 65484 h 130968"/>
                    <a:gd name="connsiteX1" fmla="*/ 65483 w 130968"/>
                    <a:gd name="connsiteY1" fmla="*/ 130969 h 130968"/>
                    <a:gd name="connsiteX2" fmla="*/ -1 w 130968"/>
                    <a:gd name="connsiteY2" fmla="*/ 65484 h 130968"/>
                    <a:gd name="connsiteX3" fmla="*/ 65483 w 130968"/>
                    <a:gd name="connsiteY3" fmla="*/ 0 h 130968"/>
                    <a:gd name="connsiteX4" fmla="*/ 130968 w 130968"/>
                    <a:gd name="connsiteY4" fmla="*/ 65484 h 13096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0968" h="130968">
                      <a:moveTo>
                        <a:pt x="130968" y="65484"/>
                      </a:moveTo>
                      <a:cubicBezTo>
                        <a:pt x="130968" y="101650"/>
                        <a:pt x="101649" y="130969"/>
                        <a:pt x="65483" y="130969"/>
                      </a:cubicBezTo>
                      <a:cubicBezTo>
                        <a:pt x="29317" y="130969"/>
                        <a:pt x="-1" y="101650"/>
                        <a:pt x="-1" y="65484"/>
                      </a:cubicBezTo>
                      <a:cubicBezTo>
                        <a:pt x="-1" y="29318"/>
                        <a:pt x="29317" y="0"/>
                        <a:pt x="65483" y="0"/>
                      </a:cubicBezTo>
                      <a:cubicBezTo>
                        <a:pt x="101649" y="0"/>
                        <a:pt x="130968" y="29318"/>
                        <a:pt x="130968" y="65484"/>
                      </a:cubicBezTo>
                      <a:close/>
                    </a:path>
                  </a:pathLst>
                </a:custGeom>
                <a:solidFill>
                  <a:srgbClr val="FFFFFF"/>
                </a:solidFill>
                <a:ln w="28575" cap="flat">
                  <a:solidFill>
                    <a:schemeClr val="tx1"/>
                  </a:solidFill>
                  <a:prstDash val="solid"/>
                  <a:miter/>
                </a:ln>
              </p:spPr>
              <p:txBody>
                <a:bodyPr rtlCol="0" anchor="ctr"/>
                <a:lstStyle/>
                <a:p>
                  <a:endParaRPr lang="en-US"/>
                </a:p>
              </p:txBody>
            </p:sp>
          </p:grpSp>
        </p:grpSp>
        <p:grpSp>
          <p:nvGrpSpPr>
            <p:cNvPr id="510" name="Group 509">
              <a:extLst>
                <a:ext uri="{FF2B5EF4-FFF2-40B4-BE49-F238E27FC236}">
                  <a16:creationId xmlns:a16="http://schemas.microsoft.com/office/drawing/2014/main" id="{8EEDC68B-002D-F78B-8641-49630D20FF04}"/>
                </a:ext>
              </a:extLst>
            </p:cNvPr>
            <p:cNvGrpSpPr/>
            <p:nvPr/>
          </p:nvGrpSpPr>
          <p:grpSpPr>
            <a:xfrm>
              <a:off x="8366787" y="3325769"/>
              <a:ext cx="1366363" cy="1259770"/>
              <a:chOff x="8119062" y="2903708"/>
              <a:chExt cx="2085112" cy="1922448"/>
            </a:xfrm>
          </p:grpSpPr>
          <p:sp>
            <p:nvSpPr>
              <p:cNvPr id="543" name="Rounded Rectangle 542">
                <a:extLst>
                  <a:ext uri="{FF2B5EF4-FFF2-40B4-BE49-F238E27FC236}">
                    <a16:creationId xmlns:a16="http://schemas.microsoft.com/office/drawing/2014/main" id="{C8C995FE-86AF-9062-5614-E0C213544429}"/>
                  </a:ext>
                </a:extLst>
              </p:cNvPr>
              <p:cNvSpPr/>
              <p:nvPr/>
            </p:nvSpPr>
            <p:spPr>
              <a:xfrm>
                <a:off x="8119062" y="2903708"/>
                <a:ext cx="2085112" cy="1922448"/>
              </a:xfrm>
              <a:prstGeom prst="roundRect">
                <a:avLst/>
              </a:prstGeom>
              <a:solidFill>
                <a:schemeClr val="bg1">
                  <a:lumMod val="95000"/>
                </a:schemeClr>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BE"/>
              </a:p>
            </p:txBody>
          </p:sp>
          <p:grpSp>
            <p:nvGrpSpPr>
              <p:cNvPr id="544" name="Group 543">
                <a:extLst>
                  <a:ext uri="{FF2B5EF4-FFF2-40B4-BE49-F238E27FC236}">
                    <a16:creationId xmlns:a16="http://schemas.microsoft.com/office/drawing/2014/main" id="{D6CCF8B5-106A-3B84-62F2-779BFE01A689}"/>
                  </a:ext>
                </a:extLst>
              </p:cNvPr>
              <p:cNvGrpSpPr/>
              <p:nvPr/>
            </p:nvGrpSpPr>
            <p:grpSpPr>
              <a:xfrm>
                <a:off x="8339159" y="3138112"/>
                <a:ext cx="1772251" cy="1473558"/>
                <a:chOff x="6383257" y="1250651"/>
                <a:chExt cx="1974694" cy="1641880"/>
              </a:xfrm>
            </p:grpSpPr>
            <p:sp>
              <p:nvSpPr>
                <p:cNvPr id="545" name="Freeform: Shape 77">
                  <a:extLst>
                    <a:ext uri="{FF2B5EF4-FFF2-40B4-BE49-F238E27FC236}">
                      <a16:creationId xmlns:a16="http://schemas.microsoft.com/office/drawing/2014/main" id="{4AC6D606-9A41-6834-236D-A35309C49AA7}"/>
                    </a:ext>
                  </a:extLst>
                </p:cNvPr>
                <p:cNvSpPr/>
                <p:nvPr/>
              </p:nvSpPr>
              <p:spPr>
                <a:xfrm>
                  <a:off x="6505288" y="1372684"/>
                  <a:ext cx="576876" cy="232968"/>
                </a:xfrm>
                <a:custGeom>
                  <a:avLst/>
                  <a:gdLst>
                    <a:gd name="connsiteX0" fmla="*/ -1 w 309562"/>
                    <a:gd name="connsiteY0" fmla="*/ 125016 h 125015"/>
                    <a:gd name="connsiteX1" fmla="*/ 309562 w 309562"/>
                    <a:gd name="connsiteY1" fmla="*/ 0 h 125015"/>
                  </a:gdLst>
                  <a:ahLst/>
                  <a:cxnLst>
                    <a:cxn ang="0">
                      <a:pos x="connsiteX0" y="connsiteY0"/>
                    </a:cxn>
                    <a:cxn ang="0">
                      <a:pos x="connsiteX1" y="connsiteY1"/>
                    </a:cxn>
                  </a:cxnLst>
                  <a:rect l="l" t="t" r="r" b="b"/>
                  <a:pathLst>
                    <a:path w="309562" h="125015">
                      <a:moveTo>
                        <a:pt x="-1" y="125016"/>
                      </a:moveTo>
                      <a:lnTo>
                        <a:pt x="309562" y="0"/>
                      </a:lnTo>
                    </a:path>
                  </a:pathLst>
                </a:custGeom>
                <a:noFill/>
                <a:ln w="28575" cap="flat">
                  <a:solidFill>
                    <a:schemeClr val="tx1"/>
                  </a:solidFill>
                  <a:prstDash val="solid"/>
                  <a:miter/>
                </a:ln>
              </p:spPr>
              <p:txBody>
                <a:bodyPr rtlCol="0" anchor="ctr"/>
                <a:lstStyle/>
                <a:p>
                  <a:endParaRPr lang="en-US"/>
                </a:p>
              </p:txBody>
            </p:sp>
            <p:sp>
              <p:nvSpPr>
                <p:cNvPr id="546" name="Freeform: Shape 78">
                  <a:extLst>
                    <a:ext uri="{FF2B5EF4-FFF2-40B4-BE49-F238E27FC236}">
                      <a16:creationId xmlns:a16="http://schemas.microsoft.com/office/drawing/2014/main" id="{9CA44F16-88A6-A46A-4E0C-0A6B9A645922}"/>
                    </a:ext>
                  </a:extLst>
                </p:cNvPr>
                <p:cNvSpPr/>
                <p:nvPr/>
              </p:nvSpPr>
              <p:spPr>
                <a:xfrm>
                  <a:off x="6505288" y="1605652"/>
                  <a:ext cx="576876" cy="698907"/>
                </a:xfrm>
                <a:custGeom>
                  <a:avLst/>
                  <a:gdLst>
                    <a:gd name="connsiteX0" fmla="*/ -1 w 309562"/>
                    <a:gd name="connsiteY0" fmla="*/ 0 h 375046"/>
                    <a:gd name="connsiteX1" fmla="*/ 309562 w 309562"/>
                    <a:gd name="connsiteY1" fmla="*/ 375047 h 375046"/>
                  </a:gdLst>
                  <a:ahLst/>
                  <a:cxnLst>
                    <a:cxn ang="0">
                      <a:pos x="connsiteX0" y="connsiteY0"/>
                    </a:cxn>
                    <a:cxn ang="0">
                      <a:pos x="connsiteX1" y="connsiteY1"/>
                    </a:cxn>
                  </a:cxnLst>
                  <a:rect l="l" t="t" r="r" b="b"/>
                  <a:pathLst>
                    <a:path w="309562" h="375046">
                      <a:moveTo>
                        <a:pt x="-1" y="0"/>
                      </a:moveTo>
                      <a:lnTo>
                        <a:pt x="309562" y="375047"/>
                      </a:lnTo>
                    </a:path>
                  </a:pathLst>
                </a:custGeom>
                <a:noFill/>
                <a:ln w="28575" cap="flat">
                  <a:solidFill>
                    <a:schemeClr val="tx1"/>
                  </a:solidFill>
                  <a:prstDash val="solid"/>
                  <a:miter/>
                </a:ln>
              </p:spPr>
              <p:txBody>
                <a:bodyPr rtlCol="0" anchor="ctr"/>
                <a:lstStyle/>
                <a:p>
                  <a:endParaRPr lang="en-US"/>
                </a:p>
              </p:txBody>
            </p:sp>
            <p:sp>
              <p:nvSpPr>
                <p:cNvPr id="547" name="Freeform: Shape 81">
                  <a:extLst>
                    <a:ext uri="{FF2B5EF4-FFF2-40B4-BE49-F238E27FC236}">
                      <a16:creationId xmlns:a16="http://schemas.microsoft.com/office/drawing/2014/main" id="{B62FDBF5-5C9C-F8FB-6C21-563D78F6DC1C}"/>
                    </a:ext>
                  </a:extLst>
                </p:cNvPr>
                <p:cNvSpPr/>
                <p:nvPr/>
              </p:nvSpPr>
              <p:spPr>
                <a:xfrm>
                  <a:off x="6505288" y="1838623"/>
                  <a:ext cx="576876" cy="232968"/>
                </a:xfrm>
                <a:custGeom>
                  <a:avLst/>
                  <a:gdLst>
                    <a:gd name="connsiteX0" fmla="*/ -1 w 309562"/>
                    <a:gd name="connsiteY0" fmla="*/ 125016 h 125015"/>
                    <a:gd name="connsiteX1" fmla="*/ 309562 w 309562"/>
                    <a:gd name="connsiteY1" fmla="*/ 0 h 125015"/>
                  </a:gdLst>
                  <a:ahLst/>
                  <a:cxnLst>
                    <a:cxn ang="0">
                      <a:pos x="connsiteX0" y="connsiteY0"/>
                    </a:cxn>
                    <a:cxn ang="0">
                      <a:pos x="connsiteX1" y="connsiteY1"/>
                    </a:cxn>
                  </a:cxnLst>
                  <a:rect l="l" t="t" r="r" b="b"/>
                  <a:pathLst>
                    <a:path w="309562" h="125015">
                      <a:moveTo>
                        <a:pt x="-1" y="125016"/>
                      </a:moveTo>
                      <a:lnTo>
                        <a:pt x="309562" y="0"/>
                      </a:lnTo>
                    </a:path>
                  </a:pathLst>
                </a:custGeom>
                <a:noFill/>
                <a:ln w="28575" cap="flat">
                  <a:solidFill>
                    <a:schemeClr val="tx1"/>
                  </a:solidFill>
                  <a:prstDash val="solid"/>
                  <a:miter/>
                </a:ln>
              </p:spPr>
              <p:txBody>
                <a:bodyPr rtlCol="0" anchor="ctr"/>
                <a:lstStyle/>
                <a:p>
                  <a:endParaRPr lang="en-US"/>
                </a:p>
              </p:txBody>
            </p:sp>
            <p:sp>
              <p:nvSpPr>
                <p:cNvPr id="548" name="Freeform: Shape 82">
                  <a:extLst>
                    <a:ext uri="{FF2B5EF4-FFF2-40B4-BE49-F238E27FC236}">
                      <a16:creationId xmlns:a16="http://schemas.microsoft.com/office/drawing/2014/main" id="{A741104B-4944-20C6-D2B9-9687D4AE8002}"/>
                    </a:ext>
                  </a:extLst>
                </p:cNvPr>
                <p:cNvSpPr/>
                <p:nvPr/>
              </p:nvSpPr>
              <p:spPr>
                <a:xfrm>
                  <a:off x="6505288" y="2071593"/>
                  <a:ext cx="576876" cy="232968"/>
                </a:xfrm>
                <a:custGeom>
                  <a:avLst/>
                  <a:gdLst>
                    <a:gd name="connsiteX0" fmla="*/ -1 w 309562"/>
                    <a:gd name="connsiteY0" fmla="*/ 0 h 125015"/>
                    <a:gd name="connsiteX1" fmla="*/ 309562 w 309562"/>
                    <a:gd name="connsiteY1" fmla="*/ 125016 h 125015"/>
                  </a:gdLst>
                  <a:ahLst/>
                  <a:cxnLst>
                    <a:cxn ang="0">
                      <a:pos x="connsiteX0" y="connsiteY0"/>
                    </a:cxn>
                    <a:cxn ang="0">
                      <a:pos x="connsiteX1" y="connsiteY1"/>
                    </a:cxn>
                  </a:cxnLst>
                  <a:rect l="l" t="t" r="r" b="b"/>
                  <a:pathLst>
                    <a:path w="309562" h="125015">
                      <a:moveTo>
                        <a:pt x="-1" y="0"/>
                      </a:moveTo>
                      <a:lnTo>
                        <a:pt x="309562" y="125016"/>
                      </a:lnTo>
                    </a:path>
                  </a:pathLst>
                </a:custGeom>
                <a:noFill/>
                <a:ln w="28575" cap="flat">
                  <a:solidFill>
                    <a:schemeClr val="tx1"/>
                  </a:solidFill>
                  <a:prstDash val="solid"/>
                  <a:miter/>
                </a:ln>
              </p:spPr>
              <p:txBody>
                <a:bodyPr rtlCol="0" anchor="ctr"/>
                <a:lstStyle/>
                <a:p>
                  <a:endParaRPr lang="en-US"/>
                </a:p>
              </p:txBody>
            </p:sp>
            <p:sp>
              <p:nvSpPr>
                <p:cNvPr id="549" name="Freeform: Shape 83">
                  <a:extLst>
                    <a:ext uri="{FF2B5EF4-FFF2-40B4-BE49-F238E27FC236}">
                      <a16:creationId xmlns:a16="http://schemas.microsoft.com/office/drawing/2014/main" id="{8E4F2FA6-6527-66EE-5E17-D7F2A6273D8C}"/>
                    </a:ext>
                  </a:extLst>
                </p:cNvPr>
                <p:cNvSpPr/>
                <p:nvPr/>
              </p:nvSpPr>
              <p:spPr>
                <a:xfrm>
                  <a:off x="6505288" y="2071593"/>
                  <a:ext cx="576876" cy="698907"/>
                </a:xfrm>
                <a:custGeom>
                  <a:avLst/>
                  <a:gdLst>
                    <a:gd name="connsiteX0" fmla="*/ -1 w 309562"/>
                    <a:gd name="connsiteY0" fmla="*/ 0 h 375046"/>
                    <a:gd name="connsiteX1" fmla="*/ 309562 w 309562"/>
                    <a:gd name="connsiteY1" fmla="*/ 375047 h 375046"/>
                  </a:gdLst>
                  <a:ahLst/>
                  <a:cxnLst>
                    <a:cxn ang="0">
                      <a:pos x="connsiteX0" y="connsiteY0"/>
                    </a:cxn>
                    <a:cxn ang="0">
                      <a:pos x="connsiteX1" y="connsiteY1"/>
                    </a:cxn>
                  </a:cxnLst>
                  <a:rect l="l" t="t" r="r" b="b"/>
                  <a:pathLst>
                    <a:path w="309562" h="375046">
                      <a:moveTo>
                        <a:pt x="-1" y="0"/>
                      </a:moveTo>
                      <a:lnTo>
                        <a:pt x="309562" y="375047"/>
                      </a:lnTo>
                    </a:path>
                  </a:pathLst>
                </a:custGeom>
                <a:noFill/>
                <a:ln w="28575" cap="flat">
                  <a:solidFill>
                    <a:schemeClr val="tx1"/>
                  </a:solidFill>
                  <a:prstDash val="solid"/>
                  <a:miter/>
                </a:ln>
              </p:spPr>
              <p:txBody>
                <a:bodyPr rtlCol="0" anchor="ctr"/>
                <a:lstStyle/>
                <a:p>
                  <a:endParaRPr lang="en-US"/>
                </a:p>
              </p:txBody>
            </p:sp>
            <p:sp>
              <p:nvSpPr>
                <p:cNvPr id="550" name="Freeform: Shape 84">
                  <a:extLst>
                    <a:ext uri="{FF2B5EF4-FFF2-40B4-BE49-F238E27FC236}">
                      <a16:creationId xmlns:a16="http://schemas.microsoft.com/office/drawing/2014/main" id="{A0E0FA7A-FD2F-F9AC-9109-A2444268139B}"/>
                    </a:ext>
                  </a:extLst>
                </p:cNvPr>
                <p:cNvSpPr/>
                <p:nvPr/>
              </p:nvSpPr>
              <p:spPr>
                <a:xfrm>
                  <a:off x="6505288" y="2304561"/>
                  <a:ext cx="576876" cy="232968"/>
                </a:xfrm>
                <a:custGeom>
                  <a:avLst/>
                  <a:gdLst>
                    <a:gd name="connsiteX0" fmla="*/ -1 w 309562"/>
                    <a:gd name="connsiteY0" fmla="*/ 125016 h 125015"/>
                    <a:gd name="connsiteX1" fmla="*/ 309562 w 309562"/>
                    <a:gd name="connsiteY1" fmla="*/ 0 h 125015"/>
                  </a:gdLst>
                  <a:ahLst/>
                  <a:cxnLst>
                    <a:cxn ang="0">
                      <a:pos x="connsiteX0" y="connsiteY0"/>
                    </a:cxn>
                    <a:cxn ang="0">
                      <a:pos x="connsiteX1" y="connsiteY1"/>
                    </a:cxn>
                  </a:cxnLst>
                  <a:rect l="l" t="t" r="r" b="b"/>
                  <a:pathLst>
                    <a:path w="309562" h="125015">
                      <a:moveTo>
                        <a:pt x="-1" y="125016"/>
                      </a:moveTo>
                      <a:lnTo>
                        <a:pt x="309562" y="0"/>
                      </a:lnTo>
                    </a:path>
                  </a:pathLst>
                </a:custGeom>
                <a:noFill/>
                <a:ln w="28575" cap="flat">
                  <a:solidFill>
                    <a:schemeClr val="tx1"/>
                  </a:solidFill>
                  <a:prstDash val="solid"/>
                  <a:miter/>
                </a:ln>
              </p:spPr>
              <p:txBody>
                <a:bodyPr rtlCol="0" anchor="ctr"/>
                <a:lstStyle/>
                <a:p>
                  <a:endParaRPr lang="en-US"/>
                </a:p>
              </p:txBody>
            </p:sp>
            <p:sp>
              <p:nvSpPr>
                <p:cNvPr id="551" name="Freeform: Shape 85">
                  <a:extLst>
                    <a:ext uri="{FF2B5EF4-FFF2-40B4-BE49-F238E27FC236}">
                      <a16:creationId xmlns:a16="http://schemas.microsoft.com/office/drawing/2014/main" id="{8E1CFB1D-68AB-7F6E-B961-4EB0114D084A}"/>
                    </a:ext>
                  </a:extLst>
                </p:cNvPr>
                <p:cNvSpPr/>
                <p:nvPr/>
              </p:nvSpPr>
              <p:spPr>
                <a:xfrm>
                  <a:off x="6505288" y="2537532"/>
                  <a:ext cx="576876" cy="232968"/>
                </a:xfrm>
                <a:custGeom>
                  <a:avLst/>
                  <a:gdLst>
                    <a:gd name="connsiteX0" fmla="*/ -1 w 309562"/>
                    <a:gd name="connsiteY0" fmla="*/ 0 h 125015"/>
                    <a:gd name="connsiteX1" fmla="*/ 309562 w 309562"/>
                    <a:gd name="connsiteY1" fmla="*/ 125016 h 125015"/>
                  </a:gdLst>
                  <a:ahLst/>
                  <a:cxnLst>
                    <a:cxn ang="0">
                      <a:pos x="connsiteX0" y="connsiteY0"/>
                    </a:cxn>
                    <a:cxn ang="0">
                      <a:pos x="connsiteX1" y="connsiteY1"/>
                    </a:cxn>
                  </a:cxnLst>
                  <a:rect l="l" t="t" r="r" b="b"/>
                  <a:pathLst>
                    <a:path w="309562" h="125015">
                      <a:moveTo>
                        <a:pt x="-1" y="0"/>
                      </a:moveTo>
                      <a:lnTo>
                        <a:pt x="309562" y="125016"/>
                      </a:lnTo>
                    </a:path>
                  </a:pathLst>
                </a:custGeom>
                <a:noFill/>
                <a:ln w="28575" cap="flat">
                  <a:solidFill>
                    <a:schemeClr val="tx1"/>
                  </a:solidFill>
                  <a:prstDash val="solid"/>
                  <a:miter/>
                </a:ln>
              </p:spPr>
              <p:txBody>
                <a:bodyPr rtlCol="0" anchor="ctr"/>
                <a:lstStyle/>
                <a:p>
                  <a:endParaRPr lang="en-US"/>
                </a:p>
              </p:txBody>
            </p:sp>
            <p:sp>
              <p:nvSpPr>
                <p:cNvPr id="552" name="Freeform: Shape 86">
                  <a:extLst>
                    <a:ext uri="{FF2B5EF4-FFF2-40B4-BE49-F238E27FC236}">
                      <a16:creationId xmlns:a16="http://schemas.microsoft.com/office/drawing/2014/main" id="{E8D4C606-8BFA-62D9-EC36-F8A27DFCB241}"/>
                    </a:ext>
                  </a:extLst>
                </p:cNvPr>
                <p:cNvSpPr/>
                <p:nvPr/>
              </p:nvSpPr>
              <p:spPr>
                <a:xfrm>
                  <a:off x="7082166" y="1372684"/>
                  <a:ext cx="576876" cy="232968"/>
                </a:xfrm>
                <a:custGeom>
                  <a:avLst/>
                  <a:gdLst>
                    <a:gd name="connsiteX0" fmla="*/ -1 w 309562"/>
                    <a:gd name="connsiteY0" fmla="*/ 0 h 125015"/>
                    <a:gd name="connsiteX1" fmla="*/ 309562 w 309562"/>
                    <a:gd name="connsiteY1" fmla="*/ 125016 h 125015"/>
                  </a:gdLst>
                  <a:ahLst/>
                  <a:cxnLst>
                    <a:cxn ang="0">
                      <a:pos x="connsiteX0" y="connsiteY0"/>
                    </a:cxn>
                    <a:cxn ang="0">
                      <a:pos x="connsiteX1" y="connsiteY1"/>
                    </a:cxn>
                  </a:cxnLst>
                  <a:rect l="l" t="t" r="r" b="b"/>
                  <a:pathLst>
                    <a:path w="309562" h="125015">
                      <a:moveTo>
                        <a:pt x="-1" y="0"/>
                      </a:moveTo>
                      <a:lnTo>
                        <a:pt x="309562" y="125016"/>
                      </a:lnTo>
                    </a:path>
                  </a:pathLst>
                </a:custGeom>
                <a:noFill/>
                <a:ln w="28575" cap="flat">
                  <a:solidFill>
                    <a:schemeClr val="tx1"/>
                  </a:solidFill>
                  <a:prstDash val="solid"/>
                  <a:miter/>
                </a:ln>
              </p:spPr>
              <p:txBody>
                <a:bodyPr rtlCol="0" anchor="ctr"/>
                <a:lstStyle/>
                <a:p>
                  <a:endParaRPr lang="en-US"/>
                </a:p>
              </p:txBody>
            </p:sp>
            <p:sp>
              <p:nvSpPr>
                <p:cNvPr id="553" name="Freeform: Shape 87">
                  <a:extLst>
                    <a:ext uri="{FF2B5EF4-FFF2-40B4-BE49-F238E27FC236}">
                      <a16:creationId xmlns:a16="http://schemas.microsoft.com/office/drawing/2014/main" id="{836B93D4-3C2C-C508-D3F5-A8072690322E}"/>
                    </a:ext>
                  </a:extLst>
                </p:cNvPr>
                <p:cNvSpPr/>
                <p:nvPr/>
              </p:nvSpPr>
              <p:spPr>
                <a:xfrm>
                  <a:off x="7082166" y="1372684"/>
                  <a:ext cx="576876" cy="698907"/>
                </a:xfrm>
                <a:custGeom>
                  <a:avLst/>
                  <a:gdLst>
                    <a:gd name="connsiteX0" fmla="*/ -1 w 309562"/>
                    <a:gd name="connsiteY0" fmla="*/ 0 h 375046"/>
                    <a:gd name="connsiteX1" fmla="*/ 309562 w 309562"/>
                    <a:gd name="connsiteY1" fmla="*/ 375047 h 375046"/>
                  </a:gdLst>
                  <a:ahLst/>
                  <a:cxnLst>
                    <a:cxn ang="0">
                      <a:pos x="connsiteX0" y="connsiteY0"/>
                    </a:cxn>
                    <a:cxn ang="0">
                      <a:pos x="connsiteX1" y="connsiteY1"/>
                    </a:cxn>
                  </a:cxnLst>
                  <a:rect l="l" t="t" r="r" b="b"/>
                  <a:pathLst>
                    <a:path w="309562" h="375046">
                      <a:moveTo>
                        <a:pt x="-1" y="0"/>
                      </a:moveTo>
                      <a:lnTo>
                        <a:pt x="309562" y="375047"/>
                      </a:lnTo>
                    </a:path>
                  </a:pathLst>
                </a:custGeom>
                <a:noFill/>
                <a:ln w="28575" cap="flat">
                  <a:solidFill>
                    <a:schemeClr val="tx1"/>
                  </a:solidFill>
                  <a:prstDash val="solid"/>
                  <a:miter/>
                </a:ln>
              </p:spPr>
              <p:txBody>
                <a:bodyPr rtlCol="0" anchor="ctr"/>
                <a:lstStyle/>
                <a:p>
                  <a:endParaRPr lang="en-US"/>
                </a:p>
              </p:txBody>
            </p:sp>
            <p:sp>
              <p:nvSpPr>
                <p:cNvPr id="554" name="Freeform: Shape 88">
                  <a:extLst>
                    <a:ext uri="{FF2B5EF4-FFF2-40B4-BE49-F238E27FC236}">
                      <a16:creationId xmlns:a16="http://schemas.microsoft.com/office/drawing/2014/main" id="{D4F5C342-D2F3-8CB2-33A9-7C5AFB2E6081}"/>
                    </a:ext>
                  </a:extLst>
                </p:cNvPr>
                <p:cNvSpPr/>
                <p:nvPr/>
              </p:nvSpPr>
              <p:spPr>
                <a:xfrm>
                  <a:off x="7082166" y="1605652"/>
                  <a:ext cx="576876" cy="232968"/>
                </a:xfrm>
                <a:custGeom>
                  <a:avLst/>
                  <a:gdLst>
                    <a:gd name="connsiteX0" fmla="*/ -1 w 309562"/>
                    <a:gd name="connsiteY0" fmla="*/ 125016 h 125015"/>
                    <a:gd name="connsiteX1" fmla="*/ 309562 w 309562"/>
                    <a:gd name="connsiteY1" fmla="*/ 0 h 125015"/>
                  </a:gdLst>
                  <a:ahLst/>
                  <a:cxnLst>
                    <a:cxn ang="0">
                      <a:pos x="connsiteX0" y="connsiteY0"/>
                    </a:cxn>
                    <a:cxn ang="0">
                      <a:pos x="connsiteX1" y="connsiteY1"/>
                    </a:cxn>
                  </a:cxnLst>
                  <a:rect l="l" t="t" r="r" b="b"/>
                  <a:pathLst>
                    <a:path w="309562" h="125015">
                      <a:moveTo>
                        <a:pt x="-1" y="125016"/>
                      </a:moveTo>
                      <a:lnTo>
                        <a:pt x="309562" y="0"/>
                      </a:lnTo>
                    </a:path>
                  </a:pathLst>
                </a:custGeom>
                <a:noFill/>
                <a:ln w="28575" cap="flat">
                  <a:solidFill>
                    <a:schemeClr val="tx1"/>
                  </a:solidFill>
                  <a:prstDash val="solid"/>
                  <a:miter/>
                </a:ln>
              </p:spPr>
              <p:txBody>
                <a:bodyPr rtlCol="0" anchor="ctr"/>
                <a:lstStyle/>
                <a:p>
                  <a:endParaRPr lang="en-US"/>
                </a:p>
              </p:txBody>
            </p:sp>
            <p:sp>
              <p:nvSpPr>
                <p:cNvPr id="555" name="Freeform: Shape 89">
                  <a:extLst>
                    <a:ext uri="{FF2B5EF4-FFF2-40B4-BE49-F238E27FC236}">
                      <a16:creationId xmlns:a16="http://schemas.microsoft.com/office/drawing/2014/main" id="{32605B01-1D64-3CA8-9D75-C54989C402CF}"/>
                    </a:ext>
                  </a:extLst>
                </p:cNvPr>
                <p:cNvSpPr/>
                <p:nvPr/>
              </p:nvSpPr>
              <p:spPr>
                <a:xfrm>
                  <a:off x="7082166" y="1838623"/>
                  <a:ext cx="576876" cy="232968"/>
                </a:xfrm>
                <a:custGeom>
                  <a:avLst/>
                  <a:gdLst>
                    <a:gd name="connsiteX0" fmla="*/ -1 w 309562"/>
                    <a:gd name="connsiteY0" fmla="*/ 0 h 125015"/>
                    <a:gd name="connsiteX1" fmla="*/ 309562 w 309562"/>
                    <a:gd name="connsiteY1" fmla="*/ 125016 h 125015"/>
                  </a:gdLst>
                  <a:ahLst/>
                  <a:cxnLst>
                    <a:cxn ang="0">
                      <a:pos x="connsiteX0" y="connsiteY0"/>
                    </a:cxn>
                    <a:cxn ang="0">
                      <a:pos x="connsiteX1" y="connsiteY1"/>
                    </a:cxn>
                  </a:cxnLst>
                  <a:rect l="l" t="t" r="r" b="b"/>
                  <a:pathLst>
                    <a:path w="309562" h="125015">
                      <a:moveTo>
                        <a:pt x="-1" y="0"/>
                      </a:moveTo>
                      <a:lnTo>
                        <a:pt x="309562" y="125016"/>
                      </a:lnTo>
                    </a:path>
                  </a:pathLst>
                </a:custGeom>
                <a:noFill/>
                <a:ln w="28575" cap="flat">
                  <a:solidFill>
                    <a:schemeClr val="tx1"/>
                  </a:solidFill>
                  <a:prstDash val="solid"/>
                  <a:miter/>
                </a:ln>
              </p:spPr>
              <p:txBody>
                <a:bodyPr rtlCol="0" anchor="ctr"/>
                <a:lstStyle/>
                <a:p>
                  <a:endParaRPr lang="en-US"/>
                </a:p>
              </p:txBody>
            </p:sp>
            <p:sp>
              <p:nvSpPr>
                <p:cNvPr id="556" name="Freeform: Shape 90">
                  <a:extLst>
                    <a:ext uri="{FF2B5EF4-FFF2-40B4-BE49-F238E27FC236}">
                      <a16:creationId xmlns:a16="http://schemas.microsoft.com/office/drawing/2014/main" id="{7CBE6BD4-F949-1A35-0F65-2BD6A38B5CC8}"/>
                    </a:ext>
                  </a:extLst>
                </p:cNvPr>
                <p:cNvSpPr/>
                <p:nvPr/>
              </p:nvSpPr>
              <p:spPr>
                <a:xfrm>
                  <a:off x="7082166" y="1605652"/>
                  <a:ext cx="576876" cy="698907"/>
                </a:xfrm>
                <a:custGeom>
                  <a:avLst/>
                  <a:gdLst>
                    <a:gd name="connsiteX0" fmla="*/ -1 w 309562"/>
                    <a:gd name="connsiteY0" fmla="*/ 375047 h 375046"/>
                    <a:gd name="connsiteX1" fmla="*/ 309562 w 309562"/>
                    <a:gd name="connsiteY1" fmla="*/ 0 h 375046"/>
                  </a:gdLst>
                  <a:ahLst/>
                  <a:cxnLst>
                    <a:cxn ang="0">
                      <a:pos x="connsiteX0" y="connsiteY0"/>
                    </a:cxn>
                    <a:cxn ang="0">
                      <a:pos x="connsiteX1" y="connsiteY1"/>
                    </a:cxn>
                  </a:cxnLst>
                  <a:rect l="l" t="t" r="r" b="b"/>
                  <a:pathLst>
                    <a:path w="309562" h="375046">
                      <a:moveTo>
                        <a:pt x="-1" y="375047"/>
                      </a:moveTo>
                      <a:lnTo>
                        <a:pt x="309562" y="0"/>
                      </a:lnTo>
                    </a:path>
                  </a:pathLst>
                </a:custGeom>
                <a:noFill/>
                <a:ln w="28575" cap="flat">
                  <a:solidFill>
                    <a:schemeClr val="tx1"/>
                  </a:solidFill>
                  <a:prstDash val="solid"/>
                  <a:miter/>
                </a:ln>
              </p:spPr>
              <p:txBody>
                <a:bodyPr rtlCol="0" anchor="ctr"/>
                <a:lstStyle/>
                <a:p>
                  <a:endParaRPr lang="en-US"/>
                </a:p>
              </p:txBody>
            </p:sp>
            <p:sp>
              <p:nvSpPr>
                <p:cNvPr id="557" name="Freeform: Shape 91">
                  <a:extLst>
                    <a:ext uri="{FF2B5EF4-FFF2-40B4-BE49-F238E27FC236}">
                      <a16:creationId xmlns:a16="http://schemas.microsoft.com/office/drawing/2014/main" id="{61CB9F05-BC95-E3D1-BF53-28E90B70BF2F}"/>
                    </a:ext>
                  </a:extLst>
                </p:cNvPr>
                <p:cNvSpPr/>
                <p:nvPr/>
              </p:nvSpPr>
              <p:spPr>
                <a:xfrm>
                  <a:off x="7082166" y="2071593"/>
                  <a:ext cx="576876" cy="232968"/>
                </a:xfrm>
                <a:custGeom>
                  <a:avLst/>
                  <a:gdLst>
                    <a:gd name="connsiteX0" fmla="*/ -1 w 309562"/>
                    <a:gd name="connsiteY0" fmla="*/ 125016 h 125015"/>
                    <a:gd name="connsiteX1" fmla="*/ 309562 w 309562"/>
                    <a:gd name="connsiteY1" fmla="*/ 0 h 125015"/>
                  </a:gdLst>
                  <a:ahLst/>
                  <a:cxnLst>
                    <a:cxn ang="0">
                      <a:pos x="connsiteX0" y="connsiteY0"/>
                    </a:cxn>
                    <a:cxn ang="0">
                      <a:pos x="connsiteX1" y="connsiteY1"/>
                    </a:cxn>
                  </a:cxnLst>
                  <a:rect l="l" t="t" r="r" b="b"/>
                  <a:pathLst>
                    <a:path w="309562" h="125015">
                      <a:moveTo>
                        <a:pt x="-1" y="125016"/>
                      </a:moveTo>
                      <a:lnTo>
                        <a:pt x="309562" y="0"/>
                      </a:lnTo>
                    </a:path>
                  </a:pathLst>
                </a:custGeom>
                <a:noFill/>
                <a:ln w="28575" cap="flat">
                  <a:solidFill>
                    <a:schemeClr val="tx1"/>
                  </a:solidFill>
                  <a:prstDash val="solid"/>
                  <a:miter/>
                </a:ln>
              </p:spPr>
              <p:txBody>
                <a:bodyPr rtlCol="0" anchor="ctr"/>
                <a:lstStyle/>
                <a:p>
                  <a:endParaRPr lang="en-US"/>
                </a:p>
              </p:txBody>
            </p:sp>
            <p:sp>
              <p:nvSpPr>
                <p:cNvPr id="558" name="Freeform: Shape 92">
                  <a:extLst>
                    <a:ext uri="{FF2B5EF4-FFF2-40B4-BE49-F238E27FC236}">
                      <a16:creationId xmlns:a16="http://schemas.microsoft.com/office/drawing/2014/main" id="{55334A54-4706-66CB-F177-526151A83028}"/>
                    </a:ext>
                  </a:extLst>
                </p:cNvPr>
                <p:cNvSpPr/>
                <p:nvPr/>
              </p:nvSpPr>
              <p:spPr>
                <a:xfrm>
                  <a:off x="7659042" y="1605652"/>
                  <a:ext cx="576876" cy="465939"/>
                </a:xfrm>
                <a:custGeom>
                  <a:avLst/>
                  <a:gdLst>
                    <a:gd name="connsiteX0" fmla="*/ -1 w 309562"/>
                    <a:gd name="connsiteY0" fmla="*/ 0 h 250031"/>
                    <a:gd name="connsiteX1" fmla="*/ 309562 w 309562"/>
                    <a:gd name="connsiteY1" fmla="*/ 250031 h 250031"/>
                  </a:gdLst>
                  <a:ahLst/>
                  <a:cxnLst>
                    <a:cxn ang="0">
                      <a:pos x="connsiteX0" y="connsiteY0"/>
                    </a:cxn>
                    <a:cxn ang="0">
                      <a:pos x="connsiteX1" y="connsiteY1"/>
                    </a:cxn>
                  </a:cxnLst>
                  <a:rect l="l" t="t" r="r" b="b"/>
                  <a:pathLst>
                    <a:path w="309562" h="250031">
                      <a:moveTo>
                        <a:pt x="-1" y="0"/>
                      </a:moveTo>
                      <a:lnTo>
                        <a:pt x="309562" y="250031"/>
                      </a:lnTo>
                    </a:path>
                  </a:pathLst>
                </a:custGeom>
                <a:noFill/>
                <a:ln w="28575" cap="flat">
                  <a:solidFill>
                    <a:schemeClr val="tx1"/>
                  </a:solidFill>
                  <a:prstDash val="solid"/>
                  <a:miter/>
                </a:ln>
              </p:spPr>
              <p:txBody>
                <a:bodyPr rtlCol="0" anchor="ctr"/>
                <a:lstStyle/>
                <a:p>
                  <a:endParaRPr lang="en-US"/>
                </a:p>
              </p:txBody>
            </p:sp>
            <p:sp>
              <p:nvSpPr>
                <p:cNvPr id="559" name="Freeform: Shape 93">
                  <a:extLst>
                    <a:ext uri="{FF2B5EF4-FFF2-40B4-BE49-F238E27FC236}">
                      <a16:creationId xmlns:a16="http://schemas.microsoft.com/office/drawing/2014/main" id="{3F0EC517-A6CE-F357-5EF4-06071FD18E50}"/>
                    </a:ext>
                  </a:extLst>
                </p:cNvPr>
                <p:cNvSpPr/>
                <p:nvPr/>
              </p:nvSpPr>
              <p:spPr>
                <a:xfrm>
                  <a:off x="7659042" y="2071593"/>
                  <a:ext cx="576876" cy="11094"/>
                </a:xfrm>
                <a:custGeom>
                  <a:avLst/>
                  <a:gdLst>
                    <a:gd name="connsiteX0" fmla="*/ -1 w 309562"/>
                    <a:gd name="connsiteY0" fmla="*/ 0 h 5953"/>
                    <a:gd name="connsiteX1" fmla="*/ 309562 w 309562"/>
                    <a:gd name="connsiteY1" fmla="*/ 0 h 5953"/>
                  </a:gdLst>
                  <a:ahLst/>
                  <a:cxnLst>
                    <a:cxn ang="0">
                      <a:pos x="connsiteX0" y="connsiteY0"/>
                    </a:cxn>
                    <a:cxn ang="0">
                      <a:pos x="connsiteX1" y="connsiteY1"/>
                    </a:cxn>
                  </a:cxnLst>
                  <a:rect l="l" t="t" r="r" b="b"/>
                  <a:pathLst>
                    <a:path w="309562" h="5953">
                      <a:moveTo>
                        <a:pt x="-1" y="0"/>
                      </a:moveTo>
                      <a:lnTo>
                        <a:pt x="309562" y="0"/>
                      </a:lnTo>
                    </a:path>
                  </a:pathLst>
                </a:custGeom>
                <a:noFill/>
                <a:ln w="28575" cap="flat">
                  <a:solidFill>
                    <a:schemeClr val="tx1"/>
                  </a:solidFill>
                  <a:prstDash val="solid"/>
                  <a:miter/>
                </a:ln>
              </p:spPr>
              <p:txBody>
                <a:bodyPr rtlCol="0" anchor="ctr"/>
                <a:lstStyle/>
                <a:p>
                  <a:endParaRPr lang="en-US"/>
                </a:p>
              </p:txBody>
            </p:sp>
            <p:sp>
              <p:nvSpPr>
                <p:cNvPr id="560" name="Freeform: Shape 94">
                  <a:extLst>
                    <a:ext uri="{FF2B5EF4-FFF2-40B4-BE49-F238E27FC236}">
                      <a16:creationId xmlns:a16="http://schemas.microsoft.com/office/drawing/2014/main" id="{87E21B2C-FD7A-AD79-3449-78A6BDFEE3E2}"/>
                    </a:ext>
                  </a:extLst>
                </p:cNvPr>
                <p:cNvSpPr/>
                <p:nvPr/>
              </p:nvSpPr>
              <p:spPr>
                <a:xfrm>
                  <a:off x="7082166" y="2304561"/>
                  <a:ext cx="576876" cy="232968"/>
                </a:xfrm>
                <a:custGeom>
                  <a:avLst/>
                  <a:gdLst>
                    <a:gd name="connsiteX0" fmla="*/ -1 w 309562"/>
                    <a:gd name="connsiteY0" fmla="*/ 0 h 125015"/>
                    <a:gd name="connsiteX1" fmla="*/ 309562 w 309562"/>
                    <a:gd name="connsiteY1" fmla="*/ 125016 h 125015"/>
                  </a:gdLst>
                  <a:ahLst/>
                  <a:cxnLst>
                    <a:cxn ang="0">
                      <a:pos x="connsiteX0" y="connsiteY0"/>
                    </a:cxn>
                    <a:cxn ang="0">
                      <a:pos x="connsiteX1" y="connsiteY1"/>
                    </a:cxn>
                  </a:cxnLst>
                  <a:rect l="l" t="t" r="r" b="b"/>
                  <a:pathLst>
                    <a:path w="309562" h="125015">
                      <a:moveTo>
                        <a:pt x="-1" y="0"/>
                      </a:moveTo>
                      <a:lnTo>
                        <a:pt x="309562" y="125016"/>
                      </a:lnTo>
                    </a:path>
                  </a:pathLst>
                </a:custGeom>
                <a:noFill/>
                <a:ln w="28575" cap="flat">
                  <a:solidFill>
                    <a:schemeClr val="tx1"/>
                  </a:solidFill>
                  <a:prstDash val="solid"/>
                  <a:miter/>
                </a:ln>
              </p:spPr>
              <p:txBody>
                <a:bodyPr rtlCol="0" anchor="ctr"/>
                <a:lstStyle/>
                <a:p>
                  <a:endParaRPr lang="en-US"/>
                </a:p>
              </p:txBody>
            </p:sp>
            <p:sp>
              <p:nvSpPr>
                <p:cNvPr id="561" name="Freeform: Shape 95">
                  <a:extLst>
                    <a:ext uri="{FF2B5EF4-FFF2-40B4-BE49-F238E27FC236}">
                      <a16:creationId xmlns:a16="http://schemas.microsoft.com/office/drawing/2014/main" id="{82BE721A-FAFF-A1C4-C2EA-3A38030E113F}"/>
                    </a:ext>
                  </a:extLst>
                </p:cNvPr>
                <p:cNvSpPr/>
                <p:nvPr/>
              </p:nvSpPr>
              <p:spPr>
                <a:xfrm>
                  <a:off x="7082166" y="2537532"/>
                  <a:ext cx="576876" cy="232968"/>
                </a:xfrm>
                <a:custGeom>
                  <a:avLst/>
                  <a:gdLst>
                    <a:gd name="connsiteX0" fmla="*/ -1 w 309562"/>
                    <a:gd name="connsiteY0" fmla="*/ 125016 h 125015"/>
                    <a:gd name="connsiteX1" fmla="*/ 309562 w 309562"/>
                    <a:gd name="connsiteY1" fmla="*/ 0 h 125015"/>
                  </a:gdLst>
                  <a:ahLst/>
                  <a:cxnLst>
                    <a:cxn ang="0">
                      <a:pos x="connsiteX0" y="connsiteY0"/>
                    </a:cxn>
                    <a:cxn ang="0">
                      <a:pos x="connsiteX1" y="connsiteY1"/>
                    </a:cxn>
                  </a:cxnLst>
                  <a:rect l="l" t="t" r="r" b="b"/>
                  <a:pathLst>
                    <a:path w="309562" h="125015">
                      <a:moveTo>
                        <a:pt x="-1" y="125016"/>
                      </a:moveTo>
                      <a:lnTo>
                        <a:pt x="309562" y="0"/>
                      </a:lnTo>
                    </a:path>
                  </a:pathLst>
                </a:custGeom>
                <a:noFill/>
                <a:ln w="28575" cap="flat">
                  <a:solidFill>
                    <a:schemeClr val="tx1"/>
                  </a:solidFill>
                  <a:prstDash val="solid"/>
                  <a:miter/>
                </a:ln>
              </p:spPr>
              <p:txBody>
                <a:bodyPr rtlCol="0" anchor="ctr"/>
                <a:lstStyle/>
                <a:p>
                  <a:endParaRPr lang="en-US"/>
                </a:p>
              </p:txBody>
            </p:sp>
            <p:sp>
              <p:nvSpPr>
                <p:cNvPr id="562" name="Freeform: Shape 96">
                  <a:extLst>
                    <a:ext uri="{FF2B5EF4-FFF2-40B4-BE49-F238E27FC236}">
                      <a16:creationId xmlns:a16="http://schemas.microsoft.com/office/drawing/2014/main" id="{0D1BEE52-20B1-F358-5A5F-42FBAFED54DD}"/>
                    </a:ext>
                  </a:extLst>
                </p:cNvPr>
                <p:cNvSpPr/>
                <p:nvPr/>
              </p:nvSpPr>
              <p:spPr>
                <a:xfrm>
                  <a:off x="7659042" y="2071593"/>
                  <a:ext cx="576876" cy="465939"/>
                </a:xfrm>
                <a:custGeom>
                  <a:avLst/>
                  <a:gdLst>
                    <a:gd name="connsiteX0" fmla="*/ -1 w 309562"/>
                    <a:gd name="connsiteY0" fmla="*/ 250031 h 250031"/>
                    <a:gd name="connsiteX1" fmla="*/ 309562 w 309562"/>
                    <a:gd name="connsiteY1" fmla="*/ 0 h 250031"/>
                  </a:gdLst>
                  <a:ahLst/>
                  <a:cxnLst>
                    <a:cxn ang="0">
                      <a:pos x="connsiteX0" y="connsiteY0"/>
                    </a:cxn>
                    <a:cxn ang="0">
                      <a:pos x="connsiteX1" y="connsiteY1"/>
                    </a:cxn>
                  </a:cxnLst>
                  <a:rect l="l" t="t" r="r" b="b"/>
                  <a:pathLst>
                    <a:path w="309562" h="250031">
                      <a:moveTo>
                        <a:pt x="-1" y="250031"/>
                      </a:moveTo>
                      <a:lnTo>
                        <a:pt x="309562" y="0"/>
                      </a:lnTo>
                    </a:path>
                  </a:pathLst>
                </a:custGeom>
                <a:noFill/>
                <a:ln w="28575" cap="flat">
                  <a:solidFill>
                    <a:schemeClr val="tx1"/>
                  </a:solidFill>
                  <a:prstDash val="solid"/>
                  <a:miter/>
                </a:ln>
              </p:spPr>
              <p:txBody>
                <a:bodyPr rtlCol="0" anchor="ctr"/>
                <a:lstStyle/>
                <a:p>
                  <a:endParaRPr lang="en-US"/>
                </a:p>
              </p:txBody>
            </p:sp>
            <p:sp>
              <p:nvSpPr>
                <p:cNvPr id="563" name="Freeform: Shape 97">
                  <a:extLst>
                    <a:ext uri="{FF2B5EF4-FFF2-40B4-BE49-F238E27FC236}">
                      <a16:creationId xmlns:a16="http://schemas.microsoft.com/office/drawing/2014/main" id="{DC27BDE2-EA25-FDF0-44B7-E629F3CDFB2A}"/>
                    </a:ext>
                  </a:extLst>
                </p:cNvPr>
                <p:cNvSpPr/>
                <p:nvPr/>
              </p:nvSpPr>
              <p:spPr>
                <a:xfrm>
                  <a:off x="6383257" y="1483621"/>
                  <a:ext cx="244062" cy="244062"/>
                </a:xfrm>
                <a:custGeom>
                  <a:avLst/>
                  <a:gdLst>
                    <a:gd name="connsiteX0" fmla="*/ 130968 w 130968"/>
                    <a:gd name="connsiteY0" fmla="*/ 65484 h 130968"/>
                    <a:gd name="connsiteX1" fmla="*/ 65483 w 130968"/>
                    <a:gd name="connsiteY1" fmla="*/ 130969 h 130968"/>
                    <a:gd name="connsiteX2" fmla="*/ -1 w 130968"/>
                    <a:gd name="connsiteY2" fmla="*/ 65484 h 130968"/>
                    <a:gd name="connsiteX3" fmla="*/ 65483 w 130968"/>
                    <a:gd name="connsiteY3" fmla="*/ 0 h 130968"/>
                    <a:gd name="connsiteX4" fmla="*/ 130968 w 130968"/>
                    <a:gd name="connsiteY4" fmla="*/ 65484 h 13096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0968" h="130968">
                      <a:moveTo>
                        <a:pt x="130968" y="65484"/>
                      </a:moveTo>
                      <a:cubicBezTo>
                        <a:pt x="130968" y="101650"/>
                        <a:pt x="101649" y="130969"/>
                        <a:pt x="65483" y="130969"/>
                      </a:cubicBezTo>
                      <a:cubicBezTo>
                        <a:pt x="29317" y="130969"/>
                        <a:pt x="-1" y="101650"/>
                        <a:pt x="-1" y="65484"/>
                      </a:cubicBezTo>
                      <a:cubicBezTo>
                        <a:pt x="-1" y="29318"/>
                        <a:pt x="29317" y="0"/>
                        <a:pt x="65483" y="0"/>
                      </a:cubicBezTo>
                      <a:cubicBezTo>
                        <a:pt x="101649" y="0"/>
                        <a:pt x="130968" y="29318"/>
                        <a:pt x="130968" y="65484"/>
                      </a:cubicBezTo>
                      <a:close/>
                    </a:path>
                  </a:pathLst>
                </a:custGeom>
                <a:solidFill>
                  <a:srgbClr val="FFFFFF"/>
                </a:solidFill>
                <a:ln w="28575" cap="flat">
                  <a:solidFill>
                    <a:schemeClr val="tx1"/>
                  </a:solidFill>
                  <a:prstDash val="solid"/>
                  <a:miter/>
                </a:ln>
              </p:spPr>
              <p:txBody>
                <a:bodyPr rtlCol="0" anchor="ctr"/>
                <a:lstStyle/>
                <a:p>
                  <a:endParaRPr lang="en-US"/>
                </a:p>
              </p:txBody>
            </p:sp>
            <p:sp>
              <p:nvSpPr>
                <p:cNvPr id="564" name="Freeform: Shape 98">
                  <a:extLst>
                    <a:ext uri="{FF2B5EF4-FFF2-40B4-BE49-F238E27FC236}">
                      <a16:creationId xmlns:a16="http://schemas.microsoft.com/office/drawing/2014/main" id="{8C7DD323-2B07-9E17-90E4-1FCCE5A0E2CB}"/>
                    </a:ext>
                  </a:extLst>
                </p:cNvPr>
                <p:cNvSpPr/>
                <p:nvPr/>
              </p:nvSpPr>
              <p:spPr>
                <a:xfrm>
                  <a:off x="6383257" y="1949560"/>
                  <a:ext cx="244062" cy="244062"/>
                </a:xfrm>
                <a:custGeom>
                  <a:avLst/>
                  <a:gdLst>
                    <a:gd name="connsiteX0" fmla="*/ 130968 w 130968"/>
                    <a:gd name="connsiteY0" fmla="*/ 65484 h 130968"/>
                    <a:gd name="connsiteX1" fmla="*/ 65483 w 130968"/>
                    <a:gd name="connsiteY1" fmla="*/ 130969 h 130968"/>
                    <a:gd name="connsiteX2" fmla="*/ -1 w 130968"/>
                    <a:gd name="connsiteY2" fmla="*/ 65484 h 130968"/>
                    <a:gd name="connsiteX3" fmla="*/ 65483 w 130968"/>
                    <a:gd name="connsiteY3" fmla="*/ 0 h 130968"/>
                    <a:gd name="connsiteX4" fmla="*/ 130968 w 130968"/>
                    <a:gd name="connsiteY4" fmla="*/ 65484 h 13096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0968" h="130968">
                      <a:moveTo>
                        <a:pt x="130968" y="65484"/>
                      </a:moveTo>
                      <a:cubicBezTo>
                        <a:pt x="130968" y="101650"/>
                        <a:pt x="101649" y="130969"/>
                        <a:pt x="65483" y="130969"/>
                      </a:cubicBezTo>
                      <a:cubicBezTo>
                        <a:pt x="29317" y="130969"/>
                        <a:pt x="-1" y="101650"/>
                        <a:pt x="-1" y="65484"/>
                      </a:cubicBezTo>
                      <a:cubicBezTo>
                        <a:pt x="-1" y="29318"/>
                        <a:pt x="29317" y="0"/>
                        <a:pt x="65483" y="0"/>
                      </a:cubicBezTo>
                      <a:cubicBezTo>
                        <a:pt x="101649" y="0"/>
                        <a:pt x="130968" y="29318"/>
                        <a:pt x="130968" y="65484"/>
                      </a:cubicBezTo>
                      <a:close/>
                    </a:path>
                  </a:pathLst>
                </a:custGeom>
                <a:solidFill>
                  <a:srgbClr val="FFFFFF"/>
                </a:solidFill>
                <a:ln w="28575" cap="flat">
                  <a:solidFill>
                    <a:schemeClr val="tx1"/>
                  </a:solidFill>
                  <a:prstDash val="solid"/>
                  <a:miter/>
                </a:ln>
              </p:spPr>
              <p:txBody>
                <a:bodyPr rtlCol="0" anchor="ctr"/>
                <a:lstStyle/>
                <a:p>
                  <a:endParaRPr lang="en-US"/>
                </a:p>
              </p:txBody>
            </p:sp>
            <p:sp>
              <p:nvSpPr>
                <p:cNvPr id="565" name="Freeform: Shape 99">
                  <a:extLst>
                    <a:ext uri="{FF2B5EF4-FFF2-40B4-BE49-F238E27FC236}">
                      <a16:creationId xmlns:a16="http://schemas.microsoft.com/office/drawing/2014/main" id="{B1B07825-CD46-E93A-3A9A-FAF538E128DE}"/>
                    </a:ext>
                  </a:extLst>
                </p:cNvPr>
                <p:cNvSpPr/>
                <p:nvPr/>
              </p:nvSpPr>
              <p:spPr>
                <a:xfrm>
                  <a:off x="6383257" y="2415501"/>
                  <a:ext cx="244062" cy="244062"/>
                </a:xfrm>
                <a:custGeom>
                  <a:avLst/>
                  <a:gdLst>
                    <a:gd name="connsiteX0" fmla="*/ 130968 w 130968"/>
                    <a:gd name="connsiteY0" fmla="*/ 65484 h 130968"/>
                    <a:gd name="connsiteX1" fmla="*/ 65483 w 130968"/>
                    <a:gd name="connsiteY1" fmla="*/ 130969 h 130968"/>
                    <a:gd name="connsiteX2" fmla="*/ -1 w 130968"/>
                    <a:gd name="connsiteY2" fmla="*/ 65484 h 130968"/>
                    <a:gd name="connsiteX3" fmla="*/ 65483 w 130968"/>
                    <a:gd name="connsiteY3" fmla="*/ 0 h 130968"/>
                    <a:gd name="connsiteX4" fmla="*/ 130968 w 130968"/>
                    <a:gd name="connsiteY4" fmla="*/ 65484 h 13096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0968" h="130968">
                      <a:moveTo>
                        <a:pt x="130968" y="65484"/>
                      </a:moveTo>
                      <a:cubicBezTo>
                        <a:pt x="130968" y="101650"/>
                        <a:pt x="101649" y="130969"/>
                        <a:pt x="65483" y="130969"/>
                      </a:cubicBezTo>
                      <a:cubicBezTo>
                        <a:pt x="29317" y="130969"/>
                        <a:pt x="-1" y="101650"/>
                        <a:pt x="-1" y="65484"/>
                      </a:cubicBezTo>
                      <a:cubicBezTo>
                        <a:pt x="-1" y="29318"/>
                        <a:pt x="29317" y="0"/>
                        <a:pt x="65483" y="0"/>
                      </a:cubicBezTo>
                      <a:cubicBezTo>
                        <a:pt x="101649" y="0"/>
                        <a:pt x="130968" y="29318"/>
                        <a:pt x="130968" y="65484"/>
                      </a:cubicBezTo>
                      <a:close/>
                    </a:path>
                  </a:pathLst>
                </a:custGeom>
                <a:solidFill>
                  <a:srgbClr val="FFFFFF"/>
                </a:solidFill>
                <a:ln w="28575" cap="flat">
                  <a:solidFill>
                    <a:schemeClr val="tx1"/>
                  </a:solidFill>
                  <a:prstDash val="solid"/>
                  <a:miter/>
                </a:ln>
              </p:spPr>
              <p:txBody>
                <a:bodyPr rtlCol="0" anchor="ctr"/>
                <a:lstStyle/>
                <a:p>
                  <a:endParaRPr lang="en-US"/>
                </a:p>
              </p:txBody>
            </p:sp>
            <p:sp>
              <p:nvSpPr>
                <p:cNvPr id="566" name="Freeform: Shape 100">
                  <a:extLst>
                    <a:ext uri="{FF2B5EF4-FFF2-40B4-BE49-F238E27FC236}">
                      <a16:creationId xmlns:a16="http://schemas.microsoft.com/office/drawing/2014/main" id="{600C92F2-2406-6862-777D-1885312AD63D}"/>
                    </a:ext>
                  </a:extLst>
                </p:cNvPr>
                <p:cNvSpPr/>
                <p:nvPr/>
              </p:nvSpPr>
              <p:spPr>
                <a:xfrm>
                  <a:off x="6960135" y="1250651"/>
                  <a:ext cx="244062" cy="244062"/>
                </a:xfrm>
                <a:custGeom>
                  <a:avLst/>
                  <a:gdLst>
                    <a:gd name="connsiteX0" fmla="*/ 130968 w 130968"/>
                    <a:gd name="connsiteY0" fmla="*/ 65484 h 130968"/>
                    <a:gd name="connsiteX1" fmla="*/ 65483 w 130968"/>
                    <a:gd name="connsiteY1" fmla="*/ 130969 h 130968"/>
                    <a:gd name="connsiteX2" fmla="*/ -1 w 130968"/>
                    <a:gd name="connsiteY2" fmla="*/ 65484 h 130968"/>
                    <a:gd name="connsiteX3" fmla="*/ 65483 w 130968"/>
                    <a:gd name="connsiteY3" fmla="*/ 0 h 130968"/>
                    <a:gd name="connsiteX4" fmla="*/ 130968 w 130968"/>
                    <a:gd name="connsiteY4" fmla="*/ 65484 h 13096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0968" h="130968">
                      <a:moveTo>
                        <a:pt x="130968" y="65484"/>
                      </a:moveTo>
                      <a:cubicBezTo>
                        <a:pt x="130968" y="101650"/>
                        <a:pt x="101649" y="130969"/>
                        <a:pt x="65483" y="130969"/>
                      </a:cubicBezTo>
                      <a:cubicBezTo>
                        <a:pt x="29317" y="130969"/>
                        <a:pt x="-1" y="101650"/>
                        <a:pt x="-1" y="65484"/>
                      </a:cubicBezTo>
                      <a:cubicBezTo>
                        <a:pt x="-1" y="29318"/>
                        <a:pt x="29317" y="0"/>
                        <a:pt x="65483" y="0"/>
                      </a:cubicBezTo>
                      <a:cubicBezTo>
                        <a:pt x="101649" y="0"/>
                        <a:pt x="130968" y="29318"/>
                        <a:pt x="130968" y="65484"/>
                      </a:cubicBezTo>
                      <a:close/>
                    </a:path>
                  </a:pathLst>
                </a:custGeom>
                <a:solidFill>
                  <a:srgbClr val="FFFFFF"/>
                </a:solidFill>
                <a:ln w="28575" cap="flat">
                  <a:solidFill>
                    <a:schemeClr val="tx1"/>
                  </a:solidFill>
                  <a:prstDash val="solid"/>
                  <a:miter/>
                </a:ln>
              </p:spPr>
              <p:txBody>
                <a:bodyPr rtlCol="0" anchor="ctr"/>
                <a:lstStyle/>
                <a:p>
                  <a:endParaRPr lang="en-US"/>
                </a:p>
              </p:txBody>
            </p:sp>
            <p:sp>
              <p:nvSpPr>
                <p:cNvPr id="567" name="Freeform: Shape 101">
                  <a:extLst>
                    <a:ext uri="{FF2B5EF4-FFF2-40B4-BE49-F238E27FC236}">
                      <a16:creationId xmlns:a16="http://schemas.microsoft.com/office/drawing/2014/main" id="{BC5241D3-D7B7-31E2-D55F-F2ADEE6D42F8}"/>
                    </a:ext>
                  </a:extLst>
                </p:cNvPr>
                <p:cNvSpPr/>
                <p:nvPr/>
              </p:nvSpPr>
              <p:spPr>
                <a:xfrm>
                  <a:off x="6960135" y="1716592"/>
                  <a:ext cx="244062" cy="244062"/>
                </a:xfrm>
                <a:custGeom>
                  <a:avLst/>
                  <a:gdLst>
                    <a:gd name="connsiteX0" fmla="*/ 130968 w 130968"/>
                    <a:gd name="connsiteY0" fmla="*/ 65484 h 130968"/>
                    <a:gd name="connsiteX1" fmla="*/ 65483 w 130968"/>
                    <a:gd name="connsiteY1" fmla="*/ 130969 h 130968"/>
                    <a:gd name="connsiteX2" fmla="*/ -1 w 130968"/>
                    <a:gd name="connsiteY2" fmla="*/ 65484 h 130968"/>
                    <a:gd name="connsiteX3" fmla="*/ 65483 w 130968"/>
                    <a:gd name="connsiteY3" fmla="*/ 0 h 130968"/>
                    <a:gd name="connsiteX4" fmla="*/ 130968 w 130968"/>
                    <a:gd name="connsiteY4" fmla="*/ 65484 h 13096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0968" h="130968">
                      <a:moveTo>
                        <a:pt x="130968" y="65484"/>
                      </a:moveTo>
                      <a:cubicBezTo>
                        <a:pt x="130968" y="101650"/>
                        <a:pt x="101649" y="130969"/>
                        <a:pt x="65483" y="130969"/>
                      </a:cubicBezTo>
                      <a:cubicBezTo>
                        <a:pt x="29317" y="130969"/>
                        <a:pt x="-1" y="101650"/>
                        <a:pt x="-1" y="65484"/>
                      </a:cubicBezTo>
                      <a:cubicBezTo>
                        <a:pt x="-1" y="29318"/>
                        <a:pt x="29317" y="0"/>
                        <a:pt x="65483" y="0"/>
                      </a:cubicBezTo>
                      <a:cubicBezTo>
                        <a:pt x="101649" y="0"/>
                        <a:pt x="130968" y="29318"/>
                        <a:pt x="130968" y="65484"/>
                      </a:cubicBezTo>
                      <a:close/>
                    </a:path>
                  </a:pathLst>
                </a:custGeom>
                <a:solidFill>
                  <a:srgbClr val="FFFFFF"/>
                </a:solidFill>
                <a:ln w="28575" cap="flat">
                  <a:solidFill>
                    <a:schemeClr val="tx1"/>
                  </a:solidFill>
                  <a:prstDash val="solid"/>
                  <a:miter/>
                </a:ln>
              </p:spPr>
              <p:txBody>
                <a:bodyPr rtlCol="0" anchor="ctr"/>
                <a:lstStyle/>
                <a:p>
                  <a:endParaRPr lang="en-US"/>
                </a:p>
              </p:txBody>
            </p:sp>
            <p:sp>
              <p:nvSpPr>
                <p:cNvPr id="568" name="Freeform: Shape 102">
                  <a:extLst>
                    <a:ext uri="{FF2B5EF4-FFF2-40B4-BE49-F238E27FC236}">
                      <a16:creationId xmlns:a16="http://schemas.microsoft.com/office/drawing/2014/main" id="{0DE558EE-A077-4956-E257-275081DD82B6}"/>
                    </a:ext>
                  </a:extLst>
                </p:cNvPr>
                <p:cNvSpPr/>
                <p:nvPr/>
              </p:nvSpPr>
              <p:spPr>
                <a:xfrm>
                  <a:off x="6960135" y="2182530"/>
                  <a:ext cx="244062" cy="244062"/>
                </a:xfrm>
                <a:custGeom>
                  <a:avLst/>
                  <a:gdLst>
                    <a:gd name="connsiteX0" fmla="*/ 130968 w 130968"/>
                    <a:gd name="connsiteY0" fmla="*/ 65484 h 130968"/>
                    <a:gd name="connsiteX1" fmla="*/ 65483 w 130968"/>
                    <a:gd name="connsiteY1" fmla="*/ 130969 h 130968"/>
                    <a:gd name="connsiteX2" fmla="*/ -1 w 130968"/>
                    <a:gd name="connsiteY2" fmla="*/ 65484 h 130968"/>
                    <a:gd name="connsiteX3" fmla="*/ 65483 w 130968"/>
                    <a:gd name="connsiteY3" fmla="*/ 0 h 130968"/>
                    <a:gd name="connsiteX4" fmla="*/ 130968 w 130968"/>
                    <a:gd name="connsiteY4" fmla="*/ 65484 h 13096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0968" h="130968">
                      <a:moveTo>
                        <a:pt x="130968" y="65484"/>
                      </a:moveTo>
                      <a:cubicBezTo>
                        <a:pt x="130968" y="101650"/>
                        <a:pt x="101649" y="130969"/>
                        <a:pt x="65483" y="130969"/>
                      </a:cubicBezTo>
                      <a:cubicBezTo>
                        <a:pt x="29317" y="130969"/>
                        <a:pt x="-1" y="101650"/>
                        <a:pt x="-1" y="65484"/>
                      </a:cubicBezTo>
                      <a:cubicBezTo>
                        <a:pt x="-1" y="29318"/>
                        <a:pt x="29317" y="0"/>
                        <a:pt x="65483" y="0"/>
                      </a:cubicBezTo>
                      <a:cubicBezTo>
                        <a:pt x="101649" y="0"/>
                        <a:pt x="130968" y="29318"/>
                        <a:pt x="130968" y="65484"/>
                      </a:cubicBezTo>
                      <a:close/>
                    </a:path>
                  </a:pathLst>
                </a:custGeom>
                <a:solidFill>
                  <a:srgbClr val="FFFFFF"/>
                </a:solidFill>
                <a:ln w="28575" cap="flat">
                  <a:solidFill>
                    <a:schemeClr val="tx1"/>
                  </a:solidFill>
                  <a:prstDash val="solid"/>
                  <a:miter/>
                </a:ln>
              </p:spPr>
              <p:txBody>
                <a:bodyPr rtlCol="0" anchor="ctr"/>
                <a:lstStyle/>
                <a:p>
                  <a:endParaRPr lang="en-US"/>
                </a:p>
              </p:txBody>
            </p:sp>
            <p:sp>
              <p:nvSpPr>
                <p:cNvPr id="569" name="Freeform: Shape 103">
                  <a:extLst>
                    <a:ext uri="{FF2B5EF4-FFF2-40B4-BE49-F238E27FC236}">
                      <a16:creationId xmlns:a16="http://schemas.microsoft.com/office/drawing/2014/main" id="{FE4C5B3F-7057-ABEF-657E-588756B57E2F}"/>
                    </a:ext>
                  </a:extLst>
                </p:cNvPr>
                <p:cNvSpPr/>
                <p:nvPr/>
              </p:nvSpPr>
              <p:spPr>
                <a:xfrm>
                  <a:off x="6960135" y="2648469"/>
                  <a:ext cx="244062" cy="244062"/>
                </a:xfrm>
                <a:custGeom>
                  <a:avLst/>
                  <a:gdLst>
                    <a:gd name="connsiteX0" fmla="*/ 130968 w 130968"/>
                    <a:gd name="connsiteY0" fmla="*/ 65484 h 130968"/>
                    <a:gd name="connsiteX1" fmla="*/ 65483 w 130968"/>
                    <a:gd name="connsiteY1" fmla="*/ 130969 h 130968"/>
                    <a:gd name="connsiteX2" fmla="*/ -1 w 130968"/>
                    <a:gd name="connsiteY2" fmla="*/ 65484 h 130968"/>
                    <a:gd name="connsiteX3" fmla="*/ 65483 w 130968"/>
                    <a:gd name="connsiteY3" fmla="*/ 0 h 130968"/>
                    <a:gd name="connsiteX4" fmla="*/ 130968 w 130968"/>
                    <a:gd name="connsiteY4" fmla="*/ 65484 h 13096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0968" h="130968">
                      <a:moveTo>
                        <a:pt x="130968" y="65484"/>
                      </a:moveTo>
                      <a:cubicBezTo>
                        <a:pt x="130968" y="101650"/>
                        <a:pt x="101649" y="130969"/>
                        <a:pt x="65483" y="130969"/>
                      </a:cubicBezTo>
                      <a:cubicBezTo>
                        <a:pt x="29317" y="130969"/>
                        <a:pt x="-1" y="101650"/>
                        <a:pt x="-1" y="65484"/>
                      </a:cubicBezTo>
                      <a:cubicBezTo>
                        <a:pt x="-1" y="29318"/>
                        <a:pt x="29317" y="0"/>
                        <a:pt x="65483" y="0"/>
                      </a:cubicBezTo>
                      <a:cubicBezTo>
                        <a:pt x="101649" y="0"/>
                        <a:pt x="130968" y="29318"/>
                        <a:pt x="130968" y="65484"/>
                      </a:cubicBezTo>
                      <a:close/>
                    </a:path>
                  </a:pathLst>
                </a:custGeom>
                <a:solidFill>
                  <a:srgbClr val="FFFFFF"/>
                </a:solidFill>
                <a:ln w="28575" cap="flat">
                  <a:solidFill>
                    <a:schemeClr val="tx1"/>
                  </a:solidFill>
                  <a:prstDash val="solid"/>
                  <a:miter/>
                </a:ln>
              </p:spPr>
              <p:txBody>
                <a:bodyPr rtlCol="0" anchor="ctr"/>
                <a:lstStyle/>
                <a:p>
                  <a:endParaRPr lang="en-US"/>
                </a:p>
              </p:txBody>
            </p:sp>
            <p:sp>
              <p:nvSpPr>
                <p:cNvPr id="570" name="Freeform: Shape 104">
                  <a:extLst>
                    <a:ext uri="{FF2B5EF4-FFF2-40B4-BE49-F238E27FC236}">
                      <a16:creationId xmlns:a16="http://schemas.microsoft.com/office/drawing/2014/main" id="{8C4FA1AC-FD19-4BA9-E4AC-E989477D2AA5}"/>
                    </a:ext>
                  </a:extLst>
                </p:cNvPr>
                <p:cNvSpPr/>
                <p:nvPr/>
              </p:nvSpPr>
              <p:spPr>
                <a:xfrm>
                  <a:off x="7537011" y="1483621"/>
                  <a:ext cx="244062" cy="244062"/>
                </a:xfrm>
                <a:custGeom>
                  <a:avLst/>
                  <a:gdLst>
                    <a:gd name="connsiteX0" fmla="*/ 130968 w 130968"/>
                    <a:gd name="connsiteY0" fmla="*/ 65484 h 130968"/>
                    <a:gd name="connsiteX1" fmla="*/ 65483 w 130968"/>
                    <a:gd name="connsiteY1" fmla="*/ 130969 h 130968"/>
                    <a:gd name="connsiteX2" fmla="*/ -1 w 130968"/>
                    <a:gd name="connsiteY2" fmla="*/ 65484 h 130968"/>
                    <a:gd name="connsiteX3" fmla="*/ 65483 w 130968"/>
                    <a:gd name="connsiteY3" fmla="*/ 0 h 130968"/>
                    <a:gd name="connsiteX4" fmla="*/ 130968 w 130968"/>
                    <a:gd name="connsiteY4" fmla="*/ 65484 h 13096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0968" h="130968">
                      <a:moveTo>
                        <a:pt x="130968" y="65484"/>
                      </a:moveTo>
                      <a:cubicBezTo>
                        <a:pt x="130968" y="101650"/>
                        <a:pt x="101649" y="130969"/>
                        <a:pt x="65483" y="130969"/>
                      </a:cubicBezTo>
                      <a:cubicBezTo>
                        <a:pt x="29317" y="130969"/>
                        <a:pt x="-1" y="101650"/>
                        <a:pt x="-1" y="65484"/>
                      </a:cubicBezTo>
                      <a:cubicBezTo>
                        <a:pt x="-1" y="29318"/>
                        <a:pt x="29317" y="0"/>
                        <a:pt x="65483" y="0"/>
                      </a:cubicBezTo>
                      <a:cubicBezTo>
                        <a:pt x="101649" y="0"/>
                        <a:pt x="130968" y="29318"/>
                        <a:pt x="130968" y="65484"/>
                      </a:cubicBezTo>
                      <a:close/>
                    </a:path>
                  </a:pathLst>
                </a:custGeom>
                <a:solidFill>
                  <a:srgbClr val="FFFFFF"/>
                </a:solidFill>
                <a:ln w="28575" cap="flat">
                  <a:solidFill>
                    <a:schemeClr val="tx1"/>
                  </a:solidFill>
                  <a:prstDash val="solid"/>
                  <a:miter/>
                </a:ln>
              </p:spPr>
              <p:txBody>
                <a:bodyPr rtlCol="0" anchor="ctr"/>
                <a:lstStyle/>
                <a:p>
                  <a:endParaRPr lang="en-US"/>
                </a:p>
              </p:txBody>
            </p:sp>
            <p:sp>
              <p:nvSpPr>
                <p:cNvPr id="571" name="Freeform: Shape 105">
                  <a:extLst>
                    <a:ext uri="{FF2B5EF4-FFF2-40B4-BE49-F238E27FC236}">
                      <a16:creationId xmlns:a16="http://schemas.microsoft.com/office/drawing/2014/main" id="{5DFFD932-FCC4-87A5-3A32-54C3B5540A3A}"/>
                    </a:ext>
                  </a:extLst>
                </p:cNvPr>
                <p:cNvSpPr/>
                <p:nvPr/>
              </p:nvSpPr>
              <p:spPr>
                <a:xfrm>
                  <a:off x="7537011" y="1949560"/>
                  <a:ext cx="244062" cy="244062"/>
                </a:xfrm>
                <a:custGeom>
                  <a:avLst/>
                  <a:gdLst>
                    <a:gd name="connsiteX0" fmla="*/ 130968 w 130968"/>
                    <a:gd name="connsiteY0" fmla="*/ 65484 h 130968"/>
                    <a:gd name="connsiteX1" fmla="*/ 65483 w 130968"/>
                    <a:gd name="connsiteY1" fmla="*/ 130969 h 130968"/>
                    <a:gd name="connsiteX2" fmla="*/ -1 w 130968"/>
                    <a:gd name="connsiteY2" fmla="*/ 65484 h 130968"/>
                    <a:gd name="connsiteX3" fmla="*/ 65483 w 130968"/>
                    <a:gd name="connsiteY3" fmla="*/ 0 h 130968"/>
                    <a:gd name="connsiteX4" fmla="*/ 130968 w 130968"/>
                    <a:gd name="connsiteY4" fmla="*/ 65484 h 13096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0968" h="130968">
                      <a:moveTo>
                        <a:pt x="130968" y="65484"/>
                      </a:moveTo>
                      <a:cubicBezTo>
                        <a:pt x="130968" y="101650"/>
                        <a:pt x="101649" y="130969"/>
                        <a:pt x="65483" y="130969"/>
                      </a:cubicBezTo>
                      <a:cubicBezTo>
                        <a:pt x="29317" y="130969"/>
                        <a:pt x="-1" y="101650"/>
                        <a:pt x="-1" y="65484"/>
                      </a:cubicBezTo>
                      <a:cubicBezTo>
                        <a:pt x="-1" y="29318"/>
                        <a:pt x="29317" y="0"/>
                        <a:pt x="65483" y="0"/>
                      </a:cubicBezTo>
                      <a:cubicBezTo>
                        <a:pt x="101649" y="0"/>
                        <a:pt x="130968" y="29318"/>
                        <a:pt x="130968" y="65484"/>
                      </a:cubicBezTo>
                      <a:close/>
                    </a:path>
                  </a:pathLst>
                </a:custGeom>
                <a:solidFill>
                  <a:srgbClr val="FFFFFF"/>
                </a:solidFill>
                <a:ln w="28575" cap="flat">
                  <a:solidFill>
                    <a:schemeClr val="tx1"/>
                  </a:solidFill>
                  <a:prstDash val="solid"/>
                  <a:miter/>
                </a:ln>
              </p:spPr>
              <p:txBody>
                <a:bodyPr rtlCol="0" anchor="ctr"/>
                <a:lstStyle/>
                <a:p>
                  <a:endParaRPr lang="en-US"/>
                </a:p>
              </p:txBody>
            </p:sp>
            <p:sp>
              <p:nvSpPr>
                <p:cNvPr id="572" name="Freeform: Shape 106">
                  <a:extLst>
                    <a:ext uri="{FF2B5EF4-FFF2-40B4-BE49-F238E27FC236}">
                      <a16:creationId xmlns:a16="http://schemas.microsoft.com/office/drawing/2014/main" id="{46EC6B0D-90B0-36F9-9718-A1B65BB787DB}"/>
                    </a:ext>
                  </a:extLst>
                </p:cNvPr>
                <p:cNvSpPr/>
                <p:nvPr/>
              </p:nvSpPr>
              <p:spPr>
                <a:xfrm>
                  <a:off x="7537011" y="2415501"/>
                  <a:ext cx="244062" cy="244062"/>
                </a:xfrm>
                <a:custGeom>
                  <a:avLst/>
                  <a:gdLst>
                    <a:gd name="connsiteX0" fmla="*/ 130968 w 130968"/>
                    <a:gd name="connsiteY0" fmla="*/ 65484 h 130968"/>
                    <a:gd name="connsiteX1" fmla="*/ 65483 w 130968"/>
                    <a:gd name="connsiteY1" fmla="*/ 130969 h 130968"/>
                    <a:gd name="connsiteX2" fmla="*/ -1 w 130968"/>
                    <a:gd name="connsiteY2" fmla="*/ 65484 h 130968"/>
                    <a:gd name="connsiteX3" fmla="*/ 65483 w 130968"/>
                    <a:gd name="connsiteY3" fmla="*/ 0 h 130968"/>
                    <a:gd name="connsiteX4" fmla="*/ 130968 w 130968"/>
                    <a:gd name="connsiteY4" fmla="*/ 65484 h 13096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0968" h="130968">
                      <a:moveTo>
                        <a:pt x="130968" y="65484"/>
                      </a:moveTo>
                      <a:cubicBezTo>
                        <a:pt x="130968" y="101650"/>
                        <a:pt x="101649" y="130969"/>
                        <a:pt x="65483" y="130969"/>
                      </a:cubicBezTo>
                      <a:cubicBezTo>
                        <a:pt x="29317" y="130969"/>
                        <a:pt x="-1" y="101650"/>
                        <a:pt x="-1" y="65484"/>
                      </a:cubicBezTo>
                      <a:cubicBezTo>
                        <a:pt x="-1" y="29318"/>
                        <a:pt x="29317" y="0"/>
                        <a:pt x="65483" y="0"/>
                      </a:cubicBezTo>
                      <a:cubicBezTo>
                        <a:pt x="101649" y="0"/>
                        <a:pt x="130968" y="29318"/>
                        <a:pt x="130968" y="65484"/>
                      </a:cubicBezTo>
                      <a:close/>
                    </a:path>
                  </a:pathLst>
                </a:custGeom>
                <a:solidFill>
                  <a:srgbClr val="FFFFFF"/>
                </a:solidFill>
                <a:ln w="28575" cap="flat">
                  <a:solidFill>
                    <a:schemeClr val="tx1"/>
                  </a:solidFill>
                  <a:prstDash val="solid"/>
                  <a:miter/>
                </a:ln>
              </p:spPr>
              <p:txBody>
                <a:bodyPr rtlCol="0" anchor="ctr"/>
                <a:lstStyle/>
                <a:p>
                  <a:endParaRPr lang="en-US"/>
                </a:p>
              </p:txBody>
            </p:sp>
            <p:sp>
              <p:nvSpPr>
                <p:cNvPr id="573" name="Freeform: Shape 107">
                  <a:extLst>
                    <a:ext uri="{FF2B5EF4-FFF2-40B4-BE49-F238E27FC236}">
                      <a16:creationId xmlns:a16="http://schemas.microsoft.com/office/drawing/2014/main" id="{B23F64CB-2F2C-5450-91F7-5793418749C7}"/>
                    </a:ext>
                  </a:extLst>
                </p:cNvPr>
                <p:cNvSpPr/>
                <p:nvPr/>
              </p:nvSpPr>
              <p:spPr>
                <a:xfrm>
                  <a:off x="8113889" y="1949560"/>
                  <a:ext cx="244062" cy="244062"/>
                </a:xfrm>
                <a:custGeom>
                  <a:avLst/>
                  <a:gdLst>
                    <a:gd name="connsiteX0" fmla="*/ 130968 w 130968"/>
                    <a:gd name="connsiteY0" fmla="*/ 65484 h 130968"/>
                    <a:gd name="connsiteX1" fmla="*/ 65483 w 130968"/>
                    <a:gd name="connsiteY1" fmla="*/ 130969 h 130968"/>
                    <a:gd name="connsiteX2" fmla="*/ -1 w 130968"/>
                    <a:gd name="connsiteY2" fmla="*/ 65484 h 130968"/>
                    <a:gd name="connsiteX3" fmla="*/ 65483 w 130968"/>
                    <a:gd name="connsiteY3" fmla="*/ 0 h 130968"/>
                    <a:gd name="connsiteX4" fmla="*/ 130968 w 130968"/>
                    <a:gd name="connsiteY4" fmla="*/ 65484 h 13096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0968" h="130968">
                      <a:moveTo>
                        <a:pt x="130968" y="65484"/>
                      </a:moveTo>
                      <a:cubicBezTo>
                        <a:pt x="130968" y="101650"/>
                        <a:pt x="101649" y="130969"/>
                        <a:pt x="65483" y="130969"/>
                      </a:cubicBezTo>
                      <a:cubicBezTo>
                        <a:pt x="29317" y="130969"/>
                        <a:pt x="-1" y="101650"/>
                        <a:pt x="-1" y="65484"/>
                      </a:cubicBezTo>
                      <a:cubicBezTo>
                        <a:pt x="-1" y="29318"/>
                        <a:pt x="29317" y="0"/>
                        <a:pt x="65483" y="0"/>
                      </a:cubicBezTo>
                      <a:cubicBezTo>
                        <a:pt x="101649" y="0"/>
                        <a:pt x="130968" y="29318"/>
                        <a:pt x="130968" y="65484"/>
                      </a:cubicBezTo>
                      <a:close/>
                    </a:path>
                  </a:pathLst>
                </a:custGeom>
                <a:solidFill>
                  <a:srgbClr val="FFFFFF"/>
                </a:solidFill>
                <a:ln w="28575" cap="flat">
                  <a:solidFill>
                    <a:schemeClr val="tx1"/>
                  </a:solidFill>
                  <a:prstDash val="solid"/>
                  <a:miter/>
                </a:ln>
              </p:spPr>
              <p:txBody>
                <a:bodyPr rtlCol="0" anchor="ctr"/>
                <a:lstStyle/>
                <a:p>
                  <a:endParaRPr lang="en-US"/>
                </a:p>
              </p:txBody>
            </p:sp>
          </p:grpSp>
        </p:grpSp>
        <p:grpSp>
          <p:nvGrpSpPr>
            <p:cNvPr id="511" name="Group 510">
              <a:extLst>
                <a:ext uri="{FF2B5EF4-FFF2-40B4-BE49-F238E27FC236}">
                  <a16:creationId xmlns:a16="http://schemas.microsoft.com/office/drawing/2014/main" id="{15444FBE-3D83-1DB5-660C-6414CCCEE76D}"/>
                </a:ext>
              </a:extLst>
            </p:cNvPr>
            <p:cNvGrpSpPr/>
            <p:nvPr/>
          </p:nvGrpSpPr>
          <p:grpSpPr>
            <a:xfrm>
              <a:off x="8519187" y="3478169"/>
              <a:ext cx="1366363" cy="1259770"/>
              <a:chOff x="8119062" y="2903708"/>
              <a:chExt cx="2085112" cy="1922448"/>
            </a:xfrm>
          </p:grpSpPr>
          <p:sp>
            <p:nvSpPr>
              <p:cNvPr id="512" name="Rounded Rectangle 511">
                <a:extLst>
                  <a:ext uri="{FF2B5EF4-FFF2-40B4-BE49-F238E27FC236}">
                    <a16:creationId xmlns:a16="http://schemas.microsoft.com/office/drawing/2014/main" id="{4DA9A520-821D-F0A5-7AF4-16999D465F53}"/>
                  </a:ext>
                </a:extLst>
              </p:cNvPr>
              <p:cNvSpPr/>
              <p:nvPr/>
            </p:nvSpPr>
            <p:spPr>
              <a:xfrm>
                <a:off x="8119062" y="2903708"/>
                <a:ext cx="2085112" cy="1922448"/>
              </a:xfrm>
              <a:prstGeom prst="roundRect">
                <a:avLst/>
              </a:prstGeom>
              <a:solidFill>
                <a:schemeClr val="bg1">
                  <a:lumMod val="95000"/>
                </a:schemeClr>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BE"/>
              </a:p>
            </p:txBody>
          </p:sp>
          <p:grpSp>
            <p:nvGrpSpPr>
              <p:cNvPr id="513" name="Group 512">
                <a:extLst>
                  <a:ext uri="{FF2B5EF4-FFF2-40B4-BE49-F238E27FC236}">
                    <a16:creationId xmlns:a16="http://schemas.microsoft.com/office/drawing/2014/main" id="{972E5432-7CFF-95AA-8FE4-94CCE2EA740E}"/>
                  </a:ext>
                </a:extLst>
              </p:cNvPr>
              <p:cNvGrpSpPr/>
              <p:nvPr/>
            </p:nvGrpSpPr>
            <p:grpSpPr>
              <a:xfrm>
                <a:off x="8339159" y="3138112"/>
                <a:ext cx="1772251" cy="1473558"/>
                <a:chOff x="6383257" y="1250651"/>
                <a:chExt cx="1974694" cy="1641880"/>
              </a:xfrm>
            </p:grpSpPr>
            <p:sp>
              <p:nvSpPr>
                <p:cNvPr id="514" name="Freeform: Shape 77">
                  <a:extLst>
                    <a:ext uri="{FF2B5EF4-FFF2-40B4-BE49-F238E27FC236}">
                      <a16:creationId xmlns:a16="http://schemas.microsoft.com/office/drawing/2014/main" id="{C820FEF3-9204-608D-F938-6C6D5B28DDDB}"/>
                    </a:ext>
                  </a:extLst>
                </p:cNvPr>
                <p:cNvSpPr/>
                <p:nvPr/>
              </p:nvSpPr>
              <p:spPr>
                <a:xfrm>
                  <a:off x="6505288" y="1372684"/>
                  <a:ext cx="576876" cy="232968"/>
                </a:xfrm>
                <a:custGeom>
                  <a:avLst/>
                  <a:gdLst>
                    <a:gd name="connsiteX0" fmla="*/ -1 w 309562"/>
                    <a:gd name="connsiteY0" fmla="*/ 125016 h 125015"/>
                    <a:gd name="connsiteX1" fmla="*/ 309562 w 309562"/>
                    <a:gd name="connsiteY1" fmla="*/ 0 h 125015"/>
                  </a:gdLst>
                  <a:ahLst/>
                  <a:cxnLst>
                    <a:cxn ang="0">
                      <a:pos x="connsiteX0" y="connsiteY0"/>
                    </a:cxn>
                    <a:cxn ang="0">
                      <a:pos x="connsiteX1" y="connsiteY1"/>
                    </a:cxn>
                  </a:cxnLst>
                  <a:rect l="l" t="t" r="r" b="b"/>
                  <a:pathLst>
                    <a:path w="309562" h="125015">
                      <a:moveTo>
                        <a:pt x="-1" y="125016"/>
                      </a:moveTo>
                      <a:lnTo>
                        <a:pt x="309562" y="0"/>
                      </a:lnTo>
                    </a:path>
                  </a:pathLst>
                </a:custGeom>
                <a:noFill/>
                <a:ln w="28575" cap="flat">
                  <a:solidFill>
                    <a:schemeClr val="tx1"/>
                  </a:solidFill>
                  <a:prstDash val="solid"/>
                  <a:miter/>
                </a:ln>
              </p:spPr>
              <p:txBody>
                <a:bodyPr rtlCol="0" anchor="ctr"/>
                <a:lstStyle/>
                <a:p>
                  <a:endParaRPr lang="en-US"/>
                </a:p>
              </p:txBody>
            </p:sp>
            <p:sp>
              <p:nvSpPr>
                <p:cNvPr id="515" name="Freeform: Shape 78">
                  <a:extLst>
                    <a:ext uri="{FF2B5EF4-FFF2-40B4-BE49-F238E27FC236}">
                      <a16:creationId xmlns:a16="http://schemas.microsoft.com/office/drawing/2014/main" id="{FBC95D73-5501-E743-1AF8-11790450FD2F}"/>
                    </a:ext>
                  </a:extLst>
                </p:cNvPr>
                <p:cNvSpPr/>
                <p:nvPr/>
              </p:nvSpPr>
              <p:spPr>
                <a:xfrm>
                  <a:off x="6505288" y="1605652"/>
                  <a:ext cx="576876" cy="698907"/>
                </a:xfrm>
                <a:custGeom>
                  <a:avLst/>
                  <a:gdLst>
                    <a:gd name="connsiteX0" fmla="*/ -1 w 309562"/>
                    <a:gd name="connsiteY0" fmla="*/ 0 h 375046"/>
                    <a:gd name="connsiteX1" fmla="*/ 309562 w 309562"/>
                    <a:gd name="connsiteY1" fmla="*/ 375047 h 375046"/>
                  </a:gdLst>
                  <a:ahLst/>
                  <a:cxnLst>
                    <a:cxn ang="0">
                      <a:pos x="connsiteX0" y="connsiteY0"/>
                    </a:cxn>
                    <a:cxn ang="0">
                      <a:pos x="connsiteX1" y="connsiteY1"/>
                    </a:cxn>
                  </a:cxnLst>
                  <a:rect l="l" t="t" r="r" b="b"/>
                  <a:pathLst>
                    <a:path w="309562" h="375046">
                      <a:moveTo>
                        <a:pt x="-1" y="0"/>
                      </a:moveTo>
                      <a:lnTo>
                        <a:pt x="309562" y="375047"/>
                      </a:lnTo>
                    </a:path>
                  </a:pathLst>
                </a:custGeom>
                <a:noFill/>
                <a:ln w="28575" cap="flat">
                  <a:solidFill>
                    <a:schemeClr val="tx1"/>
                  </a:solidFill>
                  <a:prstDash val="solid"/>
                  <a:miter/>
                </a:ln>
              </p:spPr>
              <p:txBody>
                <a:bodyPr rtlCol="0" anchor="ctr"/>
                <a:lstStyle/>
                <a:p>
                  <a:endParaRPr lang="en-US"/>
                </a:p>
              </p:txBody>
            </p:sp>
            <p:sp>
              <p:nvSpPr>
                <p:cNvPr id="516" name="Freeform: Shape 81">
                  <a:extLst>
                    <a:ext uri="{FF2B5EF4-FFF2-40B4-BE49-F238E27FC236}">
                      <a16:creationId xmlns:a16="http://schemas.microsoft.com/office/drawing/2014/main" id="{29989944-6CD4-031C-C8C1-D128B4A909A1}"/>
                    </a:ext>
                  </a:extLst>
                </p:cNvPr>
                <p:cNvSpPr/>
                <p:nvPr/>
              </p:nvSpPr>
              <p:spPr>
                <a:xfrm>
                  <a:off x="6505288" y="1838623"/>
                  <a:ext cx="576876" cy="232968"/>
                </a:xfrm>
                <a:custGeom>
                  <a:avLst/>
                  <a:gdLst>
                    <a:gd name="connsiteX0" fmla="*/ -1 w 309562"/>
                    <a:gd name="connsiteY0" fmla="*/ 125016 h 125015"/>
                    <a:gd name="connsiteX1" fmla="*/ 309562 w 309562"/>
                    <a:gd name="connsiteY1" fmla="*/ 0 h 125015"/>
                  </a:gdLst>
                  <a:ahLst/>
                  <a:cxnLst>
                    <a:cxn ang="0">
                      <a:pos x="connsiteX0" y="connsiteY0"/>
                    </a:cxn>
                    <a:cxn ang="0">
                      <a:pos x="connsiteX1" y="connsiteY1"/>
                    </a:cxn>
                  </a:cxnLst>
                  <a:rect l="l" t="t" r="r" b="b"/>
                  <a:pathLst>
                    <a:path w="309562" h="125015">
                      <a:moveTo>
                        <a:pt x="-1" y="125016"/>
                      </a:moveTo>
                      <a:lnTo>
                        <a:pt x="309562" y="0"/>
                      </a:lnTo>
                    </a:path>
                  </a:pathLst>
                </a:custGeom>
                <a:noFill/>
                <a:ln w="28575" cap="flat">
                  <a:solidFill>
                    <a:schemeClr val="tx1"/>
                  </a:solidFill>
                  <a:prstDash val="solid"/>
                  <a:miter/>
                </a:ln>
              </p:spPr>
              <p:txBody>
                <a:bodyPr rtlCol="0" anchor="ctr"/>
                <a:lstStyle/>
                <a:p>
                  <a:endParaRPr lang="en-US"/>
                </a:p>
              </p:txBody>
            </p:sp>
            <p:sp>
              <p:nvSpPr>
                <p:cNvPr id="517" name="Freeform: Shape 82">
                  <a:extLst>
                    <a:ext uri="{FF2B5EF4-FFF2-40B4-BE49-F238E27FC236}">
                      <a16:creationId xmlns:a16="http://schemas.microsoft.com/office/drawing/2014/main" id="{1FEAA9F3-823B-BA5F-B15C-A070B32BADE0}"/>
                    </a:ext>
                  </a:extLst>
                </p:cNvPr>
                <p:cNvSpPr/>
                <p:nvPr/>
              </p:nvSpPr>
              <p:spPr>
                <a:xfrm>
                  <a:off x="6505288" y="2071593"/>
                  <a:ext cx="576876" cy="232968"/>
                </a:xfrm>
                <a:custGeom>
                  <a:avLst/>
                  <a:gdLst>
                    <a:gd name="connsiteX0" fmla="*/ -1 w 309562"/>
                    <a:gd name="connsiteY0" fmla="*/ 0 h 125015"/>
                    <a:gd name="connsiteX1" fmla="*/ 309562 w 309562"/>
                    <a:gd name="connsiteY1" fmla="*/ 125016 h 125015"/>
                  </a:gdLst>
                  <a:ahLst/>
                  <a:cxnLst>
                    <a:cxn ang="0">
                      <a:pos x="connsiteX0" y="connsiteY0"/>
                    </a:cxn>
                    <a:cxn ang="0">
                      <a:pos x="connsiteX1" y="connsiteY1"/>
                    </a:cxn>
                  </a:cxnLst>
                  <a:rect l="l" t="t" r="r" b="b"/>
                  <a:pathLst>
                    <a:path w="309562" h="125015">
                      <a:moveTo>
                        <a:pt x="-1" y="0"/>
                      </a:moveTo>
                      <a:lnTo>
                        <a:pt x="309562" y="125016"/>
                      </a:lnTo>
                    </a:path>
                  </a:pathLst>
                </a:custGeom>
                <a:noFill/>
                <a:ln w="28575" cap="flat">
                  <a:solidFill>
                    <a:schemeClr val="tx1"/>
                  </a:solidFill>
                  <a:prstDash val="solid"/>
                  <a:miter/>
                </a:ln>
              </p:spPr>
              <p:txBody>
                <a:bodyPr rtlCol="0" anchor="ctr"/>
                <a:lstStyle/>
                <a:p>
                  <a:endParaRPr lang="en-US"/>
                </a:p>
              </p:txBody>
            </p:sp>
            <p:sp>
              <p:nvSpPr>
                <p:cNvPr id="518" name="Freeform: Shape 83">
                  <a:extLst>
                    <a:ext uri="{FF2B5EF4-FFF2-40B4-BE49-F238E27FC236}">
                      <a16:creationId xmlns:a16="http://schemas.microsoft.com/office/drawing/2014/main" id="{725C7BEE-918D-9989-665F-4ED71B891CF4}"/>
                    </a:ext>
                  </a:extLst>
                </p:cNvPr>
                <p:cNvSpPr/>
                <p:nvPr/>
              </p:nvSpPr>
              <p:spPr>
                <a:xfrm>
                  <a:off x="6505288" y="2071593"/>
                  <a:ext cx="576876" cy="698907"/>
                </a:xfrm>
                <a:custGeom>
                  <a:avLst/>
                  <a:gdLst>
                    <a:gd name="connsiteX0" fmla="*/ -1 w 309562"/>
                    <a:gd name="connsiteY0" fmla="*/ 0 h 375046"/>
                    <a:gd name="connsiteX1" fmla="*/ 309562 w 309562"/>
                    <a:gd name="connsiteY1" fmla="*/ 375047 h 375046"/>
                  </a:gdLst>
                  <a:ahLst/>
                  <a:cxnLst>
                    <a:cxn ang="0">
                      <a:pos x="connsiteX0" y="connsiteY0"/>
                    </a:cxn>
                    <a:cxn ang="0">
                      <a:pos x="connsiteX1" y="connsiteY1"/>
                    </a:cxn>
                  </a:cxnLst>
                  <a:rect l="l" t="t" r="r" b="b"/>
                  <a:pathLst>
                    <a:path w="309562" h="375046">
                      <a:moveTo>
                        <a:pt x="-1" y="0"/>
                      </a:moveTo>
                      <a:lnTo>
                        <a:pt x="309562" y="375047"/>
                      </a:lnTo>
                    </a:path>
                  </a:pathLst>
                </a:custGeom>
                <a:noFill/>
                <a:ln w="28575" cap="flat">
                  <a:solidFill>
                    <a:schemeClr val="tx1"/>
                  </a:solidFill>
                  <a:prstDash val="solid"/>
                  <a:miter/>
                </a:ln>
              </p:spPr>
              <p:txBody>
                <a:bodyPr rtlCol="0" anchor="ctr"/>
                <a:lstStyle/>
                <a:p>
                  <a:endParaRPr lang="en-US"/>
                </a:p>
              </p:txBody>
            </p:sp>
            <p:sp>
              <p:nvSpPr>
                <p:cNvPr id="519" name="Freeform: Shape 84">
                  <a:extLst>
                    <a:ext uri="{FF2B5EF4-FFF2-40B4-BE49-F238E27FC236}">
                      <a16:creationId xmlns:a16="http://schemas.microsoft.com/office/drawing/2014/main" id="{895FE333-267E-F11B-FE18-C6AE8CDFC154}"/>
                    </a:ext>
                  </a:extLst>
                </p:cNvPr>
                <p:cNvSpPr/>
                <p:nvPr/>
              </p:nvSpPr>
              <p:spPr>
                <a:xfrm>
                  <a:off x="6505288" y="2304561"/>
                  <a:ext cx="576876" cy="232968"/>
                </a:xfrm>
                <a:custGeom>
                  <a:avLst/>
                  <a:gdLst>
                    <a:gd name="connsiteX0" fmla="*/ -1 w 309562"/>
                    <a:gd name="connsiteY0" fmla="*/ 125016 h 125015"/>
                    <a:gd name="connsiteX1" fmla="*/ 309562 w 309562"/>
                    <a:gd name="connsiteY1" fmla="*/ 0 h 125015"/>
                  </a:gdLst>
                  <a:ahLst/>
                  <a:cxnLst>
                    <a:cxn ang="0">
                      <a:pos x="connsiteX0" y="connsiteY0"/>
                    </a:cxn>
                    <a:cxn ang="0">
                      <a:pos x="connsiteX1" y="connsiteY1"/>
                    </a:cxn>
                  </a:cxnLst>
                  <a:rect l="l" t="t" r="r" b="b"/>
                  <a:pathLst>
                    <a:path w="309562" h="125015">
                      <a:moveTo>
                        <a:pt x="-1" y="125016"/>
                      </a:moveTo>
                      <a:lnTo>
                        <a:pt x="309562" y="0"/>
                      </a:lnTo>
                    </a:path>
                  </a:pathLst>
                </a:custGeom>
                <a:noFill/>
                <a:ln w="28575" cap="flat">
                  <a:solidFill>
                    <a:schemeClr val="tx1"/>
                  </a:solidFill>
                  <a:prstDash val="solid"/>
                  <a:miter/>
                </a:ln>
              </p:spPr>
              <p:txBody>
                <a:bodyPr rtlCol="0" anchor="ctr"/>
                <a:lstStyle/>
                <a:p>
                  <a:endParaRPr lang="en-US"/>
                </a:p>
              </p:txBody>
            </p:sp>
            <p:sp>
              <p:nvSpPr>
                <p:cNvPr id="520" name="Freeform: Shape 85">
                  <a:extLst>
                    <a:ext uri="{FF2B5EF4-FFF2-40B4-BE49-F238E27FC236}">
                      <a16:creationId xmlns:a16="http://schemas.microsoft.com/office/drawing/2014/main" id="{F27B1304-F5FA-731F-8F49-B53C5DE7C3E4}"/>
                    </a:ext>
                  </a:extLst>
                </p:cNvPr>
                <p:cNvSpPr/>
                <p:nvPr/>
              </p:nvSpPr>
              <p:spPr>
                <a:xfrm>
                  <a:off x="6505288" y="2537532"/>
                  <a:ext cx="576876" cy="232968"/>
                </a:xfrm>
                <a:custGeom>
                  <a:avLst/>
                  <a:gdLst>
                    <a:gd name="connsiteX0" fmla="*/ -1 w 309562"/>
                    <a:gd name="connsiteY0" fmla="*/ 0 h 125015"/>
                    <a:gd name="connsiteX1" fmla="*/ 309562 w 309562"/>
                    <a:gd name="connsiteY1" fmla="*/ 125016 h 125015"/>
                  </a:gdLst>
                  <a:ahLst/>
                  <a:cxnLst>
                    <a:cxn ang="0">
                      <a:pos x="connsiteX0" y="connsiteY0"/>
                    </a:cxn>
                    <a:cxn ang="0">
                      <a:pos x="connsiteX1" y="connsiteY1"/>
                    </a:cxn>
                  </a:cxnLst>
                  <a:rect l="l" t="t" r="r" b="b"/>
                  <a:pathLst>
                    <a:path w="309562" h="125015">
                      <a:moveTo>
                        <a:pt x="-1" y="0"/>
                      </a:moveTo>
                      <a:lnTo>
                        <a:pt x="309562" y="125016"/>
                      </a:lnTo>
                    </a:path>
                  </a:pathLst>
                </a:custGeom>
                <a:noFill/>
                <a:ln w="28575" cap="flat">
                  <a:solidFill>
                    <a:schemeClr val="tx1"/>
                  </a:solidFill>
                  <a:prstDash val="solid"/>
                  <a:miter/>
                </a:ln>
              </p:spPr>
              <p:txBody>
                <a:bodyPr rtlCol="0" anchor="ctr"/>
                <a:lstStyle/>
                <a:p>
                  <a:endParaRPr lang="en-US"/>
                </a:p>
              </p:txBody>
            </p:sp>
            <p:sp>
              <p:nvSpPr>
                <p:cNvPr id="521" name="Freeform: Shape 86">
                  <a:extLst>
                    <a:ext uri="{FF2B5EF4-FFF2-40B4-BE49-F238E27FC236}">
                      <a16:creationId xmlns:a16="http://schemas.microsoft.com/office/drawing/2014/main" id="{95BA5368-5AB6-D4B9-9345-3AD4663E5440}"/>
                    </a:ext>
                  </a:extLst>
                </p:cNvPr>
                <p:cNvSpPr/>
                <p:nvPr/>
              </p:nvSpPr>
              <p:spPr>
                <a:xfrm>
                  <a:off x="7082166" y="1372684"/>
                  <a:ext cx="576876" cy="232968"/>
                </a:xfrm>
                <a:custGeom>
                  <a:avLst/>
                  <a:gdLst>
                    <a:gd name="connsiteX0" fmla="*/ -1 w 309562"/>
                    <a:gd name="connsiteY0" fmla="*/ 0 h 125015"/>
                    <a:gd name="connsiteX1" fmla="*/ 309562 w 309562"/>
                    <a:gd name="connsiteY1" fmla="*/ 125016 h 125015"/>
                  </a:gdLst>
                  <a:ahLst/>
                  <a:cxnLst>
                    <a:cxn ang="0">
                      <a:pos x="connsiteX0" y="connsiteY0"/>
                    </a:cxn>
                    <a:cxn ang="0">
                      <a:pos x="connsiteX1" y="connsiteY1"/>
                    </a:cxn>
                  </a:cxnLst>
                  <a:rect l="l" t="t" r="r" b="b"/>
                  <a:pathLst>
                    <a:path w="309562" h="125015">
                      <a:moveTo>
                        <a:pt x="-1" y="0"/>
                      </a:moveTo>
                      <a:lnTo>
                        <a:pt x="309562" y="125016"/>
                      </a:lnTo>
                    </a:path>
                  </a:pathLst>
                </a:custGeom>
                <a:noFill/>
                <a:ln w="28575" cap="flat">
                  <a:solidFill>
                    <a:schemeClr val="tx1"/>
                  </a:solidFill>
                  <a:prstDash val="solid"/>
                  <a:miter/>
                </a:ln>
              </p:spPr>
              <p:txBody>
                <a:bodyPr rtlCol="0" anchor="ctr"/>
                <a:lstStyle/>
                <a:p>
                  <a:endParaRPr lang="en-US"/>
                </a:p>
              </p:txBody>
            </p:sp>
            <p:sp>
              <p:nvSpPr>
                <p:cNvPr id="522" name="Freeform: Shape 87">
                  <a:extLst>
                    <a:ext uri="{FF2B5EF4-FFF2-40B4-BE49-F238E27FC236}">
                      <a16:creationId xmlns:a16="http://schemas.microsoft.com/office/drawing/2014/main" id="{5195F290-29D0-73AA-224A-73BDF50F9569}"/>
                    </a:ext>
                  </a:extLst>
                </p:cNvPr>
                <p:cNvSpPr/>
                <p:nvPr/>
              </p:nvSpPr>
              <p:spPr>
                <a:xfrm>
                  <a:off x="7082166" y="1372684"/>
                  <a:ext cx="576876" cy="698907"/>
                </a:xfrm>
                <a:custGeom>
                  <a:avLst/>
                  <a:gdLst>
                    <a:gd name="connsiteX0" fmla="*/ -1 w 309562"/>
                    <a:gd name="connsiteY0" fmla="*/ 0 h 375046"/>
                    <a:gd name="connsiteX1" fmla="*/ 309562 w 309562"/>
                    <a:gd name="connsiteY1" fmla="*/ 375047 h 375046"/>
                  </a:gdLst>
                  <a:ahLst/>
                  <a:cxnLst>
                    <a:cxn ang="0">
                      <a:pos x="connsiteX0" y="connsiteY0"/>
                    </a:cxn>
                    <a:cxn ang="0">
                      <a:pos x="connsiteX1" y="connsiteY1"/>
                    </a:cxn>
                  </a:cxnLst>
                  <a:rect l="l" t="t" r="r" b="b"/>
                  <a:pathLst>
                    <a:path w="309562" h="375046">
                      <a:moveTo>
                        <a:pt x="-1" y="0"/>
                      </a:moveTo>
                      <a:lnTo>
                        <a:pt x="309562" y="375047"/>
                      </a:lnTo>
                    </a:path>
                  </a:pathLst>
                </a:custGeom>
                <a:noFill/>
                <a:ln w="28575" cap="flat">
                  <a:solidFill>
                    <a:schemeClr val="tx1"/>
                  </a:solidFill>
                  <a:prstDash val="solid"/>
                  <a:miter/>
                </a:ln>
              </p:spPr>
              <p:txBody>
                <a:bodyPr rtlCol="0" anchor="ctr"/>
                <a:lstStyle/>
                <a:p>
                  <a:endParaRPr lang="en-US"/>
                </a:p>
              </p:txBody>
            </p:sp>
            <p:sp>
              <p:nvSpPr>
                <p:cNvPr id="523" name="Freeform: Shape 88">
                  <a:extLst>
                    <a:ext uri="{FF2B5EF4-FFF2-40B4-BE49-F238E27FC236}">
                      <a16:creationId xmlns:a16="http://schemas.microsoft.com/office/drawing/2014/main" id="{745BAD66-76DE-BA5B-A04C-96F2BC909192}"/>
                    </a:ext>
                  </a:extLst>
                </p:cNvPr>
                <p:cNvSpPr/>
                <p:nvPr/>
              </p:nvSpPr>
              <p:spPr>
                <a:xfrm>
                  <a:off x="7082166" y="1605652"/>
                  <a:ext cx="576876" cy="232968"/>
                </a:xfrm>
                <a:custGeom>
                  <a:avLst/>
                  <a:gdLst>
                    <a:gd name="connsiteX0" fmla="*/ -1 w 309562"/>
                    <a:gd name="connsiteY0" fmla="*/ 125016 h 125015"/>
                    <a:gd name="connsiteX1" fmla="*/ 309562 w 309562"/>
                    <a:gd name="connsiteY1" fmla="*/ 0 h 125015"/>
                  </a:gdLst>
                  <a:ahLst/>
                  <a:cxnLst>
                    <a:cxn ang="0">
                      <a:pos x="connsiteX0" y="connsiteY0"/>
                    </a:cxn>
                    <a:cxn ang="0">
                      <a:pos x="connsiteX1" y="connsiteY1"/>
                    </a:cxn>
                  </a:cxnLst>
                  <a:rect l="l" t="t" r="r" b="b"/>
                  <a:pathLst>
                    <a:path w="309562" h="125015">
                      <a:moveTo>
                        <a:pt x="-1" y="125016"/>
                      </a:moveTo>
                      <a:lnTo>
                        <a:pt x="309562" y="0"/>
                      </a:lnTo>
                    </a:path>
                  </a:pathLst>
                </a:custGeom>
                <a:noFill/>
                <a:ln w="28575" cap="flat">
                  <a:solidFill>
                    <a:schemeClr val="tx1"/>
                  </a:solidFill>
                  <a:prstDash val="solid"/>
                  <a:miter/>
                </a:ln>
              </p:spPr>
              <p:txBody>
                <a:bodyPr rtlCol="0" anchor="ctr"/>
                <a:lstStyle/>
                <a:p>
                  <a:endParaRPr lang="en-US"/>
                </a:p>
              </p:txBody>
            </p:sp>
            <p:sp>
              <p:nvSpPr>
                <p:cNvPr id="524" name="Freeform: Shape 89">
                  <a:extLst>
                    <a:ext uri="{FF2B5EF4-FFF2-40B4-BE49-F238E27FC236}">
                      <a16:creationId xmlns:a16="http://schemas.microsoft.com/office/drawing/2014/main" id="{BF11B5F8-4592-1293-A042-4B4601A420B6}"/>
                    </a:ext>
                  </a:extLst>
                </p:cNvPr>
                <p:cNvSpPr/>
                <p:nvPr/>
              </p:nvSpPr>
              <p:spPr>
                <a:xfrm>
                  <a:off x="7082166" y="1838623"/>
                  <a:ext cx="576876" cy="232968"/>
                </a:xfrm>
                <a:custGeom>
                  <a:avLst/>
                  <a:gdLst>
                    <a:gd name="connsiteX0" fmla="*/ -1 w 309562"/>
                    <a:gd name="connsiteY0" fmla="*/ 0 h 125015"/>
                    <a:gd name="connsiteX1" fmla="*/ 309562 w 309562"/>
                    <a:gd name="connsiteY1" fmla="*/ 125016 h 125015"/>
                  </a:gdLst>
                  <a:ahLst/>
                  <a:cxnLst>
                    <a:cxn ang="0">
                      <a:pos x="connsiteX0" y="connsiteY0"/>
                    </a:cxn>
                    <a:cxn ang="0">
                      <a:pos x="connsiteX1" y="connsiteY1"/>
                    </a:cxn>
                  </a:cxnLst>
                  <a:rect l="l" t="t" r="r" b="b"/>
                  <a:pathLst>
                    <a:path w="309562" h="125015">
                      <a:moveTo>
                        <a:pt x="-1" y="0"/>
                      </a:moveTo>
                      <a:lnTo>
                        <a:pt x="309562" y="125016"/>
                      </a:lnTo>
                    </a:path>
                  </a:pathLst>
                </a:custGeom>
                <a:noFill/>
                <a:ln w="28575" cap="flat">
                  <a:solidFill>
                    <a:schemeClr val="tx1"/>
                  </a:solidFill>
                  <a:prstDash val="solid"/>
                  <a:miter/>
                </a:ln>
              </p:spPr>
              <p:txBody>
                <a:bodyPr rtlCol="0" anchor="ctr"/>
                <a:lstStyle/>
                <a:p>
                  <a:endParaRPr lang="en-US"/>
                </a:p>
              </p:txBody>
            </p:sp>
            <p:sp>
              <p:nvSpPr>
                <p:cNvPr id="525" name="Freeform: Shape 90">
                  <a:extLst>
                    <a:ext uri="{FF2B5EF4-FFF2-40B4-BE49-F238E27FC236}">
                      <a16:creationId xmlns:a16="http://schemas.microsoft.com/office/drawing/2014/main" id="{32D578EF-93AD-BF56-AB19-CD36B9A80F7F}"/>
                    </a:ext>
                  </a:extLst>
                </p:cNvPr>
                <p:cNvSpPr/>
                <p:nvPr/>
              </p:nvSpPr>
              <p:spPr>
                <a:xfrm>
                  <a:off x="7082166" y="1605652"/>
                  <a:ext cx="576876" cy="698907"/>
                </a:xfrm>
                <a:custGeom>
                  <a:avLst/>
                  <a:gdLst>
                    <a:gd name="connsiteX0" fmla="*/ -1 w 309562"/>
                    <a:gd name="connsiteY0" fmla="*/ 375047 h 375046"/>
                    <a:gd name="connsiteX1" fmla="*/ 309562 w 309562"/>
                    <a:gd name="connsiteY1" fmla="*/ 0 h 375046"/>
                  </a:gdLst>
                  <a:ahLst/>
                  <a:cxnLst>
                    <a:cxn ang="0">
                      <a:pos x="connsiteX0" y="connsiteY0"/>
                    </a:cxn>
                    <a:cxn ang="0">
                      <a:pos x="connsiteX1" y="connsiteY1"/>
                    </a:cxn>
                  </a:cxnLst>
                  <a:rect l="l" t="t" r="r" b="b"/>
                  <a:pathLst>
                    <a:path w="309562" h="375046">
                      <a:moveTo>
                        <a:pt x="-1" y="375047"/>
                      </a:moveTo>
                      <a:lnTo>
                        <a:pt x="309562" y="0"/>
                      </a:lnTo>
                    </a:path>
                  </a:pathLst>
                </a:custGeom>
                <a:noFill/>
                <a:ln w="28575" cap="flat">
                  <a:solidFill>
                    <a:schemeClr val="tx1"/>
                  </a:solidFill>
                  <a:prstDash val="solid"/>
                  <a:miter/>
                </a:ln>
              </p:spPr>
              <p:txBody>
                <a:bodyPr rtlCol="0" anchor="ctr"/>
                <a:lstStyle/>
                <a:p>
                  <a:endParaRPr lang="en-US"/>
                </a:p>
              </p:txBody>
            </p:sp>
            <p:sp>
              <p:nvSpPr>
                <p:cNvPr id="526" name="Freeform: Shape 91">
                  <a:extLst>
                    <a:ext uri="{FF2B5EF4-FFF2-40B4-BE49-F238E27FC236}">
                      <a16:creationId xmlns:a16="http://schemas.microsoft.com/office/drawing/2014/main" id="{FDC9FDF9-30E8-240C-5F71-4617FBB6DF6D}"/>
                    </a:ext>
                  </a:extLst>
                </p:cNvPr>
                <p:cNvSpPr/>
                <p:nvPr/>
              </p:nvSpPr>
              <p:spPr>
                <a:xfrm>
                  <a:off x="7082166" y="2071593"/>
                  <a:ext cx="576876" cy="232968"/>
                </a:xfrm>
                <a:custGeom>
                  <a:avLst/>
                  <a:gdLst>
                    <a:gd name="connsiteX0" fmla="*/ -1 w 309562"/>
                    <a:gd name="connsiteY0" fmla="*/ 125016 h 125015"/>
                    <a:gd name="connsiteX1" fmla="*/ 309562 w 309562"/>
                    <a:gd name="connsiteY1" fmla="*/ 0 h 125015"/>
                  </a:gdLst>
                  <a:ahLst/>
                  <a:cxnLst>
                    <a:cxn ang="0">
                      <a:pos x="connsiteX0" y="connsiteY0"/>
                    </a:cxn>
                    <a:cxn ang="0">
                      <a:pos x="connsiteX1" y="connsiteY1"/>
                    </a:cxn>
                  </a:cxnLst>
                  <a:rect l="l" t="t" r="r" b="b"/>
                  <a:pathLst>
                    <a:path w="309562" h="125015">
                      <a:moveTo>
                        <a:pt x="-1" y="125016"/>
                      </a:moveTo>
                      <a:lnTo>
                        <a:pt x="309562" y="0"/>
                      </a:lnTo>
                    </a:path>
                  </a:pathLst>
                </a:custGeom>
                <a:noFill/>
                <a:ln w="28575" cap="flat">
                  <a:solidFill>
                    <a:schemeClr val="tx1"/>
                  </a:solidFill>
                  <a:prstDash val="solid"/>
                  <a:miter/>
                </a:ln>
              </p:spPr>
              <p:txBody>
                <a:bodyPr rtlCol="0" anchor="ctr"/>
                <a:lstStyle/>
                <a:p>
                  <a:endParaRPr lang="en-US"/>
                </a:p>
              </p:txBody>
            </p:sp>
            <p:sp>
              <p:nvSpPr>
                <p:cNvPr id="527" name="Freeform: Shape 92">
                  <a:extLst>
                    <a:ext uri="{FF2B5EF4-FFF2-40B4-BE49-F238E27FC236}">
                      <a16:creationId xmlns:a16="http://schemas.microsoft.com/office/drawing/2014/main" id="{36F44F11-E736-7834-9208-9D6C1219FB31}"/>
                    </a:ext>
                  </a:extLst>
                </p:cNvPr>
                <p:cNvSpPr/>
                <p:nvPr/>
              </p:nvSpPr>
              <p:spPr>
                <a:xfrm>
                  <a:off x="7659042" y="1605652"/>
                  <a:ext cx="576876" cy="465939"/>
                </a:xfrm>
                <a:custGeom>
                  <a:avLst/>
                  <a:gdLst>
                    <a:gd name="connsiteX0" fmla="*/ -1 w 309562"/>
                    <a:gd name="connsiteY0" fmla="*/ 0 h 250031"/>
                    <a:gd name="connsiteX1" fmla="*/ 309562 w 309562"/>
                    <a:gd name="connsiteY1" fmla="*/ 250031 h 250031"/>
                  </a:gdLst>
                  <a:ahLst/>
                  <a:cxnLst>
                    <a:cxn ang="0">
                      <a:pos x="connsiteX0" y="connsiteY0"/>
                    </a:cxn>
                    <a:cxn ang="0">
                      <a:pos x="connsiteX1" y="connsiteY1"/>
                    </a:cxn>
                  </a:cxnLst>
                  <a:rect l="l" t="t" r="r" b="b"/>
                  <a:pathLst>
                    <a:path w="309562" h="250031">
                      <a:moveTo>
                        <a:pt x="-1" y="0"/>
                      </a:moveTo>
                      <a:lnTo>
                        <a:pt x="309562" y="250031"/>
                      </a:lnTo>
                    </a:path>
                  </a:pathLst>
                </a:custGeom>
                <a:noFill/>
                <a:ln w="28575" cap="flat">
                  <a:solidFill>
                    <a:schemeClr val="tx1"/>
                  </a:solidFill>
                  <a:prstDash val="solid"/>
                  <a:miter/>
                </a:ln>
              </p:spPr>
              <p:txBody>
                <a:bodyPr rtlCol="0" anchor="ctr"/>
                <a:lstStyle/>
                <a:p>
                  <a:endParaRPr lang="en-US"/>
                </a:p>
              </p:txBody>
            </p:sp>
            <p:sp>
              <p:nvSpPr>
                <p:cNvPr id="528" name="Freeform: Shape 93">
                  <a:extLst>
                    <a:ext uri="{FF2B5EF4-FFF2-40B4-BE49-F238E27FC236}">
                      <a16:creationId xmlns:a16="http://schemas.microsoft.com/office/drawing/2014/main" id="{F1BDC5EA-B0CF-0D6B-69BC-A682B8AE80E6}"/>
                    </a:ext>
                  </a:extLst>
                </p:cNvPr>
                <p:cNvSpPr/>
                <p:nvPr/>
              </p:nvSpPr>
              <p:spPr>
                <a:xfrm>
                  <a:off x="7659042" y="2071593"/>
                  <a:ext cx="576876" cy="11094"/>
                </a:xfrm>
                <a:custGeom>
                  <a:avLst/>
                  <a:gdLst>
                    <a:gd name="connsiteX0" fmla="*/ -1 w 309562"/>
                    <a:gd name="connsiteY0" fmla="*/ 0 h 5953"/>
                    <a:gd name="connsiteX1" fmla="*/ 309562 w 309562"/>
                    <a:gd name="connsiteY1" fmla="*/ 0 h 5953"/>
                  </a:gdLst>
                  <a:ahLst/>
                  <a:cxnLst>
                    <a:cxn ang="0">
                      <a:pos x="connsiteX0" y="connsiteY0"/>
                    </a:cxn>
                    <a:cxn ang="0">
                      <a:pos x="connsiteX1" y="connsiteY1"/>
                    </a:cxn>
                  </a:cxnLst>
                  <a:rect l="l" t="t" r="r" b="b"/>
                  <a:pathLst>
                    <a:path w="309562" h="5953">
                      <a:moveTo>
                        <a:pt x="-1" y="0"/>
                      </a:moveTo>
                      <a:lnTo>
                        <a:pt x="309562" y="0"/>
                      </a:lnTo>
                    </a:path>
                  </a:pathLst>
                </a:custGeom>
                <a:noFill/>
                <a:ln w="28575" cap="flat">
                  <a:solidFill>
                    <a:schemeClr val="tx1"/>
                  </a:solidFill>
                  <a:prstDash val="solid"/>
                  <a:miter/>
                </a:ln>
              </p:spPr>
              <p:txBody>
                <a:bodyPr rtlCol="0" anchor="ctr"/>
                <a:lstStyle/>
                <a:p>
                  <a:endParaRPr lang="en-US"/>
                </a:p>
              </p:txBody>
            </p:sp>
            <p:sp>
              <p:nvSpPr>
                <p:cNvPr id="529" name="Freeform: Shape 94">
                  <a:extLst>
                    <a:ext uri="{FF2B5EF4-FFF2-40B4-BE49-F238E27FC236}">
                      <a16:creationId xmlns:a16="http://schemas.microsoft.com/office/drawing/2014/main" id="{D7A14FB2-EAC6-9DEF-9141-EE32FAC6F7F2}"/>
                    </a:ext>
                  </a:extLst>
                </p:cNvPr>
                <p:cNvSpPr/>
                <p:nvPr/>
              </p:nvSpPr>
              <p:spPr>
                <a:xfrm>
                  <a:off x="7082166" y="2304561"/>
                  <a:ext cx="576876" cy="232968"/>
                </a:xfrm>
                <a:custGeom>
                  <a:avLst/>
                  <a:gdLst>
                    <a:gd name="connsiteX0" fmla="*/ -1 w 309562"/>
                    <a:gd name="connsiteY0" fmla="*/ 0 h 125015"/>
                    <a:gd name="connsiteX1" fmla="*/ 309562 w 309562"/>
                    <a:gd name="connsiteY1" fmla="*/ 125016 h 125015"/>
                  </a:gdLst>
                  <a:ahLst/>
                  <a:cxnLst>
                    <a:cxn ang="0">
                      <a:pos x="connsiteX0" y="connsiteY0"/>
                    </a:cxn>
                    <a:cxn ang="0">
                      <a:pos x="connsiteX1" y="connsiteY1"/>
                    </a:cxn>
                  </a:cxnLst>
                  <a:rect l="l" t="t" r="r" b="b"/>
                  <a:pathLst>
                    <a:path w="309562" h="125015">
                      <a:moveTo>
                        <a:pt x="-1" y="0"/>
                      </a:moveTo>
                      <a:lnTo>
                        <a:pt x="309562" y="125016"/>
                      </a:lnTo>
                    </a:path>
                  </a:pathLst>
                </a:custGeom>
                <a:noFill/>
                <a:ln w="28575" cap="flat">
                  <a:solidFill>
                    <a:schemeClr val="tx1"/>
                  </a:solidFill>
                  <a:prstDash val="solid"/>
                  <a:miter/>
                </a:ln>
              </p:spPr>
              <p:txBody>
                <a:bodyPr rtlCol="0" anchor="ctr"/>
                <a:lstStyle/>
                <a:p>
                  <a:endParaRPr lang="en-US"/>
                </a:p>
              </p:txBody>
            </p:sp>
            <p:sp>
              <p:nvSpPr>
                <p:cNvPr id="530" name="Freeform: Shape 95">
                  <a:extLst>
                    <a:ext uri="{FF2B5EF4-FFF2-40B4-BE49-F238E27FC236}">
                      <a16:creationId xmlns:a16="http://schemas.microsoft.com/office/drawing/2014/main" id="{743D421F-53BD-2E12-7A93-93D5DECE0B46}"/>
                    </a:ext>
                  </a:extLst>
                </p:cNvPr>
                <p:cNvSpPr/>
                <p:nvPr/>
              </p:nvSpPr>
              <p:spPr>
                <a:xfrm>
                  <a:off x="7082166" y="2537532"/>
                  <a:ext cx="576876" cy="232968"/>
                </a:xfrm>
                <a:custGeom>
                  <a:avLst/>
                  <a:gdLst>
                    <a:gd name="connsiteX0" fmla="*/ -1 w 309562"/>
                    <a:gd name="connsiteY0" fmla="*/ 125016 h 125015"/>
                    <a:gd name="connsiteX1" fmla="*/ 309562 w 309562"/>
                    <a:gd name="connsiteY1" fmla="*/ 0 h 125015"/>
                  </a:gdLst>
                  <a:ahLst/>
                  <a:cxnLst>
                    <a:cxn ang="0">
                      <a:pos x="connsiteX0" y="connsiteY0"/>
                    </a:cxn>
                    <a:cxn ang="0">
                      <a:pos x="connsiteX1" y="connsiteY1"/>
                    </a:cxn>
                  </a:cxnLst>
                  <a:rect l="l" t="t" r="r" b="b"/>
                  <a:pathLst>
                    <a:path w="309562" h="125015">
                      <a:moveTo>
                        <a:pt x="-1" y="125016"/>
                      </a:moveTo>
                      <a:lnTo>
                        <a:pt x="309562" y="0"/>
                      </a:lnTo>
                    </a:path>
                  </a:pathLst>
                </a:custGeom>
                <a:noFill/>
                <a:ln w="28575" cap="flat">
                  <a:solidFill>
                    <a:schemeClr val="tx1"/>
                  </a:solidFill>
                  <a:prstDash val="solid"/>
                  <a:miter/>
                </a:ln>
              </p:spPr>
              <p:txBody>
                <a:bodyPr rtlCol="0" anchor="ctr"/>
                <a:lstStyle/>
                <a:p>
                  <a:endParaRPr lang="en-US"/>
                </a:p>
              </p:txBody>
            </p:sp>
            <p:sp>
              <p:nvSpPr>
                <p:cNvPr id="531" name="Freeform: Shape 96">
                  <a:extLst>
                    <a:ext uri="{FF2B5EF4-FFF2-40B4-BE49-F238E27FC236}">
                      <a16:creationId xmlns:a16="http://schemas.microsoft.com/office/drawing/2014/main" id="{EAFC95C6-B76D-EA36-32F9-24F7CA4D6A60}"/>
                    </a:ext>
                  </a:extLst>
                </p:cNvPr>
                <p:cNvSpPr/>
                <p:nvPr/>
              </p:nvSpPr>
              <p:spPr>
                <a:xfrm>
                  <a:off x="7659042" y="2071593"/>
                  <a:ext cx="576876" cy="465939"/>
                </a:xfrm>
                <a:custGeom>
                  <a:avLst/>
                  <a:gdLst>
                    <a:gd name="connsiteX0" fmla="*/ -1 w 309562"/>
                    <a:gd name="connsiteY0" fmla="*/ 250031 h 250031"/>
                    <a:gd name="connsiteX1" fmla="*/ 309562 w 309562"/>
                    <a:gd name="connsiteY1" fmla="*/ 0 h 250031"/>
                  </a:gdLst>
                  <a:ahLst/>
                  <a:cxnLst>
                    <a:cxn ang="0">
                      <a:pos x="connsiteX0" y="connsiteY0"/>
                    </a:cxn>
                    <a:cxn ang="0">
                      <a:pos x="connsiteX1" y="connsiteY1"/>
                    </a:cxn>
                  </a:cxnLst>
                  <a:rect l="l" t="t" r="r" b="b"/>
                  <a:pathLst>
                    <a:path w="309562" h="250031">
                      <a:moveTo>
                        <a:pt x="-1" y="250031"/>
                      </a:moveTo>
                      <a:lnTo>
                        <a:pt x="309562" y="0"/>
                      </a:lnTo>
                    </a:path>
                  </a:pathLst>
                </a:custGeom>
                <a:noFill/>
                <a:ln w="28575" cap="flat">
                  <a:solidFill>
                    <a:schemeClr val="tx1"/>
                  </a:solidFill>
                  <a:prstDash val="solid"/>
                  <a:miter/>
                </a:ln>
              </p:spPr>
              <p:txBody>
                <a:bodyPr rtlCol="0" anchor="ctr"/>
                <a:lstStyle/>
                <a:p>
                  <a:endParaRPr lang="en-US"/>
                </a:p>
              </p:txBody>
            </p:sp>
            <p:sp>
              <p:nvSpPr>
                <p:cNvPr id="532" name="Freeform: Shape 97">
                  <a:extLst>
                    <a:ext uri="{FF2B5EF4-FFF2-40B4-BE49-F238E27FC236}">
                      <a16:creationId xmlns:a16="http://schemas.microsoft.com/office/drawing/2014/main" id="{06635E9B-E7B9-1457-87D3-A7ED6BF03C80}"/>
                    </a:ext>
                  </a:extLst>
                </p:cNvPr>
                <p:cNvSpPr/>
                <p:nvPr/>
              </p:nvSpPr>
              <p:spPr>
                <a:xfrm>
                  <a:off x="6383257" y="1483621"/>
                  <a:ext cx="244062" cy="244062"/>
                </a:xfrm>
                <a:custGeom>
                  <a:avLst/>
                  <a:gdLst>
                    <a:gd name="connsiteX0" fmla="*/ 130968 w 130968"/>
                    <a:gd name="connsiteY0" fmla="*/ 65484 h 130968"/>
                    <a:gd name="connsiteX1" fmla="*/ 65483 w 130968"/>
                    <a:gd name="connsiteY1" fmla="*/ 130969 h 130968"/>
                    <a:gd name="connsiteX2" fmla="*/ -1 w 130968"/>
                    <a:gd name="connsiteY2" fmla="*/ 65484 h 130968"/>
                    <a:gd name="connsiteX3" fmla="*/ 65483 w 130968"/>
                    <a:gd name="connsiteY3" fmla="*/ 0 h 130968"/>
                    <a:gd name="connsiteX4" fmla="*/ 130968 w 130968"/>
                    <a:gd name="connsiteY4" fmla="*/ 65484 h 13096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0968" h="130968">
                      <a:moveTo>
                        <a:pt x="130968" y="65484"/>
                      </a:moveTo>
                      <a:cubicBezTo>
                        <a:pt x="130968" y="101650"/>
                        <a:pt x="101649" y="130969"/>
                        <a:pt x="65483" y="130969"/>
                      </a:cubicBezTo>
                      <a:cubicBezTo>
                        <a:pt x="29317" y="130969"/>
                        <a:pt x="-1" y="101650"/>
                        <a:pt x="-1" y="65484"/>
                      </a:cubicBezTo>
                      <a:cubicBezTo>
                        <a:pt x="-1" y="29318"/>
                        <a:pt x="29317" y="0"/>
                        <a:pt x="65483" y="0"/>
                      </a:cubicBezTo>
                      <a:cubicBezTo>
                        <a:pt x="101649" y="0"/>
                        <a:pt x="130968" y="29318"/>
                        <a:pt x="130968" y="65484"/>
                      </a:cubicBezTo>
                      <a:close/>
                    </a:path>
                  </a:pathLst>
                </a:custGeom>
                <a:solidFill>
                  <a:srgbClr val="FFFFFF"/>
                </a:solidFill>
                <a:ln w="28575" cap="flat">
                  <a:solidFill>
                    <a:schemeClr val="tx1"/>
                  </a:solidFill>
                  <a:prstDash val="solid"/>
                  <a:miter/>
                </a:ln>
              </p:spPr>
              <p:txBody>
                <a:bodyPr rtlCol="0" anchor="ctr"/>
                <a:lstStyle/>
                <a:p>
                  <a:endParaRPr lang="en-US"/>
                </a:p>
              </p:txBody>
            </p:sp>
            <p:sp>
              <p:nvSpPr>
                <p:cNvPr id="533" name="Freeform: Shape 98">
                  <a:extLst>
                    <a:ext uri="{FF2B5EF4-FFF2-40B4-BE49-F238E27FC236}">
                      <a16:creationId xmlns:a16="http://schemas.microsoft.com/office/drawing/2014/main" id="{256C253D-96C6-438D-2063-79B1693C9BCE}"/>
                    </a:ext>
                  </a:extLst>
                </p:cNvPr>
                <p:cNvSpPr/>
                <p:nvPr/>
              </p:nvSpPr>
              <p:spPr>
                <a:xfrm>
                  <a:off x="6383257" y="1949560"/>
                  <a:ext cx="244062" cy="244062"/>
                </a:xfrm>
                <a:custGeom>
                  <a:avLst/>
                  <a:gdLst>
                    <a:gd name="connsiteX0" fmla="*/ 130968 w 130968"/>
                    <a:gd name="connsiteY0" fmla="*/ 65484 h 130968"/>
                    <a:gd name="connsiteX1" fmla="*/ 65483 w 130968"/>
                    <a:gd name="connsiteY1" fmla="*/ 130969 h 130968"/>
                    <a:gd name="connsiteX2" fmla="*/ -1 w 130968"/>
                    <a:gd name="connsiteY2" fmla="*/ 65484 h 130968"/>
                    <a:gd name="connsiteX3" fmla="*/ 65483 w 130968"/>
                    <a:gd name="connsiteY3" fmla="*/ 0 h 130968"/>
                    <a:gd name="connsiteX4" fmla="*/ 130968 w 130968"/>
                    <a:gd name="connsiteY4" fmla="*/ 65484 h 13096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0968" h="130968">
                      <a:moveTo>
                        <a:pt x="130968" y="65484"/>
                      </a:moveTo>
                      <a:cubicBezTo>
                        <a:pt x="130968" y="101650"/>
                        <a:pt x="101649" y="130969"/>
                        <a:pt x="65483" y="130969"/>
                      </a:cubicBezTo>
                      <a:cubicBezTo>
                        <a:pt x="29317" y="130969"/>
                        <a:pt x="-1" y="101650"/>
                        <a:pt x="-1" y="65484"/>
                      </a:cubicBezTo>
                      <a:cubicBezTo>
                        <a:pt x="-1" y="29318"/>
                        <a:pt x="29317" y="0"/>
                        <a:pt x="65483" y="0"/>
                      </a:cubicBezTo>
                      <a:cubicBezTo>
                        <a:pt x="101649" y="0"/>
                        <a:pt x="130968" y="29318"/>
                        <a:pt x="130968" y="65484"/>
                      </a:cubicBezTo>
                      <a:close/>
                    </a:path>
                  </a:pathLst>
                </a:custGeom>
                <a:solidFill>
                  <a:srgbClr val="FFFFFF"/>
                </a:solidFill>
                <a:ln w="28575" cap="flat">
                  <a:solidFill>
                    <a:schemeClr val="tx1"/>
                  </a:solidFill>
                  <a:prstDash val="solid"/>
                  <a:miter/>
                </a:ln>
              </p:spPr>
              <p:txBody>
                <a:bodyPr rtlCol="0" anchor="ctr"/>
                <a:lstStyle/>
                <a:p>
                  <a:endParaRPr lang="en-US"/>
                </a:p>
              </p:txBody>
            </p:sp>
            <p:sp>
              <p:nvSpPr>
                <p:cNvPr id="534" name="Freeform: Shape 99">
                  <a:extLst>
                    <a:ext uri="{FF2B5EF4-FFF2-40B4-BE49-F238E27FC236}">
                      <a16:creationId xmlns:a16="http://schemas.microsoft.com/office/drawing/2014/main" id="{CCD52D0F-D40F-6C2D-5CE2-22F40A558004}"/>
                    </a:ext>
                  </a:extLst>
                </p:cNvPr>
                <p:cNvSpPr/>
                <p:nvPr/>
              </p:nvSpPr>
              <p:spPr>
                <a:xfrm>
                  <a:off x="6383257" y="2415501"/>
                  <a:ext cx="244062" cy="244062"/>
                </a:xfrm>
                <a:custGeom>
                  <a:avLst/>
                  <a:gdLst>
                    <a:gd name="connsiteX0" fmla="*/ 130968 w 130968"/>
                    <a:gd name="connsiteY0" fmla="*/ 65484 h 130968"/>
                    <a:gd name="connsiteX1" fmla="*/ 65483 w 130968"/>
                    <a:gd name="connsiteY1" fmla="*/ 130969 h 130968"/>
                    <a:gd name="connsiteX2" fmla="*/ -1 w 130968"/>
                    <a:gd name="connsiteY2" fmla="*/ 65484 h 130968"/>
                    <a:gd name="connsiteX3" fmla="*/ 65483 w 130968"/>
                    <a:gd name="connsiteY3" fmla="*/ 0 h 130968"/>
                    <a:gd name="connsiteX4" fmla="*/ 130968 w 130968"/>
                    <a:gd name="connsiteY4" fmla="*/ 65484 h 13096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0968" h="130968">
                      <a:moveTo>
                        <a:pt x="130968" y="65484"/>
                      </a:moveTo>
                      <a:cubicBezTo>
                        <a:pt x="130968" y="101650"/>
                        <a:pt x="101649" y="130969"/>
                        <a:pt x="65483" y="130969"/>
                      </a:cubicBezTo>
                      <a:cubicBezTo>
                        <a:pt x="29317" y="130969"/>
                        <a:pt x="-1" y="101650"/>
                        <a:pt x="-1" y="65484"/>
                      </a:cubicBezTo>
                      <a:cubicBezTo>
                        <a:pt x="-1" y="29318"/>
                        <a:pt x="29317" y="0"/>
                        <a:pt x="65483" y="0"/>
                      </a:cubicBezTo>
                      <a:cubicBezTo>
                        <a:pt x="101649" y="0"/>
                        <a:pt x="130968" y="29318"/>
                        <a:pt x="130968" y="65484"/>
                      </a:cubicBezTo>
                      <a:close/>
                    </a:path>
                  </a:pathLst>
                </a:custGeom>
                <a:solidFill>
                  <a:srgbClr val="FFFFFF"/>
                </a:solidFill>
                <a:ln w="28575" cap="flat">
                  <a:solidFill>
                    <a:schemeClr val="tx1"/>
                  </a:solidFill>
                  <a:prstDash val="solid"/>
                  <a:miter/>
                </a:ln>
              </p:spPr>
              <p:txBody>
                <a:bodyPr rtlCol="0" anchor="ctr"/>
                <a:lstStyle/>
                <a:p>
                  <a:endParaRPr lang="en-US"/>
                </a:p>
              </p:txBody>
            </p:sp>
            <p:sp>
              <p:nvSpPr>
                <p:cNvPr id="535" name="Freeform: Shape 100">
                  <a:extLst>
                    <a:ext uri="{FF2B5EF4-FFF2-40B4-BE49-F238E27FC236}">
                      <a16:creationId xmlns:a16="http://schemas.microsoft.com/office/drawing/2014/main" id="{6D8B7185-6C18-881F-0431-959907D101FC}"/>
                    </a:ext>
                  </a:extLst>
                </p:cNvPr>
                <p:cNvSpPr/>
                <p:nvPr/>
              </p:nvSpPr>
              <p:spPr>
                <a:xfrm>
                  <a:off x="6960135" y="1250651"/>
                  <a:ext cx="244062" cy="244062"/>
                </a:xfrm>
                <a:custGeom>
                  <a:avLst/>
                  <a:gdLst>
                    <a:gd name="connsiteX0" fmla="*/ 130968 w 130968"/>
                    <a:gd name="connsiteY0" fmla="*/ 65484 h 130968"/>
                    <a:gd name="connsiteX1" fmla="*/ 65483 w 130968"/>
                    <a:gd name="connsiteY1" fmla="*/ 130969 h 130968"/>
                    <a:gd name="connsiteX2" fmla="*/ -1 w 130968"/>
                    <a:gd name="connsiteY2" fmla="*/ 65484 h 130968"/>
                    <a:gd name="connsiteX3" fmla="*/ 65483 w 130968"/>
                    <a:gd name="connsiteY3" fmla="*/ 0 h 130968"/>
                    <a:gd name="connsiteX4" fmla="*/ 130968 w 130968"/>
                    <a:gd name="connsiteY4" fmla="*/ 65484 h 13096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0968" h="130968">
                      <a:moveTo>
                        <a:pt x="130968" y="65484"/>
                      </a:moveTo>
                      <a:cubicBezTo>
                        <a:pt x="130968" y="101650"/>
                        <a:pt x="101649" y="130969"/>
                        <a:pt x="65483" y="130969"/>
                      </a:cubicBezTo>
                      <a:cubicBezTo>
                        <a:pt x="29317" y="130969"/>
                        <a:pt x="-1" y="101650"/>
                        <a:pt x="-1" y="65484"/>
                      </a:cubicBezTo>
                      <a:cubicBezTo>
                        <a:pt x="-1" y="29318"/>
                        <a:pt x="29317" y="0"/>
                        <a:pt x="65483" y="0"/>
                      </a:cubicBezTo>
                      <a:cubicBezTo>
                        <a:pt x="101649" y="0"/>
                        <a:pt x="130968" y="29318"/>
                        <a:pt x="130968" y="65484"/>
                      </a:cubicBezTo>
                      <a:close/>
                    </a:path>
                  </a:pathLst>
                </a:custGeom>
                <a:solidFill>
                  <a:srgbClr val="FFFFFF"/>
                </a:solidFill>
                <a:ln w="28575" cap="flat">
                  <a:solidFill>
                    <a:schemeClr val="tx1"/>
                  </a:solidFill>
                  <a:prstDash val="solid"/>
                  <a:miter/>
                </a:ln>
              </p:spPr>
              <p:txBody>
                <a:bodyPr rtlCol="0" anchor="ctr"/>
                <a:lstStyle/>
                <a:p>
                  <a:endParaRPr lang="en-US"/>
                </a:p>
              </p:txBody>
            </p:sp>
            <p:sp>
              <p:nvSpPr>
                <p:cNvPr id="536" name="Freeform: Shape 101">
                  <a:extLst>
                    <a:ext uri="{FF2B5EF4-FFF2-40B4-BE49-F238E27FC236}">
                      <a16:creationId xmlns:a16="http://schemas.microsoft.com/office/drawing/2014/main" id="{DD4B0C95-6FF8-2992-59F5-FA69E151BA8C}"/>
                    </a:ext>
                  </a:extLst>
                </p:cNvPr>
                <p:cNvSpPr/>
                <p:nvPr/>
              </p:nvSpPr>
              <p:spPr>
                <a:xfrm>
                  <a:off x="6960135" y="1716592"/>
                  <a:ext cx="244062" cy="244062"/>
                </a:xfrm>
                <a:custGeom>
                  <a:avLst/>
                  <a:gdLst>
                    <a:gd name="connsiteX0" fmla="*/ 130968 w 130968"/>
                    <a:gd name="connsiteY0" fmla="*/ 65484 h 130968"/>
                    <a:gd name="connsiteX1" fmla="*/ 65483 w 130968"/>
                    <a:gd name="connsiteY1" fmla="*/ 130969 h 130968"/>
                    <a:gd name="connsiteX2" fmla="*/ -1 w 130968"/>
                    <a:gd name="connsiteY2" fmla="*/ 65484 h 130968"/>
                    <a:gd name="connsiteX3" fmla="*/ 65483 w 130968"/>
                    <a:gd name="connsiteY3" fmla="*/ 0 h 130968"/>
                    <a:gd name="connsiteX4" fmla="*/ 130968 w 130968"/>
                    <a:gd name="connsiteY4" fmla="*/ 65484 h 13096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0968" h="130968">
                      <a:moveTo>
                        <a:pt x="130968" y="65484"/>
                      </a:moveTo>
                      <a:cubicBezTo>
                        <a:pt x="130968" y="101650"/>
                        <a:pt x="101649" y="130969"/>
                        <a:pt x="65483" y="130969"/>
                      </a:cubicBezTo>
                      <a:cubicBezTo>
                        <a:pt x="29317" y="130969"/>
                        <a:pt x="-1" y="101650"/>
                        <a:pt x="-1" y="65484"/>
                      </a:cubicBezTo>
                      <a:cubicBezTo>
                        <a:pt x="-1" y="29318"/>
                        <a:pt x="29317" y="0"/>
                        <a:pt x="65483" y="0"/>
                      </a:cubicBezTo>
                      <a:cubicBezTo>
                        <a:pt x="101649" y="0"/>
                        <a:pt x="130968" y="29318"/>
                        <a:pt x="130968" y="65484"/>
                      </a:cubicBezTo>
                      <a:close/>
                    </a:path>
                  </a:pathLst>
                </a:custGeom>
                <a:solidFill>
                  <a:srgbClr val="FFFFFF"/>
                </a:solidFill>
                <a:ln w="28575" cap="flat">
                  <a:solidFill>
                    <a:schemeClr val="tx1"/>
                  </a:solidFill>
                  <a:prstDash val="solid"/>
                  <a:miter/>
                </a:ln>
              </p:spPr>
              <p:txBody>
                <a:bodyPr rtlCol="0" anchor="ctr"/>
                <a:lstStyle/>
                <a:p>
                  <a:endParaRPr lang="en-US"/>
                </a:p>
              </p:txBody>
            </p:sp>
            <p:sp>
              <p:nvSpPr>
                <p:cNvPr id="537" name="Freeform: Shape 102">
                  <a:extLst>
                    <a:ext uri="{FF2B5EF4-FFF2-40B4-BE49-F238E27FC236}">
                      <a16:creationId xmlns:a16="http://schemas.microsoft.com/office/drawing/2014/main" id="{661B63F2-0A79-25D1-3250-BC92094E431A}"/>
                    </a:ext>
                  </a:extLst>
                </p:cNvPr>
                <p:cNvSpPr/>
                <p:nvPr/>
              </p:nvSpPr>
              <p:spPr>
                <a:xfrm>
                  <a:off x="6960135" y="2182530"/>
                  <a:ext cx="244062" cy="244062"/>
                </a:xfrm>
                <a:custGeom>
                  <a:avLst/>
                  <a:gdLst>
                    <a:gd name="connsiteX0" fmla="*/ 130968 w 130968"/>
                    <a:gd name="connsiteY0" fmla="*/ 65484 h 130968"/>
                    <a:gd name="connsiteX1" fmla="*/ 65483 w 130968"/>
                    <a:gd name="connsiteY1" fmla="*/ 130969 h 130968"/>
                    <a:gd name="connsiteX2" fmla="*/ -1 w 130968"/>
                    <a:gd name="connsiteY2" fmla="*/ 65484 h 130968"/>
                    <a:gd name="connsiteX3" fmla="*/ 65483 w 130968"/>
                    <a:gd name="connsiteY3" fmla="*/ 0 h 130968"/>
                    <a:gd name="connsiteX4" fmla="*/ 130968 w 130968"/>
                    <a:gd name="connsiteY4" fmla="*/ 65484 h 13096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0968" h="130968">
                      <a:moveTo>
                        <a:pt x="130968" y="65484"/>
                      </a:moveTo>
                      <a:cubicBezTo>
                        <a:pt x="130968" y="101650"/>
                        <a:pt x="101649" y="130969"/>
                        <a:pt x="65483" y="130969"/>
                      </a:cubicBezTo>
                      <a:cubicBezTo>
                        <a:pt x="29317" y="130969"/>
                        <a:pt x="-1" y="101650"/>
                        <a:pt x="-1" y="65484"/>
                      </a:cubicBezTo>
                      <a:cubicBezTo>
                        <a:pt x="-1" y="29318"/>
                        <a:pt x="29317" y="0"/>
                        <a:pt x="65483" y="0"/>
                      </a:cubicBezTo>
                      <a:cubicBezTo>
                        <a:pt x="101649" y="0"/>
                        <a:pt x="130968" y="29318"/>
                        <a:pt x="130968" y="65484"/>
                      </a:cubicBezTo>
                      <a:close/>
                    </a:path>
                  </a:pathLst>
                </a:custGeom>
                <a:solidFill>
                  <a:srgbClr val="FFFFFF"/>
                </a:solidFill>
                <a:ln w="28575" cap="flat">
                  <a:solidFill>
                    <a:schemeClr val="tx1"/>
                  </a:solidFill>
                  <a:prstDash val="solid"/>
                  <a:miter/>
                </a:ln>
              </p:spPr>
              <p:txBody>
                <a:bodyPr rtlCol="0" anchor="ctr"/>
                <a:lstStyle/>
                <a:p>
                  <a:endParaRPr lang="en-US"/>
                </a:p>
              </p:txBody>
            </p:sp>
            <p:sp>
              <p:nvSpPr>
                <p:cNvPr id="538" name="Freeform: Shape 103">
                  <a:extLst>
                    <a:ext uri="{FF2B5EF4-FFF2-40B4-BE49-F238E27FC236}">
                      <a16:creationId xmlns:a16="http://schemas.microsoft.com/office/drawing/2014/main" id="{64EF3813-70F9-7DFF-113A-D7FFA8C33367}"/>
                    </a:ext>
                  </a:extLst>
                </p:cNvPr>
                <p:cNvSpPr/>
                <p:nvPr/>
              </p:nvSpPr>
              <p:spPr>
                <a:xfrm>
                  <a:off x="6960135" y="2648469"/>
                  <a:ext cx="244062" cy="244062"/>
                </a:xfrm>
                <a:custGeom>
                  <a:avLst/>
                  <a:gdLst>
                    <a:gd name="connsiteX0" fmla="*/ 130968 w 130968"/>
                    <a:gd name="connsiteY0" fmla="*/ 65484 h 130968"/>
                    <a:gd name="connsiteX1" fmla="*/ 65483 w 130968"/>
                    <a:gd name="connsiteY1" fmla="*/ 130969 h 130968"/>
                    <a:gd name="connsiteX2" fmla="*/ -1 w 130968"/>
                    <a:gd name="connsiteY2" fmla="*/ 65484 h 130968"/>
                    <a:gd name="connsiteX3" fmla="*/ 65483 w 130968"/>
                    <a:gd name="connsiteY3" fmla="*/ 0 h 130968"/>
                    <a:gd name="connsiteX4" fmla="*/ 130968 w 130968"/>
                    <a:gd name="connsiteY4" fmla="*/ 65484 h 13096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0968" h="130968">
                      <a:moveTo>
                        <a:pt x="130968" y="65484"/>
                      </a:moveTo>
                      <a:cubicBezTo>
                        <a:pt x="130968" y="101650"/>
                        <a:pt x="101649" y="130969"/>
                        <a:pt x="65483" y="130969"/>
                      </a:cubicBezTo>
                      <a:cubicBezTo>
                        <a:pt x="29317" y="130969"/>
                        <a:pt x="-1" y="101650"/>
                        <a:pt x="-1" y="65484"/>
                      </a:cubicBezTo>
                      <a:cubicBezTo>
                        <a:pt x="-1" y="29318"/>
                        <a:pt x="29317" y="0"/>
                        <a:pt x="65483" y="0"/>
                      </a:cubicBezTo>
                      <a:cubicBezTo>
                        <a:pt x="101649" y="0"/>
                        <a:pt x="130968" y="29318"/>
                        <a:pt x="130968" y="65484"/>
                      </a:cubicBezTo>
                      <a:close/>
                    </a:path>
                  </a:pathLst>
                </a:custGeom>
                <a:solidFill>
                  <a:srgbClr val="FFFFFF"/>
                </a:solidFill>
                <a:ln w="28575" cap="flat">
                  <a:solidFill>
                    <a:schemeClr val="tx1"/>
                  </a:solidFill>
                  <a:prstDash val="solid"/>
                  <a:miter/>
                </a:ln>
              </p:spPr>
              <p:txBody>
                <a:bodyPr rtlCol="0" anchor="ctr"/>
                <a:lstStyle/>
                <a:p>
                  <a:endParaRPr lang="en-US"/>
                </a:p>
              </p:txBody>
            </p:sp>
            <p:sp>
              <p:nvSpPr>
                <p:cNvPr id="539" name="Freeform: Shape 104">
                  <a:extLst>
                    <a:ext uri="{FF2B5EF4-FFF2-40B4-BE49-F238E27FC236}">
                      <a16:creationId xmlns:a16="http://schemas.microsoft.com/office/drawing/2014/main" id="{45677A59-CA34-5A30-77A0-994608C30553}"/>
                    </a:ext>
                  </a:extLst>
                </p:cNvPr>
                <p:cNvSpPr/>
                <p:nvPr/>
              </p:nvSpPr>
              <p:spPr>
                <a:xfrm>
                  <a:off x="7537011" y="1483621"/>
                  <a:ext cx="244062" cy="244062"/>
                </a:xfrm>
                <a:custGeom>
                  <a:avLst/>
                  <a:gdLst>
                    <a:gd name="connsiteX0" fmla="*/ 130968 w 130968"/>
                    <a:gd name="connsiteY0" fmla="*/ 65484 h 130968"/>
                    <a:gd name="connsiteX1" fmla="*/ 65483 w 130968"/>
                    <a:gd name="connsiteY1" fmla="*/ 130969 h 130968"/>
                    <a:gd name="connsiteX2" fmla="*/ -1 w 130968"/>
                    <a:gd name="connsiteY2" fmla="*/ 65484 h 130968"/>
                    <a:gd name="connsiteX3" fmla="*/ 65483 w 130968"/>
                    <a:gd name="connsiteY3" fmla="*/ 0 h 130968"/>
                    <a:gd name="connsiteX4" fmla="*/ 130968 w 130968"/>
                    <a:gd name="connsiteY4" fmla="*/ 65484 h 13096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0968" h="130968">
                      <a:moveTo>
                        <a:pt x="130968" y="65484"/>
                      </a:moveTo>
                      <a:cubicBezTo>
                        <a:pt x="130968" y="101650"/>
                        <a:pt x="101649" y="130969"/>
                        <a:pt x="65483" y="130969"/>
                      </a:cubicBezTo>
                      <a:cubicBezTo>
                        <a:pt x="29317" y="130969"/>
                        <a:pt x="-1" y="101650"/>
                        <a:pt x="-1" y="65484"/>
                      </a:cubicBezTo>
                      <a:cubicBezTo>
                        <a:pt x="-1" y="29318"/>
                        <a:pt x="29317" y="0"/>
                        <a:pt x="65483" y="0"/>
                      </a:cubicBezTo>
                      <a:cubicBezTo>
                        <a:pt x="101649" y="0"/>
                        <a:pt x="130968" y="29318"/>
                        <a:pt x="130968" y="65484"/>
                      </a:cubicBezTo>
                      <a:close/>
                    </a:path>
                  </a:pathLst>
                </a:custGeom>
                <a:solidFill>
                  <a:srgbClr val="FFFFFF"/>
                </a:solidFill>
                <a:ln w="28575" cap="flat">
                  <a:solidFill>
                    <a:schemeClr val="tx1"/>
                  </a:solidFill>
                  <a:prstDash val="solid"/>
                  <a:miter/>
                </a:ln>
              </p:spPr>
              <p:txBody>
                <a:bodyPr rtlCol="0" anchor="ctr"/>
                <a:lstStyle/>
                <a:p>
                  <a:endParaRPr lang="en-US"/>
                </a:p>
              </p:txBody>
            </p:sp>
            <p:sp>
              <p:nvSpPr>
                <p:cNvPr id="540" name="Freeform: Shape 105">
                  <a:extLst>
                    <a:ext uri="{FF2B5EF4-FFF2-40B4-BE49-F238E27FC236}">
                      <a16:creationId xmlns:a16="http://schemas.microsoft.com/office/drawing/2014/main" id="{9B4CCB66-107D-CEF3-27D6-8CD2E40FE982}"/>
                    </a:ext>
                  </a:extLst>
                </p:cNvPr>
                <p:cNvSpPr/>
                <p:nvPr/>
              </p:nvSpPr>
              <p:spPr>
                <a:xfrm>
                  <a:off x="7537011" y="1949560"/>
                  <a:ext cx="244062" cy="244062"/>
                </a:xfrm>
                <a:custGeom>
                  <a:avLst/>
                  <a:gdLst>
                    <a:gd name="connsiteX0" fmla="*/ 130968 w 130968"/>
                    <a:gd name="connsiteY0" fmla="*/ 65484 h 130968"/>
                    <a:gd name="connsiteX1" fmla="*/ 65483 w 130968"/>
                    <a:gd name="connsiteY1" fmla="*/ 130969 h 130968"/>
                    <a:gd name="connsiteX2" fmla="*/ -1 w 130968"/>
                    <a:gd name="connsiteY2" fmla="*/ 65484 h 130968"/>
                    <a:gd name="connsiteX3" fmla="*/ 65483 w 130968"/>
                    <a:gd name="connsiteY3" fmla="*/ 0 h 130968"/>
                    <a:gd name="connsiteX4" fmla="*/ 130968 w 130968"/>
                    <a:gd name="connsiteY4" fmla="*/ 65484 h 13096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0968" h="130968">
                      <a:moveTo>
                        <a:pt x="130968" y="65484"/>
                      </a:moveTo>
                      <a:cubicBezTo>
                        <a:pt x="130968" y="101650"/>
                        <a:pt x="101649" y="130969"/>
                        <a:pt x="65483" y="130969"/>
                      </a:cubicBezTo>
                      <a:cubicBezTo>
                        <a:pt x="29317" y="130969"/>
                        <a:pt x="-1" y="101650"/>
                        <a:pt x="-1" y="65484"/>
                      </a:cubicBezTo>
                      <a:cubicBezTo>
                        <a:pt x="-1" y="29318"/>
                        <a:pt x="29317" y="0"/>
                        <a:pt x="65483" y="0"/>
                      </a:cubicBezTo>
                      <a:cubicBezTo>
                        <a:pt x="101649" y="0"/>
                        <a:pt x="130968" y="29318"/>
                        <a:pt x="130968" y="65484"/>
                      </a:cubicBezTo>
                      <a:close/>
                    </a:path>
                  </a:pathLst>
                </a:custGeom>
                <a:solidFill>
                  <a:srgbClr val="FFFFFF"/>
                </a:solidFill>
                <a:ln w="28575" cap="flat">
                  <a:solidFill>
                    <a:schemeClr val="tx1"/>
                  </a:solidFill>
                  <a:prstDash val="solid"/>
                  <a:miter/>
                </a:ln>
              </p:spPr>
              <p:txBody>
                <a:bodyPr rtlCol="0" anchor="ctr"/>
                <a:lstStyle/>
                <a:p>
                  <a:endParaRPr lang="en-US"/>
                </a:p>
              </p:txBody>
            </p:sp>
            <p:sp>
              <p:nvSpPr>
                <p:cNvPr id="541" name="Freeform: Shape 106">
                  <a:extLst>
                    <a:ext uri="{FF2B5EF4-FFF2-40B4-BE49-F238E27FC236}">
                      <a16:creationId xmlns:a16="http://schemas.microsoft.com/office/drawing/2014/main" id="{40C8A973-5773-4DD1-F133-0E5D0A2BE858}"/>
                    </a:ext>
                  </a:extLst>
                </p:cNvPr>
                <p:cNvSpPr/>
                <p:nvPr/>
              </p:nvSpPr>
              <p:spPr>
                <a:xfrm>
                  <a:off x="7537011" y="2415501"/>
                  <a:ext cx="244062" cy="244062"/>
                </a:xfrm>
                <a:custGeom>
                  <a:avLst/>
                  <a:gdLst>
                    <a:gd name="connsiteX0" fmla="*/ 130968 w 130968"/>
                    <a:gd name="connsiteY0" fmla="*/ 65484 h 130968"/>
                    <a:gd name="connsiteX1" fmla="*/ 65483 w 130968"/>
                    <a:gd name="connsiteY1" fmla="*/ 130969 h 130968"/>
                    <a:gd name="connsiteX2" fmla="*/ -1 w 130968"/>
                    <a:gd name="connsiteY2" fmla="*/ 65484 h 130968"/>
                    <a:gd name="connsiteX3" fmla="*/ 65483 w 130968"/>
                    <a:gd name="connsiteY3" fmla="*/ 0 h 130968"/>
                    <a:gd name="connsiteX4" fmla="*/ 130968 w 130968"/>
                    <a:gd name="connsiteY4" fmla="*/ 65484 h 13096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0968" h="130968">
                      <a:moveTo>
                        <a:pt x="130968" y="65484"/>
                      </a:moveTo>
                      <a:cubicBezTo>
                        <a:pt x="130968" y="101650"/>
                        <a:pt x="101649" y="130969"/>
                        <a:pt x="65483" y="130969"/>
                      </a:cubicBezTo>
                      <a:cubicBezTo>
                        <a:pt x="29317" y="130969"/>
                        <a:pt x="-1" y="101650"/>
                        <a:pt x="-1" y="65484"/>
                      </a:cubicBezTo>
                      <a:cubicBezTo>
                        <a:pt x="-1" y="29318"/>
                        <a:pt x="29317" y="0"/>
                        <a:pt x="65483" y="0"/>
                      </a:cubicBezTo>
                      <a:cubicBezTo>
                        <a:pt x="101649" y="0"/>
                        <a:pt x="130968" y="29318"/>
                        <a:pt x="130968" y="65484"/>
                      </a:cubicBezTo>
                      <a:close/>
                    </a:path>
                  </a:pathLst>
                </a:custGeom>
                <a:solidFill>
                  <a:srgbClr val="FFFFFF"/>
                </a:solidFill>
                <a:ln w="28575" cap="flat">
                  <a:solidFill>
                    <a:schemeClr val="tx1"/>
                  </a:solidFill>
                  <a:prstDash val="solid"/>
                  <a:miter/>
                </a:ln>
              </p:spPr>
              <p:txBody>
                <a:bodyPr rtlCol="0" anchor="ctr"/>
                <a:lstStyle/>
                <a:p>
                  <a:endParaRPr lang="en-US"/>
                </a:p>
              </p:txBody>
            </p:sp>
            <p:sp>
              <p:nvSpPr>
                <p:cNvPr id="542" name="Freeform: Shape 107">
                  <a:extLst>
                    <a:ext uri="{FF2B5EF4-FFF2-40B4-BE49-F238E27FC236}">
                      <a16:creationId xmlns:a16="http://schemas.microsoft.com/office/drawing/2014/main" id="{F388ACAF-93CE-BC1F-F288-9746F74FC6AE}"/>
                    </a:ext>
                  </a:extLst>
                </p:cNvPr>
                <p:cNvSpPr/>
                <p:nvPr/>
              </p:nvSpPr>
              <p:spPr>
                <a:xfrm>
                  <a:off x="8113889" y="1949560"/>
                  <a:ext cx="244062" cy="244062"/>
                </a:xfrm>
                <a:custGeom>
                  <a:avLst/>
                  <a:gdLst>
                    <a:gd name="connsiteX0" fmla="*/ 130968 w 130968"/>
                    <a:gd name="connsiteY0" fmla="*/ 65484 h 130968"/>
                    <a:gd name="connsiteX1" fmla="*/ 65483 w 130968"/>
                    <a:gd name="connsiteY1" fmla="*/ 130969 h 130968"/>
                    <a:gd name="connsiteX2" fmla="*/ -1 w 130968"/>
                    <a:gd name="connsiteY2" fmla="*/ 65484 h 130968"/>
                    <a:gd name="connsiteX3" fmla="*/ 65483 w 130968"/>
                    <a:gd name="connsiteY3" fmla="*/ 0 h 130968"/>
                    <a:gd name="connsiteX4" fmla="*/ 130968 w 130968"/>
                    <a:gd name="connsiteY4" fmla="*/ 65484 h 13096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0968" h="130968">
                      <a:moveTo>
                        <a:pt x="130968" y="65484"/>
                      </a:moveTo>
                      <a:cubicBezTo>
                        <a:pt x="130968" y="101650"/>
                        <a:pt x="101649" y="130969"/>
                        <a:pt x="65483" y="130969"/>
                      </a:cubicBezTo>
                      <a:cubicBezTo>
                        <a:pt x="29317" y="130969"/>
                        <a:pt x="-1" y="101650"/>
                        <a:pt x="-1" y="65484"/>
                      </a:cubicBezTo>
                      <a:cubicBezTo>
                        <a:pt x="-1" y="29318"/>
                        <a:pt x="29317" y="0"/>
                        <a:pt x="65483" y="0"/>
                      </a:cubicBezTo>
                      <a:cubicBezTo>
                        <a:pt x="101649" y="0"/>
                        <a:pt x="130968" y="29318"/>
                        <a:pt x="130968" y="65484"/>
                      </a:cubicBezTo>
                      <a:close/>
                    </a:path>
                  </a:pathLst>
                </a:custGeom>
                <a:solidFill>
                  <a:srgbClr val="FFFFFF"/>
                </a:solidFill>
                <a:ln w="28575" cap="flat">
                  <a:solidFill>
                    <a:schemeClr val="tx1"/>
                  </a:solidFill>
                  <a:prstDash val="solid"/>
                  <a:miter/>
                </a:ln>
              </p:spPr>
              <p:txBody>
                <a:bodyPr rtlCol="0" anchor="ctr"/>
                <a:lstStyle/>
                <a:p>
                  <a:endParaRPr lang="en-US"/>
                </a:p>
              </p:txBody>
            </p:sp>
          </p:grpSp>
        </p:grpSp>
      </p:grpSp>
      <p:pic>
        <p:nvPicPr>
          <p:cNvPr id="605" name="Picture 604" descr="A brain with a lightning bolt&#10;&#10;AI-generated content may be incorrect.">
            <a:extLst>
              <a:ext uri="{FF2B5EF4-FFF2-40B4-BE49-F238E27FC236}">
                <a16:creationId xmlns:a16="http://schemas.microsoft.com/office/drawing/2014/main" id="{07359844-CBED-E5C5-8335-DC650E3E6734}"/>
              </a:ext>
            </a:extLst>
          </p:cNvPr>
          <p:cNvPicPr>
            <a:picLocks noChangeAspect="1"/>
          </p:cNvPicPr>
          <p:nvPr/>
        </p:nvPicPr>
        <p:blipFill>
          <a:blip r:embed="rId4" cstate="print">
            <a:clrChange>
              <a:clrFrom>
                <a:srgbClr val="FFFFFF"/>
              </a:clrFrom>
              <a:clrTo>
                <a:srgbClr val="FFFFFF">
                  <a:alpha val="0"/>
                </a:srgbClr>
              </a:clrTo>
            </a:clrChange>
            <a:extLst>
              <a:ext uri="{28A0092B-C50C-407E-A947-70E740481C1C}">
                <a14:useLocalDpi xmlns:a14="http://schemas.microsoft.com/office/drawing/2010/main" val="0"/>
              </a:ext>
            </a:extLst>
          </a:blip>
          <a:stretch>
            <a:fillRect/>
          </a:stretch>
        </p:blipFill>
        <p:spPr>
          <a:xfrm>
            <a:off x="9692933" y="3718115"/>
            <a:ext cx="385347" cy="406400"/>
          </a:xfrm>
          <a:prstGeom prst="rect">
            <a:avLst/>
          </a:prstGeom>
        </p:spPr>
      </p:pic>
      <p:sp>
        <p:nvSpPr>
          <p:cNvPr id="611" name="TextBox 610">
            <a:extLst>
              <a:ext uri="{FF2B5EF4-FFF2-40B4-BE49-F238E27FC236}">
                <a16:creationId xmlns:a16="http://schemas.microsoft.com/office/drawing/2014/main" id="{9FBB081A-F398-0E00-2F56-E144A08181A9}"/>
              </a:ext>
            </a:extLst>
          </p:cNvPr>
          <p:cNvSpPr txBox="1"/>
          <p:nvPr/>
        </p:nvSpPr>
        <p:spPr>
          <a:xfrm>
            <a:off x="10262826" y="3860763"/>
            <a:ext cx="1168910" cy="830997"/>
          </a:xfrm>
          <a:prstGeom prst="rect">
            <a:avLst/>
          </a:prstGeom>
          <a:noFill/>
        </p:spPr>
        <p:txBody>
          <a:bodyPr wrap="none" rtlCol="0">
            <a:spAutoFit/>
          </a:bodyPr>
          <a:lstStyle/>
          <a:p>
            <a:pPr algn="ctr"/>
            <a:r>
              <a:rPr lang="en-BE" b="1" dirty="0">
                <a:solidFill>
                  <a:schemeClr val="accent3"/>
                </a:solidFill>
                <a:latin typeface="+mn-lt"/>
              </a:rPr>
              <a:t>Cluster of</a:t>
            </a:r>
            <a:br>
              <a:rPr lang="en-BE" b="1" dirty="0">
                <a:solidFill>
                  <a:schemeClr val="accent3"/>
                </a:solidFill>
                <a:latin typeface="+mn-lt"/>
              </a:rPr>
            </a:br>
            <a:r>
              <a:rPr lang="en-BE" b="1" dirty="0">
                <a:solidFill>
                  <a:schemeClr val="accent3"/>
                </a:solidFill>
                <a:latin typeface="+mn-lt"/>
              </a:rPr>
              <a:t>RL Controller</a:t>
            </a:r>
          </a:p>
          <a:p>
            <a:pPr algn="ctr"/>
            <a:r>
              <a:rPr lang="en-BE" b="1" dirty="0">
                <a:solidFill>
                  <a:schemeClr val="accent3"/>
                </a:solidFill>
                <a:latin typeface="+mn-lt"/>
              </a:rPr>
              <a:t>Agents</a:t>
            </a:r>
          </a:p>
        </p:txBody>
      </p:sp>
      <p:grpSp>
        <p:nvGrpSpPr>
          <p:cNvPr id="625" name="Group 624">
            <a:extLst>
              <a:ext uri="{FF2B5EF4-FFF2-40B4-BE49-F238E27FC236}">
                <a16:creationId xmlns:a16="http://schemas.microsoft.com/office/drawing/2014/main" id="{870B8CC6-FF1D-70E4-AD9D-A2E461FDF075}"/>
              </a:ext>
            </a:extLst>
          </p:cNvPr>
          <p:cNvGrpSpPr/>
          <p:nvPr/>
        </p:nvGrpSpPr>
        <p:grpSpPr>
          <a:xfrm>
            <a:off x="4787025" y="1633076"/>
            <a:ext cx="6761299" cy="1229954"/>
            <a:chOff x="5641742" y="277084"/>
            <a:chExt cx="6761299" cy="1229954"/>
          </a:xfrm>
        </p:grpSpPr>
        <p:sp>
          <p:nvSpPr>
            <p:cNvPr id="624" name="Rounded Rectangle 623">
              <a:extLst>
                <a:ext uri="{FF2B5EF4-FFF2-40B4-BE49-F238E27FC236}">
                  <a16:creationId xmlns:a16="http://schemas.microsoft.com/office/drawing/2014/main" id="{3D07DD60-82D0-20C3-1285-2D05BECEC958}"/>
                </a:ext>
              </a:extLst>
            </p:cNvPr>
            <p:cNvSpPr/>
            <p:nvPr/>
          </p:nvSpPr>
          <p:spPr>
            <a:xfrm>
              <a:off x="9771160" y="320974"/>
              <a:ext cx="2631881" cy="1186064"/>
            </a:xfrm>
            <a:prstGeom prst="roundRect">
              <a:avLst/>
            </a:prstGeom>
            <a:solidFill>
              <a:srgbClr val="FFD9DA"/>
            </a:solidFill>
            <a:ln>
              <a:solidFill>
                <a:schemeClr val="accent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BE" dirty="0"/>
            </a:p>
          </p:txBody>
        </p:sp>
        <p:pic>
          <p:nvPicPr>
            <p:cNvPr id="8" name="Picture 7">
              <a:extLst>
                <a:ext uri="{FF2B5EF4-FFF2-40B4-BE49-F238E27FC236}">
                  <a16:creationId xmlns:a16="http://schemas.microsoft.com/office/drawing/2014/main" id="{8644D197-27F7-3381-325E-25F0CC2CE236}"/>
                </a:ext>
              </a:extLst>
            </p:cNvPr>
            <p:cNvPicPr>
              <a:picLocks noChangeAspect="1"/>
            </p:cNvPicPr>
            <p:nvPr/>
          </p:nvPicPr>
          <p:blipFill>
            <a:blip r:embed="rId3"/>
            <a:srcRect t="13983" r="43768" b="22813"/>
            <a:stretch>
              <a:fillRect/>
            </a:stretch>
          </p:blipFill>
          <p:spPr>
            <a:xfrm>
              <a:off x="5641742" y="277084"/>
              <a:ext cx="2042399" cy="1186064"/>
            </a:xfrm>
            <a:prstGeom prst="rect">
              <a:avLst/>
            </a:prstGeom>
          </p:spPr>
        </p:pic>
        <p:sp>
          <p:nvSpPr>
            <p:cNvPr id="115" name="TextBox 114">
              <a:extLst>
                <a:ext uri="{FF2B5EF4-FFF2-40B4-BE49-F238E27FC236}">
                  <a16:creationId xmlns:a16="http://schemas.microsoft.com/office/drawing/2014/main" id="{E05F5CCA-A1E9-6612-09D6-11CB2B91F0F4}"/>
                </a:ext>
              </a:extLst>
            </p:cNvPr>
            <p:cNvSpPr txBox="1"/>
            <p:nvPr/>
          </p:nvSpPr>
          <p:spPr>
            <a:xfrm>
              <a:off x="10962158" y="489372"/>
              <a:ext cx="1370888" cy="830997"/>
            </a:xfrm>
            <a:prstGeom prst="rect">
              <a:avLst/>
            </a:prstGeom>
            <a:noFill/>
          </p:spPr>
          <p:txBody>
            <a:bodyPr wrap="none" rtlCol="0">
              <a:spAutoFit/>
            </a:bodyPr>
            <a:lstStyle/>
            <a:p>
              <a:pPr algn="ctr"/>
              <a:r>
                <a:rPr lang="en-BE" b="1" dirty="0">
                  <a:solidFill>
                    <a:schemeClr val="accent3"/>
                  </a:solidFill>
                  <a:latin typeface="+mn-lt"/>
                </a:rPr>
                <a:t>Ensemble</a:t>
              </a:r>
            </a:p>
            <a:p>
              <a:pPr algn="ctr"/>
              <a:r>
                <a:rPr lang="en-BE" b="1" dirty="0">
                  <a:solidFill>
                    <a:schemeClr val="accent3"/>
                  </a:solidFill>
                  <a:latin typeface="+mn-lt"/>
                </a:rPr>
                <a:t>Neural Network</a:t>
              </a:r>
            </a:p>
            <a:p>
              <a:pPr algn="ctr"/>
              <a:r>
                <a:rPr lang="en-BE" b="1" dirty="0">
                  <a:solidFill>
                    <a:schemeClr val="accent3"/>
                  </a:solidFill>
                  <a:latin typeface="+mn-lt"/>
                </a:rPr>
                <a:t>Forecaster</a:t>
              </a:r>
            </a:p>
          </p:txBody>
        </p:sp>
        <p:grpSp>
          <p:nvGrpSpPr>
            <p:cNvPr id="507" name="Group 506">
              <a:extLst>
                <a:ext uri="{FF2B5EF4-FFF2-40B4-BE49-F238E27FC236}">
                  <a16:creationId xmlns:a16="http://schemas.microsoft.com/office/drawing/2014/main" id="{8DD6E4CF-FCF4-DF04-45BA-3E5987F53BDD}"/>
                </a:ext>
              </a:extLst>
            </p:cNvPr>
            <p:cNvGrpSpPr/>
            <p:nvPr/>
          </p:nvGrpSpPr>
          <p:grpSpPr>
            <a:xfrm>
              <a:off x="9894095" y="549032"/>
              <a:ext cx="882456" cy="826170"/>
              <a:chOff x="8214387" y="3173369"/>
              <a:chExt cx="1671163" cy="1564570"/>
            </a:xfrm>
          </p:grpSpPr>
          <p:grpSp>
            <p:nvGrpSpPr>
              <p:cNvPr id="409" name="Group 408">
                <a:extLst>
                  <a:ext uri="{FF2B5EF4-FFF2-40B4-BE49-F238E27FC236}">
                    <a16:creationId xmlns:a16="http://schemas.microsoft.com/office/drawing/2014/main" id="{727AD75D-F8D5-3018-0C37-2E6E0AD2D5DD}"/>
                  </a:ext>
                </a:extLst>
              </p:cNvPr>
              <p:cNvGrpSpPr/>
              <p:nvPr/>
            </p:nvGrpSpPr>
            <p:grpSpPr>
              <a:xfrm>
                <a:off x="8214387" y="3173369"/>
                <a:ext cx="1366363" cy="1259770"/>
                <a:chOff x="8119062" y="2903708"/>
                <a:chExt cx="2085112" cy="1922448"/>
              </a:xfrm>
            </p:grpSpPr>
            <p:sp>
              <p:nvSpPr>
                <p:cNvPr id="412" name="Rounded Rectangle 411">
                  <a:extLst>
                    <a:ext uri="{FF2B5EF4-FFF2-40B4-BE49-F238E27FC236}">
                      <a16:creationId xmlns:a16="http://schemas.microsoft.com/office/drawing/2014/main" id="{E210FEBC-80FE-7AD8-AB41-3B1483DB1220}"/>
                    </a:ext>
                  </a:extLst>
                </p:cNvPr>
                <p:cNvSpPr/>
                <p:nvPr/>
              </p:nvSpPr>
              <p:spPr>
                <a:xfrm>
                  <a:off x="8119062" y="2903708"/>
                  <a:ext cx="2085112" cy="1922448"/>
                </a:xfrm>
                <a:prstGeom prst="roundRect">
                  <a:avLst/>
                </a:prstGeom>
                <a:solidFill>
                  <a:schemeClr val="bg1">
                    <a:lumMod val="95000"/>
                  </a:schemeClr>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BE"/>
                </a:p>
              </p:txBody>
            </p:sp>
            <p:grpSp>
              <p:nvGrpSpPr>
                <p:cNvPr id="413" name="Group 412">
                  <a:extLst>
                    <a:ext uri="{FF2B5EF4-FFF2-40B4-BE49-F238E27FC236}">
                      <a16:creationId xmlns:a16="http://schemas.microsoft.com/office/drawing/2014/main" id="{78431A5D-49BF-F024-0F25-C2E173197826}"/>
                    </a:ext>
                  </a:extLst>
                </p:cNvPr>
                <p:cNvGrpSpPr/>
                <p:nvPr/>
              </p:nvGrpSpPr>
              <p:grpSpPr>
                <a:xfrm>
                  <a:off x="8339159" y="3138112"/>
                  <a:ext cx="1772251" cy="1473558"/>
                  <a:chOff x="6383257" y="1250651"/>
                  <a:chExt cx="1974694" cy="1641880"/>
                </a:xfrm>
              </p:grpSpPr>
              <p:sp>
                <p:nvSpPr>
                  <p:cNvPr id="414" name="Freeform: Shape 77">
                    <a:extLst>
                      <a:ext uri="{FF2B5EF4-FFF2-40B4-BE49-F238E27FC236}">
                        <a16:creationId xmlns:a16="http://schemas.microsoft.com/office/drawing/2014/main" id="{E45B013B-B94A-3842-6FEC-549CF13CF1B0}"/>
                      </a:ext>
                    </a:extLst>
                  </p:cNvPr>
                  <p:cNvSpPr/>
                  <p:nvPr/>
                </p:nvSpPr>
                <p:spPr>
                  <a:xfrm>
                    <a:off x="6505288" y="1372684"/>
                    <a:ext cx="576876" cy="232968"/>
                  </a:xfrm>
                  <a:custGeom>
                    <a:avLst/>
                    <a:gdLst>
                      <a:gd name="connsiteX0" fmla="*/ -1 w 309562"/>
                      <a:gd name="connsiteY0" fmla="*/ 125016 h 125015"/>
                      <a:gd name="connsiteX1" fmla="*/ 309562 w 309562"/>
                      <a:gd name="connsiteY1" fmla="*/ 0 h 125015"/>
                    </a:gdLst>
                    <a:ahLst/>
                    <a:cxnLst>
                      <a:cxn ang="0">
                        <a:pos x="connsiteX0" y="connsiteY0"/>
                      </a:cxn>
                      <a:cxn ang="0">
                        <a:pos x="connsiteX1" y="connsiteY1"/>
                      </a:cxn>
                    </a:cxnLst>
                    <a:rect l="l" t="t" r="r" b="b"/>
                    <a:pathLst>
                      <a:path w="309562" h="125015">
                        <a:moveTo>
                          <a:pt x="-1" y="125016"/>
                        </a:moveTo>
                        <a:lnTo>
                          <a:pt x="309562" y="0"/>
                        </a:lnTo>
                      </a:path>
                    </a:pathLst>
                  </a:custGeom>
                  <a:noFill/>
                  <a:ln w="28575" cap="flat">
                    <a:solidFill>
                      <a:schemeClr val="tx1"/>
                    </a:solidFill>
                    <a:prstDash val="solid"/>
                    <a:miter/>
                  </a:ln>
                </p:spPr>
                <p:txBody>
                  <a:bodyPr rtlCol="0" anchor="ctr"/>
                  <a:lstStyle/>
                  <a:p>
                    <a:endParaRPr lang="en-US"/>
                  </a:p>
                </p:txBody>
              </p:sp>
              <p:sp>
                <p:nvSpPr>
                  <p:cNvPr id="415" name="Freeform: Shape 78">
                    <a:extLst>
                      <a:ext uri="{FF2B5EF4-FFF2-40B4-BE49-F238E27FC236}">
                        <a16:creationId xmlns:a16="http://schemas.microsoft.com/office/drawing/2014/main" id="{ABFC611C-CDD3-D718-B163-ED808C66FB65}"/>
                      </a:ext>
                    </a:extLst>
                  </p:cNvPr>
                  <p:cNvSpPr/>
                  <p:nvPr/>
                </p:nvSpPr>
                <p:spPr>
                  <a:xfrm>
                    <a:off x="6505288" y="1605652"/>
                    <a:ext cx="576876" cy="698907"/>
                  </a:xfrm>
                  <a:custGeom>
                    <a:avLst/>
                    <a:gdLst>
                      <a:gd name="connsiteX0" fmla="*/ -1 w 309562"/>
                      <a:gd name="connsiteY0" fmla="*/ 0 h 375046"/>
                      <a:gd name="connsiteX1" fmla="*/ 309562 w 309562"/>
                      <a:gd name="connsiteY1" fmla="*/ 375047 h 375046"/>
                    </a:gdLst>
                    <a:ahLst/>
                    <a:cxnLst>
                      <a:cxn ang="0">
                        <a:pos x="connsiteX0" y="connsiteY0"/>
                      </a:cxn>
                      <a:cxn ang="0">
                        <a:pos x="connsiteX1" y="connsiteY1"/>
                      </a:cxn>
                    </a:cxnLst>
                    <a:rect l="l" t="t" r="r" b="b"/>
                    <a:pathLst>
                      <a:path w="309562" h="375046">
                        <a:moveTo>
                          <a:pt x="-1" y="0"/>
                        </a:moveTo>
                        <a:lnTo>
                          <a:pt x="309562" y="375047"/>
                        </a:lnTo>
                      </a:path>
                    </a:pathLst>
                  </a:custGeom>
                  <a:noFill/>
                  <a:ln w="28575" cap="flat">
                    <a:solidFill>
                      <a:schemeClr val="tx1"/>
                    </a:solidFill>
                    <a:prstDash val="solid"/>
                    <a:miter/>
                  </a:ln>
                </p:spPr>
                <p:txBody>
                  <a:bodyPr rtlCol="0" anchor="ctr"/>
                  <a:lstStyle/>
                  <a:p>
                    <a:endParaRPr lang="en-US"/>
                  </a:p>
                </p:txBody>
              </p:sp>
              <p:sp>
                <p:nvSpPr>
                  <p:cNvPr id="416" name="Freeform: Shape 81">
                    <a:extLst>
                      <a:ext uri="{FF2B5EF4-FFF2-40B4-BE49-F238E27FC236}">
                        <a16:creationId xmlns:a16="http://schemas.microsoft.com/office/drawing/2014/main" id="{18565499-8F26-223A-7DCB-0536A30D292E}"/>
                      </a:ext>
                    </a:extLst>
                  </p:cNvPr>
                  <p:cNvSpPr/>
                  <p:nvPr/>
                </p:nvSpPr>
                <p:spPr>
                  <a:xfrm>
                    <a:off x="6505288" y="1838623"/>
                    <a:ext cx="576876" cy="232968"/>
                  </a:xfrm>
                  <a:custGeom>
                    <a:avLst/>
                    <a:gdLst>
                      <a:gd name="connsiteX0" fmla="*/ -1 w 309562"/>
                      <a:gd name="connsiteY0" fmla="*/ 125016 h 125015"/>
                      <a:gd name="connsiteX1" fmla="*/ 309562 w 309562"/>
                      <a:gd name="connsiteY1" fmla="*/ 0 h 125015"/>
                    </a:gdLst>
                    <a:ahLst/>
                    <a:cxnLst>
                      <a:cxn ang="0">
                        <a:pos x="connsiteX0" y="connsiteY0"/>
                      </a:cxn>
                      <a:cxn ang="0">
                        <a:pos x="connsiteX1" y="connsiteY1"/>
                      </a:cxn>
                    </a:cxnLst>
                    <a:rect l="l" t="t" r="r" b="b"/>
                    <a:pathLst>
                      <a:path w="309562" h="125015">
                        <a:moveTo>
                          <a:pt x="-1" y="125016"/>
                        </a:moveTo>
                        <a:lnTo>
                          <a:pt x="309562" y="0"/>
                        </a:lnTo>
                      </a:path>
                    </a:pathLst>
                  </a:custGeom>
                  <a:noFill/>
                  <a:ln w="28575" cap="flat">
                    <a:solidFill>
                      <a:schemeClr val="tx1"/>
                    </a:solidFill>
                    <a:prstDash val="solid"/>
                    <a:miter/>
                  </a:ln>
                </p:spPr>
                <p:txBody>
                  <a:bodyPr rtlCol="0" anchor="ctr"/>
                  <a:lstStyle/>
                  <a:p>
                    <a:endParaRPr lang="en-US"/>
                  </a:p>
                </p:txBody>
              </p:sp>
              <p:sp>
                <p:nvSpPr>
                  <p:cNvPr id="417" name="Freeform: Shape 82">
                    <a:extLst>
                      <a:ext uri="{FF2B5EF4-FFF2-40B4-BE49-F238E27FC236}">
                        <a16:creationId xmlns:a16="http://schemas.microsoft.com/office/drawing/2014/main" id="{ED35252E-6E91-CDDA-EE58-B7016E9F7CAF}"/>
                      </a:ext>
                    </a:extLst>
                  </p:cNvPr>
                  <p:cNvSpPr/>
                  <p:nvPr/>
                </p:nvSpPr>
                <p:spPr>
                  <a:xfrm>
                    <a:off x="6505288" y="2071593"/>
                    <a:ext cx="576876" cy="232968"/>
                  </a:xfrm>
                  <a:custGeom>
                    <a:avLst/>
                    <a:gdLst>
                      <a:gd name="connsiteX0" fmla="*/ -1 w 309562"/>
                      <a:gd name="connsiteY0" fmla="*/ 0 h 125015"/>
                      <a:gd name="connsiteX1" fmla="*/ 309562 w 309562"/>
                      <a:gd name="connsiteY1" fmla="*/ 125016 h 125015"/>
                    </a:gdLst>
                    <a:ahLst/>
                    <a:cxnLst>
                      <a:cxn ang="0">
                        <a:pos x="connsiteX0" y="connsiteY0"/>
                      </a:cxn>
                      <a:cxn ang="0">
                        <a:pos x="connsiteX1" y="connsiteY1"/>
                      </a:cxn>
                    </a:cxnLst>
                    <a:rect l="l" t="t" r="r" b="b"/>
                    <a:pathLst>
                      <a:path w="309562" h="125015">
                        <a:moveTo>
                          <a:pt x="-1" y="0"/>
                        </a:moveTo>
                        <a:lnTo>
                          <a:pt x="309562" y="125016"/>
                        </a:lnTo>
                      </a:path>
                    </a:pathLst>
                  </a:custGeom>
                  <a:noFill/>
                  <a:ln w="28575" cap="flat">
                    <a:solidFill>
                      <a:schemeClr val="tx1"/>
                    </a:solidFill>
                    <a:prstDash val="solid"/>
                    <a:miter/>
                  </a:ln>
                </p:spPr>
                <p:txBody>
                  <a:bodyPr rtlCol="0" anchor="ctr"/>
                  <a:lstStyle/>
                  <a:p>
                    <a:endParaRPr lang="en-US"/>
                  </a:p>
                </p:txBody>
              </p:sp>
              <p:sp>
                <p:nvSpPr>
                  <p:cNvPr id="418" name="Freeform: Shape 83">
                    <a:extLst>
                      <a:ext uri="{FF2B5EF4-FFF2-40B4-BE49-F238E27FC236}">
                        <a16:creationId xmlns:a16="http://schemas.microsoft.com/office/drawing/2014/main" id="{D6D0B766-1325-2C79-A79A-0403B0F1F2F9}"/>
                      </a:ext>
                    </a:extLst>
                  </p:cNvPr>
                  <p:cNvSpPr/>
                  <p:nvPr/>
                </p:nvSpPr>
                <p:spPr>
                  <a:xfrm>
                    <a:off x="6505288" y="2071593"/>
                    <a:ext cx="576876" cy="698907"/>
                  </a:xfrm>
                  <a:custGeom>
                    <a:avLst/>
                    <a:gdLst>
                      <a:gd name="connsiteX0" fmla="*/ -1 w 309562"/>
                      <a:gd name="connsiteY0" fmla="*/ 0 h 375046"/>
                      <a:gd name="connsiteX1" fmla="*/ 309562 w 309562"/>
                      <a:gd name="connsiteY1" fmla="*/ 375047 h 375046"/>
                    </a:gdLst>
                    <a:ahLst/>
                    <a:cxnLst>
                      <a:cxn ang="0">
                        <a:pos x="connsiteX0" y="connsiteY0"/>
                      </a:cxn>
                      <a:cxn ang="0">
                        <a:pos x="connsiteX1" y="connsiteY1"/>
                      </a:cxn>
                    </a:cxnLst>
                    <a:rect l="l" t="t" r="r" b="b"/>
                    <a:pathLst>
                      <a:path w="309562" h="375046">
                        <a:moveTo>
                          <a:pt x="-1" y="0"/>
                        </a:moveTo>
                        <a:lnTo>
                          <a:pt x="309562" y="375047"/>
                        </a:lnTo>
                      </a:path>
                    </a:pathLst>
                  </a:custGeom>
                  <a:noFill/>
                  <a:ln w="28575" cap="flat">
                    <a:solidFill>
                      <a:schemeClr val="tx1"/>
                    </a:solidFill>
                    <a:prstDash val="solid"/>
                    <a:miter/>
                  </a:ln>
                </p:spPr>
                <p:txBody>
                  <a:bodyPr rtlCol="0" anchor="ctr"/>
                  <a:lstStyle/>
                  <a:p>
                    <a:endParaRPr lang="en-US"/>
                  </a:p>
                </p:txBody>
              </p:sp>
              <p:sp>
                <p:nvSpPr>
                  <p:cNvPr id="419" name="Freeform: Shape 84">
                    <a:extLst>
                      <a:ext uri="{FF2B5EF4-FFF2-40B4-BE49-F238E27FC236}">
                        <a16:creationId xmlns:a16="http://schemas.microsoft.com/office/drawing/2014/main" id="{BF9C55E0-2146-C0FE-F47A-1A3FEE7C748E}"/>
                      </a:ext>
                    </a:extLst>
                  </p:cNvPr>
                  <p:cNvSpPr/>
                  <p:nvPr/>
                </p:nvSpPr>
                <p:spPr>
                  <a:xfrm>
                    <a:off x="6505288" y="2304561"/>
                    <a:ext cx="576876" cy="232968"/>
                  </a:xfrm>
                  <a:custGeom>
                    <a:avLst/>
                    <a:gdLst>
                      <a:gd name="connsiteX0" fmla="*/ -1 w 309562"/>
                      <a:gd name="connsiteY0" fmla="*/ 125016 h 125015"/>
                      <a:gd name="connsiteX1" fmla="*/ 309562 w 309562"/>
                      <a:gd name="connsiteY1" fmla="*/ 0 h 125015"/>
                    </a:gdLst>
                    <a:ahLst/>
                    <a:cxnLst>
                      <a:cxn ang="0">
                        <a:pos x="connsiteX0" y="connsiteY0"/>
                      </a:cxn>
                      <a:cxn ang="0">
                        <a:pos x="connsiteX1" y="connsiteY1"/>
                      </a:cxn>
                    </a:cxnLst>
                    <a:rect l="l" t="t" r="r" b="b"/>
                    <a:pathLst>
                      <a:path w="309562" h="125015">
                        <a:moveTo>
                          <a:pt x="-1" y="125016"/>
                        </a:moveTo>
                        <a:lnTo>
                          <a:pt x="309562" y="0"/>
                        </a:lnTo>
                      </a:path>
                    </a:pathLst>
                  </a:custGeom>
                  <a:noFill/>
                  <a:ln w="28575" cap="flat">
                    <a:solidFill>
                      <a:schemeClr val="tx1"/>
                    </a:solidFill>
                    <a:prstDash val="solid"/>
                    <a:miter/>
                  </a:ln>
                </p:spPr>
                <p:txBody>
                  <a:bodyPr rtlCol="0" anchor="ctr"/>
                  <a:lstStyle/>
                  <a:p>
                    <a:endParaRPr lang="en-US"/>
                  </a:p>
                </p:txBody>
              </p:sp>
              <p:sp>
                <p:nvSpPr>
                  <p:cNvPr id="420" name="Freeform: Shape 85">
                    <a:extLst>
                      <a:ext uri="{FF2B5EF4-FFF2-40B4-BE49-F238E27FC236}">
                        <a16:creationId xmlns:a16="http://schemas.microsoft.com/office/drawing/2014/main" id="{6CF0F7D6-423E-8316-0A2F-6E8CB2FFABDF}"/>
                      </a:ext>
                    </a:extLst>
                  </p:cNvPr>
                  <p:cNvSpPr/>
                  <p:nvPr/>
                </p:nvSpPr>
                <p:spPr>
                  <a:xfrm>
                    <a:off x="6505288" y="2537532"/>
                    <a:ext cx="576876" cy="232968"/>
                  </a:xfrm>
                  <a:custGeom>
                    <a:avLst/>
                    <a:gdLst>
                      <a:gd name="connsiteX0" fmla="*/ -1 w 309562"/>
                      <a:gd name="connsiteY0" fmla="*/ 0 h 125015"/>
                      <a:gd name="connsiteX1" fmla="*/ 309562 w 309562"/>
                      <a:gd name="connsiteY1" fmla="*/ 125016 h 125015"/>
                    </a:gdLst>
                    <a:ahLst/>
                    <a:cxnLst>
                      <a:cxn ang="0">
                        <a:pos x="connsiteX0" y="connsiteY0"/>
                      </a:cxn>
                      <a:cxn ang="0">
                        <a:pos x="connsiteX1" y="connsiteY1"/>
                      </a:cxn>
                    </a:cxnLst>
                    <a:rect l="l" t="t" r="r" b="b"/>
                    <a:pathLst>
                      <a:path w="309562" h="125015">
                        <a:moveTo>
                          <a:pt x="-1" y="0"/>
                        </a:moveTo>
                        <a:lnTo>
                          <a:pt x="309562" y="125016"/>
                        </a:lnTo>
                      </a:path>
                    </a:pathLst>
                  </a:custGeom>
                  <a:noFill/>
                  <a:ln w="28575" cap="flat">
                    <a:solidFill>
                      <a:schemeClr val="tx1"/>
                    </a:solidFill>
                    <a:prstDash val="solid"/>
                    <a:miter/>
                  </a:ln>
                </p:spPr>
                <p:txBody>
                  <a:bodyPr rtlCol="0" anchor="ctr"/>
                  <a:lstStyle/>
                  <a:p>
                    <a:endParaRPr lang="en-US"/>
                  </a:p>
                </p:txBody>
              </p:sp>
              <p:sp>
                <p:nvSpPr>
                  <p:cNvPr id="421" name="Freeform: Shape 86">
                    <a:extLst>
                      <a:ext uri="{FF2B5EF4-FFF2-40B4-BE49-F238E27FC236}">
                        <a16:creationId xmlns:a16="http://schemas.microsoft.com/office/drawing/2014/main" id="{89203932-D635-79ED-55AC-79A066E5893B}"/>
                      </a:ext>
                    </a:extLst>
                  </p:cNvPr>
                  <p:cNvSpPr/>
                  <p:nvPr/>
                </p:nvSpPr>
                <p:spPr>
                  <a:xfrm>
                    <a:off x="7082166" y="1372684"/>
                    <a:ext cx="576876" cy="232968"/>
                  </a:xfrm>
                  <a:custGeom>
                    <a:avLst/>
                    <a:gdLst>
                      <a:gd name="connsiteX0" fmla="*/ -1 w 309562"/>
                      <a:gd name="connsiteY0" fmla="*/ 0 h 125015"/>
                      <a:gd name="connsiteX1" fmla="*/ 309562 w 309562"/>
                      <a:gd name="connsiteY1" fmla="*/ 125016 h 125015"/>
                    </a:gdLst>
                    <a:ahLst/>
                    <a:cxnLst>
                      <a:cxn ang="0">
                        <a:pos x="connsiteX0" y="connsiteY0"/>
                      </a:cxn>
                      <a:cxn ang="0">
                        <a:pos x="connsiteX1" y="connsiteY1"/>
                      </a:cxn>
                    </a:cxnLst>
                    <a:rect l="l" t="t" r="r" b="b"/>
                    <a:pathLst>
                      <a:path w="309562" h="125015">
                        <a:moveTo>
                          <a:pt x="-1" y="0"/>
                        </a:moveTo>
                        <a:lnTo>
                          <a:pt x="309562" y="125016"/>
                        </a:lnTo>
                      </a:path>
                    </a:pathLst>
                  </a:custGeom>
                  <a:noFill/>
                  <a:ln w="28575" cap="flat">
                    <a:solidFill>
                      <a:schemeClr val="tx1"/>
                    </a:solidFill>
                    <a:prstDash val="solid"/>
                    <a:miter/>
                  </a:ln>
                </p:spPr>
                <p:txBody>
                  <a:bodyPr rtlCol="0" anchor="ctr"/>
                  <a:lstStyle/>
                  <a:p>
                    <a:endParaRPr lang="en-US"/>
                  </a:p>
                </p:txBody>
              </p:sp>
              <p:sp>
                <p:nvSpPr>
                  <p:cNvPr id="422" name="Freeform: Shape 87">
                    <a:extLst>
                      <a:ext uri="{FF2B5EF4-FFF2-40B4-BE49-F238E27FC236}">
                        <a16:creationId xmlns:a16="http://schemas.microsoft.com/office/drawing/2014/main" id="{89DC558F-65B5-2F96-8988-F28F70A7723D}"/>
                      </a:ext>
                    </a:extLst>
                  </p:cNvPr>
                  <p:cNvSpPr/>
                  <p:nvPr/>
                </p:nvSpPr>
                <p:spPr>
                  <a:xfrm>
                    <a:off x="7082166" y="1372684"/>
                    <a:ext cx="576876" cy="698907"/>
                  </a:xfrm>
                  <a:custGeom>
                    <a:avLst/>
                    <a:gdLst>
                      <a:gd name="connsiteX0" fmla="*/ -1 w 309562"/>
                      <a:gd name="connsiteY0" fmla="*/ 0 h 375046"/>
                      <a:gd name="connsiteX1" fmla="*/ 309562 w 309562"/>
                      <a:gd name="connsiteY1" fmla="*/ 375047 h 375046"/>
                    </a:gdLst>
                    <a:ahLst/>
                    <a:cxnLst>
                      <a:cxn ang="0">
                        <a:pos x="connsiteX0" y="connsiteY0"/>
                      </a:cxn>
                      <a:cxn ang="0">
                        <a:pos x="connsiteX1" y="connsiteY1"/>
                      </a:cxn>
                    </a:cxnLst>
                    <a:rect l="l" t="t" r="r" b="b"/>
                    <a:pathLst>
                      <a:path w="309562" h="375046">
                        <a:moveTo>
                          <a:pt x="-1" y="0"/>
                        </a:moveTo>
                        <a:lnTo>
                          <a:pt x="309562" y="375047"/>
                        </a:lnTo>
                      </a:path>
                    </a:pathLst>
                  </a:custGeom>
                  <a:noFill/>
                  <a:ln w="28575" cap="flat">
                    <a:solidFill>
                      <a:schemeClr val="tx1"/>
                    </a:solidFill>
                    <a:prstDash val="solid"/>
                    <a:miter/>
                  </a:ln>
                </p:spPr>
                <p:txBody>
                  <a:bodyPr rtlCol="0" anchor="ctr"/>
                  <a:lstStyle/>
                  <a:p>
                    <a:endParaRPr lang="en-US"/>
                  </a:p>
                </p:txBody>
              </p:sp>
              <p:sp>
                <p:nvSpPr>
                  <p:cNvPr id="423" name="Freeform: Shape 88">
                    <a:extLst>
                      <a:ext uri="{FF2B5EF4-FFF2-40B4-BE49-F238E27FC236}">
                        <a16:creationId xmlns:a16="http://schemas.microsoft.com/office/drawing/2014/main" id="{7579CFBB-7BDF-37A5-9361-D11B6AC9D90E}"/>
                      </a:ext>
                    </a:extLst>
                  </p:cNvPr>
                  <p:cNvSpPr/>
                  <p:nvPr/>
                </p:nvSpPr>
                <p:spPr>
                  <a:xfrm>
                    <a:off x="7082166" y="1605652"/>
                    <a:ext cx="576876" cy="232968"/>
                  </a:xfrm>
                  <a:custGeom>
                    <a:avLst/>
                    <a:gdLst>
                      <a:gd name="connsiteX0" fmla="*/ -1 w 309562"/>
                      <a:gd name="connsiteY0" fmla="*/ 125016 h 125015"/>
                      <a:gd name="connsiteX1" fmla="*/ 309562 w 309562"/>
                      <a:gd name="connsiteY1" fmla="*/ 0 h 125015"/>
                    </a:gdLst>
                    <a:ahLst/>
                    <a:cxnLst>
                      <a:cxn ang="0">
                        <a:pos x="connsiteX0" y="connsiteY0"/>
                      </a:cxn>
                      <a:cxn ang="0">
                        <a:pos x="connsiteX1" y="connsiteY1"/>
                      </a:cxn>
                    </a:cxnLst>
                    <a:rect l="l" t="t" r="r" b="b"/>
                    <a:pathLst>
                      <a:path w="309562" h="125015">
                        <a:moveTo>
                          <a:pt x="-1" y="125016"/>
                        </a:moveTo>
                        <a:lnTo>
                          <a:pt x="309562" y="0"/>
                        </a:lnTo>
                      </a:path>
                    </a:pathLst>
                  </a:custGeom>
                  <a:noFill/>
                  <a:ln w="28575" cap="flat">
                    <a:solidFill>
                      <a:schemeClr val="tx1"/>
                    </a:solidFill>
                    <a:prstDash val="solid"/>
                    <a:miter/>
                  </a:ln>
                </p:spPr>
                <p:txBody>
                  <a:bodyPr rtlCol="0" anchor="ctr"/>
                  <a:lstStyle/>
                  <a:p>
                    <a:endParaRPr lang="en-US"/>
                  </a:p>
                </p:txBody>
              </p:sp>
              <p:sp>
                <p:nvSpPr>
                  <p:cNvPr id="424" name="Freeform: Shape 89">
                    <a:extLst>
                      <a:ext uri="{FF2B5EF4-FFF2-40B4-BE49-F238E27FC236}">
                        <a16:creationId xmlns:a16="http://schemas.microsoft.com/office/drawing/2014/main" id="{2A45AEC4-4F87-1351-BB8A-0F411F7C83A4}"/>
                      </a:ext>
                    </a:extLst>
                  </p:cNvPr>
                  <p:cNvSpPr/>
                  <p:nvPr/>
                </p:nvSpPr>
                <p:spPr>
                  <a:xfrm>
                    <a:off x="7082166" y="1838623"/>
                    <a:ext cx="576876" cy="232968"/>
                  </a:xfrm>
                  <a:custGeom>
                    <a:avLst/>
                    <a:gdLst>
                      <a:gd name="connsiteX0" fmla="*/ -1 w 309562"/>
                      <a:gd name="connsiteY0" fmla="*/ 0 h 125015"/>
                      <a:gd name="connsiteX1" fmla="*/ 309562 w 309562"/>
                      <a:gd name="connsiteY1" fmla="*/ 125016 h 125015"/>
                    </a:gdLst>
                    <a:ahLst/>
                    <a:cxnLst>
                      <a:cxn ang="0">
                        <a:pos x="connsiteX0" y="connsiteY0"/>
                      </a:cxn>
                      <a:cxn ang="0">
                        <a:pos x="connsiteX1" y="connsiteY1"/>
                      </a:cxn>
                    </a:cxnLst>
                    <a:rect l="l" t="t" r="r" b="b"/>
                    <a:pathLst>
                      <a:path w="309562" h="125015">
                        <a:moveTo>
                          <a:pt x="-1" y="0"/>
                        </a:moveTo>
                        <a:lnTo>
                          <a:pt x="309562" y="125016"/>
                        </a:lnTo>
                      </a:path>
                    </a:pathLst>
                  </a:custGeom>
                  <a:noFill/>
                  <a:ln w="28575" cap="flat">
                    <a:solidFill>
                      <a:schemeClr val="tx1"/>
                    </a:solidFill>
                    <a:prstDash val="solid"/>
                    <a:miter/>
                  </a:ln>
                </p:spPr>
                <p:txBody>
                  <a:bodyPr rtlCol="0" anchor="ctr"/>
                  <a:lstStyle/>
                  <a:p>
                    <a:endParaRPr lang="en-US"/>
                  </a:p>
                </p:txBody>
              </p:sp>
              <p:sp>
                <p:nvSpPr>
                  <p:cNvPr id="425" name="Freeform: Shape 90">
                    <a:extLst>
                      <a:ext uri="{FF2B5EF4-FFF2-40B4-BE49-F238E27FC236}">
                        <a16:creationId xmlns:a16="http://schemas.microsoft.com/office/drawing/2014/main" id="{8B4F89A2-BAAE-FC00-A421-1F2A812D1AE0}"/>
                      </a:ext>
                    </a:extLst>
                  </p:cNvPr>
                  <p:cNvSpPr/>
                  <p:nvPr/>
                </p:nvSpPr>
                <p:spPr>
                  <a:xfrm>
                    <a:off x="7082166" y="1605652"/>
                    <a:ext cx="576876" cy="698907"/>
                  </a:xfrm>
                  <a:custGeom>
                    <a:avLst/>
                    <a:gdLst>
                      <a:gd name="connsiteX0" fmla="*/ -1 w 309562"/>
                      <a:gd name="connsiteY0" fmla="*/ 375047 h 375046"/>
                      <a:gd name="connsiteX1" fmla="*/ 309562 w 309562"/>
                      <a:gd name="connsiteY1" fmla="*/ 0 h 375046"/>
                    </a:gdLst>
                    <a:ahLst/>
                    <a:cxnLst>
                      <a:cxn ang="0">
                        <a:pos x="connsiteX0" y="connsiteY0"/>
                      </a:cxn>
                      <a:cxn ang="0">
                        <a:pos x="connsiteX1" y="connsiteY1"/>
                      </a:cxn>
                    </a:cxnLst>
                    <a:rect l="l" t="t" r="r" b="b"/>
                    <a:pathLst>
                      <a:path w="309562" h="375046">
                        <a:moveTo>
                          <a:pt x="-1" y="375047"/>
                        </a:moveTo>
                        <a:lnTo>
                          <a:pt x="309562" y="0"/>
                        </a:lnTo>
                      </a:path>
                    </a:pathLst>
                  </a:custGeom>
                  <a:noFill/>
                  <a:ln w="28575" cap="flat">
                    <a:solidFill>
                      <a:schemeClr val="tx1"/>
                    </a:solidFill>
                    <a:prstDash val="solid"/>
                    <a:miter/>
                  </a:ln>
                </p:spPr>
                <p:txBody>
                  <a:bodyPr rtlCol="0" anchor="ctr"/>
                  <a:lstStyle/>
                  <a:p>
                    <a:endParaRPr lang="en-US"/>
                  </a:p>
                </p:txBody>
              </p:sp>
              <p:sp>
                <p:nvSpPr>
                  <p:cNvPr id="426" name="Freeform: Shape 91">
                    <a:extLst>
                      <a:ext uri="{FF2B5EF4-FFF2-40B4-BE49-F238E27FC236}">
                        <a16:creationId xmlns:a16="http://schemas.microsoft.com/office/drawing/2014/main" id="{CF1B8362-FC6B-69C6-0116-174647AE9F42}"/>
                      </a:ext>
                    </a:extLst>
                  </p:cNvPr>
                  <p:cNvSpPr/>
                  <p:nvPr/>
                </p:nvSpPr>
                <p:spPr>
                  <a:xfrm>
                    <a:off x="7082166" y="2071593"/>
                    <a:ext cx="576876" cy="232968"/>
                  </a:xfrm>
                  <a:custGeom>
                    <a:avLst/>
                    <a:gdLst>
                      <a:gd name="connsiteX0" fmla="*/ -1 w 309562"/>
                      <a:gd name="connsiteY0" fmla="*/ 125016 h 125015"/>
                      <a:gd name="connsiteX1" fmla="*/ 309562 w 309562"/>
                      <a:gd name="connsiteY1" fmla="*/ 0 h 125015"/>
                    </a:gdLst>
                    <a:ahLst/>
                    <a:cxnLst>
                      <a:cxn ang="0">
                        <a:pos x="connsiteX0" y="connsiteY0"/>
                      </a:cxn>
                      <a:cxn ang="0">
                        <a:pos x="connsiteX1" y="connsiteY1"/>
                      </a:cxn>
                    </a:cxnLst>
                    <a:rect l="l" t="t" r="r" b="b"/>
                    <a:pathLst>
                      <a:path w="309562" h="125015">
                        <a:moveTo>
                          <a:pt x="-1" y="125016"/>
                        </a:moveTo>
                        <a:lnTo>
                          <a:pt x="309562" y="0"/>
                        </a:lnTo>
                      </a:path>
                    </a:pathLst>
                  </a:custGeom>
                  <a:noFill/>
                  <a:ln w="28575" cap="flat">
                    <a:solidFill>
                      <a:schemeClr val="tx1"/>
                    </a:solidFill>
                    <a:prstDash val="solid"/>
                    <a:miter/>
                  </a:ln>
                </p:spPr>
                <p:txBody>
                  <a:bodyPr rtlCol="0" anchor="ctr"/>
                  <a:lstStyle/>
                  <a:p>
                    <a:endParaRPr lang="en-US"/>
                  </a:p>
                </p:txBody>
              </p:sp>
              <p:sp>
                <p:nvSpPr>
                  <p:cNvPr id="427" name="Freeform: Shape 92">
                    <a:extLst>
                      <a:ext uri="{FF2B5EF4-FFF2-40B4-BE49-F238E27FC236}">
                        <a16:creationId xmlns:a16="http://schemas.microsoft.com/office/drawing/2014/main" id="{41793408-0D62-1275-08BD-AC52C35D1561}"/>
                      </a:ext>
                    </a:extLst>
                  </p:cNvPr>
                  <p:cNvSpPr/>
                  <p:nvPr/>
                </p:nvSpPr>
                <p:spPr>
                  <a:xfrm>
                    <a:off x="7659042" y="1605652"/>
                    <a:ext cx="576876" cy="465939"/>
                  </a:xfrm>
                  <a:custGeom>
                    <a:avLst/>
                    <a:gdLst>
                      <a:gd name="connsiteX0" fmla="*/ -1 w 309562"/>
                      <a:gd name="connsiteY0" fmla="*/ 0 h 250031"/>
                      <a:gd name="connsiteX1" fmla="*/ 309562 w 309562"/>
                      <a:gd name="connsiteY1" fmla="*/ 250031 h 250031"/>
                    </a:gdLst>
                    <a:ahLst/>
                    <a:cxnLst>
                      <a:cxn ang="0">
                        <a:pos x="connsiteX0" y="connsiteY0"/>
                      </a:cxn>
                      <a:cxn ang="0">
                        <a:pos x="connsiteX1" y="connsiteY1"/>
                      </a:cxn>
                    </a:cxnLst>
                    <a:rect l="l" t="t" r="r" b="b"/>
                    <a:pathLst>
                      <a:path w="309562" h="250031">
                        <a:moveTo>
                          <a:pt x="-1" y="0"/>
                        </a:moveTo>
                        <a:lnTo>
                          <a:pt x="309562" y="250031"/>
                        </a:lnTo>
                      </a:path>
                    </a:pathLst>
                  </a:custGeom>
                  <a:noFill/>
                  <a:ln w="28575" cap="flat">
                    <a:solidFill>
                      <a:schemeClr val="tx1"/>
                    </a:solidFill>
                    <a:prstDash val="solid"/>
                    <a:miter/>
                  </a:ln>
                </p:spPr>
                <p:txBody>
                  <a:bodyPr rtlCol="0" anchor="ctr"/>
                  <a:lstStyle/>
                  <a:p>
                    <a:endParaRPr lang="en-US"/>
                  </a:p>
                </p:txBody>
              </p:sp>
              <p:sp>
                <p:nvSpPr>
                  <p:cNvPr id="428" name="Freeform: Shape 93">
                    <a:extLst>
                      <a:ext uri="{FF2B5EF4-FFF2-40B4-BE49-F238E27FC236}">
                        <a16:creationId xmlns:a16="http://schemas.microsoft.com/office/drawing/2014/main" id="{1BB2508A-C286-DAA8-F2DD-EDB54C2B9F47}"/>
                      </a:ext>
                    </a:extLst>
                  </p:cNvPr>
                  <p:cNvSpPr/>
                  <p:nvPr/>
                </p:nvSpPr>
                <p:spPr>
                  <a:xfrm>
                    <a:off x="7659042" y="2071593"/>
                    <a:ext cx="576876" cy="11094"/>
                  </a:xfrm>
                  <a:custGeom>
                    <a:avLst/>
                    <a:gdLst>
                      <a:gd name="connsiteX0" fmla="*/ -1 w 309562"/>
                      <a:gd name="connsiteY0" fmla="*/ 0 h 5953"/>
                      <a:gd name="connsiteX1" fmla="*/ 309562 w 309562"/>
                      <a:gd name="connsiteY1" fmla="*/ 0 h 5953"/>
                    </a:gdLst>
                    <a:ahLst/>
                    <a:cxnLst>
                      <a:cxn ang="0">
                        <a:pos x="connsiteX0" y="connsiteY0"/>
                      </a:cxn>
                      <a:cxn ang="0">
                        <a:pos x="connsiteX1" y="connsiteY1"/>
                      </a:cxn>
                    </a:cxnLst>
                    <a:rect l="l" t="t" r="r" b="b"/>
                    <a:pathLst>
                      <a:path w="309562" h="5953">
                        <a:moveTo>
                          <a:pt x="-1" y="0"/>
                        </a:moveTo>
                        <a:lnTo>
                          <a:pt x="309562" y="0"/>
                        </a:lnTo>
                      </a:path>
                    </a:pathLst>
                  </a:custGeom>
                  <a:noFill/>
                  <a:ln w="28575" cap="flat">
                    <a:solidFill>
                      <a:schemeClr val="tx1"/>
                    </a:solidFill>
                    <a:prstDash val="solid"/>
                    <a:miter/>
                  </a:ln>
                </p:spPr>
                <p:txBody>
                  <a:bodyPr rtlCol="0" anchor="ctr"/>
                  <a:lstStyle/>
                  <a:p>
                    <a:endParaRPr lang="en-US"/>
                  </a:p>
                </p:txBody>
              </p:sp>
              <p:sp>
                <p:nvSpPr>
                  <p:cNvPr id="429" name="Freeform: Shape 94">
                    <a:extLst>
                      <a:ext uri="{FF2B5EF4-FFF2-40B4-BE49-F238E27FC236}">
                        <a16:creationId xmlns:a16="http://schemas.microsoft.com/office/drawing/2014/main" id="{7268D4C4-45F2-98C6-B619-733CA245964F}"/>
                      </a:ext>
                    </a:extLst>
                  </p:cNvPr>
                  <p:cNvSpPr/>
                  <p:nvPr/>
                </p:nvSpPr>
                <p:spPr>
                  <a:xfrm>
                    <a:off x="7082166" y="2304561"/>
                    <a:ext cx="576876" cy="232968"/>
                  </a:xfrm>
                  <a:custGeom>
                    <a:avLst/>
                    <a:gdLst>
                      <a:gd name="connsiteX0" fmla="*/ -1 w 309562"/>
                      <a:gd name="connsiteY0" fmla="*/ 0 h 125015"/>
                      <a:gd name="connsiteX1" fmla="*/ 309562 w 309562"/>
                      <a:gd name="connsiteY1" fmla="*/ 125016 h 125015"/>
                    </a:gdLst>
                    <a:ahLst/>
                    <a:cxnLst>
                      <a:cxn ang="0">
                        <a:pos x="connsiteX0" y="connsiteY0"/>
                      </a:cxn>
                      <a:cxn ang="0">
                        <a:pos x="connsiteX1" y="connsiteY1"/>
                      </a:cxn>
                    </a:cxnLst>
                    <a:rect l="l" t="t" r="r" b="b"/>
                    <a:pathLst>
                      <a:path w="309562" h="125015">
                        <a:moveTo>
                          <a:pt x="-1" y="0"/>
                        </a:moveTo>
                        <a:lnTo>
                          <a:pt x="309562" y="125016"/>
                        </a:lnTo>
                      </a:path>
                    </a:pathLst>
                  </a:custGeom>
                  <a:noFill/>
                  <a:ln w="28575" cap="flat">
                    <a:solidFill>
                      <a:schemeClr val="tx1"/>
                    </a:solidFill>
                    <a:prstDash val="solid"/>
                    <a:miter/>
                  </a:ln>
                </p:spPr>
                <p:txBody>
                  <a:bodyPr rtlCol="0" anchor="ctr"/>
                  <a:lstStyle/>
                  <a:p>
                    <a:endParaRPr lang="en-US"/>
                  </a:p>
                </p:txBody>
              </p:sp>
              <p:sp>
                <p:nvSpPr>
                  <p:cNvPr id="430" name="Freeform: Shape 95">
                    <a:extLst>
                      <a:ext uri="{FF2B5EF4-FFF2-40B4-BE49-F238E27FC236}">
                        <a16:creationId xmlns:a16="http://schemas.microsoft.com/office/drawing/2014/main" id="{E3D2A4B9-ABC7-56F3-1B3C-70DBC30286D4}"/>
                      </a:ext>
                    </a:extLst>
                  </p:cNvPr>
                  <p:cNvSpPr/>
                  <p:nvPr/>
                </p:nvSpPr>
                <p:spPr>
                  <a:xfrm>
                    <a:off x="7082166" y="2537532"/>
                    <a:ext cx="576876" cy="232968"/>
                  </a:xfrm>
                  <a:custGeom>
                    <a:avLst/>
                    <a:gdLst>
                      <a:gd name="connsiteX0" fmla="*/ -1 w 309562"/>
                      <a:gd name="connsiteY0" fmla="*/ 125016 h 125015"/>
                      <a:gd name="connsiteX1" fmla="*/ 309562 w 309562"/>
                      <a:gd name="connsiteY1" fmla="*/ 0 h 125015"/>
                    </a:gdLst>
                    <a:ahLst/>
                    <a:cxnLst>
                      <a:cxn ang="0">
                        <a:pos x="connsiteX0" y="connsiteY0"/>
                      </a:cxn>
                      <a:cxn ang="0">
                        <a:pos x="connsiteX1" y="connsiteY1"/>
                      </a:cxn>
                    </a:cxnLst>
                    <a:rect l="l" t="t" r="r" b="b"/>
                    <a:pathLst>
                      <a:path w="309562" h="125015">
                        <a:moveTo>
                          <a:pt x="-1" y="125016"/>
                        </a:moveTo>
                        <a:lnTo>
                          <a:pt x="309562" y="0"/>
                        </a:lnTo>
                      </a:path>
                    </a:pathLst>
                  </a:custGeom>
                  <a:noFill/>
                  <a:ln w="28575" cap="flat">
                    <a:solidFill>
                      <a:schemeClr val="tx1"/>
                    </a:solidFill>
                    <a:prstDash val="solid"/>
                    <a:miter/>
                  </a:ln>
                </p:spPr>
                <p:txBody>
                  <a:bodyPr rtlCol="0" anchor="ctr"/>
                  <a:lstStyle/>
                  <a:p>
                    <a:endParaRPr lang="en-US"/>
                  </a:p>
                </p:txBody>
              </p:sp>
              <p:sp>
                <p:nvSpPr>
                  <p:cNvPr id="431" name="Freeform: Shape 96">
                    <a:extLst>
                      <a:ext uri="{FF2B5EF4-FFF2-40B4-BE49-F238E27FC236}">
                        <a16:creationId xmlns:a16="http://schemas.microsoft.com/office/drawing/2014/main" id="{95B93301-0303-75C7-4F4A-685F13851E8D}"/>
                      </a:ext>
                    </a:extLst>
                  </p:cNvPr>
                  <p:cNvSpPr/>
                  <p:nvPr/>
                </p:nvSpPr>
                <p:spPr>
                  <a:xfrm>
                    <a:off x="7659042" y="2071593"/>
                    <a:ext cx="576876" cy="465939"/>
                  </a:xfrm>
                  <a:custGeom>
                    <a:avLst/>
                    <a:gdLst>
                      <a:gd name="connsiteX0" fmla="*/ -1 w 309562"/>
                      <a:gd name="connsiteY0" fmla="*/ 250031 h 250031"/>
                      <a:gd name="connsiteX1" fmla="*/ 309562 w 309562"/>
                      <a:gd name="connsiteY1" fmla="*/ 0 h 250031"/>
                    </a:gdLst>
                    <a:ahLst/>
                    <a:cxnLst>
                      <a:cxn ang="0">
                        <a:pos x="connsiteX0" y="connsiteY0"/>
                      </a:cxn>
                      <a:cxn ang="0">
                        <a:pos x="connsiteX1" y="connsiteY1"/>
                      </a:cxn>
                    </a:cxnLst>
                    <a:rect l="l" t="t" r="r" b="b"/>
                    <a:pathLst>
                      <a:path w="309562" h="250031">
                        <a:moveTo>
                          <a:pt x="-1" y="250031"/>
                        </a:moveTo>
                        <a:lnTo>
                          <a:pt x="309562" y="0"/>
                        </a:lnTo>
                      </a:path>
                    </a:pathLst>
                  </a:custGeom>
                  <a:noFill/>
                  <a:ln w="28575" cap="flat">
                    <a:solidFill>
                      <a:schemeClr val="tx1"/>
                    </a:solidFill>
                    <a:prstDash val="solid"/>
                    <a:miter/>
                  </a:ln>
                </p:spPr>
                <p:txBody>
                  <a:bodyPr rtlCol="0" anchor="ctr"/>
                  <a:lstStyle/>
                  <a:p>
                    <a:endParaRPr lang="en-US"/>
                  </a:p>
                </p:txBody>
              </p:sp>
              <p:sp>
                <p:nvSpPr>
                  <p:cNvPr id="432" name="Freeform: Shape 97">
                    <a:extLst>
                      <a:ext uri="{FF2B5EF4-FFF2-40B4-BE49-F238E27FC236}">
                        <a16:creationId xmlns:a16="http://schemas.microsoft.com/office/drawing/2014/main" id="{B5927B72-6D7C-CF36-591F-DE51FD9C7178}"/>
                      </a:ext>
                    </a:extLst>
                  </p:cNvPr>
                  <p:cNvSpPr/>
                  <p:nvPr/>
                </p:nvSpPr>
                <p:spPr>
                  <a:xfrm>
                    <a:off x="6383257" y="1483621"/>
                    <a:ext cx="244062" cy="244062"/>
                  </a:xfrm>
                  <a:custGeom>
                    <a:avLst/>
                    <a:gdLst>
                      <a:gd name="connsiteX0" fmla="*/ 130968 w 130968"/>
                      <a:gd name="connsiteY0" fmla="*/ 65484 h 130968"/>
                      <a:gd name="connsiteX1" fmla="*/ 65483 w 130968"/>
                      <a:gd name="connsiteY1" fmla="*/ 130969 h 130968"/>
                      <a:gd name="connsiteX2" fmla="*/ -1 w 130968"/>
                      <a:gd name="connsiteY2" fmla="*/ 65484 h 130968"/>
                      <a:gd name="connsiteX3" fmla="*/ 65483 w 130968"/>
                      <a:gd name="connsiteY3" fmla="*/ 0 h 130968"/>
                      <a:gd name="connsiteX4" fmla="*/ 130968 w 130968"/>
                      <a:gd name="connsiteY4" fmla="*/ 65484 h 13096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0968" h="130968">
                        <a:moveTo>
                          <a:pt x="130968" y="65484"/>
                        </a:moveTo>
                        <a:cubicBezTo>
                          <a:pt x="130968" y="101650"/>
                          <a:pt x="101649" y="130969"/>
                          <a:pt x="65483" y="130969"/>
                        </a:cubicBezTo>
                        <a:cubicBezTo>
                          <a:pt x="29317" y="130969"/>
                          <a:pt x="-1" y="101650"/>
                          <a:pt x="-1" y="65484"/>
                        </a:cubicBezTo>
                        <a:cubicBezTo>
                          <a:pt x="-1" y="29318"/>
                          <a:pt x="29317" y="0"/>
                          <a:pt x="65483" y="0"/>
                        </a:cubicBezTo>
                        <a:cubicBezTo>
                          <a:pt x="101649" y="0"/>
                          <a:pt x="130968" y="29318"/>
                          <a:pt x="130968" y="65484"/>
                        </a:cubicBezTo>
                        <a:close/>
                      </a:path>
                    </a:pathLst>
                  </a:custGeom>
                  <a:solidFill>
                    <a:srgbClr val="FFFFFF"/>
                  </a:solidFill>
                  <a:ln w="28575" cap="flat">
                    <a:solidFill>
                      <a:schemeClr val="tx1"/>
                    </a:solidFill>
                    <a:prstDash val="solid"/>
                    <a:miter/>
                  </a:ln>
                </p:spPr>
                <p:txBody>
                  <a:bodyPr rtlCol="0" anchor="ctr"/>
                  <a:lstStyle/>
                  <a:p>
                    <a:endParaRPr lang="en-US"/>
                  </a:p>
                </p:txBody>
              </p:sp>
              <p:sp>
                <p:nvSpPr>
                  <p:cNvPr id="433" name="Freeform: Shape 98">
                    <a:extLst>
                      <a:ext uri="{FF2B5EF4-FFF2-40B4-BE49-F238E27FC236}">
                        <a16:creationId xmlns:a16="http://schemas.microsoft.com/office/drawing/2014/main" id="{8F30AE7D-92B6-F2DF-3070-7E6C87520089}"/>
                      </a:ext>
                    </a:extLst>
                  </p:cNvPr>
                  <p:cNvSpPr/>
                  <p:nvPr/>
                </p:nvSpPr>
                <p:spPr>
                  <a:xfrm>
                    <a:off x="6383257" y="1949560"/>
                    <a:ext cx="244062" cy="244062"/>
                  </a:xfrm>
                  <a:custGeom>
                    <a:avLst/>
                    <a:gdLst>
                      <a:gd name="connsiteX0" fmla="*/ 130968 w 130968"/>
                      <a:gd name="connsiteY0" fmla="*/ 65484 h 130968"/>
                      <a:gd name="connsiteX1" fmla="*/ 65483 w 130968"/>
                      <a:gd name="connsiteY1" fmla="*/ 130969 h 130968"/>
                      <a:gd name="connsiteX2" fmla="*/ -1 w 130968"/>
                      <a:gd name="connsiteY2" fmla="*/ 65484 h 130968"/>
                      <a:gd name="connsiteX3" fmla="*/ 65483 w 130968"/>
                      <a:gd name="connsiteY3" fmla="*/ 0 h 130968"/>
                      <a:gd name="connsiteX4" fmla="*/ 130968 w 130968"/>
                      <a:gd name="connsiteY4" fmla="*/ 65484 h 13096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0968" h="130968">
                        <a:moveTo>
                          <a:pt x="130968" y="65484"/>
                        </a:moveTo>
                        <a:cubicBezTo>
                          <a:pt x="130968" y="101650"/>
                          <a:pt x="101649" y="130969"/>
                          <a:pt x="65483" y="130969"/>
                        </a:cubicBezTo>
                        <a:cubicBezTo>
                          <a:pt x="29317" y="130969"/>
                          <a:pt x="-1" y="101650"/>
                          <a:pt x="-1" y="65484"/>
                        </a:cubicBezTo>
                        <a:cubicBezTo>
                          <a:pt x="-1" y="29318"/>
                          <a:pt x="29317" y="0"/>
                          <a:pt x="65483" y="0"/>
                        </a:cubicBezTo>
                        <a:cubicBezTo>
                          <a:pt x="101649" y="0"/>
                          <a:pt x="130968" y="29318"/>
                          <a:pt x="130968" y="65484"/>
                        </a:cubicBezTo>
                        <a:close/>
                      </a:path>
                    </a:pathLst>
                  </a:custGeom>
                  <a:solidFill>
                    <a:srgbClr val="FFFFFF"/>
                  </a:solidFill>
                  <a:ln w="28575" cap="flat">
                    <a:solidFill>
                      <a:schemeClr val="tx1"/>
                    </a:solidFill>
                    <a:prstDash val="solid"/>
                    <a:miter/>
                  </a:ln>
                </p:spPr>
                <p:txBody>
                  <a:bodyPr rtlCol="0" anchor="ctr"/>
                  <a:lstStyle/>
                  <a:p>
                    <a:endParaRPr lang="en-US"/>
                  </a:p>
                </p:txBody>
              </p:sp>
              <p:sp>
                <p:nvSpPr>
                  <p:cNvPr id="434" name="Freeform: Shape 99">
                    <a:extLst>
                      <a:ext uri="{FF2B5EF4-FFF2-40B4-BE49-F238E27FC236}">
                        <a16:creationId xmlns:a16="http://schemas.microsoft.com/office/drawing/2014/main" id="{7626FDCD-DBA5-0F52-BA35-F03B62E0BD04}"/>
                      </a:ext>
                    </a:extLst>
                  </p:cNvPr>
                  <p:cNvSpPr/>
                  <p:nvPr/>
                </p:nvSpPr>
                <p:spPr>
                  <a:xfrm>
                    <a:off x="6383257" y="2415501"/>
                    <a:ext cx="244062" cy="244062"/>
                  </a:xfrm>
                  <a:custGeom>
                    <a:avLst/>
                    <a:gdLst>
                      <a:gd name="connsiteX0" fmla="*/ 130968 w 130968"/>
                      <a:gd name="connsiteY0" fmla="*/ 65484 h 130968"/>
                      <a:gd name="connsiteX1" fmla="*/ 65483 w 130968"/>
                      <a:gd name="connsiteY1" fmla="*/ 130969 h 130968"/>
                      <a:gd name="connsiteX2" fmla="*/ -1 w 130968"/>
                      <a:gd name="connsiteY2" fmla="*/ 65484 h 130968"/>
                      <a:gd name="connsiteX3" fmla="*/ 65483 w 130968"/>
                      <a:gd name="connsiteY3" fmla="*/ 0 h 130968"/>
                      <a:gd name="connsiteX4" fmla="*/ 130968 w 130968"/>
                      <a:gd name="connsiteY4" fmla="*/ 65484 h 13096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0968" h="130968">
                        <a:moveTo>
                          <a:pt x="130968" y="65484"/>
                        </a:moveTo>
                        <a:cubicBezTo>
                          <a:pt x="130968" y="101650"/>
                          <a:pt x="101649" y="130969"/>
                          <a:pt x="65483" y="130969"/>
                        </a:cubicBezTo>
                        <a:cubicBezTo>
                          <a:pt x="29317" y="130969"/>
                          <a:pt x="-1" y="101650"/>
                          <a:pt x="-1" y="65484"/>
                        </a:cubicBezTo>
                        <a:cubicBezTo>
                          <a:pt x="-1" y="29318"/>
                          <a:pt x="29317" y="0"/>
                          <a:pt x="65483" y="0"/>
                        </a:cubicBezTo>
                        <a:cubicBezTo>
                          <a:pt x="101649" y="0"/>
                          <a:pt x="130968" y="29318"/>
                          <a:pt x="130968" y="65484"/>
                        </a:cubicBezTo>
                        <a:close/>
                      </a:path>
                    </a:pathLst>
                  </a:custGeom>
                  <a:solidFill>
                    <a:srgbClr val="FFFFFF"/>
                  </a:solidFill>
                  <a:ln w="28575" cap="flat">
                    <a:solidFill>
                      <a:schemeClr val="tx1"/>
                    </a:solidFill>
                    <a:prstDash val="solid"/>
                    <a:miter/>
                  </a:ln>
                </p:spPr>
                <p:txBody>
                  <a:bodyPr rtlCol="0" anchor="ctr"/>
                  <a:lstStyle/>
                  <a:p>
                    <a:endParaRPr lang="en-US"/>
                  </a:p>
                </p:txBody>
              </p:sp>
              <p:sp>
                <p:nvSpPr>
                  <p:cNvPr id="435" name="Freeform: Shape 100">
                    <a:extLst>
                      <a:ext uri="{FF2B5EF4-FFF2-40B4-BE49-F238E27FC236}">
                        <a16:creationId xmlns:a16="http://schemas.microsoft.com/office/drawing/2014/main" id="{33315DA8-DA84-7525-64DC-81241E1B247D}"/>
                      </a:ext>
                    </a:extLst>
                  </p:cNvPr>
                  <p:cNvSpPr/>
                  <p:nvPr/>
                </p:nvSpPr>
                <p:spPr>
                  <a:xfrm>
                    <a:off x="6960135" y="1250651"/>
                    <a:ext cx="244062" cy="244062"/>
                  </a:xfrm>
                  <a:custGeom>
                    <a:avLst/>
                    <a:gdLst>
                      <a:gd name="connsiteX0" fmla="*/ 130968 w 130968"/>
                      <a:gd name="connsiteY0" fmla="*/ 65484 h 130968"/>
                      <a:gd name="connsiteX1" fmla="*/ 65483 w 130968"/>
                      <a:gd name="connsiteY1" fmla="*/ 130969 h 130968"/>
                      <a:gd name="connsiteX2" fmla="*/ -1 w 130968"/>
                      <a:gd name="connsiteY2" fmla="*/ 65484 h 130968"/>
                      <a:gd name="connsiteX3" fmla="*/ 65483 w 130968"/>
                      <a:gd name="connsiteY3" fmla="*/ 0 h 130968"/>
                      <a:gd name="connsiteX4" fmla="*/ 130968 w 130968"/>
                      <a:gd name="connsiteY4" fmla="*/ 65484 h 13096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0968" h="130968">
                        <a:moveTo>
                          <a:pt x="130968" y="65484"/>
                        </a:moveTo>
                        <a:cubicBezTo>
                          <a:pt x="130968" y="101650"/>
                          <a:pt x="101649" y="130969"/>
                          <a:pt x="65483" y="130969"/>
                        </a:cubicBezTo>
                        <a:cubicBezTo>
                          <a:pt x="29317" y="130969"/>
                          <a:pt x="-1" y="101650"/>
                          <a:pt x="-1" y="65484"/>
                        </a:cubicBezTo>
                        <a:cubicBezTo>
                          <a:pt x="-1" y="29318"/>
                          <a:pt x="29317" y="0"/>
                          <a:pt x="65483" y="0"/>
                        </a:cubicBezTo>
                        <a:cubicBezTo>
                          <a:pt x="101649" y="0"/>
                          <a:pt x="130968" y="29318"/>
                          <a:pt x="130968" y="65484"/>
                        </a:cubicBezTo>
                        <a:close/>
                      </a:path>
                    </a:pathLst>
                  </a:custGeom>
                  <a:solidFill>
                    <a:srgbClr val="FFFFFF"/>
                  </a:solidFill>
                  <a:ln w="28575" cap="flat">
                    <a:solidFill>
                      <a:schemeClr val="tx1"/>
                    </a:solidFill>
                    <a:prstDash val="solid"/>
                    <a:miter/>
                  </a:ln>
                </p:spPr>
                <p:txBody>
                  <a:bodyPr rtlCol="0" anchor="ctr"/>
                  <a:lstStyle/>
                  <a:p>
                    <a:endParaRPr lang="en-US"/>
                  </a:p>
                </p:txBody>
              </p:sp>
              <p:sp>
                <p:nvSpPr>
                  <p:cNvPr id="436" name="Freeform: Shape 101">
                    <a:extLst>
                      <a:ext uri="{FF2B5EF4-FFF2-40B4-BE49-F238E27FC236}">
                        <a16:creationId xmlns:a16="http://schemas.microsoft.com/office/drawing/2014/main" id="{27BD8DBC-0457-639C-469A-0FB282B68A69}"/>
                      </a:ext>
                    </a:extLst>
                  </p:cNvPr>
                  <p:cNvSpPr/>
                  <p:nvPr/>
                </p:nvSpPr>
                <p:spPr>
                  <a:xfrm>
                    <a:off x="6960135" y="1716592"/>
                    <a:ext cx="244062" cy="244062"/>
                  </a:xfrm>
                  <a:custGeom>
                    <a:avLst/>
                    <a:gdLst>
                      <a:gd name="connsiteX0" fmla="*/ 130968 w 130968"/>
                      <a:gd name="connsiteY0" fmla="*/ 65484 h 130968"/>
                      <a:gd name="connsiteX1" fmla="*/ 65483 w 130968"/>
                      <a:gd name="connsiteY1" fmla="*/ 130969 h 130968"/>
                      <a:gd name="connsiteX2" fmla="*/ -1 w 130968"/>
                      <a:gd name="connsiteY2" fmla="*/ 65484 h 130968"/>
                      <a:gd name="connsiteX3" fmla="*/ 65483 w 130968"/>
                      <a:gd name="connsiteY3" fmla="*/ 0 h 130968"/>
                      <a:gd name="connsiteX4" fmla="*/ 130968 w 130968"/>
                      <a:gd name="connsiteY4" fmla="*/ 65484 h 13096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0968" h="130968">
                        <a:moveTo>
                          <a:pt x="130968" y="65484"/>
                        </a:moveTo>
                        <a:cubicBezTo>
                          <a:pt x="130968" y="101650"/>
                          <a:pt x="101649" y="130969"/>
                          <a:pt x="65483" y="130969"/>
                        </a:cubicBezTo>
                        <a:cubicBezTo>
                          <a:pt x="29317" y="130969"/>
                          <a:pt x="-1" y="101650"/>
                          <a:pt x="-1" y="65484"/>
                        </a:cubicBezTo>
                        <a:cubicBezTo>
                          <a:pt x="-1" y="29318"/>
                          <a:pt x="29317" y="0"/>
                          <a:pt x="65483" y="0"/>
                        </a:cubicBezTo>
                        <a:cubicBezTo>
                          <a:pt x="101649" y="0"/>
                          <a:pt x="130968" y="29318"/>
                          <a:pt x="130968" y="65484"/>
                        </a:cubicBezTo>
                        <a:close/>
                      </a:path>
                    </a:pathLst>
                  </a:custGeom>
                  <a:solidFill>
                    <a:srgbClr val="FFFFFF"/>
                  </a:solidFill>
                  <a:ln w="28575" cap="flat">
                    <a:solidFill>
                      <a:schemeClr val="tx1"/>
                    </a:solidFill>
                    <a:prstDash val="solid"/>
                    <a:miter/>
                  </a:ln>
                </p:spPr>
                <p:txBody>
                  <a:bodyPr rtlCol="0" anchor="ctr"/>
                  <a:lstStyle/>
                  <a:p>
                    <a:endParaRPr lang="en-US"/>
                  </a:p>
                </p:txBody>
              </p:sp>
              <p:sp>
                <p:nvSpPr>
                  <p:cNvPr id="437" name="Freeform: Shape 102">
                    <a:extLst>
                      <a:ext uri="{FF2B5EF4-FFF2-40B4-BE49-F238E27FC236}">
                        <a16:creationId xmlns:a16="http://schemas.microsoft.com/office/drawing/2014/main" id="{A2D55D83-05F6-15F4-A629-31A61C05423B}"/>
                      </a:ext>
                    </a:extLst>
                  </p:cNvPr>
                  <p:cNvSpPr/>
                  <p:nvPr/>
                </p:nvSpPr>
                <p:spPr>
                  <a:xfrm>
                    <a:off x="6960135" y="2182530"/>
                    <a:ext cx="244062" cy="244062"/>
                  </a:xfrm>
                  <a:custGeom>
                    <a:avLst/>
                    <a:gdLst>
                      <a:gd name="connsiteX0" fmla="*/ 130968 w 130968"/>
                      <a:gd name="connsiteY0" fmla="*/ 65484 h 130968"/>
                      <a:gd name="connsiteX1" fmla="*/ 65483 w 130968"/>
                      <a:gd name="connsiteY1" fmla="*/ 130969 h 130968"/>
                      <a:gd name="connsiteX2" fmla="*/ -1 w 130968"/>
                      <a:gd name="connsiteY2" fmla="*/ 65484 h 130968"/>
                      <a:gd name="connsiteX3" fmla="*/ 65483 w 130968"/>
                      <a:gd name="connsiteY3" fmla="*/ 0 h 130968"/>
                      <a:gd name="connsiteX4" fmla="*/ 130968 w 130968"/>
                      <a:gd name="connsiteY4" fmla="*/ 65484 h 13096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0968" h="130968">
                        <a:moveTo>
                          <a:pt x="130968" y="65484"/>
                        </a:moveTo>
                        <a:cubicBezTo>
                          <a:pt x="130968" y="101650"/>
                          <a:pt x="101649" y="130969"/>
                          <a:pt x="65483" y="130969"/>
                        </a:cubicBezTo>
                        <a:cubicBezTo>
                          <a:pt x="29317" y="130969"/>
                          <a:pt x="-1" y="101650"/>
                          <a:pt x="-1" y="65484"/>
                        </a:cubicBezTo>
                        <a:cubicBezTo>
                          <a:pt x="-1" y="29318"/>
                          <a:pt x="29317" y="0"/>
                          <a:pt x="65483" y="0"/>
                        </a:cubicBezTo>
                        <a:cubicBezTo>
                          <a:pt x="101649" y="0"/>
                          <a:pt x="130968" y="29318"/>
                          <a:pt x="130968" y="65484"/>
                        </a:cubicBezTo>
                        <a:close/>
                      </a:path>
                    </a:pathLst>
                  </a:custGeom>
                  <a:solidFill>
                    <a:srgbClr val="FFFFFF"/>
                  </a:solidFill>
                  <a:ln w="28575" cap="flat">
                    <a:solidFill>
                      <a:schemeClr val="tx1"/>
                    </a:solidFill>
                    <a:prstDash val="solid"/>
                    <a:miter/>
                  </a:ln>
                </p:spPr>
                <p:txBody>
                  <a:bodyPr rtlCol="0" anchor="ctr"/>
                  <a:lstStyle/>
                  <a:p>
                    <a:endParaRPr lang="en-US"/>
                  </a:p>
                </p:txBody>
              </p:sp>
              <p:sp>
                <p:nvSpPr>
                  <p:cNvPr id="438" name="Freeform: Shape 103">
                    <a:extLst>
                      <a:ext uri="{FF2B5EF4-FFF2-40B4-BE49-F238E27FC236}">
                        <a16:creationId xmlns:a16="http://schemas.microsoft.com/office/drawing/2014/main" id="{C08FAC95-C8A1-5D3E-43AE-7737A8621CE5}"/>
                      </a:ext>
                    </a:extLst>
                  </p:cNvPr>
                  <p:cNvSpPr/>
                  <p:nvPr/>
                </p:nvSpPr>
                <p:spPr>
                  <a:xfrm>
                    <a:off x="6960135" y="2648469"/>
                    <a:ext cx="244062" cy="244062"/>
                  </a:xfrm>
                  <a:custGeom>
                    <a:avLst/>
                    <a:gdLst>
                      <a:gd name="connsiteX0" fmla="*/ 130968 w 130968"/>
                      <a:gd name="connsiteY0" fmla="*/ 65484 h 130968"/>
                      <a:gd name="connsiteX1" fmla="*/ 65483 w 130968"/>
                      <a:gd name="connsiteY1" fmla="*/ 130969 h 130968"/>
                      <a:gd name="connsiteX2" fmla="*/ -1 w 130968"/>
                      <a:gd name="connsiteY2" fmla="*/ 65484 h 130968"/>
                      <a:gd name="connsiteX3" fmla="*/ 65483 w 130968"/>
                      <a:gd name="connsiteY3" fmla="*/ 0 h 130968"/>
                      <a:gd name="connsiteX4" fmla="*/ 130968 w 130968"/>
                      <a:gd name="connsiteY4" fmla="*/ 65484 h 13096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0968" h="130968">
                        <a:moveTo>
                          <a:pt x="130968" y="65484"/>
                        </a:moveTo>
                        <a:cubicBezTo>
                          <a:pt x="130968" y="101650"/>
                          <a:pt x="101649" y="130969"/>
                          <a:pt x="65483" y="130969"/>
                        </a:cubicBezTo>
                        <a:cubicBezTo>
                          <a:pt x="29317" y="130969"/>
                          <a:pt x="-1" y="101650"/>
                          <a:pt x="-1" y="65484"/>
                        </a:cubicBezTo>
                        <a:cubicBezTo>
                          <a:pt x="-1" y="29318"/>
                          <a:pt x="29317" y="0"/>
                          <a:pt x="65483" y="0"/>
                        </a:cubicBezTo>
                        <a:cubicBezTo>
                          <a:pt x="101649" y="0"/>
                          <a:pt x="130968" y="29318"/>
                          <a:pt x="130968" y="65484"/>
                        </a:cubicBezTo>
                        <a:close/>
                      </a:path>
                    </a:pathLst>
                  </a:custGeom>
                  <a:solidFill>
                    <a:srgbClr val="FFFFFF"/>
                  </a:solidFill>
                  <a:ln w="28575" cap="flat">
                    <a:solidFill>
                      <a:schemeClr val="tx1"/>
                    </a:solidFill>
                    <a:prstDash val="solid"/>
                    <a:miter/>
                  </a:ln>
                </p:spPr>
                <p:txBody>
                  <a:bodyPr rtlCol="0" anchor="ctr"/>
                  <a:lstStyle/>
                  <a:p>
                    <a:endParaRPr lang="en-US"/>
                  </a:p>
                </p:txBody>
              </p:sp>
              <p:sp>
                <p:nvSpPr>
                  <p:cNvPr id="439" name="Freeform: Shape 104">
                    <a:extLst>
                      <a:ext uri="{FF2B5EF4-FFF2-40B4-BE49-F238E27FC236}">
                        <a16:creationId xmlns:a16="http://schemas.microsoft.com/office/drawing/2014/main" id="{28C44632-4389-4F09-849E-663E1976CA3C}"/>
                      </a:ext>
                    </a:extLst>
                  </p:cNvPr>
                  <p:cNvSpPr/>
                  <p:nvPr/>
                </p:nvSpPr>
                <p:spPr>
                  <a:xfrm>
                    <a:off x="7537011" y="1483621"/>
                    <a:ext cx="244062" cy="244062"/>
                  </a:xfrm>
                  <a:custGeom>
                    <a:avLst/>
                    <a:gdLst>
                      <a:gd name="connsiteX0" fmla="*/ 130968 w 130968"/>
                      <a:gd name="connsiteY0" fmla="*/ 65484 h 130968"/>
                      <a:gd name="connsiteX1" fmla="*/ 65483 w 130968"/>
                      <a:gd name="connsiteY1" fmla="*/ 130969 h 130968"/>
                      <a:gd name="connsiteX2" fmla="*/ -1 w 130968"/>
                      <a:gd name="connsiteY2" fmla="*/ 65484 h 130968"/>
                      <a:gd name="connsiteX3" fmla="*/ 65483 w 130968"/>
                      <a:gd name="connsiteY3" fmla="*/ 0 h 130968"/>
                      <a:gd name="connsiteX4" fmla="*/ 130968 w 130968"/>
                      <a:gd name="connsiteY4" fmla="*/ 65484 h 13096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0968" h="130968">
                        <a:moveTo>
                          <a:pt x="130968" y="65484"/>
                        </a:moveTo>
                        <a:cubicBezTo>
                          <a:pt x="130968" y="101650"/>
                          <a:pt x="101649" y="130969"/>
                          <a:pt x="65483" y="130969"/>
                        </a:cubicBezTo>
                        <a:cubicBezTo>
                          <a:pt x="29317" y="130969"/>
                          <a:pt x="-1" y="101650"/>
                          <a:pt x="-1" y="65484"/>
                        </a:cubicBezTo>
                        <a:cubicBezTo>
                          <a:pt x="-1" y="29318"/>
                          <a:pt x="29317" y="0"/>
                          <a:pt x="65483" y="0"/>
                        </a:cubicBezTo>
                        <a:cubicBezTo>
                          <a:pt x="101649" y="0"/>
                          <a:pt x="130968" y="29318"/>
                          <a:pt x="130968" y="65484"/>
                        </a:cubicBezTo>
                        <a:close/>
                      </a:path>
                    </a:pathLst>
                  </a:custGeom>
                  <a:solidFill>
                    <a:srgbClr val="FFFFFF"/>
                  </a:solidFill>
                  <a:ln w="28575" cap="flat">
                    <a:solidFill>
                      <a:schemeClr val="tx1"/>
                    </a:solidFill>
                    <a:prstDash val="solid"/>
                    <a:miter/>
                  </a:ln>
                </p:spPr>
                <p:txBody>
                  <a:bodyPr rtlCol="0" anchor="ctr"/>
                  <a:lstStyle/>
                  <a:p>
                    <a:endParaRPr lang="en-US"/>
                  </a:p>
                </p:txBody>
              </p:sp>
              <p:sp>
                <p:nvSpPr>
                  <p:cNvPr id="440" name="Freeform: Shape 105">
                    <a:extLst>
                      <a:ext uri="{FF2B5EF4-FFF2-40B4-BE49-F238E27FC236}">
                        <a16:creationId xmlns:a16="http://schemas.microsoft.com/office/drawing/2014/main" id="{CF62D5EC-D1EA-B34A-8B59-AB6C683EDC45}"/>
                      </a:ext>
                    </a:extLst>
                  </p:cNvPr>
                  <p:cNvSpPr/>
                  <p:nvPr/>
                </p:nvSpPr>
                <p:spPr>
                  <a:xfrm>
                    <a:off x="7537011" y="1949560"/>
                    <a:ext cx="244062" cy="244062"/>
                  </a:xfrm>
                  <a:custGeom>
                    <a:avLst/>
                    <a:gdLst>
                      <a:gd name="connsiteX0" fmla="*/ 130968 w 130968"/>
                      <a:gd name="connsiteY0" fmla="*/ 65484 h 130968"/>
                      <a:gd name="connsiteX1" fmla="*/ 65483 w 130968"/>
                      <a:gd name="connsiteY1" fmla="*/ 130969 h 130968"/>
                      <a:gd name="connsiteX2" fmla="*/ -1 w 130968"/>
                      <a:gd name="connsiteY2" fmla="*/ 65484 h 130968"/>
                      <a:gd name="connsiteX3" fmla="*/ 65483 w 130968"/>
                      <a:gd name="connsiteY3" fmla="*/ 0 h 130968"/>
                      <a:gd name="connsiteX4" fmla="*/ 130968 w 130968"/>
                      <a:gd name="connsiteY4" fmla="*/ 65484 h 13096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0968" h="130968">
                        <a:moveTo>
                          <a:pt x="130968" y="65484"/>
                        </a:moveTo>
                        <a:cubicBezTo>
                          <a:pt x="130968" y="101650"/>
                          <a:pt x="101649" y="130969"/>
                          <a:pt x="65483" y="130969"/>
                        </a:cubicBezTo>
                        <a:cubicBezTo>
                          <a:pt x="29317" y="130969"/>
                          <a:pt x="-1" y="101650"/>
                          <a:pt x="-1" y="65484"/>
                        </a:cubicBezTo>
                        <a:cubicBezTo>
                          <a:pt x="-1" y="29318"/>
                          <a:pt x="29317" y="0"/>
                          <a:pt x="65483" y="0"/>
                        </a:cubicBezTo>
                        <a:cubicBezTo>
                          <a:pt x="101649" y="0"/>
                          <a:pt x="130968" y="29318"/>
                          <a:pt x="130968" y="65484"/>
                        </a:cubicBezTo>
                        <a:close/>
                      </a:path>
                    </a:pathLst>
                  </a:custGeom>
                  <a:solidFill>
                    <a:srgbClr val="FFFFFF"/>
                  </a:solidFill>
                  <a:ln w="28575" cap="flat">
                    <a:solidFill>
                      <a:schemeClr val="tx1"/>
                    </a:solidFill>
                    <a:prstDash val="solid"/>
                    <a:miter/>
                  </a:ln>
                </p:spPr>
                <p:txBody>
                  <a:bodyPr rtlCol="0" anchor="ctr"/>
                  <a:lstStyle/>
                  <a:p>
                    <a:endParaRPr lang="en-US"/>
                  </a:p>
                </p:txBody>
              </p:sp>
              <p:sp>
                <p:nvSpPr>
                  <p:cNvPr id="441" name="Freeform: Shape 106">
                    <a:extLst>
                      <a:ext uri="{FF2B5EF4-FFF2-40B4-BE49-F238E27FC236}">
                        <a16:creationId xmlns:a16="http://schemas.microsoft.com/office/drawing/2014/main" id="{D536642F-1BC5-09AE-CBA5-DDDE2ACBBFB8}"/>
                      </a:ext>
                    </a:extLst>
                  </p:cNvPr>
                  <p:cNvSpPr/>
                  <p:nvPr/>
                </p:nvSpPr>
                <p:spPr>
                  <a:xfrm>
                    <a:off x="7537011" y="2415501"/>
                    <a:ext cx="244062" cy="244062"/>
                  </a:xfrm>
                  <a:custGeom>
                    <a:avLst/>
                    <a:gdLst>
                      <a:gd name="connsiteX0" fmla="*/ 130968 w 130968"/>
                      <a:gd name="connsiteY0" fmla="*/ 65484 h 130968"/>
                      <a:gd name="connsiteX1" fmla="*/ 65483 w 130968"/>
                      <a:gd name="connsiteY1" fmla="*/ 130969 h 130968"/>
                      <a:gd name="connsiteX2" fmla="*/ -1 w 130968"/>
                      <a:gd name="connsiteY2" fmla="*/ 65484 h 130968"/>
                      <a:gd name="connsiteX3" fmla="*/ 65483 w 130968"/>
                      <a:gd name="connsiteY3" fmla="*/ 0 h 130968"/>
                      <a:gd name="connsiteX4" fmla="*/ 130968 w 130968"/>
                      <a:gd name="connsiteY4" fmla="*/ 65484 h 13096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0968" h="130968">
                        <a:moveTo>
                          <a:pt x="130968" y="65484"/>
                        </a:moveTo>
                        <a:cubicBezTo>
                          <a:pt x="130968" y="101650"/>
                          <a:pt x="101649" y="130969"/>
                          <a:pt x="65483" y="130969"/>
                        </a:cubicBezTo>
                        <a:cubicBezTo>
                          <a:pt x="29317" y="130969"/>
                          <a:pt x="-1" y="101650"/>
                          <a:pt x="-1" y="65484"/>
                        </a:cubicBezTo>
                        <a:cubicBezTo>
                          <a:pt x="-1" y="29318"/>
                          <a:pt x="29317" y="0"/>
                          <a:pt x="65483" y="0"/>
                        </a:cubicBezTo>
                        <a:cubicBezTo>
                          <a:pt x="101649" y="0"/>
                          <a:pt x="130968" y="29318"/>
                          <a:pt x="130968" y="65484"/>
                        </a:cubicBezTo>
                        <a:close/>
                      </a:path>
                    </a:pathLst>
                  </a:custGeom>
                  <a:solidFill>
                    <a:srgbClr val="FFFFFF"/>
                  </a:solidFill>
                  <a:ln w="28575" cap="flat">
                    <a:solidFill>
                      <a:schemeClr val="tx1"/>
                    </a:solidFill>
                    <a:prstDash val="solid"/>
                    <a:miter/>
                  </a:ln>
                </p:spPr>
                <p:txBody>
                  <a:bodyPr rtlCol="0" anchor="ctr"/>
                  <a:lstStyle/>
                  <a:p>
                    <a:endParaRPr lang="en-US"/>
                  </a:p>
                </p:txBody>
              </p:sp>
              <p:sp>
                <p:nvSpPr>
                  <p:cNvPr id="442" name="Freeform: Shape 107">
                    <a:extLst>
                      <a:ext uri="{FF2B5EF4-FFF2-40B4-BE49-F238E27FC236}">
                        <a16:creationId xmlns:a16="http://schemas.microsoft.com/office/drawing/2014/main" id="{36FE2449-AE25-2D58-2027-5A663AF6D1E6}"/>
                      </a:ext>
                    </a:extLst>
                  </p:cNvPr>
                  <p:cNvSpPr/>
                  <p:nvPr/>
                </p:nvSpPr>
                <p:spPr>
                  <a:xfrm>
                    <a:off x="8113889" y="1949560"/>
                    <a:ext cx="244062" cy="244062"/>
                  </a:xfrm>
                  <a:custGeom>
                    <a:avLst/>
                    <a:gdLst>
                      <a:gd name="connsiteX0" fmla="*/ 130968 w 130968"/>
                      <a:gd name="connsiteY0" fmla="*/ 65484 h 130968"/>
                      <a:gd name="connsiteX1" fmla="*/ 65483 w 130968"/>
                      <a:gd name="connsiteY1" fmla="*/ 130969 h 130968"/>
                      <a:gd name="connsiteX2" fmla="*/ -1 w 130968"/>
                      <a:gd name="connsiteY2" fmla="*/ 65484 h 130968"/>
                      <a:gd name="connsiteX3" fmla="*/ 65483 w 130968"/>
                      <a:gd name="connsiteY3" fmla="*/ 0 h 130968"/>
                      <a:gd name="connsiteX4" fmla="*/ 130968 w 130968"/>
                      <a:gd name="connsiteY4" fmla="*/ 65484 h 13096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0968" h="130968">
                        <a:moveTo>
                          <a:pt x="130968" y="65484"/>
                        </a:moveTo>
                        <a:cubicBezTo>
                          <a:pt x="130968" y="101650"/>
                          <a:pt x="101649" y="130969"/>
                          <a:pt x="65483" y="130969"/>
                        </a:cubicBezTo>
                        <a:cubicBezTo>
                          <a:pt x="29317" y="130969"/>
                          <a:pt x="-1" y="101650"/>
                          <a:pt x="-1" y="65484"/>
                        </a:cubicBezTo>
                        <a:cubicBezTo>
                          <a:pt x="-1" y="29318"/>
                          <a:pt x="29317" y="0"/>
                          <a:pt x="65483" y="0"/>
                        </a:cubicBezTo>
                        <a:cubicBezTo>
                          <a:pt x="101649" y="0"/>
                          <a:pt x="130968" y="29318"/>
                          <a:pt x="130968" y="65484"/>
                        </a:cubicBezTo>
                        <a:close/>
                      </a:path>
                    </a:pathLst>
                  </a:custGeom>
                  <a:solidFill>
                    <a:srgbClr val="FFFFFF"/>
                  </a:solidFill>
                  <a:ln w="28575" cap="flat">
                    <a:solidFill>
                      <a:schemeClr val="tx1"/>
                    </a:solidFill>
                    <a:prstDash val="solid"/>
                    <a:miter/>
                  </a:ln>
                </p:spPr>
                <p:txBody>
                  <a:bodyPr rtlCol="0" anchor="ctr"/>
                  <a:lstStyle/>
                  <a:p>
                    <a:endParaRPr lang="en-US"/>
                  </a:p>
                </p:txBody>
              </p:sp>
            </p:grpSp>
          </p:grpSp>
          <p:grpSp>
            <p:nvGrpSpPr>
              <p:cNvPr id="443" name="Group 442">
                <a:extLst>
                  <a:ext uri="{FF2B5EF4-FFF2-40B4-BE49-F238E27FC236}">
                    <a16:creationId xmlns:a16="http://schemas.microsoft.com/office/drawing/2014/main" id="{A52B68EF-497D-6F3A-0A45-CF4A16F165E3}"/>
                  </a:ext>
                </a:extLst>
              </p:cNvPr>
              <p:cNvGrpSpPr/>
              <p:nvPr/>
            </p:nvGrpSpPr>
            <p:grpSpPr>
              <a:xfrm>
                <a:off x="8366787" y="3325769"/>
                <a:ext cx="1366363" cy="1259770"/>
                <a:chOff x="8119062" y="2903708"/>
                <a:chExt cx="2085112" cy="1922448"/>
              </a:xfrm>
            </p:grpSpPr>
            <p:sp>
              <p:nvSpPr>
                <p:cNvPr id="444" name="Rounded Rectangle 443">
                  <a:extLst>
                    <a:ext uri="{FF2B5EF4-FFF2-40B4-BE49-F238E27FC236}">
                      <a16:creationId xmlns:a16="http://schemas.microsoft.com/office/drawing/2014/main" id="{E6B2ABE5-BB68-8E08-C705-738684DE198F}"/>
                    </a:ext>
                  </a:extLst>
                </p:cNvPr>
                <p:cNvSpPr/>
                <p:nvPr/>
              </p:nvSpPr>
              <p:spPr>
                <a:xfrm>
                  <a:off x="8119062" y="2903708"/>
                  <a:ext cx="2085112" cy="1922448"/>
                </a:xfrm>
                <a:prstGeom prst="roundRect">
                  <a:avLst/>
                </a:prstGeom>
                <a:solidFill>
                  <a:schemeClr val="bg1">
                    <a:lumMod val="95000"/>
                  </a:schemeClr>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BE"/>
                </a:p>
              </p:txBody>
            </p:sp>
            <p:grpSp>
              <p:nvGrpSpPr>
                <p:cNvPr id="445" name="Group 444">
                  <a:extLst>
                    <a:ext uri="{FF2B5EF4-FFF2-40B4-BE49-F238E27FC236}">
                      <a16:creationId xmlns:a16="http://schemas.microsoft.com/office/drawing/2014/main" id="{C75402ED-C5FF-C6FF-F3B6-5963DD3441F1}"/>
                    </a:ext>
                  </a:extLst>
                </p:cNvPr>
                <p:cNvGrpSpPr/>
                <p:nvPr/>
              </p:nvGrpSpPr>
              <p:grpSpPr>
                <a:xfrm>
                  <a:off x="8339159" y="3138112"/>
                  <a:ext cx="1772251" cy="1473558"/>
                  <a:chOff x="6383257" y="1250651"/>
                  <a:chExt cx="1974694" cy="1641880"/>
                </a:xfrm>
              </p:grpSpPr>
              <p:sp>
                <p:nvSpPr>
                  <p:cNvPr id="446" name="Freeform: Shape 77">
                    <a:extLst>
                      <a:ext uri="{FF2B5EF4-FFF2-40B4-BE49-F238E27FC236}">
                        <a16:creationId xmlns:a16="http://schemas.microsoft.com/office/drawing/2014/main" id="{F353BE3B-E2F3-C71B-39E3-C50AC3BA73CE}"/>
                      </a:ext>
                    </a:extLst>
                  </p:cNvPr>
                  <p:cNvSpPr/>
                  <p:nvPr/>
                </p:nvSpPr>
                <p:spPr>
                  <a:xfrm>
                    <a:off x="6505288" y="1372684"/>
                    <a:ext cx="576876" cy="232968"/>
                  </a:xfrm>
                  <a:custGeom>
                    <a:avLst/>
                    <a:gdLst>
                      <a:gd name="connsiteX0" fmla="*/ -1 w 309562"/>
                      <a:gd name="connsiteY0" fmla="*/ 125016 h 125015"/>
                      <a:gd name="connsiteX1" fmla="*/ 309562 w 309562"/>
                      <a:gd name="connsiteY1" fmla="*/ 0 h 125015"/>
                    </a:gdLst>
                    <a:ahLst/>
                    <a:cxnLst>
                      <a:cxn ang="0">
                        <a:pos x="connsiteX0" y="connsiteY0"/>
                      </a:cxn>
                      <a:cxn ang="0">
                        <a:pos x="connsiteX1" y="connsiteY1"/>
                      </a:cxn>
                    </a:cxnLst>
                    <a:rect l="l" t="t" r="r" b="b"/>
                    <a:pathLst>
                      <a:path w="309562" h="125015">
                        <a:moveTo>
                          <a:pt x="-1" y="125016"/>
                        </a:moveTo>
                        <a:lnTo>
                          <a:pt x="309562" y="0"/>
                        </a:lnTo>
                      </a:path>
                    </a:pathLst>
                  </a:custGeom>
                  <a:noFill/>
                  <a:ln w="28575" cap="flat">
                    <a:solidFill>
                      <a:schemeClr val="tx1"/>
                    </a:solidFill>
                    <a:prstDash val="solid"/>
                    <a:miter/>
                  </a:ln>
                </p:spPr>
                <p:txBody>
                  <a:bodyPr rtlCol="0" anchor="ctr"/>
                  <a:lstStyle/>
                  <a:p>
                    <a:endParaRPr lang="en-US"/>
                  </a:p>
                </p:txBody>
              </p:sp>
              <p:sp>
                <p:nvSpPr>
                  <p:cNvPr id="447" name="Freeform: Shape 78">
                    <a:extLst>
                      <a:ext uri="{FF2B5EF4-FFF2-40B4-BE49-F238E27FC236}">
                        <a16:creationId xmlns:a16="http://schemas.microsoft.com/office/drawing/2014/main" id="{355C0B64-47B5-56E6-A822-D5B56DDBF8F5}"/>
                      </a:ext>
                    </a:extLst>
                  </p:cNvPr>
                  <p:cNvSpPr/>
                  <p:nvPr/>
                </p:nvSpPr>
                <p:spPr>
                  <a:xfrm>
                    <a:off x="6505288" y="1605652"/>
                    <a:ext cx="576876" cy="698907"/>
                  </a:xfrm>
                  <a:custGeom>
                    <a:avLst/>
                    <a:gdLst>
                      <a:gd name="connsiteX0" fmla="*/ -1 w 309562"/>
                      <a:gd name="connsiteY0" fmla="*/ 0 h 375046"/>
                      <a:gd name="connsiteX1" fmla="*/ 309562 w 309562"/>
                      <a:gd name="connsiteY1" fmla="*/ 375047 h 375046"/>
                    </a:gdLst>
                    <a:ahLst/>
                    <a:cxnLst>
                      <a:cxn ang="0">
                        <a:pos x="connsiteX0" y="connsiteY0"/>
                      </a:cxn>
                      <a:cxn ang="0">
                        <a:pos x="connsiteX1" y="connsiteY1"/>
                      </a:cxn>
                    </a:cxnLst>
                    <a:rect l="l" t="t" r="r" b="b"/>
                    <a:pathLst>
                      <a:path w="309562" h="375046">
                        <a:moveTo>
                          <a:pt x="-1" y="0"/>
                        </a:moveTo>
                        <a:lnTo>
                          <a:pt x="309562" y="375047"/>
                        </a:lnTo>
                      </a:path>
                    </a:pathLst>
                  </a:custGeom>
                  <a:noFill/>
                  <a:ln w="28575" cap="flat">
                    <a:solidFill>
                      <a:schemeClr val="tx1"/>
                    </a:solidFill>
                    <a:prstDash val="solid"/>
                    <a:miter/>
                  </a:ln>
                </p:spPr>
                <p:txBody>
                  <a:bodyPr rtlCol="0" anchor="ctr"/>
                  <a:lstStyle/>
                  <a:p>
                    <a:endParaRPr lang="en-US"/>
                  </a:p>
                </p:txBody>
              </p:sp>
              <p:sp>
                <p:nvSpPr>
                  <p:cNvPr id="448" name="Freeform: Shape 81">
                    <a:extLst>
                      <a:ext uri="{FF2B5EF4-FFF2-40B4-BE49-F238E27FC236}">
                        <a16:creationId xmlns:a16="http://schemas.microsoft.com/office/drawing/2014/main" id="{E8609549-677E-0167-8369-8F3FC2A0218E}"/>
                      </a:ext>
                    </a:extLst>
                  </p:cNvPr>
                  <p:cNvSpPr/>
                  <p:nvPr/>
                </p:nvSpPr>
                <p:spPr>
                  <a:xfrm>
                    <a:off x="6505288" y="1838623"/>
                    <a:ext cx="576876" cy="232968"/>
                  </a:xfrm>
                  <a:custGeom>
                    <a:avLst/>
                    <a:gdLst>
                      <a:gd name="connsiteX0" fmla="*/ -1 w 309562"/>
                      <a:gd name="connsiteY0" fmla="*/ 125016 h 125015"/>
                      <a:gd name="connsiteX1" fmla="*/ 309562 w 309562"/>
                      <a:gd name="connsiteY1" fmla="*/ 0 h 125015"/>
                    </a:gdLst>
                    <a:ahLst/>
                    <a:cxnLst>
                      <a:cxn ang="0">
                        <a:pos x="connsiteX0" y="connsiteY0"/>
                      </a:cxn>
                      <a:cxn ang="0">
                        <a:pos x="connsiteX1" y="connsiteY1"/>
                      </a:cxn>
                    </a:cxnLst>
                    <a:rect l="l" t="t" r="r" b="b"/>
                    <a:pathLst>
                      <a:path w="309562" h="125015">
                        <a:moveTo>
                          <a:pt x="-1" y="125016"/>
                        </a:moveTo>
                        <a:lnTo>
                          <a:pt x="309562" y="0"/>
                        </a:lnTo>
                      </a:path>
                    </a:pathLst>
                  </a:custGeom>
                  <a:noFill/>
                  <a:ln w="28575" cap="flat">
                    <a:solidFill>
                      <a:schemeClr val="tx1"/>
                    </a:solidFill>
                    <a:prstDash val="solid"/>
                    <a:miter/>
                  </a:ln>
                </p:spPr>
                <p:txBody>
                  <a:bodyPr rtlCol="0" anchor="ctr"/>
                  <a:lstStyle/>
                  <a:p>
                    <a:endParaRPr lang="en-US"/>
                  </a:p>
                </p:txBody>
              </p:sp>
              <p:sp>
                <p:nvSpPr>
                  <p:cNvPr id="449" name="Freeform: Shape 82">
                    <a:extLst>
                      <a:ext uri="{FF2B5EF4-FFF2-40B4-BE49-F238E27FC236}">
                        <a16:creationId xmlns:a16="http://schemas.microsoft.com/office/drawing/2014/main" id="{61CA8795-9245-A349-2B4B-7C22539E2DD3}"/>
                      </a:ext>
                    </a:extLst>
                  </p:cNvPr>
                  <p:cNvSpPr/>
                  <p:nvPr/>
                </p:nvSpPr>
                <p:spPr>
                  <a:xfrm>
                    <a:off x="6505288" y="2071593"/>
                    <a:ext cx="576876" cy="232968"/>
                  </a:xfrm>
                  <a:custGeom>
                    <a:avLst/>
                    <a:gdLst>
                      <a:gd name="connsiteX0" fmla="*/ -1 w 309562"/>
                      <a:gd name="connsiteY0" fmla="*/ 0 h 125015"/>
                      <a:gd name="connsiteX1" fmla="*/ 309562 w 309562"/>
                      <a:gd name="connsiteY1" fmla="*/ 125016 h 125015"/>
                    </a:gdLst>
                    <a:ahLst/>
                    <a:cxnLst>
                      <a:cxn ang="0">
                        <a:pos x="connsiteX0" y="connsiteY0"/>
                      </a:cxn>
                      <a:cxn ang="0">
                        <a:pos x="connsiteX1" y="connsiteY1"/>
                      </a:cxn>
                    </a:cxnLst>
                    <a:rect l="l" t="t" r="r" b="b"/>
                    <a:pathLst>
                      <a:path w="309562" h="125015">
                        <a:moveTo>
                          <a:pt x="-1" y="0"/>
                        </a:moveTo>
                        <a:lnTo>
                          <a:pt x="309562" y="125016"/>
                        </a:lnTo>
                      </a:path>
                    </a:pathLst>
                  </a:custGeom>
                  <a:noFill/>
                  <a:ln w="28575" cap="flat">
                    <a:solidFill>
                      <a:schemeClr val="tx1"/>
                    </a:solidFill>
                    <a:prstDash val="solid"/>
                    <a:miter/>
                  </a:ln>
                </p:spPr>
                <p:txBody>
                  <a:bodyPr rtlCol="0" anchor="ctr"/>
                  <a:lstStyle/>
                  <a:p>
                    <a:endParaRPr lang="en-US"/>
                  </a:p>
                </p:txBody>
              </p:sp>
              <p:sp>
                <p:nvSpPr>
                  <p:cNvPr id="450" name="Freeform: Shape 83">
                    <a:extLst>
                      <a:ext uri="{FF2B5EF4-FFF2-40B4-BE49-F238E27FC236}">
                        <a16:creationId xmlns:a16="http://schemas.microsoft.com/office/drawing/2014/main" id="{8FAA3F06-FFBA-0E64-B0AD-11EE77B1185E}"/>
                      </a:ext>
                    </a:extLst>
                  </p:cNvPr>
                  <p:cNvSpPr/>
                  <p:nvPr/>
                </p:nvSpPr>
                <p:spPr>
                  <a:xfrm>
                    <a:off x="6505288" y="2071593"/>
                    <a:ext cx="576876" cy="698907"/>
                  </a:xfrm>
                  <a:custGeom>
                    <a:avLst/>
                    <a:gdLst>
                      <a:gd name="connsiteX0" fmla="*/ -1 w 309562"/>
                      <a:gd name="connsiteY0" fmla="*/ 0 h 375046"/>
                      <a:gd name="connsiteX1" fmla="*/ 309562 w 309562"/>
                      <a:gd name="connsiteY1" fmla="*/ 375047 h 375046"/>
                    </a:gdLst>
                    <a:ahLst/>
                    <a:cxnLst>
                      <a:cxn ang="0">
                        <a:pos x="connsiteX0" y="connsiteY0"/>
                      </a:cxn>
                      <a:cxn ang="0">
                        <a:pos x="connsiteX1" y="connsiteY1"/>
                      </a:cxn>
                    </a:cxnLst>
                    <a:rect l="l" t="t" r="r" b="b"/>
                    <a:pathLst>
                      <a:path w="309562" h="375046">
                        <a:moveTo>
                          <a:pt x="-1" y="0"/>
                        </a:moveTo>
                        <a:lnTo>
                          <a:pt x="309562" y="375047"/>
                        </a:lnTo>
                      </a:path>
                    </a:pathLst>
                  </a:custGeom>
                  <a:noFill/>
                  <a:ln w="28575" cap="flat">
                    <a:solidFill>
                      <a:schemeClr val="tx1"/>
                    </a:solidFill>
                    <a:prstDash val="solid"/>
                    <a:miter/>
                  </a:ln>
                </p:spPr>
                <p:txBody>
                  <a:bodyPr rtlCol="0" anchor="ctr"/>
                  <a:lstStyle/>
                  <a:p>
                    <a:endParaRPr lang="en-US"/>
                  </a:p>
                </p:txBody>
              </p:sp>
              <p:sp>
                <p:nvSpPr>
                  <p:cNvPr id="451" name="Freeform: Shape 84">
                    <a:extLst>
                      <a:ext uri="{FF2B5EF4-FFF2-40B4-BE49-F238E27FC236}">
                        <a16:creationId xmlns:a16="http://schemas.microsoft.com/office/drawing/2014/main" id="{630F170D-1286-2062-B584-B5F99AB8E995}"/>
                      </a:ext>
                    </a:extLst>
                  </p:cNvPr>
                  <p:cNvSpPr/>
                  <p:nvPr/>
                </p:nvSpPr>
                <p:spPr>
                  <a:xfrm>
                    <a:off x="6505288" y="2304561"/>
                    <a:ext cx="576876" cy="232968"/>
                  </a:xfrm>
                  <a:custGeom>
                    <a:avLst/>
                    <a:gdLst>
                      <a:gd name="connsiteX0" fmla="*/ -1 w 309562"/>
                      <a:gd name="connsiteY0" fmla="*/ 125016 h 125015"/>
                      <a:gd name="connsiteX1" fmla="*/ 309562 w 309562"/>
                      <a:gd name="connsiteY1" fmla="*/ 0 h 125015"/>
                    </a:gdLst>
                    <a:ahLst/>
                    <a:cxnLst>
                      <a:cxn ang="0">
                        <a:pos x="connsiteX0" y="connsiteY0"/>
                      </a:cxn>
                      <a:cxn ang="0">
                        <a:pos x="connsiteX1" y="connsiteY1"/>
                      </a:cxn>
                    </a:cxnLst>
                    <a:rect l="l" t="t" r="r" b="b"/>
                    <a:pathLst>
                      <a:path w="309562" h="125015">
                        <a:moveTo>
                          <a:pt x="-1" y="125016"/>
                        </a:moveTo>
                        <a:lnTo>
                          <a:pt x="309562" y="0"/>
                        </a:lnTo>
                      </a:path>
                    </a:pathLst>
                  </a:custGeom>
                  <a:noFill/>
                  <a:ln w="28575" cap="flat">
                    <a:solidFill>
                      <a:schemeClr val="tx1"/>
                    </a:solidFill>
                    <a:prstDash val="solid"/>
                    <a:miter/>
                  </a:ln>
                </p:spPr>
                <p:txBody>
                  <a:bodyPr rtlCol="0" anchor="ctr"/>
                  <a:lstStyle/>
                  <a:p>
                    <a:endParaRPr lang="en-US"/>
                  </a:p>
                </p:txBody>
              </p:sp>
              <p:sp>
                <p:nvSpPr>
                  <p:cNvPr id="452" name="Freeform: Shape 85">
                    <a:extLst>
                      <a:ext uri="{FF2B5EF4-FFF2-40B4-BE49-F238E27FC236}">
                        <a16:creationId xmlns:a16="http://schemas.microsoft.com/office/drawing/2014/main" id="{78DD41F3-1797-6F0C-F4D9-3981E1B95542}"/>
                      </a:ext>
                    </a:extLst>
                  </p:cNvPr>
                  <p:cNvSpPr/>
                  <p:nvPr/>
                </p:nvSpPr>
                <p:spPr>
                  <a:xfrm>
                    <a:off x="6505288" y="2537532"/>
                    <a:ext cx="576876" cy="232968"/>
                  </a:xfrm>
                  <a:custGeom>
                    <a:avLst/>
                    <a:gdLst>
                      <a:gd name="connsiteX0" fmla="*/ -1 w 309562"/>
                      <a:gd name="connsiteY0" fmla="*/ 0 h 125015"/>
                      <a:gd name="connsiteX1" fmla="*/ 309562 w 309562"/>
                      <a:gd name="connsiteY1" fmla="*/ 125016 h 125015"/>
                    </a:gdLst>
                    <a:ahLst/>
                    <a:cxnLst>
                      <a:cxn ang="0">
                        <a:pos x="connsiteX0" y="connsiteY0"/>
                      </a:cxn>
                      <a:cxn ang="0">
                        <a:pos x="connsiteX1" y="connsiteY1"/>
                      </a:cxn>
                    </a:cxnLst>
                    <a:rect l="l" t="t" r="r" b="b"/>
                    <a:pathLst>
                      <a:path w="309562" h="125015">
                        <a:moveTo>
                          <a:pt x="-1" y="0"/>
                        </a:moveTo>
                        <a:lnTo>
                          <a:pt x="309562" y="125016"/>
                        </a:lnTo>
                      </a:path>
                    </a:pathLst>
                  </a:custGeom>
                  <a:noFill/>
                  <a:ln w="28575" cap="flat">
                    <a:solidFill>
                      <a:schemeClr val="tx1"/>
                    </a:solidFill>
                    <a:prstDash val="solid"/>
                    <a:miter/>
                  </a:ln>
                </p:spPr>
                <p:txBody>
                  <a:bodyPr rtlCol="0" anchor="ctr"/>
                  <a:lstStyle/>
                  <a:p>
                    <a:endParaRPr lang="en-US"/>
                  </a:p>
                </p:txBody>
              </p:sp>
              <p:sp>
                <p:nvSpPr>
                  <p:cNvPr id="453" name="Freeform: Shape 86">
                    <a:extLst>
                      <a:ext uri="{FF2B5EF4-FFF2-40B4-BE49-F238E27FC236}">
                        <a16:creationId xmlns:a16="http://schemas.microsoft.com/office/drawing/2014/main" id="{64395C93-0A6C-B267-135F-5A4FBE6376E2}"/>
                      </a:ext>
                    </a:extLst>
                  </p:cNvPr>
                  <p:cNvSpPr/>
                  <p:nvPr/>
                </p:nvSpPr>
                <p:spPr>
                  <a:xfrm>
                    <a:off x="7082166" y="1372684"/>
                    <a:ext cx="576876" cy="232968"/>
                  </a:xfrm>
                  <a:custGeom>
                    <a:avLst/>
                    <a:gdLst>
                      <a:gd name="connsiteX0" fmla="*/ -1 w 309562"/>
                      <a:gd name="connsiteY0" fmla="*/ 0 h 125015"/>
                      <a:gd name="connsiteX1" fmla="*/ 309562 w 309562"/>
                      <a:gd name="connsiteY1" fmla="*/ 125016 h 125015"/>
                    </a:gdLst>
                    <a:ahLst/>
                    <a:cxnLst>
                      <a:cxn ang="0">
                        <a:pos x="connsiteX0" y="connsiteY0"/>
                      </a:cxn>
                      <a:cxn ang="0">
                        <a:pos x="connsiteX1" y="connsiteY1"/>
                      </a:cxn>
                    </a:cxnLst>
                    <a:rect l="l" t="t" r="r" b="b"/>
                    <a:pathLst>
                      <a:path w="309562" h="125015">
                        <a:moveTo>
                          <a:pt x="-1" y="0"/>
                        </a:moveTo>
                        <a:lnTo>
                          <a:pt x="309562" y="125016"/>
                        </a:lnTo>
                      </a:path>
                    </a:pathLst>
                  </a:custGeom>
                  <a:noFill/>
                  <a:ln w="28575" cap="flat">
                    <a:solidFill>
                      <a:schemeClr val="tx1"/>
                    </a:solidFill>
                    <a:prstDash val="solid"/>
                    <a:miter/>
                  </a:ln>
                </p:spPr>
                <p:txBody>
                  <a:bodyPr rtlCol="0" anchor="ctr"/>
                  <a:lstStyle/>
                  <a:p>
                    <a:endParaRPr lang="en-US"/>
                  </a:p>
                </p:txBody>
              </p:sp>
              <p:sp>
                <p:nvSpPr>
                  <p:cNvPr id="454" name="Freeform: Shape 87">
                    <a:extLst>
                      <a:ext uri="{FF2B5EF4-FFF2-40B4-BE49-F238E27FC236}">
                        <a16:creationId xmlns:a16="http://schemas.microsoft.com/office/drawing/2014/main" id="{E8534739-A1B8-DCBF-8E7B-1175068E808D}"/>
                      </a:ext>
                    </a:extLst>
                  </p:cNvPr>
                  <p:cNvSpPr/>
                  <p:nvPr/>
                </p:nvSpPr>
                <p:spPr>
                  <a:xfrm>
                    <a:off x="7082166" y="1372684"/>
                    <a:ext cx="576876" cy="698907"/>
                  </a:xfrm>
                  <a:custGeom>
                    <a:avLst/>
                    <a:gdLst>
                      <a:gd name="connsiteX0" fmla="*/ -1 w 309562"/>
                      <a:gd name="connsiteY0" fmla="*/ 0 h 375046"/>
                      <a:gd name="connsiteX1" fmla="*/ 309562 w 309562"/>
                      <a:gd name="connsiteY1" fmla="*/ 375047 h 375046"/>
                    </a:gdLst>
                    <a:ahLst/>
                    <a:cxnLst>
                      <a:cxn ang="0">
                        <a:pos x="connsiteX0" y="connsiteY0"/>
                      </a:cxn>
                      <a:cxn ang="0">
                        <a:pos x="connsiteX1" y="connsiteY1"/>
                      </a:cxn>
                    </a:cxnLst>
                    <a:rect l="l" t="t" r="r" b="b"/>
                    <a:pathLst>
                      <a:path w="309562" h="375046">
                        <a:moveTo>
                          <a:pt x="-1" y="0"/>
                        </a:moveTo>
                        <a:lnTo>
                          <a:pt x="309562" y="375047"/>
                        </a:lnTo>
                      </a:path>
                    </a:pathLst>
                  </a:custGeom>
                  <a:noFill/>
                  <a:ln w="28575" cap="flat">
                    <a:solidFill>
                      <a:schemeClr val="tx1"/>
                    </a:solidFill>
                    <a:prstDash val="solid"/>
                    <a:miter/>
                  </a:ln>
                </p:spPr>
                <p:txBody>
                  <a:bodyPr rtlCol="0" anchor="ctr"/>
                  <a:lstStyle/>
                  <a:p>
                    <a:endParaRPr lang="en-US"/>
                  </a:p>
                </p:txBody>
              </p:sp>
              <p:sp>
                <p:nvSpPr>
                  <p:cNvPr id="455" name="Freeform: Shape 88">
                    <a:extLst>
                      <a:ext uri="{FF2B5EF4-FFF2-40B4-BE49-F238E27FC236}">
                        <a16:creationId xmlns:a16="http://schemas.microsoft.com/office/drawing/2014/main" id="{9F869992-73C1-BCDF-89D3-0F34B77ECDDC}"/>
                      </a:ext>
                    </a:extLst>
                  </p:cNvPr>
                  <p:cNvSpPr/>
                  <p:nvPr/>
                </p:nvSpPr>
                <p:spPr>
                  <a:xfrm>
                    <a:off x="7082166" y="1605652"/>
                    <a:ext cx="576876" cy="232968"/>
                  </a:xfrm>
                  <a:custGeom>
                    <a:avLst/>
                    <a:gdLst>
                      <a:gd name="connsiteX0" fmla="*/ -1 w 309562"/>
                      <a:gd name="connsiteY0" fmla="*/ 125016 h 125015"/>
                      <a:gd name="connsiteX1" fmla="*/ 309562 w 309562"/>
                      <a:gd name="connsiteY1" fmla="*/ 0 h 125015"/>
                    </a:gdLst>
                    <a:ahLst/>
                    <a:cxnLst>
                      <a:cxn ang="0">
                        <a:pos x="connsiteX0" y="connsiteY0"/>
                      </a:cxn>
                      <a:cxn ang="0">
                        <a:pos x="connsiteX1" y="connsiteY1"/>
                      </a:cxn>
                    </a:cxnLst>
                    <a:rect l="l" t="t" r="r" b="b"/>
                    <a:pathLst>
                      <a:path w="309562" h="125015">
                        <a:moveTo>
                          <a:pt x="-1" y="125016"/>
                        </a:moveTo>
                        <a:lnTo>
                          <a:pt x="309562" y="0"/>
                        </a:lnTo>
                      </a:path>
                    </a:pathLst>
                  </a:custGeom>
                  <a:noFill/>
                  <a:ln w="28575" cap="flat">
                    <a:solidFill>
                      <a:schemeClr val="tx1"/>
                    </a:solidFill>
                    <a:prstDash val="solid"/>
                    <a:miter/>
                  </a:ln>
                </p:spPr>
                <p:txBody>
                  <a:bodyPr rtlCol="0" anchor="ctr"/>
                  <a:lstStyle/>
                  <a:p>
                    <a:endParaRPr lang="en-US"/>
                  </a:p>
                </p:txBody>
              </p:sp>
              <p:sp>
                <p:nvSpPr>
                  <p:cNvPr id="456" name="Freeform: Shape 89">
                    <a:extLst>
                      <a:ext uri="{FF2B5EF4-FFF2-40B4-BE49-F238E27FC236}">
                        <a16:creationId xmlns:a16="http://schemas.microsoft.com/office/drawing/2014/main" id="{82EFF1E7-7856-4637-5484-859031E680A2}"/>
                      </a:ext>
                    </a:extLst>
                  </p:cNvPr>
                  <p:cNvSpPr/>
                  <p:nvPr/>
                </p:nvSpPr>
                <p:spPr>
                  <a:xfrm>
                    <a:off x="7082166" y="1838623"/>
                    <a:ext cx="576876" cy="232968"/>
                  </a:xfrm>
                  <a:custGeom>
                    <a:avLst/>
                    <a:gdLst>
                      <a:gd name="connsiteX0" fmla="*/ -1 w 309562"/>
                      <a:gd name="connsiteY0" fmla="*/ 0 h 125015"/>
                      <a:gd name="connsiteX1" fmla="*/ 309562 w 309562"/>
                      <a:gd name="connsiteY1" fmla="*/ 125016 h 125015"/>
                    </a:gdLst>
                    <a:ahLst/>
                    <a:cxnLst>
                      <a:cxn ang="0">
                        <a:pos x="connsiteX0" y="connsiteY0"/>
                      </a:cxn>
                      <a:cxn ang="0">
                        <a:pos x="connsiteX1" y="connsiteY1"/>
                      </a:cxn>
                    </a:cxnLst>
                    <a:rect l="l" t="t" r="r" b="b"/>
                    <a:pathLst>
                      <a:path w="309562" h="125015">
                        <a:moveTo>
                          <a:pt x="-1" y="0"/>
                        </a:moveTo>
                        <a:lnTo>
                          <a:pt x="309562" y="125016"/>
                        </a:lnTo>
                      </a:path>
                    </a:pathLst>
                  </a:custGeom>
                  <a:noFill/>
                  <a:ln w="28575" cap="flat">
                    <a:solidFill>
                      <a:schemeClr val="tx1"/>
                    </a:solidFill>
                    <a:prstDash val="solid"/>
                    <a:miter/>
                  </a:ln>
                </p:spPr>
                <p:txBody>
                  <a:bodyPr rtlCol="0" anchor="ctr"/>
                  <a:lstStyle/>
                  <a:p>
                    <a:endParaRPr lang="en-US"/>
                  </a:p>
                </p:txBody>
              </p:sp>
              <p:sp>
                <p:nvSpPr>
                  <p:cNvPr id="457" name="Freeform: Shape 90">
                    <a:extLst>
                      <a:ext uri="{FF2B5EF4-FFF2-40B4-BE49-F238E27FC236}">
                        <a16:creationId xmlns:a16="http://schemas.microsoft.com/office/drawing/2014/main" id="{8E6EBD71-88A2-390F-7C38-B45571C1E948}"/>
                      </a:ext>
                    </a:extLst>
                  </p:cNvPr>
                  <p:cNvSpPr/>
                  <p:nvPr/>
                </p:nvSpPr>
                <p:spPr>
                  <a:xfrm>
                    <a:off x="7082166" y="1605652"/>
                    <a:ext cx="576876" cy="698907"/>
                  </a:xfrm>
                  <a:custGeom>
                    <a:avLst/>
                    <a:gdLst>
                      <a:gd name="connsiteX0" fmla="*/ -1 w 309562"/>
                      <a:gd name="connsiteY0" fmla="*/ 375047 h 375046"/>
                      <a:gd name="connsiteX1" fmla="*/ 309562 w 309562"/>
                      <a:gd name="connsiteY1" fmla="*/ 0 h 375046"/>
                    </a:gdLst>
                    <a:ahLst/>
                    <a:cxnLst>
                      <a:cxn ang="0">
                        <a:pos x="connsiteX0" y="connsiteY0"/>
                      </a:cxn>
                      <a:cxn ang="0">
                        <a:pos x="connsiteX1" y="connsiteY1"/>
                      </a:cxn>
                    </a:cxnLst>
                    <a:rect l="l" t="t" r="r" b="b"/>
                    <a:pathLst>
                      <a:path w="309562" h="375046">
                        <a:moveTo>
                          <a:pt x="-1" y="375047"/>
                        </a:moveTo>
                        <a:lnTo>
                          <a:pt x="309562" y="0"/>
                        </a:lnTo>
                      </a:path>
                    </a:pathLst>
                  </a:custGeom>
                  <a:noFill/>
                  <a:ln w="28575" cap="flat">
                    <a:solidFill>
                      <a:schemeClr val="tx1"/>
                    </a:solidFill>
                    <a:prstDash val="solid"/>
                    <a:miter/>
                  </a:ln>
                </p:spPr>
                <p:txBody>
                  <a:bodyPr rtlCol="0" anchor="ctr"/>
                  <a:lstStyle/>
                  <a:p>
                    <a:endParaRPr lang="en-US"/>
                  </a:p>
                </p:txBody>
              </p:sp>
              <p:sp>
                <p:nvSpPr>
                  <p:cNvPr id="458" name="Freeform: Shape 91">
                    <a:extLst>
                      <a:ext uri="{FF2B5EF4-FFF2-40B4-BE49-F238E27FC236}">
                        <a16:creationId xmlns:a16="http://schemas.microsoft.com/office/drawing/2014/main" id="{05C8F156-6EA2-F74C-7A29-932D6331209E}"/>
                      </a:ext>
                    </a:extLst>
                  </p:cNvPr>
                  <p:cNvSpPr/>
                  <p:nvPr/>
                </p:nvSpPr>
                <p:spPr>
                  <a:xfrm>
                    <a:off x="7082166" y="2071593"/>
                    <a:ext cx="576876" cy="232968"/>
                  </a:xfrm>
                  <a:custGeom>
                    <a:avLst/>
                    <a:gdLst>
                      <a:gd name="connsiteX0" fmla="*/ -1 w 309562"/>
                      <a:gd name="connsiteY0" fmla="*/ 125016 h 125015"/>
                      <a:gd name="connsiteX1" fmla="*/ 309562 w 309562"/>
                      <a:gd name="connsiteY1" fmla="*/ 0 h 125015"/>
                    </a:gdLst>
                    <a:ahLst/>
                    <a:cxnLst>
                      <a:cxn ang="0">
                        <a:pos x="connsiteX0" y="connsiteY0"/>
                      </a:cxn>
                      <a:cxn ang="0">
                        <a:pos x="connsiteX1" y="connsiteY1"/>
                      </a:cxn>
                    </a:cxnLst>
                    <a:rect l="l" t="t" r="r" b="b"/>
                    <a:pathLst>
                      <a:path w="309562" h="125015">
                        <a:moveTo>
                          <a:pt x="-1" y="125016"/>
                        </a:moveTo>
                        <a:lnTo>
                          <a:pt x="309562" y="0"/>
                        </a:lnTo>
                      </a:path>
                    </a:pathLst>
                  </a:custGeom>
                  <a:noFill/>
                  <a:ln w="28575" cap="flat">
                    <a:solidFill>
                      <a:schemeClr val="tx1"/>
                    </a:solidFill>
                    <a:prstDash val="solid"/>
                    <a:miter/>
                  </a:ln>
                </p:spPr>
                <p:txBody>
                  <a:bodyPr rtlCol="0" anchor="ctr"/>
                  <a:lstStyle/>
                  <a:p>
                    <a:endParaRPr lang="en-US"/>
                  </a:p>
                </p:txBody>
              </p:sp>
              <p:sp>
                <p:nvSpPr>
                  <p:cNvPr id="459" name="Freeform: Shape 92">
                    <a:extLst>
                      <a:ext uri="{FF2B5EF4-FFF2-40B4-BE49-F238E27FC236}">
                        <a16:creationId xmlns:a16="http://schemas.microsoft.com/office/drawing/2014/main" id="{052A2B7A-7832-1C5A-C03A-F587EEB00E34}"/>
                      </a:ext>
                    </a:extLst>
                  </p:cNvPr>
                  <p:cNvSpPr/>
                  <p:nvPr/>
                </p:nvSpPr>
                <p:spPr>
                  <a:xfrm>
                    <a:off x="7659042" y="1605652"/>
                    <a:ext cx="576876" cy="465939"/>
                  </a:xfrm>
                  <a:custGeom>
                    <a:avLst/>
                    <a:gdLst>
                      <a:gd name="connsiteX0" fmla="*/ -1 w 309562"/>
                      <a:gd name="connsiteY0" fmla="*/ 0 h 250031"/>
                      <a:gd name="connsiteX1" fmla="*/ 309562 w 309562"/>
                      <a:gd name="connsiteY1" fmla="*/ 250031 h 250031"/>
                    </a:gdLst>
                    <a:ahLst/>
                    <a:cxnLst>
                      <a:cxn ang="0">
                        <a:pos x="connsiteX0" y="connsiteY0"/>
                      </a:cxn>
                      <a:cxn ang="0">
                        <a:pos x="connsiteX1" y="connsiteY1"/>
                      </a:cxn>
                    </a:cxnLst>
                    <a:rect l="l" t="t" r="r" b="b"/>
                    <a:pathLst>
                      <a:path w="309562" h="250031">
                        <a:moveTo>
                          <a:pt x="-1" y="0"/>
                        </a:moveTo>
                        <a:lnTo>
                          <a:pt x="309562" y="250031"/>
                        </a:lnTo>
                      </a:path>
                    </a:pathLst>
                  </a:custGeom>
                  <a:noFill/>
                  <a:ln w="28575" cap="flat">
                    <a:solidFill>
                      <a:schemeClr val="tx1"/>
                    </a:solidFill>
                    <a:prstDash val="solid"/>
                    <a:miter/>
                  </a:ln>
                </p:spPr>
                <p:txBody>
                  <a:bodyPr rtlCol="0" anchor="ctr"/>
                  <a:lstStyle/>
                  <a:p>
                    <a:endParaRPr lang="en-US"/>
                  </a:p>
                </p:txBody>
              </p:sp>
              <p:sp>
                <p:nvSpPr>
                  <p:cNvPr id="460" name="Freeform: Shape 93">
                    <a:extLst>
                      <a:ext uri="{FF2B5EF4-FFF2-40B4-BE49-F238E27FC236}">
                        <a16:creationId xmlns:a16="http://schemas.microsoft.com/office/drawing/2014/main" id="{69E253B1-C9FD-6870-20C9-BE60033939A2}"/>
                      </a:ext>
                    </a:extLst>
                  </p:cNvPr>
                  <p:cNvSpPr/>
                  <p:nvPr/>
                </p:nvSpPr>
                <p:spPr>
                  <a:xfrm>
                    <a:off x="7659042" y="2071593"/>
                    <a:ext cx="576876" cy="11094"/>
                  </a:xfrm>
                  <a:custGeom>
                    <a:avLst/>
                    <a:gdLst>
                      <a:gd name="connsiteX0" fmla="*/ -1 w 309562"/>
                      <a:gd name="connsiteY0" fmla="*/ 0 h 5953"/>
                      <a:gd name="connsiteX1" fmla="*/ 309562 w 309562"/>
                      <a:gd name="connsiteY1" fmla="*/ 0 h 5953"/>
                    </a:gdLst>
                    <a:ahLst/>
                    <a:cxnLst>
                      <a:cxn ang="0">
                        <a:pos x="connsiteX0" y="connsiteY0"/>
                      </a:cxn>
                      <a:cxn ang="0">
                        <a:pos x="connsiteX1" y="connsiteY1"/>
                      </a:cxn>
                    </a:cxnLst>
                    <a:rect l="l" t="t" r="r" b="b"/>
                    <a:pathLst>
                      <a:path w="309562" h="5953">
                        <a:moveTo>
                          <a:pt x="-1" y="0"/>
                        </a:moveTo>
                        <a:lnTo>
                          <a:pt x="309562" y="0"/>
                        </a:lnTo>
                      </a:path>
                    </a:pathLst>
                  </a:custGeom>
                  <a:noFill/>
                  <a:ln w="28575" cap="flat">
                    <a:solidFill>
                      <a:schemeClr val="tx1"/>
                    </a:solidFill>
                    <a:prstDash val="solid"/>
                    <a:miter/>
                  </a:ln>
                </p:spPr>
                <p:txBody>
                  <a:bodyPr rtlCol="0" anchor="ctr"/>
                  <a:lstStyle/>
                  <a:p>
                    <a:endParaRPr lang="en-US"/>
                  </a:p>
                </p:txBody>
              </p:sp>
              <p:sp>
                <p:nvSpPr>
                  <p:cNvPr id="461" name="Freeform: Shape 94">
                    <a:extLst>
                      <a:ext uri="{FF2B5EF4-FFF2-40B4-BE49-F238E27FC236}">
                        <a16:creationId xmlns:a16="http://schemas.microsoft.com/office/drawing/2014/main" id="{7ED785D5-84CC-F2D2-FF3E-2E36DC61F688}"/>
                      </a:ext>
                    </a:extLst>
                  </p:cNvPr>
                  <p:cNvSpPr/>
                  <p:nvPr/>
                </p:nvSpPr>
                <p:spPr>
                  <a:xfrm>
                    <a:off x="7082166" y="2304561"/>
                    <a:ext cx="576876" cy="232968"/>
                  </a:xfrm>
                  <a:custGeom>
                    <a:avLst/>
                    <a:gdLst>
                      <a:gd name="connsiteX0" fmla="*/ -1 w 309562"/>
                      <a:gd name="connsiteY0" fmla="*/ 0 h 125015"/>
                      <a:gd name="connsiteX1" fmla="*/ 309562 w 309562"/>
                      <a:gd name="connsiteY1" fmla="*/ 125016 h 125015"/>
                    </a:gdLst>
                    <a:ahLst/>
                    <a:cxnLst>
                      <a:cxn ang="0">
                        <a:pos x="connsiteX0" y="connsiteY0"/>
                      </a:cxn>
                      <a:cxn ang="0">
                        <a:pos x="connsiteX1" y="connsiteY1"/>
                      </a:cxn>
                    </a:cxnLst>
                    <a:rect l="l" t="t" r="r" b="b"/>
                    <a:pathLst>
                      <a:path w="309562" h="125015">
                        <a:moveTo>
                          <a:pt x="-1" y="0"/>
                        </a:moveTo>
                        <a:lnTo>
                          <a:pt x="309562" y="125016"/>
                        </a:lnTo>
                      </a:path>
                    </a:pathLst>
                  </a:custGeom>
                  <a:noFill/>
                  <a:ln w="28575" cap="flat">
                    <a:solidFill>
                      <a:schemeClr val="tx1"/>
                    </a:solidFill>
                    <a:prstDash val="solid"/>
                    <a:miter/>
                  </a:ln>
                </p:spPr>
                <p:txBody>
                  <a:bodyPr rtlCol="0" anchor="ctr"/>
                  <a:lstStyle/>
                  <a:p>
                    <a:endParaRPr lang="en-US"/>
                  </a:p>
                </p:txBody>
              </p:sp>
              <p:sp>
                <p:nvSpPr>
                  <p:cNvPr id="462" name="Freeform: Shape 95">
                    <a:extLst>
                      <a:ext uri="{FF2B5EF4-FFF2-40B4-BE49-F238E27FC236}">
                        <a16:creationId xmlns:a16="http://schemas.microsoft.com/office/drawing/2014/main" id="{C1855687-E53B-ACE0-C189-B338645B4F11}"/>
                      </a:ext>
                    </a:extLst>
                  </p:cNvPr>
                  <p:cNvSpPr/>
                  <p:nvPr/>
                </p:nvSpPr>
                <p:spPr>
                  <a:xfrm>
                    <a:off x="7082166" y="2537532"/>
                    <a:ext cx="576876" cy="232968"/>
                  </a:xfrm>
                  <a:custGeom>
                    <a:avLst/>
                    <a:gdLst>
                      <a:gd name="connsiteX0" fmla="*/ -1 w 309562"/>
                      <a:gd name="connsiteY0" fmla="*/ 125016 h 125015"/>
                      <a:gd name="connsiteX1" fmla="*/ 309562 w 309562"/>
                      <a:gd name="connsiteY1" fmla="*/ 0 h 125015"/>
                    </a:gdLst>
                    <a:ahLst/>
                    <a:cxnLst>
                      <a:cxn ang="0">
                        <a:pos x="connsiteX0" y="connsiteY0"/>
                      </a:cxn>
                      <a:cxn ang="0">
                        <a:pos x="connsiteX1" y="connsiteY1"/>
                      </a:cxn>
                    </a:cxnLst>
                    <a:rect l="l" t="t" r="r" b="b"/>
                    <a:pathLst>
                      <a:path w="309562" h="125015">
                        <a:moveTo>
                          <a:pt x="-1" y="125016"/>
                        </a:moveTo>
                        <a:lnTo>
                          <a:pt x="309562" y="0"/>
                        </a:lnTo>
                      </a:path>
                    </a:pathLst>
                  </a:custGeom>
                  <a:noFill/>
                  <a:ln w="28575" cap="flat">
                    <a:solidFill>
                      <a:schemeClr val="tx1"/>
                    </a:solidFill>
                    <a:prstDash val="solid"/>
                    <a:miter/>
                  </a:ln>
                </p:spPr>
                <p:txBody>
                  <a:bodyPr rtlCol="0" anchor="ctr"/>
                  <a:lstStyle/>
                  <a:p>
                    <a:endParaRPr lang="en-US"/>
                  </a:p>
                </p:txBody>
              </p:sp>
              <p:sp>
                <p:nvSpPr>
                  <p:cNvPr id="463" name="Freeform: Shape 96">
                    <a:extLst>
                      <a:ext uri="{FF2B5EF4-FFF2-40B4-BE49-F238E27FC236}">
                        <a16:creationId xmlns:a16="http://schemas.microsoft.com/office/drawing/2014/main" id="{E344C525-269C-D3D3-9458-5F7557634CBF}"/>
                      </a:ext>
                    </a:extLst>
                  </p:cNvPr>
                  <p:cNvSpPr/>
                  <p:nvPr/>
                </p:nvSpPr>
                <p:spPr>
                  <a:xfrm>
                    <a:off x="7659042" y="2071593"/>
                    <a:ext cx="576876" cy="465939"/>
                  </a:xfrm>
                  <a:custGeom>
                    <a:avLst/>
                    <a:gdLst>
                      <a:gd name="connsiteX0" fmla="*/ -1 w 309562"/>
                      <a:gd name="connsiteY0" fmla="*/ 250031 h 250031"/>
                      <a:gd name="connsiteX1" fmla="*/ 309562 w 309562"/>
                      <a:gd name="connsiteY1" fmla="*/ 0 h 250031"/>
                    </a:gdLst>
                    <a:ahLst/>
                    <a:cxnLst>
                      <a:cxn ang="0">
                        <a:pos x="connsiteX0" y="connsiteY0"/>
                      </a:cxn>
                      <a:cxn ang="0">
                        <a:pos x="connsiteX1" y="connsiteY1"/>
                      </a:cxn>
                    </a:cxnLst>
                    <a:rect l="l" t="t" r="r" b="b"/>
                    <a:pathLst>
                      <a:path w="309562" h="250031">
                        <a:moveTo>
                          <a:pt x="-1" y="250031"/>
                        </a:moveTo>
                        <a:lnTo>
                          <a:pt x="309562" y="0"/>
                        </a:lnTo>
                      </a:path>
                    </a:pathLst>
                  </a:custGeom>
                  <a:noFill/>
                  <a:ln w="28575" cap="flat">
                    <a:solidFill>
                      <a:schemeClr val="tx1"/>
                    </a:solidFill>
                    <a:prstDash val="solid"/>
                    <a:miter/>
                  </a:ln>
                </p:spPr>
                <p:txBody>
                  <a:bodyPr rtlCol="0" anchor="ctr"/>
                  <a:lstStyle/>
                  <a:p>
                    <a:endParaRPr lang="en-US"/>
                  </a:p>
                </p:txBody>
              </p:sp>
              <p:sp>
                <p:nvSpPr>
                  <p:cNvPr id="464" name="Freeform: Shape 97">
                    <a:extLst>
                      <a:ext uri="{FF2B5EF4-FFF2-40B4-BE49-F238E27FC236}">
                        <a16:creationId xmlns:a16="http://schemas.microsoft.com/office/drawing/2014/main" id="{D2D35233-9F92-72A7-559D-994B0389F306}"/>
                      </a:ext>
                    </a:extLst>
                  </p:cNvPr>
                  <p:cNvSpPr/>
                  <p:nvPr/>
                </p:nvSpPr>
                <p:spPr>
                  <a:xfrm>
                    <a:off x="6383257" y="1483621"/>
                    <a:ext cx="244062" cy="244062"/>
                  </a:xfrm>
                  <a:custGeom>
                    <a:avLst/>
                    <a:gdLst>
                      <a:gd name="connsiteX0" fmla="*/ 130968 w 130968"/>
                      <a:gd name="connsiteY0" fmla="*/ 65484 h 130968"/>
                      <a:gd name="connsiteX1" fmla="*/ 65483 w 130968"/>
                      <a:gd name="connsiteY1" fmla="*/ 130969 h 130968"/>
                      <a:gd name="connsiteX2" fmla="*/ -1 w 130968"/>
                      <a:gd name="connsiteY2" fmla="*/ 65484 h 130968"/>
                      <a:gd name="connsiteX3" fmla="*/ 65483 w 130968"/>
                      <a:gd name="connsiteY3" fmla="*/ 0 h 130968"/>
                      <a:gd name="connsiteX4" fmla="*/ 130968 w 130968"/>
                      <a:gd name="connsiteY4" fmla="*/ 65484 h 13096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0968" h="130968">
                        <a:moveTo>
                          <a:pt x="130968" y="65484"/>
                        </a:moveTo>
                        <a:cubicBezTo>
                          <a:pt x="130968" y="101650"/>
                          <a:pt x="101649" y="130969"/>
                          <a:pt x="65483" y="130969"/>
                        </a:cubicBezTo>
                        <a:cubicBezTo>
                          <a:pt x="29317" y="130969"/>
                          <a:pt x="-1" y="101650"/>
                          <a:pt x="-1" y="65484"/>
                        </a:cubicBezTo>
                        <a:cubicBezTo>
                          <a:pt x="-1" y="29318"/>
                          <a:pt x="29317" y="0"/>
                          <a:pt x="65483" y="0"/>
                        </a:cubicBezTo>
                        <a:cubicBezTo>
                          <a:pt x="101649" y="0"/>
                          <a:pt x="130968" y="29318"/>
                          <a:pt x="130968" y="65484"/>
                        </a:cubicBezTo>
                        <a:close/>
                      </a:path>
                    </a:pathLst>
                  </a:custGeom>
                  <a:solidFill>
                    <a:srgbClr val="FFFFFF"/>
                  </a:solidFill>
                  <a:ln w="28575" cap="flat">
                    <a:solidFill>
                      <a:schemeClr val="tx1"/>
                    </a:solidFill>
                    <a:prstDash val="solid"/>
                    <a:miter/>
                  </a:ln>
                </p:spPr>
                <p:txBody>
                  <a:bodyPr rtlCol="0" anchor="ctr"/>
                  <a:lstStyle/>
                  <a:p>
                    <a:endParaRPr lang="en-US"/>
                  </a:p>
                </p:txBody>
              </p:sp>
              <p:sp>
                <p:nvSpPr>
                  <p:cNvPr id="465" name="Freeform: Shape 98">
                    <a:extLst>
                      <a:ext uri="{FF2B5EF4-FFF2-40B4-BE49-F238E27FC236}">
                        <a16:creationId xmlns:a16="http://schemas.microsoft.com/office/drawing/2014/main" id="{95457873-2FE9-C379-8603-98B58B91C4AB}"/>
                      </a:ext>
                    </a:extLst>
                  </p:cNvPr>
                  <p:cNvSpPr/>
                  <p:nvPr/>
                </p:nvSpPr>
                <p:spPr>
                  <a:xfrm>
                    <a:off x="6383257" y="1949560"/>
                    <a:ext cx="244062" cy="244062"/>
                  </a:xfrm>
                  <a:custGeom>
                    <a:avLst/>
                    <a:gdLst>
                      <a:gd name="connsiteX0" fmla="*/ 130968 w 130968"/>
                      <a:gd name="connsiteY0" fmla="*/ 65484 h 130968"/>
                      <a:gd name="connsiteX1" fmla="*/ 65483 w 130968"/>
                      <a:gd name="connsiteY1" fmla="*/ 130969 h 130968"/>
                      <a:gd name="connsiteX2" fmla="*/ -1 w 130968"/>
                      <a:gd name="connsiteY2" fmla="*/ 65484 h 130968"/>
                      <a:gd name="connsiteX3" fmla="*/ 65483 w 130968"/>
                      <a:gd name="connsiteY3" fmla="*/ 0 h 130968"/>
                      <a:gd name="connsiteX4" fmla="*/ 130968 w 130968"/>
                      <a:gd name="connsiteY4" fmla="*/ 65484 h 13096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0968" h="130968">
                        <a:moveTo>
                          <a:pt x="130968" y="65484"/>
                        </a:moveTo>
                        <a:cubicBezTo>
                          <a:pt x="130968" y="101650"/>
                          <a:pt x="101649" y="130969"/>
                          <a:pt x="65483" y="130969"/>
                        </a:cubicBezTo>
                        <a:cubicBezTo>
                          <a:pt x="29317" y="130969"/>
                          <a:pt x="-1" y="101650"/>
                          <a:pt x="-1" y="65484"/>
                        </a:cubicBezTo>
                        <a:cubicBezTo>
                          <a:pt x="-1" y="29318"/>
                          <a:pt x="29317" y="0"/>
                          <a:pt x="65483" y="0"/>
                        </a:cubicBezTo>
                        <a:cubicBezTo>
                          <a:pt x="101649" y="0"/>
                          <a:pt x="130968" y="29318"/>
                          <a:pt x="130968" y="65484"/>
                        </a:cubicBezTo>
                        <a:close/>
                      </a:path>
                    </a:pathLst>
                  </a:custGeom>
                  <a:solidFill>
                    <a:srgbClr val="FFFFFF"/>
                  </a:solidFill>
                  <a:ln w="28575" cap="flat">
                    <a:solidFill>
                      <a:schemeClr val="tx1"/>
                    </a:solidFill>
                    <a:prstDash val="solid"/>
                    <a:miter/>
                  </a:ln>
                </p:spPr>
                <p:txBody>
                  <a:bodyPr rtlCol="0" anchor="ctr"/>
                  <a:lstStyle/>
                  <a:p>
                    <a:endParaRPr lang="en-US"/>
                  </a:p>
                </p:txBody>
              </p:sp>
              <p:sp>
                <p:nvSpPr>
                  <p:cNvPr id="466" name="Freeform: Shape 99">
                    <a:extLst>
                      <a:ext uri="{FF2B5EF4-FFF2-40B4-BE49-F238E27FC236}">
                        <a16:creationId xmlns:a16="http://schemas.microsoft.com/office/drawing/2014/main" id="{80233C9A-CA4E-F37C-2DF0-B9CCEAAE6AEC}"/>
                      </a:ext>
                    </a:extLst>
                  </p:cNvPr>
                  <p:cNvSpPr/>
                  <p:nvPr/>
                </p:nvSpPr>
                <p:spPr>
                  <a:xfrm>
                    <a:off x="6383257" y="2415501"/>
                    <a:ext cx="244062" cy="244062"/>
                  </a:xfrm>
                  <a:custGeom>
                    <a:avLst/>
                    <a:gdLst>
                      <a:gd name="connsiteX0" fmla="*/ 130968 w 130968"/>
                      <a:gd name="connsiteY0" fmla="*/ 65484 h 130968"/>
                      <a:gd name="connsiteX1" fmla="*/ 65483 w 130968"/>
                      <a:gd name="connsiteY1" fmla="*/ 130969 h 130968"/>
                      <a:gd name="connsiteX2" fmla="*/ -1 w 130968"/>
                      <a:gd name="connsiteY2" fmla="*/ 65484 h 130968"/>
                      <a:gd name="connsiteX3" fmla="*/ 65483 w 130968"/>
                      <a:gd name="connsiteY3" fmla="*/ 0 h 130968"/>
                      <a:gd name="connsiteX4" fmla="*/ 130968 w 130968"/>
                      <a:gd name="connsiteY4" fmla="*/ 65484 h 13096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0968" h="130968">
                        <a:moveTo>
                          <a:pt x="130968" y="65484"/>
                        </a:moveTo>
                        <a:cubicBezTo>
                          <a:pt x="130968" y="101650"/>
                          <a:pt x="101649" y="130969"/>
                          <a:pt x="65483" y="130969"/>
                        </a:cubicBezTo>
                        <a:cubicBezTo>
                          <a:pt x="29317" y="130969"/>
                          <a:pt x="-1" y="101650"/>
                          <a:pt x="-1" y="65484"/>
                        </a:cubicBezTo>
                        <a:cubicBezTo>
                          <a:pt x="-1" y="29318"/>
                          <a:pt x="29317" y="0"/>
                          <a:pt x="65483" y="0"/>
                        </a:cubicBezTo>
                        <a:cubicBezTo>
                          <a:pt x="101649" y="0"/>
                          <a:pt x="130968" y="29318"/>
                          <a:pt x="130968" y="65484"/>
                        </a:cubicBezTo>
                        <a:close/>
                      </a:path>
                    </a:pathLst>
                  </a:custGeom>
                  <a:solidFill>
                    <a:srgbClr val="FFFFFF"/>
                  </a:solidFill>
                  <a:ln w="28575" cap="flat">
                    <a:solidFill>
                      <a:schemeClr val="tx1"/>
                    </a:solidFill>
                    <a:prstDash val="solid"/>
                    <a:miter/>
                  </a:ln>
                </p:spPr>
                <p:txBody>
                  <a:bodyPr rtlCol="0" anchor="ctr"/>
                  <a:lstStyle/>
                  <a:p>
                    <a:endParaRPr lang="en-US"/>
                  </a:p>
                </p:txBody>
              </p:sp>
              <p:sp>
                <p:nvSpPr>
                  <p:cNvPr id="467" name="Freeform: Shape 100">
                    <a:extLst>
                      <a:ext uri="{FF2B5EF4-FFF2-40B4-BE49-F238E27FC236}">
                        <a16:creationId xmlns:a16="http://schemas.microsoft.com/office/drawing/2014/main" id="{F4511D7A-4885-7488-58CE-92190E4CBAC0}"/>
                      </a:ext>
                    </a:extLst>
                  </p:cNvPr>
                  <p:cNvSpPr/>
                  <p:nvPr/>
                </p:nvSpPr>
                <p:spPr>
                  <a:xfrm>
                    <a:off x="6960135" y="1250651"/>
                    <a:ext cx="244062" cy="244062"/>
                  </a:xfrm>
                  <a:custGeom>
                    <a:avLst/>
                    <a:gdLst>
                      <a:gd name="connsiteX0" fmla="*/ 130968 w 130968"/>
                      <a:gd name="connsiteY0" fmla="*/ 65484 h 130968"/>
                      <a:gd name="connsiteX1" fmla="*/ 65483 w 130968"/>
                      <a:gd name="connsiteY1" fmla="*/ 130969 h 130968"/>
                      <a:gd name="connsiteX2" fmla="*/ -1 w 130968"/>
                      <a:gd name="connsiteY2" fmla="*/ 65484 h 130968"/>
                      <a:gd name="connsiteX3" fmla="*/ 65483 w 130968"/>
                      <a:gd name="connsiteY3" fmla="*/ 0 h 130968"/>
                      <a:gd name="connsiteX4" fmla="*/ 130968 w 130968"/>
                      <a:gd name="connsiteY4" fmla="*/ 65484 h 13096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0968" h="130968">
                        <a:moveTo>
                          <a:pt x="130968" y="65484"/>
                        </a:moveTo>
                        <a:cubicBezTo>
                          <a:pt x="130968" y="101650"/>
                          <a:pt x="101649" y="130969"/>
                          <a:pt x="65483" y="130969"/>
                        </a:cubicBezTo>
                        <a:cubicBezTo>
                          <a:pt x="29317" y="130969"/>
                          <a:pt x="-1" y="101650"/>
                          <a:pt x="-1" y="65484"/>
                        </a:cubicBezTo>
                        <a:cubicBezTo>
                          <a:pt x="-1" y="29318"/>
                          <a:pt x="29317" y="0"/>
                          <a:pt x="65483" y="0"/>
                        </a:cubicBezTo>
                        <a:cubicBezTo>
                          <a:pt x="101649" y="0"/>
                          <a:pt x="130968" y="29318"/>
                          <a:pt x="130968" y="65484"/>
                        </a:cubicBezTo>
                        <a:close/>
                      </a:path>
                    </a:pathLst>
                  </a:custGeom>
                  <a:solidFill>
                    <a:srgbClr val="FFFFFF"/>
                  </a:solidFill>
                  <a:ln w="28575" cap="flat">
                    <a:solidFill>
                      <a:schemeClr val="tx1"/>
                    </a:solidFill>
                    <a:prstDash val="solid"/>
                    <a:miter/>
                  </a:ln>
                </p:spPr>
                <p:txBody>
                  <a:bodyPr rtlCol="0" anchor="ctr"/>
                  <a:lstStyle/>
                  <a:p>
                    <a:endParaRPr lang="en-US"/>
                  </a:p>
                </p:txBody>
              </p:sp>
              <p:sp>
                <p:nvSpPr>
                  <p:cNvPr id="468" name="Freeform: Shape 101">
                    <a:extLst>
                      <a:ext uri="{FF2B5EF4-FFF2-40B4-BE49-F238E27FC236}">
                        <a16:creationId xmlns:a16="http://schemas.microsoft.com/office/drawing/2014/main" id="{684EDFE1-2474-243B-65FA-A17755BFC4B1}"/>
                      </a:ext>
                    </a:extLst>
                  </p:cNvPr>
                  <p:cNvSpPr/>
                  <p:nvPr/>
                </p:nvSpPr>
                <p:spPr>
                  <a:xfrm>
                    <a:off x="6960135" y="1716592"/>
                    <a:ext cx="244062" cy="244062"/>
                  </a:xfrm>
                  <a:custGeom>
                    <a:avLst/>
                    <a:gdLst>
                      <a:gd name="connsiteX0" fmla="*/ 130968 w 130968"/>
                      <a:gd name="connsiteY0" fmla="*/ 65484 h 130968"/>
                      <a:gd name="connsiteX1" fmla="*/ 65483 w 130968"/>
                      <a:gd name="connsiteY1" fmla="*/ 130969 h 130968"/>
                      <a:gd name="connsiteX2" fmla="*/ -1 w 130968"/>
                      <a:gd name="connsiteY2" fmla="*/ 65484 h 130968"/>
                      <a:gd name="connsiteX3" fmla="*/ 65483 w 130968"/>
                      <a:gd name="connsiteY3" fmla="*/ 0 h 130968"/>
                      <a:gd name="connsiteX4" fmla="*/ 130968 w 130968"/>
                      <a:gd name="connsiteY4" fmla="*/ 65484 h 13096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0968" h="130968">
                        <a:moveTo>
                          <a:pt x="130968" y="65484"/>
                        </a:moveTo>
                        <a:cubicBezTo>
                          <a:pt x="130968" y="101650"/>
                          <a:pt x="101649" y="130969"/>
                          <a:pt x="65483" y="130969"/>
                        </a:cubicBezTo>
                        <a:cubicBezTo>
                          <a:pt x="29317" y="130969"/>
                          <a:pt x="-1" y="101650"/>
                          <a:pt x="-1" y="65484"/>
                        </a:cubicBezTo>
                        <a:cubicBezTo>
                          <a:pt x="-1" y="29318"/>
                          <a:pt x="29317" y="0"/>
                          <a:pt x="65483" y="0"/>
                        </a:cubicBezTo>
                        <a:cubicBezTo>
                          <a:pt x="101649" y="0"/>
                          <a:pt x="130968" y="29318"/>
                          <a:pt x="130968" y="65484"/>
                        </a:cubicBezTo>
                        <a:close/>
                      </a:path>
                    </a:pathLst>
                  </a:custGeom>
                  <a:solidFill>
                    <a:srgbClr val="FFFFFF"/>
                  </a:solidFill>
                  <a:ln w="28575" cap="flat">
                    <a:solidFill>
                      <a:schemeClr val="tx1"/>
                    </a:solidFill>
                    <a:prstDash val="solid"/>
                    <a:miter/>
                  </a:ln>
                </p:spPr>
                <p:txBody>
                  <a:bodyPr rtlCol="0" anchor="ctr"/>
                  <a:lstStyle/>
                  <a:p>
                    <a:endParaRPr lang="en-US"/>
                  </a:p>
                </p:txBody>
              </p:sp>
              <p:sp>
                <p:nvSpPr>
                  <p:cNvPr id="469" name="Freeform: Shape 102">
                    <a:extLst>
                      <a:ext uri="{FF2B5EF4-FFF2-40B4-BE49-F238E27FC236}">
                        <a16:creationId xmlns:a16="http://schemas.microsoft.com/office/drawing/2014/main" id="{45DAC483-D71B-E595-E36D-1E1F3E624D3D}"/>
                      </a:ext>
                    </a:extLst>
                  </p:cNvPr>
                  <p:cNvSpPr/>
                  <p:nvPr/>
                </p:nvSpPr>
                <p:spPr>
                  <a:xfrm>
                    <a:off x="6960135" y="2182530"/>
                    <a:ext cx="244062" cy="244062"/>
                  </a:xfrm>
                  <a:custGeom>
                    <a:avLst/>
                    <a:gdLst>
                      <a:gd name="connsiteX0" fmla="*/ 130968 w 130968"/>
                      <a:gd name="connsiteY0" fmla="*/ 65484 h 130968"/>
                      <a:gd name="connsiteX1" fmla="*/ 65483 w 130968"/>
                      <a:gd name="connsiteY1" fmla="*/ 130969 h 130968"/>
                      <a:gd name="connsiteX2" fmla="*/ -1 w 130968"/>
                      <a:gd name="connsiteY2" fmla="*/ 65484 h 130968"/>
                      <a:gd name="connsiteX3" fmla="*/ 65483 w 130968"/>
                      <a:gd name="connsiteY3" fmla="*/ 0 h 130968"/>
                      <a:gd name="connsiteX4" fmla="*/ 130968 w 130968"/>
                      <a:gd name="connsiteY4" fmla="*/ 65484 h 13096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0968" h="130968">
                        <a:moveTo>
                          <a:pt x="130968" y="65484"/>
                        </a:moveTo>
                        <a:cubicBezTo>
                          <a:pt x="130968" y="101650"/>
                          <a:pt x="101649" y="130969"/>
                          <a:pt x="65483" y="130969"/>
                        </a:cubicBezTo>
                        <a:cubicBezTo>
                          <a:pt x="29317" y="130969"/>
                          <a:pt x="-1" y="101650"/>
                          <a:pt x="-1" y="65484"/>
                        </a:cubicBezTo>
                        <a:cubicBezTo>
                          <a:pt x="-1" y="29318"/>
                          <a:pt x="29317" y="0"/>
                          <a:pt x="65483" y="0"/>
                        </a:cubicBezTo>
                        <a:cubicBezTo>
                          <a:pt x="101649" y="0"/>
                          <a:pt x="130968" y="29318"/>
                          <a:pt x="130968" y="65484"/>
                        </a:cubicBezTo>
                        <a:close/>
                      </a:path>
                    </a:pathLst>
                  </a:custGeom>
                  <a:solidFill>
                    <a:srgbClr val="FFFFFF"/>
                  </a:solidFill>
                  <a:ln w="28575" cap="flat">
                    <a:solidFill>
                      <a:schemeClr val="tx1"/>
                    </a:solidFill>
                    <a:prstDash val="solid"/>
                    <a:miter/>
                  </a:ln>
                </p:spPr>
                <p:txBody>
                  <a:bodyPr rtlCol="0" anchor="ctr"/>
                  <a:lstStyle/>
                  <a:p>
                    <a:endParaRPr lang="en-US"/>
                  </a:p>
                </p:txBody>
              </p:sp>
              <p:sp>
                <p:nvSpPr>
                  <p:cNvPr id="470" name="Freeform: Shape 103">
                    <a:extLst>
                      <a:ext uri="{FF2B5EF4-FFF2-40B4-BE49-F238E27FC236}">
                        <a16:creationId xmlns:a16="http://schemas.microsoft.com/office/drawing/2014/main" id="{3F8C74BC-F5C2-6971-06C7-415A65F9C8B0}"/>
                      </a:ext>
                    </a:extLst>
                  </p:cNvPr>
                  <p:cNvSpPr/>
                  <p:nvPr/>
                </p:nvSpPr>
                <p:spPr>
                  <a:xfrm>
                    <a:off x="6960135" y="2648469"/>
                    <a:ext cx="244062" cy="244062"/>
                  </a:xfrm>
                  <a:custGeom>
                    <a:avLst/>
                    <a:gdLst>
                      <a:gd name="connsiteX0" fmla="*/ 130968 w 130968"/>
                      <a:gd name="connsiteY0" fmla="*/ 65484 h 130968"/>
                      <a:gd name="connsiteX1" fmla="*/ 65483 w 130968"/>
                      <a:gd name="connsiteY1" fmla="*/ 130969 h 130968"/>
                      <a:gd name="connsiteX2" fmla="*/ -1 w 130968"/>
                      <a:gd name="connsiteY2" fmla="*/ 65484 h 130968"/>
                      <a:gd name="connsiteX3" fmla="*/ 65483 w 130968"/>
                      <a:gd name="connsiteY3" fmla="*/ 0 h 130968"/>
                      <a:gd name="connsiteX4" fmla="*/ 130968 w 130968"/>
                      <a:gd name="connsiteY4" fmla="*/ 65484 h 13096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0968" h="130968">
                        <a:moveTo>
                          <a:pt x="130968" y="65484"/>
                        </a:moveTo>
                        <a:cubicBezTo>
                          <a:pt x="130968" y="101650"/>
                          <a:pt x="101649" y="130969"/>
                          <a:pt x="65483" y="130969"/>
                        </a:cubicBezTo>
                        <a:cubicBezTo>
                          <a:pt x="29317" y="130969"/>
                          <a:pt x="-1" y="101650"/>
                          <a:pt x="-1" y="65484"/>
                        </a:cubicBezTo>
                        <a:cubicBezTo>
                          <a:pt x="-1" y="29318"/>
                          <a:pt x="29317" y="0"/>
                          <a:pt x="65483" y="0"/>
                        </a:cubicBezTo>
                        <a:cubicBezTo>
                          <a:pt x="101649" y="0"/>
                          <a:pt x="130968" y="29318"/>
                          <a:pt x="130968" y="65484"/>
                        </a:cubicBezTo>
                        <a:close/>
                      </a:path>
                    </a:pathLst>
                  </a:custGeom>
                  <a:solidFill>
                    <a:srgbClr val="FFFFFF"/>
                  </a:solidFill>
                  <a:ln w="28575" cap="flat">
                    <a:solidFill>
                      <a:schemeClr val="tx1"/>
                    </a:solidFill>
                    <a:prstDash val="solid"/>
                    <a:miter/>
                  </a:ln>
                </p:spPr>
                <p:txBody>
                  <a:bodyPr rtlCol="0" anchor="ctr"/>
                  <a:lstStyle/>
                  <a:p>
                    <a:endParaRPr lang="en-US"/>
                  </a:p>
                </p:txBody>
              </p:sp>
              <p:sp>
                <p:nvSpPr>
                  <p:cNvPr id="471" name="Freeform: Shape 104">
                    <a:extLst>
                      <a:ext uri="{FF2B5EF4-FFF2-40B4-BE49-F238E27FC236}">
                        <a16:creationId xmlns:a16="http://schemas.microsoft.com/office/drawing/2014/main" id="{0407E053-E335-43EE-C555-1B24E109D439}"/>
                      </a:ext>
                    </a:extLst>
                  </p:cNvPr>
                  <p:cNvSpPr/>
                  <p:nvPr/>
                </p:nvSpPr>
                <p:spPr>
                  <a:xfrm>
                    <a:off x="7537011" y="1483621"/>
                    <a:ext cx="244062" cy="244062"/>
                  </a:xfrm>
                  <a:custGeom>
                    <a:avLst/>
                    <a:gdLst>
                      <a:gd name="connsiteX0" fmla="*/ 130968 w 130968"/>
                      <a:gd name="connsiteY0" fmla="*/ 65484 h 130968"/>
                      <a:gd name="connsiteX1" fmla="*/ 65483 w 130968"/>
                      <a:gd name="connsiteY1" fmla="*/ 130969 h 130968"/>
                      <a:gd name="connsiteX2" fmla="*/ -1 w 130968"/>
                      <a:gd name="connsiteY2" fmla="*/ 65484 h 130968"/>
                      <a:gd name="connsiteX3" fmla="*/ 65483 w 130968"/>
                      <a:gd name="connsiteY3" fmla="*/ 0 h 130968"/>
                      <a:gd name="connsiteX4" fmla="*/ 130968 w 130968"/>
                      <a:gd name="connsiteY4" fmla="*/ 65484 h 13096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0968" h="130968">
                        <a:moveTo>
                          <a:pt x="130968" y="65484"/>
                        </a:moveTo>
                        <a:cubicBezTo>
                          <a:pt x="130968" y="101650"/>
                          <a:pt x="101649" y="130969"/>
                          <a:pt x="65483" y="130969"/>
                        </a:cubicBezTo>
                        <a:cubicBezTo>
                          <a:pt x="29317" y="130969"/>
                          <a:pt x="-1" y="101650"/>
                          <a:pt x="-1" y="65484"/>
                        </a:cubicBezTo>
                        <a:cubicBezTo>
                          <a:pt x="-1" y="29318"/>
                          <a:pt x="29317" y="0"/>
                          <a:pt x="65483" y="0"/>
                        </a:cubicBezTo>
                        <a:cubicBezTo>
                          <a:pt x="101649" y="0"/>
                          <a:pt x="130968" y="29318"/>
                          <a:pt x="130968" y="65484"/>
                        </a:cubicBezTo>
                        <a:close/>
                      </a:path>
                    </a:pathLst>
                  </a:custGeom>
                  <a:solidFill>
                    <a:srgbClr val="FFFFFF"/>
                  </a:solidFill>
                  <a:ln w="28575" cap="flat">
                    <a:solidFill>
                      <a:schemeClr val="tx1"/>
                    </a:solidFill>
                    <a:prstDash val="solid"/>
                    <a:miter/>
                  </a:ln>
                </p:spPr>
                <p:txBody>
                  <a:bodyPr rtlCol="0" anchor="ctr"/>
                  <a:lstStyle/>
                  <a:p>
                    <a:endParaRPr lang="en-US"/>
                  </a:p>
                </p:txBody>
              </p:sp>
              <p:sp>
                <p:nvSpPr>
                  <p:cNvPr id="472" name="Freeform: Shape 105">
                    <a:extLst>
                      <a:ext uri="{FF2B5EF4-FFF2-40B4-BE49-F238E27FC236}">
                        <a16:creationId xmlns:a16="http://schemas.microsoft.com/office/drawing/2014/main" id="{A7B76273-6D52-3CB5-1804-8396E98424D9}"/>
                      </a:ext>
                    </a:extLst>
                  </p:cNvPr>
                  <p:cNvSpPr/>
                  <p:nvPr/>
                </p:nvSpPr>
                <p:spPr>
                  <a:xfrm>
                    <a:off x="7537011" y="1949560"/>
                    <a:ext cx="244062" cy="244062"/>
                  </a:xfrm>
                  <a:custGeom>
                    <a:avLst/>
                    <a:gdLst>
                      <a:gd name="connsiteX0" fmla="*/ 130968 w 130968"/>
                      <a:gd name="connsiteY0" fmla="*/ 65484 h 130968"/>
                      <a:gd name="connsiteX1" fmla="*/ 65483 w 130968"/>
                      <a:gd name="connsiteY1" fmla="*/ 130969 h 130968"/>
                      <a:gd name="connsiteX2" fmla="*/ -1 w 130968"/>
                      <a:gd name="connsiteY2" fmla="*/ 65484 h 130968"/>
                      <a:gd name="connsiteX3" fmla="*/ 65483 w 130968"/>
                      <a:gd name="connsiteY3" fmla="*/ 0 h 130968"/>
                      <a:gd name="connsiteX4" fmla="*/ 130968 w 130968"/>
                      <a:gd name="connsiteY4" fmla="*/ 65484 h 13096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0968" h="130968">
                        <a:moveTo>
                          <a:pt x="130968" y="65484"/>
                        </a:moveTo>
                        <a:cubicBezTo>
                          <a:pt x="130968" y="101650"/>
                          <a:pt x="101649" y="130969"/>
                          <a:pt x="65483" y="130969"/>
                        </a:cubicBezTo>
                        <a:cubicBezTo>
                          <a:pt x="29317" y="130969"/>
                          <a:pt x="-1" y="101650"/>
                          <a:pt x="-1" y="65484"/>
                        </a:cubicBezTo>
                        <a:cubicBezTo>
                          <a:pt x="-1" y="29318"/>
                          <a:pt x="29317" y="0"/>
                          <a:pt x="65483" y="0"/>
                        </a:cubicBezTo>
                        <a:cubicBezTo>
                          <a:pt x="101649" y="0"/>
                          <a:pt x="130968" y="29318"/>
                          <a:pt x="130968" y="65484"/>
                        </a:cubicBezTo>
                        <a:close/>
                      </a:path>
                    </a:pathLst>
                  </a:custGeom>
                  <a:solidFill>
                    <a:srgbClr val="FFFFFF"/>
                  </a:solidFill>
                  <a:ln w="28575" cap="flat">
                    <a:solidFill>
                      <a:schemeClr val="tx1"/>
                    </a:solidFill>
                    <a:prstDash val="solid"/>
                    <a:miter/>
                  </a:ln>
                </p:spPr>
                <p:txBody>
                  <a:bodyPr rtlCol="0" anchor="ctr"/>
                  <a:lstStyle/>
                  <a:p>
                    <a:endParaRPr lang="en-US"/>
                  </a:p>
                </p:txBody>
              </p:sp>
              <p:sp>
                <p:nvSpPr>
                  <p:cNvPr id="473" name="Freeform: Shape 106">
                    <a:extLst>
                      <a:ext uri="{FF2B5EF4-FFF2-40B4-BE49-F238E27FC236}">
                        <a16:creationId xmlns:a16="http://schemas.microsoft.com/office/drawing/2014/main" id="{4BA414CA-F981-CB14-1F56-7988D0DCCFA6}"/>
                      </a:ext>
                    </a:extLst>
                  </p:cNvPr>
                  <p:cNvSpPr/>
                  <p:nvPr/>
                </p:nvSpPr>
                <p:spPr>
                  <a:xfrm>
                    <a:off x="7537011" y="2415501"/>
                    <a:ext cx="244062" cy="244062"/>
                  </a:xfrm>
                  <a:custGeom>
                    <a:avLst/>
                    <a:gdLst>
                      <a:gd name="connsiteX0" fmla="*/ 130968 w 130968"/>
                      <a:gd name="connsiteY0" fmla="*/ 65484 h 130968"/>
                      <a:gd name="connsiteX1" fmla="*/ 65483 w 130968"/>
                      <a:gd name="connsiteY1" fmla="*/ 130969 h 130968"/>
                      <a:gd name="connsiteX2" fmla="*/ -1 w 130968"/>
                      <a:gd name="connsiteY2" fmla="*/ 65484 h 130968"/>
                      <a:gd name="connsiteX3" fmla="*/ 65483 w 130968"/>
                      <a:gd name="connsiteY3" fmla="*/ 0 h 130968"/>
                      <a:gd name="connsiteX4" fmla="*/ 130968 w 130968"/>
                      <a:gd name="connsiteY4" fmla="*/ 65484 h 13096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0968" h="130968">
                        <a:moveTo>
                          <a:pt x="130968" y="65484"/>
                        </a:moveTo>
                        <a:cubicBezTo>
                          <a:pt x="130968" y="101650"/>
                          <a:pt x="101649" y="130969"/>
                          <a:pt x="65483" y="130969"/>
                        </a:cubicBezTo>
                        <a:cubicBezTo>
                          <a:pt x="29317" y="130969"/>
                          <a:pt x="-1" y="101650"/>
                          <a:pt x="-1" y="65484"/>
                        </a:cubicBezTo>
                        <a:cubicBezTo>
                          <a:pt x="-1" y="29318"/>
                          <a:pt x="29317" y="0"/>
                          <a:pt x="65483" y="0"/>
                        </a:cubicBezTo>
                        <a:cubicBezTo>
                          <a:pt x="101649" y="0"/>
                          <a:pt x="130968" y="29318"/>
                          <a:pt x="130968" y="65484"/>
                        </a:cubicBezTo>
                        <a:close/>
                      </a:path>
                    </a:pathLst>
                  </a:custGeom>
                  <a:solidFill>
                    <a:srgbClr val="FFFFFF"/>
                  </a:solidFill>
                  <a:ln w="28575" cap="flat">
                    <a:solidFill>
                      <a:schemeClr val="tx1"/>
                    </a:solidFill>
                    <a:prstDash val="solid"/>
                    <a:miter/>
                  </a:ln>
                </p:spPr>
                <p:txBody>
                  <a:bodyPr rtlCol="0" anchor="ctr"/>
                  <a:lstStyle/>
                  <a:p>
                    <a:endParaRPr lang="en-US"/>
                  </a:p>
                </p:txBody>
              </p:sp>
              <p:sp>
                <p:nvSpPr>
                  <p:cNvPr id="474" name="Freeform: Shape 107">
                    <a:extLst>
                      <a:ext uri="{FF2B5EF4-FFF2-40B4-BE49-F238E27FC236}">
                        <a16:creationId xmlns:a16="http://schemas.microsoft.com/office/drawing/2014/main" id="{F4B89793-55EF-32E7-4DA7-E9E18B2F58C5}"/>
                      </a:ext>
                    </a:extLst>
                  </p:cNvPr>
                  <p:cNvSpPr/>
                  <p:nvPr/>
                </p:nvSpPr>
                <p:spPr>
                  <a:xfrm>
                    <a:off x="8113889" y="1949560"/>
                    <a:ext cx="244062" cy="244062"/>
                  </a:xfrm>
                  <a:custGeom>
                    <a:avLst/>
                    <a:gdLst>
                      <a:gd name="connsiteX0" fmla="*/ 130968 w 130968"/>
                      <a:gd name="connsiteY0" fmla="*/ 65484 h 130968"/>
                      <a:gd name="connsiteX1" fmla="*/ 65483 w 130968"/>
                      <a:gd name="connsiteY1" fmla="*/ 130969 h 130968"/>
                      <a:gd name="connsiteX2" fmla="*/ -1 w 130968"/>
                      <a:gd name="connsiteY2" fmla="*/ 65484 h 130968"/>
                      <a:gd name="connsiteX3" fmla="*/ 65483 w 130968"/>
                      <a:gd name="connsiteY3" fmla="*/ 0 h 130968"/>
                      <a:gd name="connsiteX4" fmla="*/ 130968 w 130968"/>
                      <a:gd name="connsiteY4" fmla="*/ 65484 h 13096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0968" h="130968">
                        <a:moveTo>
                          <a:pt x="130968" y="65484"/>
                        </a:moveTo>
                        <a:cubicBezTo>
                          <a:pt x="130968" y="101650"/>
                          <a:pt x="101649" y="130969"/>
                          <a:pt x="65483" y="130969"/>
                        </a:cubicBezTo>
                        <a:cubicBezTo>
                          <a:pt x="29317" y="130969"/>
                          <a:pt x="-1" y="101650"/>
                          <a:pt x="-1" y="65484"/>
                        </a:cubicBezTo>
                        <a:cubicBezTo>
                          <a:pt x="-1" y="29318"/>
                          <a:pt x="29317" y="0"/>
                          <a:pt x="65483" y="0"/>
                        </a:cubicBezTo>
                        <a:cubicBezTo>
                          <a:pt x="101649" y="0"/>
                          <a:pt x="130968" y="29318"/>
                          <a:pt x="130968" y="65484"/>
                        </a:cubicBezTo>
                        <a:close/>
                      </a:path>
                    </a:pathLst>
                  </a:custGeom>
                  <a:solidFill>
                    <a:srgbClr val="FFFFFF"/>
                  </a:solidFill>
                  <a:ln w="28575" cap="flat">
                    <a:solidFill>
                      <a:schemeClr val="tx1"/>
                    </a:solidFill>
                    <a:prstDash val="solid"/>
                    <a:miter/>
                  </a:ln>
                </p:spPr>
                <p:txBody>
                  <a:bodyPr rtlCol="0" anchor="ctr"/>
                  <a:lstStyle/>
                  <a:p>
                    <a:endParaRPr lang="en-US"/>
                  </a:p>
                </p:txBody>
              </p:sp>
            </p:grpSp>
          </p:grpSp>
          <p:grpSp>
            <p:nvGrpSpPr>
              <p:cNvPr id="475" name="Group 474">
                <a:extLst>
                  <a:ext uri="{FF2B5EF4-FFF2-40B4-BE49-F238E27FC236}">
                    <a16:creationId xmlns:a16="http://schemas.microsoft.com/office/drawing/2014/main" id="{3BE1F06B-BC87-10E5-996E-3656A3FD66DB}"/>
                  </a:ext>
                </a:extLst>
              </p:cNvPr>
              <p:cNvGrpSpPr/>
              <p:nvPr/>
            </p:nvGrpSpPr>
            <p:grpSpPr>
              <a:xfrm>
                <a:off x="8519187" y="3478169"/>
                <a:ext cx="1366363" cy="1259770"/>
                <a:chOff x="8119062" y="2903708"/>
                <a:chExt cx="2085112" cy="1922448"/>
              </a:xfrm>
            </p:grpSpPr>
            <p:sp>
              <p:nvSpPr>
                <p:cNvPr id="476" name="Rounded Rectangle 475">
                  <a:extLst>
                    <a:ext uri="{FF2B5EF4-FFF2-40B4-BE49-F238E27FC236}">
                      <a16:creationId xmlns:a16="http://schemas.microsoft.com/office/drawing/2014/main" id="{E2A39685-3160-6CE0-9B69-EEAAA33E9FA0}"/>
                    </a:ext>
                  </a:extLst>
                </p:cNvPr>
                <p:cNvSpPr/>
                <p:nvPr/>
              </p:nvSpPr>
              <p:spPr>
                <a:xfrm>
                  <a:off x="8119062" y="2903708"/>
                  <a:ext cx="2085112" cy="1922448"/>
                </a:xfrm>
                <a:prstGeom prst="roundRect">
                  <a:avLst/>
                </a:prstGeom>
                <a:solidFill>
                  <a:schemeClr val="bg1">
                    <a:lumMod val="95000"/>
                  </a:schemeClr>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BE"/>
                </a:p>
              </p:txBody>
            </p:sp>
            <p:grpSp>
              <p:nvGrpSpPr>
                <p:cNvPr id="477" name="Group 476">
                  <a:extLst>
                    <a:ext uri="{FF2B5EF4-FFF2-40B4-BE49-F238E27FC236}">
                      <a16:creationId xmlns:a16="http://schemas.microsoft.com/office/drawing/2014/main" id="{CA22EA06-CDBA-D7B1-F0E4-787EBE19027B}"/>
                    </a:ext>
                  </a:extLst>
                </p:cNvPr>
                <p:cNvGrpSpPr/>
                <p:nvPr/>
              </p:nvGrpSpPr>
              <p:grpSpPr>
                <a:xfrm>
                  <a:off x="8339159" y="3138112"/>
                  <a:ext cx="1772251" cy="1473558"/>
                  <a:chOff x="6383257" y="1250651"/>
                  <a:chExt cx="1974694" cy="1641880"/>
                </a:xfrm>
              </p:grpSpPr>
              <p:sp>
                <p:nvSpPr>
                  <p:cNvPr id="478" name="Freeform: Shape 77">
                    <a:extLst>
                      <a:ext uri="{FF2B5EF4-FFF2-40B4-BE49-F238E27FC236}">
                        <a16:creationId xmlns:a16="http://schemas.microsoft.com/office/drawing/2014/main" id="{68C60C48-AD60-70D1-6DA1-5F31CEA14F93}"/>
                      </a:ext>
                    </a:extLst>
                  </p:cNvPr>
                  <p:cNvSpPr/>
                  <p:nvPr/>
                </p:nvSpPr>
                <p:spPr>
                  <a:xfrm>
                    <a:off x="6505288" y="1372684"/>
                    <a:ext cx="576876" cy="232968"/>
                  </a:xfrm>
                  <a:custGeom>
                    <a:avLst/>
                    <a:gdLst>
                      <a:gd name="connsiteX0" fmla="*/ -1 w 309562"/>
                      <a:gd name="connsiteY0" fmla="*/ 125016 h 125015"/>
                      <a:gd name="connsiteX1" fmla="*/ 309562 w 309562"/>
                      <a:gd name="connsiteY1" fmla="*/ 0 h 125015"/>
                    </a:gdLst>
                    <a:ahLst/>
                    <a:cxnLst>
                      <a:cxn ang="0">
                        <a:pos x="connsiteX0" y="connsiteY0"/>
                      </a:cxn>
                      <a:cxn ang="0">
                        <a:pos x="connsiteX1" y="connsiteY1"/>
                      </a:cxn>
                    </a:cxnLst>
                    <a:rect l="l" t="t" r="r" b="b"/>
                    <a:pathLst>
                      <a:path w="309562" h="125015">
                        <a:moveTo>
                          <a:pt x="-1" y="125016"/>
                        </a:moveTo>
                        <a:lnTo>
                          <a:pt x="309562" y="0"/>
                        </a:lnTo>
                      </a:path>
                    </a:pathLst>
                  </a:custGeom>
                  <a:noFill/>
                  <a:ln w="28575" cap="flat">
                    <a:solidFill>
                      <a:schemeClr val="tx1"/>
                    </a:solidFill>
                    <a:prstDash val="solid"/>
                    <a:miter/>
                  </a:ln>
                </p:spPr>
                <p:txBody>
                  <a:bodyPr rtlCol="0" anchor="ctr"/>
                  <a:lstStyle/>
                  <a:p>
                    <a:endParaRPr lang="en-US"/>
                  </a:p>
                </p:txBody>
              </p:sp>
              <p:sp>
                <p:nvSpPr>
                  <p:cNvPr id="479" name="Freeform: Shape 78">
                    <a:extLst>
                      <a:ext uri="{FF2B5EF4-FFF2-40B4-BE49-F238E27FC236}">
                        <a16:creationId xmlns:a16="http://schemas.microsoft.com/office/drawing/2014/main" id="{860604D1-DD95-5A15-51FE-FBBA36BA1E77}"/>
                      </a:ext>
                    </a:extLst>
                  </p:cNvPr>
                  <p:cNvSpPr/>
                  <p:nvPr/>
                </p:nvSpPr>
                <p:spPr>
                  <a:xfrm>
                    <a:off x="6505288" y="1605652"/>
                    <a:ext cx="576876" cy="698907"/>
                  </a:xfrm>
                  <a:custGeom>
                    <a:avLst/>
                    <a:gdLst>
                      <a:gd name="connsiteX0" fmla="*/ -1 w 309562"/>
                      <a:gd name="connsiteY0" fmla="*/ 0 h 375046"/>
                      <a:gd name="connsiteX1" fmla="*/ 309562 w 309562"/>
                      <a:gd name="connsiteY1" fmla="*/ 375047 h 375046"/>
                    </a:gdLst>
                    <a:ahLst/>
                    <a:cxnLst>
                      <a:cxn ang="0">
                        <a:pos x="connsiteX0" y="connsiteY0"/>
                      </a:cxn>
                      <a:cxn ang="0">
                        <a:pos x="connsiteX1" y="connsiteY1"/>
                      </a:cxn>
                    </a:cxnLst>
                    <a:rect l="l" t="t" r="r" b="b"/>
                    <a:pathLst>
                      <a:path w="309562" h="375046">
                        <a:moveTo>
                          <a:pt x="-1" y="0"/>
                        </a:moveTo>
                        <a:lnTo>
                          <a:pt x="309562" y="375047"/>
                        </a:lnTo>
                      </a:path>
                    </a:pathLst>
                  </a:custGeom>
                  <a:noFill/>
                  <a:ln w="28575" cap="flat">
                    <a:solidFill>
                      <a:schemeClr val="tx1"/>
                    </a:solidFill>
                    <a:prstDash val="solid"/>
                    <a:miter/>
                  </a:ln>
                </p:spPr>
                <p:txBody>
                  <a:bodyPr rtlCol="0" anchor="ctr"/>
                  <a:lstStyle/>
                  <a:p>
                    <a:endParaRPr lang="en-US"/>
                  </a:p>
                </p:txBody>
              </p:sp>
              <p:sp>
                <p:nvSpPr>
                  <p:cNvPr id="480" name="Freeform: Shape 81">
                    <a:extLst>
                      <a:ext uri="{FF2B5EF4-FFF2-40B4-BE49-F238E27FC236}">
                        <a16:creationId xmlns:a16="http://schemas.microsoft.com/office/drawing/2014/main" id="{0BD30D0E-BB42-4042-0463-8A8FEEAC9D47}"/>
                      </a:ext>
                    </a:extLst>
                  </p:cNvPr>
                  <p:cNvSpPr/>
                  <p:nvPr/>
                </p:nvSpPr>
                <p:spPr>
                  <a:xfrm>
                    <a:off x="6505288" y="1838623"/>
                    <a:ext cx="576876" cy="232968"/>
                  </a:xfrm>
                  <a:custGeom>
                    <a:avLst/>
                    <a:gdLst>
                      <a:gd name="connsiteX0" fmla="*/ -1 w 309562"/>
                      <a:gd name="connsiteY0" fmla="*/ 125016 h 125015"/>
                      <a:gd name="connsiteX1" fmla="*/ 309562 w 309562"/>
                      <a:gd name="connsiteY1" fmla="*/ 0 h 125015"/>
                    </a:gdLst>
                    <a:ahLst/>
                    <a:cxnLst>
                      <a:cxn ang="0">
                        <a:pos x="connsiteX0" y="connsiteY0"/>
                      </a:cxn>
                      <a:cxn ang="0">
                        <a:pos x="connsiteX1" y="connsiteY1"/>
                      </a:cxn>
                    </a:cxnLst>
                    <a:rect l="l" t="t" r="r" b="b"/>
                    <a:pathLst>
                      <a:path w="309562" h="125015">
                        <a:moveTo>
                          <a:pt x="-1" y="125016"/>
                        </a:moveTo>
                        <a:lnTo>
                          <a:pt x="309562" y="0"/>
                        </a:lnTo>
                      </a:path>
                    </a:pathLst>
                  </a:custGeom>
                  <a:noFill/>
                  <a:ln w="28575" cap="flat">
                    <a:solidFill>
                      <a:schemeClr val="tx1"/>
                    </a:solidFill>
                    <a:prstDash val="solid"/>
                    <a:miter/>
                  </a:ln>
                </p:spPr>
                <p:txBody>
                  <a:bodyPr rtlCol="0" anchor="ctr"/>
                  <a:lstStyle/>
                  <a:p>
                    <a:endParaRPr lang="en-US"/>
                  </a:p>
                </p:txBody>
              </p:sp>
              <p:sp>
                <p:nvSpPr>
                  <p:cNvPr id="481" name="Freeform: Shape 82">
                    <a:extLst>
                      <a:ext uri="{FF2B5EF4-FFF2-40B4-BE49-F238E27FC236}">
                        <a16:creationId xmlns:a16="http://schemas.microsoft.com/office/drawing/2014/main" id="{5C06BD8E-CEF9-3D73-47DC-64A6A5002B98}"/>
                      </a:ext>
                    </a:extLst>
                  </p:cNvPr>
                  <p:cNvSpPr/>
                  <p:nvPr/>
                </p:nvSpPr>
                <p:spPr>
                  <a:xfrm>
                    <a:off x="6505288" y="2071593"/>
                    <a:ext cx="576876" cy="232968"/>
                  </a:xfrm>
                  <a:custGeom>
                    <a:avLst/>
                    <a:gdLst>
                      <a:gd name="connsiteX0" fmla="*/ -1 w 309562"/>
                      <a:gd name="connsiteY0" fmla="*/ 0 h 125015"/>
                      <a:gd name="connsiteX1" fmla="*/ 309562 w 309562"/>
                      <a:gd name="connsiteY1" fmla="*/ 125016 h 125015"/>
                    </a:gdLst>
                    <a:ahLst/>
                    <a:cxnLst>
                      <a:cxn ang="0">
                        <a:pos x="connsiteX0" y="connsiteY0"/>
                      </a:cxn>
                      <a:cxn ang="0">
                        <a:pos x="connsiteX1" y="connsiteY1"/>
                      </a:cxn>
                    </a:cxnLst>
                    <a:rect l="l" t="t" r="r" b="b"/>
                    <a:pathLst>
                      <a:path w="309562" h="125015">
                        <a:moveTo>
                          <a:pt x="-1" y="0"/>
                        </a:moveTo>
                        <a:lnTo>
                          <a:pt x="309562" y="125016"/>
                        </a:lnTo>
                      </a:path>
                    </a:pathLst>
                  </a:custGeom>
                  <a:noFill/>
                  <a:ln w="28575" cap="flat">
                    <a:solidFill>
                      <a:schemeClr val="tx1"/>
                    </a:solidFill>
                    <a:prstDash val="solid"/>
                    <a:miter/>
                  </a:ln>
                </p:spPr>
                <p:txBody>
                  <a:bodyPr rtlCol="0" anchor="ctr"/>
                  <a:lstStyle/>
                  <a:p>
                    <a:endParaRPr lang="en-US"/>
                  </a:p>
                </p:txBody>
              </p:sp>
              <p:sp>
                <p:nvSpPr>
                  <p:cNvPr id="482" name="Freeform: Shape 83">
                    <a:extLst>
                      <a:ext uri="{FF2B5EF4-FFF2-40B4-BE49-F238E27FC236}">
                        <a16:creationId xmlns:a16="http://schemas.microsoft.com/office/drawing/2014/main" id="{E65B6C7C-17C1-76BD-8072-CE154FC1D162}"/>
                      </a:ext>
                    </a:extLst>
                  </p:cNvPr>
                  <p:cNvSpPr/>
                  <p:nvPr/>
                </p:nvSpPr>
                <p:spPr>
                  <a:xfrm>
                    <a:off x="6505288" y="2071593"/>
                    <a:ext cx="576876" cy="698907"/>
                  </a:xfrm>
                  <a:custGeom>
                    <a:avLst/>
                    <a:gdLst>
                      <a:gd name="connsiteX0" fmla="*/ -1 w 309562"/>
                      <a:gd name="connsiteY0" fmla="*/ 0 h 375046"/>
                      <a:gd name="connsiteX1" fmla="*/ 309562 w 309562"/>
                      <a:gd name="connsiteY1" fmla="*/ 375047 h 375046"/>
                    </a:gdLst>
                    <a:ahLst/>
                    <a:cxnLst>
                      <a:cxn ang="0">
                        <a:pos x="connsiteX0" y="connsiteY0"/>
                      </a:cxn>
                      <a:cxn ang="0">
                        <a:pos x="connsiteX1" y="connsiteY1"/>
                      </a:cxn>
                    </a:cxnLst>
                    <a:rect l="l" t="t" r="r" b="b"/>
                    <a:pathLst>
                      <a:path w="309562" h="375046">
                        <a:moveTo>
                          <a:pt x="-1" y="0"/>
                        </a:moveTo>
                        <a:lnTo>
                          <a:pt x="309562" y="375047"/>
                        </a:lnTo>
                      </a:path>
                    </a:pathLst>
                  </a:custGeom>
                  <a:noFill/>
                  <a:ln w="28575" cap="flat">
                    <a:solidFill>
                      <a:schemeClr val="tx1"/>
                    </a:solidFill>
                    <a:prstDash val="solid"/>
                    <a:miter/>
                  </a:ln>
                </p:spPr>
                <p:txBody>
                  <a:bodyPr rtlCol="0" anchor="ctr"/>
                  <a:lstStyle/>
                  <a:p>
                    <a:endParaRPr lang="en-US"/>
                  </a:p>
                </p:txBody>
              </p:sp>
              <p:sp>
                <p:nvSpPr>
                  <p:cNvPr id="483" name="Freeform: Shape 84">
                    <a:extLst>
                      <a:ext uri="{FF2B5EF4-FFF2-40B4-BE49-F238E27FC236}">
                        <a16:creationId xmlns:a16="http://schemas.microsoft.com/office/drawing/2014/main" id="{1A775DE8-972E-656E-DD2F-59C3B2D09D4A}"/>
                      </a:ext>
                    </a:extLst>
                  </p:cNvPr>
                  <p:cNvSpPr/>
                  <p:nvPr/>
                </p:nvSpPr>
                <p:spPr>
                  <a:xfrm>
                    <a:off x="6505288" y="2304561"/>
                    <a:ext cx="576876" cy="232968"/>
                  </a:xfrm>
                  <a:custGeom>
                    <a:avLst/>
                    <a:gdLst>
                      <a:gd name="connsiteX0" fmla="*/ -1 w 309562"/>
                      <a:gd name="connsiteY0" fmla="*/ 125016 h 125015"/>
                      <a:gd name="connsiteX1" fmla="*/ 309562 w 309562"/>
                      <a:gd name="connsiteY1" fmla="*/ 0 h 125015"/>
                    </a:gdLst>
                    <a:ahLst/>
                    <a:cxnLst>
                      <a:cxn ang="0">
                        <a:pos x="connsiteX0" y="connsiteY0"/>
                      </a:cxn>
                      <a:cxn ang="0">
                        <a:pos x="connsiteX1" y="connsiteY1"/>
                      </a:cxn>
                    </a:cxnLst>
                    <a:rect l="l" t="t" r="r" b="b"/>
                    <a:pathLst>
                      <a:path w="309562" h="125015">
                        <a:moveTo>
                          <a:pt x="-1" y="125016"/>
                        </a:moveTo>
                        <a:lnTo>
                          <a:pt x="309562" y="0"/>
                        </a:lnTo>
                      </a:path>
                    </a:pathLst>
                  </a:custGeom>
                  <a:noFill/>
                  <a:ln w="28575" cap="flat">
                    <a:solidFill>
                      <a:schemeClr val="tx1"/>
                    </a:solidFill>
                    <a:prstDash val="solid"/>
                    <a:miter/>
                  </a:ln>
                </p:spPr>
                <p:txBody>
                  <a:bodyPr rtlCol="0" anchor="ctr"/>
                  <a:lstStyle/>
                  <a:p>
                    <a:endParaRPr lang="en-US"/>
                  </a:p>
                </p:txBody>
              </p:sp>
              <p:sp>
                <p:nvSpPr>
                  <p:cNvPr id="484" name="Freeform: Shape 85">
                    <a:extLst>
                      <a:ext uri="{FF2B5EF4-FFF2-40B4-BE49-F238E27FC236}">
                        <a16:creationId xmlns:a16="http://schemas.microsoft.com/office/drawing/2014/main" id="{DAA0B888-FFF9-D58A-B898-7CCEF6DE21DC}"/>
                      </a:ext>
                    </a:extLst>
                  </p:cNvPr>
                  <p:cNvSpPr/>
                  <p:nvPr/>
                </p:nvSpPr>
                <p:spPr>
                  <a:xfrm>
                    <a:off x="6505288" y="2537532"/>
                    <a:ext cx="576876" cy="232968"/>
                  </a:xfrm>
                  <a:custGeom>
                    <a:avLst/>
                    <a:gdLst>
                      <a:gd name="connsiteX0" fmla="*/ -1 w 309562"/>
                      <a:gd name="connsiteY0" fmla="*/ 0 h 125015"/>
                      <a:gd name="connsiteX1" fmla="*/ 309562 w 309562"/>
                      <a:gd name="connsiteY1" fmla="*/ 125016 h 125015"/>
                    </a:gdLst>
                    <a:ahLst/>
                    <a:cxnLst>
                      <a:cxn ang="0">
                        <a:pos x="connsiteX0" y="connsiteY0"/>
                      </a:cxn>
                      <a:cxn ang="0">
                        <a:pos x="connsiteX1" y="connsiteY1"/>
                      </a:cxn>
                    </a:cxnLst>
                    <a:rect l="l" t="t" r="r" b="b"/>
                    <a:pathLst>
                      <a:path w="309562" h="125015">
                        <a:moveTo>
                          <a:pt x="-1" y="0"/>
                        </a:moveTo>
                        <a:lnTo>
                          <a:pt x="309562" y="125016"/>
                        </a:lnTo>
                      </a:path>
                    </a:pathLst>
                  </a:custGeom>
                  <a:noFill/>
                  <a:ln w="28575" cap="flat">
                    <a:solidFill>
                      <a:schemeClr val="tx1"/>
                    </a:solidFill>
                    <a:prstDash val="solid"/>
                    <a:miter/>
                  </a:ln>
                </p:spPr>
                <p:txBody>
                  <a:bodyPr rtlCol="0" anchor="ctr"/>
                  <a:lstStyle/>
                  <a:p>
                    <a:endParaRPr lang="en-US"/>
                  </a:p>
                </p:txBody>
              </p:sp>
              <p:sp>
                <p:nvSpPr>
                  <p:cNvPr id="485" name="Freeform: Shape 86">
                    <a:extLst>
                      <a:ext uri="{FF2B5EF4-FFF2-40B4-BE49-F238E27FC236}">
                        <a16:creationId xmlns:a16="http://schemas.microsoft.com/office/drawing/2014/main" id="{53D5C2BC-695D-C541-AF46-74EC4F495024}"/>
                      </a:ext>
                    </a:extLst>
                  </p:cNvPr>
                  <p:cNvSpPr/>
                  <p:nvPr/>
                </p:nvSpPr>
                <p:spPr>
                  <a:xfrm>
                    <a:off x="7082166" y="1372684"/>
                    <a:ext cx="576876" cy="232968"/>
                  </a:xfrm>
                  <a:custGeom>
                    <a:avLst/>
                    <a:gdLst>
                      <a:gd name="connsiteX0" fmla="*/ -1 w 309562"/>
                      <a:gd name="connsiteY0" fmla="*/ 0 h 125015"/>
                      <a:gd name="connsiteX1" fmla="*/ 309562 w 309562"/>
                      <a:gd name="connsiteY1" fmla="*/ 125016 h 125015"/>
                    </a:gdLst>
                    <a:ahLst/>
                    <a:cxnLst>
                      <a:cxn ang="0">
                        <a:pos x="connsiteX0" y="connsiteY0"/>
                      </a:cxn>
                      <a:cxn ang="0">
                        <a:pos x="connsiteX1" y="connsiteY1"/>
                      </a:cxn>
                    </a:cxnLst>
                    <a:rect l="l" t="t" r="r" b="b"/>
                    <a:pathLst>
                      <a:path w="309562" h="125015">
                        <a:moveTo>
                          <a:pt x="-1" y="0"/>
                        </a:moveTo>
                        <a:lnTo>
                          <a:pt x="309562" y="125016"/>
                        </a:lnTo>
                      </a:path>
                    </a:pathLst>
                  </a:custGeom>
                  <a:noFill/>
                  <a:ln w="28575" cap="flat">
                    <a:solidFill>
                      <a:schemeClr val="tx1"/>
                    </a:solidFill>
                    <a:prstDash val="solid"/>
                    <a:miter/>
                  </a:ln>
                </p:spPr>
                <p:txBody>
                  <a:bodyPr rtlCol="0" anchor="ctr"/>
                  <a:lstStyle/>
                  <a:p>
                    <a:endParaRPr lang="en-US"/>
                  </a:p>
                </p:txBody>
              </p:sp>
              <p:sp>
                <p:nvSpPr>
                  <p:cNvPr id="486" name="Freeform: Shape 87">
                    <a:extLst>
                      <a:ext uri="{FF2B5EF4-FFF2-40B4-BE49-F238E27FC236}">
                        <a16:creationId xmlns:a16="http://schemas.microsoft.com/office/drawing/2014/main" id="{CF8E8165-6001-705C-B5F4-F989FEE0483B}"/>
                      </a:ext>
                    </a:extLst>
                  </p:cNvPr>
                  <p:cNvSpPr/>
                  <p:nvPr/>
                </p:nvSpPr>
                <p:spPr>
                  <a:xfrm>
                    <a:off x="7082166" y="1372684"/>
                    <a:ext cx="576876" cy="698907"/>
                  </a:xfrm>
                  <a:custGeom>
                    <a:avLst/>
                    <a:gdLst>
                      <a:gd name="connsiteX0" fmla="*/ -1 w 309562"/>
                      <a:gd name="connsiteY0" fmla="*/ 0 h 375046"/>
                      <a:gd name="connsiteX1" fmla="*/ 309562 w 309562"/>
                      <a:gd name="connsiteY1" fmla="*/ 375047 h 375046"/>
                    </a:gdLst>
                    <a:ahLst/>
                    <a:cxnLst>
                      <a:cxn ang="0">
                        <a:pos x="connsiteX0" y="connsiteY0"/>
                      </a:cxn>
                      <a:cxn ang="0">
                        <a:pos x="connsiteX1" y="connsiteY1"/>
                      </a:cxn>
                    </a:cxnLst>
                    <a:rect l="l" t="t" r="r" b="b"/>
                    <a:pathLst>
                      <a:path w="309562" h="375046">
                        <a:moveTo>
                          <a:pt x="-1" y="0"/>
                        </a:moveTo>
                        <a:lnTo>
                          <a:pt x="309562" y="375047"/>
                        </a:lnTo>
                      </a:path>
                    </a:pathLst>
                  </a:custGeom>
                  <a:noFill/>
                  <a:ln w="28575" cap="flat">
                    <a:solidFill>
                      <a:schemeClr val="tx1"/>
                    </a:solidFill>
                    <a:prstDash val="solid"/>
                    <a:miter/>
                  </a:ln>
                </p:spPr>
                <p:txBody>
                  <a:bodyPr rtlCol="0" anchor="ctr"/>
                  <a:lstStyle/>
                  <a:p>
                    <a:endParaRPr lang="en-US"/>
                  </a:p>
                </p:txBody>
              </p:sp>
              <p:sp>
                <p:nvSpPr>
                  <p:cNvPr id="487" name="Freeform: Shape 88">
                    <a:extLst>
                      <a:ext uri="{FF2B5EF4-FFF2-40B4-BE49-F238E27FC236}">
                        <a16:creationId xmlns:a16="http://schemas.microsoft.com/office/drawing/2014/main" id="{7D7044CE-0AE9-7F73-C7FC-CE8EFE6ED671}"/>
                      </a:ext>
                    </a:extLst>
                  </p:cNvPr>
                  <p:cNvSpPr/>
                  <p:nvPr/>
                </p:nvSpPr>
                <p:spPr>
                  <a:xfrm>
                    <a:off x="7082166" y="1605652"/>
                    <a:ext cx="576876" cy="232968"/>
                  </a:xfrm>
                  <a:custGeom>
                    <a:avLst/>
                    <a:gdLst>
                      <a:gd name="connsiteX0" fmla="*/ -1 w 309562"/>
                      <a:gd name="connsiteY0" fmla="*/ 125016 h 125015"/>
                      <a:gd name="connsiteX1" fmla="*/ 309562 w 309562"/>
                      <a:gd name="connsiteY1" fmla="*/ 0 h 125015"/>
                    </a:gdLst>
                    <a:ahLst/>
                    <a:cxnLst>
                      <a:cxn ang="0">
                        <a:pos x="connsiteX0" y="connsiteY0"/>
                      </a:cxn>
                      <a:cxn ang="0">
                        <a:pos x="connsiteX1" y="connsiteY1"/>
                      </a:cxn>
                    </a:cxnLst>
                    <a:rect l="l" t="t" r="r" b="b"/>
                    <a:pathLst>
                      <a:path w="309562" h="125015">
                        <a:moveTo>
                          <a:pt x="-1" y="125016"/>
                        </a:moveTo>
                        <a:lnTo>
                          <a:pt x="309562" y="0"/>
                        </a:lnTo>
                      </a:path>
                    </a:pathLst>
                  </a:custGeom>
                  <a:noFill/>
                  <a:ln w="28575" cap="flat">
                    <a:solidFill>
                      <a:schemeClr val="tx1"/>
                    </a:solidFill>
                    <a:prstDash val="solid"/>
                    <a:miter/>
                  </a:ln>
                </p:spPr>
                <p:txBody>
                  <a:bodyPr rtlCol="0" anchor="ctr"/>
                  <a:lstStyle/>
                  <a:p>
                    <a:endParaRPr lang="en-US"/>
                  </a:p>
                </p:txBody>
              </p:sp>
              <p:sp>
                <p:nvSpPr>
                  <p:cNvPr id="488" name="Freeform: Shape 89">
                    <a:extLst>
                      <a:ext uri="{FF2B5EF4-FFF2-40B4-BE49-F238E27FC236}">
                        <a16:creationId xmlns:a16="http://schemas.microsoft.com/office/drawing/2014/main" id="{801DD467-AA6D-A554-B32F-8B3C9EAC4010}"/>
                      </a:ext>
                    </a:extLst>
                  </p:cNvPr>
                  <p:cNvSpPr/>
                  <p:nvPr/>
                </p:nvSpPr>
                <p:spPr>
                  <a:xfrm>
                    <a:off x="7082166" y="1838623"/>
                    <a:ext cx="576876" cy="232968"/>
                  </a:xfrm>
                  <a:custGeom>
                    <a:avLst/>
                    <a:gdLst>
                      <a:gd name="connsiteX0" fmla="*/ -1 w 309562"/>
                      <a:gd name="connsiteY0" fmla="*/ 0 h 125015"/>
                      <a:gd name="connsiteX1" fmla="*/ 309562 w 309562"/>
                      <a:gd name="connsiteY1" fmla="*/ 125016 h 125015"/>
                    </a:gdLst>
                    <a:ahLst/>
                    <a:cxnLst>
                      <a:cxn ang="0">
                        <a:pos x="connsiteX0" y="connsiteY0"/>
                      </a:cxn>
                      <a:cxn ang="0">
                        <a:pos x="connsiteX1" y="connsiteY1"/>
                      </a:cxn>
                    </a:cxnLst>
                    <a:rect l="l" t="t" r="r" b="b"/>
                    <a:pathLst>
                      <a:path w="309562" h="125015">
                        <a:moveTo>
                          <a:pt x="-1" y="0"/>
                        </a:moveTo>
                        <a:lnTo>
                          <a:pt x="309562" y="125016"/>
                        </a:lnTo>
                      </a:path>
                    </a:pathLst>
                  </a:custGeom>
                  <a:noFill/>
                  <a:ln w="28575" cap="flat">
                    <a:solidFill>
                      <a:schemeClr val="tx1"/>
                    </a:solidFill>
                    <a:prstDash val="solid"/>
                    <a:miter/>
                  </a:ln>
                </p:spPr>
                <p:txBody>
                  <a:bodyPr rtlCol="0" anchor="ctr"/>
                  <a:lstStyle/>
                  <a:p>
                    <a:endParaRPr lang="en-US"/>
                  </a:p>
                </p:txBody>
              </p:sp>
              <p:sp>
                <p:nvSpPr>
                  <p:cNvPr id="489" name="Freeform: Shape 90">
                    <a:extLst>
                      <a:ext uri="{FF2B5EF4-FFF2-40B4-BE49-F238E27FC236}">
                        <a16:creationId xmlns:a16="http://schemas.microsoft.com/office/drawing/2014/main" id="{B9892EE9-8B8B-37D2-7B71-CF13C9940AAA}"/>
                      </a:ext>
                    </a:extLst>
                  </p:cNvPr>
                  <p:cNvSpPr/>
                  <p:nvPr/>
                </p:nvSpPr>
                <p:spPr>
                  <a:xfrm>
                    <a:off x="7082166" y="1605652"/>
                    <a:ext cx="576876" cy="698907"/>
                  </a:xfrm>
                  <a:custGeom>
                    <a:avLst/>
                    <a:gdLst>
                      <a:gd name="connsiteX0" fmla="*/ -1 w 309562"/>
                      <a:gd name="connsiteY0" fmla="*/ 375047 h 375046"/>
                      <a:gd name="connsiteX1" fmla="*/ 309562 w 309562"/>
                      <a:gd name="connsiteY1" fmla="*/ 0 h 375046"/>
                    </a:gdLst>
                    <a:ahLst/>
                    <a:cxnLst>
                      <a:cxn ang="0">
                        <a:pos x="connsiteX0" y="connsiteY0"/>
                      </a:cxn>
                      <a:cxn ang="0">
                        <a:pos x="connsiteX1" y="connsiteY1"/>
                      </a:cxn>
                    </a:cxnLst>
                    <a:rect l="l" t="t" r="r" b="b"/>
                    <a:pathLst>
                      <a:path w="309562" h="375046">
                        <a:moveTo>
                          <a:pt x="-1" y="375047"/>
                        </a:moveTo>
                        <a:lnTo>
                          <a:pt x="309562" y="0"/>
                        </a:lnTo>
                      </a:path>
                    </a:pathLst>
                  </a:custGeom>
                  <a:noFill/>
                  <a:ln w="28575" cap="flat">
                    <a:solidFill>
                      <a:schemeClr val="tx1"/>
                    </a:solidFill>
                    <a:prstDash val="solid"/>
                    <a:miter/>
                  </a:ln>
                </p:spPr>
                <p:txBody>
                  <a:bodyPr rtlCol="0" anchor="ctr"/>
                  <a:lstStyle/>
                  <a:p>
                    <a:endParaRPr lang="en-US"/>
                  </a:p>
                </p:txBody>
              </p:sp>
              <p:sp>
                <p:nvSpPr>
                  <p:cNvPr id="490" name="Freeform: Shape 91">
                    <a:extLst>
                      <a:ext uri="{FF2B5EF4-FFF2-40B4-BE49-F238E27FC236}">
                        <a16:creationId xmlns:a16="http://schemas.microsoft.com/office/drawing/2014/main" id="{7127A451-5A8E-D275-9C9B-9339E4187D9D}"/>
                      </a:ext>
                    </a:extLst>
                  </p:cNvPr>
                  <p:cNvSpPr/>
                  <p:nvPr/>
                </p:nvSpPr>
                <p:spPr>
                  <a:xfrm>
                    <a:off x="7082166" y="2071593"/>
                    <a:ext cx="576876" cy="232968"/>
                  </a:xfrm>
                  <a:custGeom>
                    <a:avLst/>
                    <a:gdLst>
                      <a:gd name="connsiteX0" fmla="*/ -1 w 309562"/>
                      <a:gd name="connsiteY0" fmla="*/ 125016 h 125015"/>
                      <a:gd name="connsiteX1" fmla="*/ 309562 w 309562"/>
                      <a:gd name="connsiteY1" fmla="*/ 0 h 125015"/>
                    </a:gdLst>
                    <a:ahLst/>
                    <a:cxnLst>
                      <a:cxn ang="0">
                        <a:pos x="connsiteX0" y="connsiteY0"/>
                      </a:cxn>
                      <a:cxn ang="0">
                        <a:pos x="connsiteX1" y="connsiteY1"/>
                      </a:cxn>
                    </a:cxnLst>
                    <a:rect l="l" t="t" r="r" b="b"/>
                    <a:pathLst>
                      <a:path w="309562" h="125015">
                        <a:moveTo>
                          <a:pt x="-1" y="125016"/>
                        </a:moveTo>
                        <a:lnTo>
                          <a:pt x="309562" y="0"/>
                        </a:lnTo>
                      </a:path>
                    </a:pathLst>
                  </a:custGeom>
                  <a:noFill/>
                  <a:ln w="28575" cap="flat">
                    <a:solidFill>
                      <a:schemeClr val="tx1"/>
                    </a:solidFill>
                    <a:prstDash val="solid"/>
                    <a:miter/>
                  </a:ln>
                </p:spPr>
                <p:txBody>
                  <a:bodyPr rtlCol="0" anchor="ctr"/>
                  <a:lstStyle/>
                  <a:p>
                    <a:endParaRPr lang="en-US"/>
                  </a:p>
                </p:txBody>
              </p:sp>
              <p:sp>
                <p:nvSpPr>
                  <p:cNvPr id="491" name="Freeform: Shape 92">
                    <a:extLst>
                      <a:ext uri="{FF2B5EF4-FFF2-40B4-BE49-F238E27FC236}">
                        <a16:creationId xmlns:a16="http://schemas.microsoft.com/office/drawing/2014/main" id="{A0457EC5-7C45-B2CA-7CD2-B1A81D43F21F}"/>
                      </a:ext>
                    </a:extLst>
                  </p:cNvPr>
                  <p:cNvSpPr/>
                  <p:nvPr/>
                </p:nvSpPr>
                <p:spPr>
                  <a:xfrm>
                    <a:off x="7659042" y="1605652"/>
                    <a:ext cx="576876" cy="465939"/>
                  </a:xfrm>
                  <a:custGeom>
                    <a:avLst/>
                    <a:gdLst>
                      <a:gd name="connsiteX0" fmla="*/ -1 w 309562"/>
                      <a:gd name="connsiteY0" fmla="*/ 0 h 250031"/>
                      <a:gd name="connsiteX1" fmla="*/ 309562 w 309562"/>
                      <a:gd name="connsiteY1" fmla="*/ 250031 h 250031"/>
                    </a:gdLst>
                    <a:ahLst/>
                    <a:cxnLst>
                      <a:cxn ang="0">
                        <a:pos x="connsiteX0" y="connsiteY0"/>
                      </a:cxn>
                      <a:cxn ang="0">
                        <a:pos x="connsiteX1" y="connsiteY1"/>
                      </a:cxn>
                    </a:cxnLst>
                    <a:rect l="l" t="t" r="r" b="b"/>
                    <a:pathLst>
                      <a:path w="309562" h="250031">
                        <a:moveTo>
                          <a:pt x="-1" y="0"/>
                        </a:moveTo>
                        <a:lnTo>
                          <a:pt x="309562" y="250031"/>
                        </a:lnTo>
                      </a:path>
                    </a:pathLst>
                  </a:custGeom>
                  <a:noFill/>
                  <a:ln w="28575" cap="flat">
                    <a:solidFill>
                      <a:schemeClr val="tx1"/>
                    </a:solidFill>
                    <a:prstDash val="solid"/>
                    <a:miter/>
                  </a:ln>
                </p:spPr>
                <p:txBody>
                  <a:bodyPr rtlCol="0" anchor="ctr"/>
                  <a:lstStyle/>
                  <a:p>
                    <a:endParaRPr lang="en-US"/>
                  </a:p>
                </p:txBody>
              </p:sp>
              <p:sp>
                <p:nvSpPr>
                  <p:cNvPr id="492" name="Freeform: Shape 93">
                    <a:extLst>
                      <a:ext uri="{FF2B5EF4-FFF2-40B4-BE49-F238E27FC236}">
                        <a16:creationId xmlns:a16="http://schemas.microsoft.com/office/drawing/2014/main" id="{0DC19B65-8A2A-5C8E-10FA-8E145D25D273}"/>
                      </a:ext>
                    </a:extLst>
                  </p:cNvPr>
                  <p:cNvSpPr/>
                  <p:nvPr/>
                </p:nvSpPr>
                <p:spPr>
                  <a:xfrm>
                    <a:off x="7659042" y="2071593"/>
                    <a:ext cx="576876" cy="11094"/>
                  </a:xfrm>
                  <a:custGeom>
                    <a:avLst/>
                    <a:gdLst>
                      <a:gd name="connsiteX0" fmla="*/ -1 w 309562"/>
                      <a:gd name="connsiteY0" fmla="*/ 0 h 5953"/>
                      <a:gd name="connsiteX1" fmla="*/ 309562 w 309562"/>
                      <a:gd name="connsiteY1" fmla="*/ 0 h 5953"/>
                    </a:gdLst>
                    <a:ahLst/>
                    <a:cxnLst>
                      <a:cxn ang="0">
                        <a:pos x="connsiteX0" y="connsiteY0"/>
                      </a:cxn>
                      <a:cxn ang="0">
                        <a:pos x="connsiteX1" y="connsiteY1"/>
                      </a:cxn>
                    </a:cxnLst>
                    <a:rect l="l" t="t" r="r" b="b"/>
                    <a:pathLst>
                      <a:path w="309562" h="5953">
                        <a:moveTo>
                          <a:pt x="-1" y="0"/>
                        </a:moveTo>
                        <a:lnTo>
                          <a:pt x="309562" y="0"/>
                        </a:lnTo>
                      </a:path>
                    </a:pathLst>
                  </a:custGeom>
                  <a:noFill/>
                  <a:ln w="28575" cap="flat">
                    <a:solidFill>
                      <a:schemeClr val="tx1"/>
                    </a:solidFill>
                    <a:prstDash val="solid"/>
                    <a:miter/>
                  </a:ln>
                </p:spPr>
                <p:txBody>
                  <a:bodyPr rtlCol="0" anchor="ctr"/>
                  <a:lstStyle/>
                  <a:p>
                    <a:endParaRPr lang="en-US"/>
                  </a:p>
                </p:txBody>
              </p:sp>
              <p:sp>
                <p:nvSpPr>
                  <p:cNvPr id="493" name="Freeform: Shape 94">
                    <a:extLst>
                      <a:ext uri="{FF2B5EF4-FFF2-40B4-BE49-F238E27FC236}">
                        <a16:creationId xmlns:a16="http://schemas.microsoft.com/office/drawing/2014/main" id="{0139F9EA-75C1-A07B-20C8-18B6FEC8BA6C}"/>
                      </a:ext>
                    </a:extLst>
                  </p:cNvPr>
                  <p:cNvSpPr/>
                  <p:nvPr/>
                </p:nvSpPr>
                <p:spPr>
                  <a:xfrm>
                    <a:off x="7082166" y="2304561"/>
                    <a:ext cx="576876" cy="232968"/>
                  </a:xfrm>
                  <a:custGeom>
                    <a:avLst/>
                    <a:gdLst>
                      <a:gd name="connsiteX0" fmla="*/ -1 w 309562"/>
                      <a:gd name="connsiteY0" fmla="*/ 0 h 125015"/>
                      <a:gd name="connsiteX1" fmla="*/ 309562 w 309562"/>
                      <a:gd name="connsiteY1" fmla="*/ 125016 h 125015"/>
                    </a:gdLst>
                    <a:ahLst/>
                    <a:cxnLst>
                      <a:cxn ang="0">
                        <a:pos x="connsiteX0" y="connsiteY0"/>
                      </a:cxn>
                      <a:cxn ang="0">
                        <a:pos x="connsiteX1" y="connsiteY1"/>
                      </a:cxn>
                    </a:cxnLst>
                    <a:rect l="l" t="t" r="r" b="b"/>
                    <a:pathLst>
                      <a:path w="309562" h="125015">
                        <a:moveTo>
                          <a:pt x="-1" y="0"/>
                        </a:moveTo>
                        <a:lnTo>
                          <a:pt x="309562" y="125016"/>
                        </a:lnTo>
                      </a:path>
                    </a:pathLst>
                  </a:custGeom>
                  <a:noFill/>
                  <a:ln w="28575" cap="flat">
                    <a:solidFill>
                      <a:schemeClr val="tx1"/>
                    </a:solidFill>
                    <a:prstDash val="solid"/>
                    <a:miter/>
                  </a:ln>
                </p:spPr>
                <p:txBody>
                  <a:bodyPr rtlCol="0" anchor="ctr"/>
                  <a:lstStyle/>
                  <a:p>
                    <a:endParaRPr lang="en-US"/>
                  </a:p>
                </p:txBody>
              </p:sp>
              <p:sp>
                <p:nvSpPr>
                  <p:cNvPr id="494" name="Freeform: Shape 95">
                    <a:extLst>
                      <a:ext uri="{FF2B5EF4-FFF2-40B4-BE49-F238E27FC236}">
                        <a16:creationId xmlns:a16="http://schemas.microsoft.com/office/drawing/2014/main" id="{1ED15986-B9C7-4734-1DAA-F416D552AD8A}"/>
                      </a:ext>
                    </a:extLst>
                  </p:cNvPr>
                  <p:cNvSpPr/>
                  <p:nvPr/>
                </p:nvSpPr>
                <p:spPr>
                  <a:xfrm>
                    <a:off x="7082166" y="2537532"/>
                    <a:ext cx="576876" cy="232968"/>
                  </a:xfrm>
                  <a:custGeom>
                    <a:avLst/>
                    <a:gdLst>
                      <a:gd name="connsiteX0" fmla="*/ -1 w 309562"/>
                      <a:gd name="connsiteY0" fmla="*/ 125016 h 125015"/>
                      <a:gd name="connsiteX1" fmla="*/ 309562 w 309562"/>
                      <a:gd name="connsiteY1" fmla="*/ 0 h 125015"/>
                    </a:gdLst>
                    <a:ahLst/>
                    <a:cxnLst>
                      <a:cxn ang="0">
                        <a:pos x="connsiteX0" y="connsiteY0"/>
                      </a:cxn>
                      <a:cxn ang="0">
                        <a:pos x="connsiteX1" y="connsiteY1"/>
                      </a:cxn>
                    </a:cxnLst>
                    <a:rect l="l" t="t" r="r" b="b"/>
                    <a:pathLst>
                      <a:path w="309562" h="125015">
                        <a:moveTo>
                          <a:pt x="-1" y="125016"/>
                        </a:moveTo>
                        <a:lnTo>
                          <a:pt x="309562" y="0"/>
                        </a:lnTo>
                      </a:path>
                    </a:pathLst>
                  </a:custGeom>
                  <a:noFill/>
                  <a:ln w="28575" cap="flat">
                    <a:solidFill>
                      <a:schemeClr val="tx1"/>
                    </a:solidFill>
                    <a:prstDash val="solid"/>
                    <a:miter/>
                  </a:ln>
                </p:spPr>
                <p:txBody>
                  <a:bodyPr rtlCol="0" anchor="ctr"/>
                  <a:lstStyle/>
                  <a:p>
                    <a:endParaRPr lang="en-US"/>
                  </a:p>
                </p:txBody>
              </p:sp>
              <p:sp>
                <p:nvSpPr>
                  <p:cNvPr id="495" name="Freeform: Shape 96">
                    <a:extLst>
                      <a:ext uri="{FF2B5EF4-FFF2-40B4-BE49-F238E27FC236}">
                        <a16:creationId xmlns:a16="http://schemas.microsoft.com/office/drawing/2014/main" id="{94C3FD31-EAC2-3C2E-8A8F-324DF981BC3E}"/>
                      </a:ext>
                    </a:extLst>
                  </p:cNvPr>
                  <p:cNvSpPr/>
                  <p:nvPr/>
                </p:nvSpPr>
                <p:spPr>
                  <a:xfrm>
                    <a:off x="7659042" y="2071593"/>
                    <a:ext cx="576876" cy="465939"/>
                  </a:xfrm>
                  <a:custGeom>
                    <a:avLst/>
                    <a:gdLst>
                      <a:gd name="connsiteX0" fmla="*/ -1 w 309562"/>
                      <a:gd name="connsiteY0" fmla="*/ 250031 h 250031"/>
                      <a:gd name="connsiteX1" fmla="*/ 309562 w 309562"/>
                      <a:gd name="connsiteY1" fmla="*/ 0 h 250031"/>
                    </a:gdLst>
                    <a:ahLst/>
                    <a:cxnLst>
                      <a:cxn ang="0">
                        <a:pos x="connsiteX0" y="connsiteY0"/>
                      </a:cxn>
                      <a:cxn ang="0">
                        <a:pos x="connsiteX1" y="connsiteY1"/>
                      </a:cxn>
                    </a:cxnLst>
                    <a:rect l="l" t="t" r="r" b="b"/>
                    <a:pathLst>
                      <a:path w="309562" h="250031">
                        <a:moveTo>
                          <a:pt x="-1" y="250031"/>
                        </a:moveTo>
                        <a:lnTo>
                          <a:pt x="309562" y="0"/>
                        </a:lnTo>
                      </a:path>
                    </a:pathLst>
                  </a:custGeom>
                  <a:noFill/>
                  <a:ln w="28575" cap="flat">
                    <a:solidFill>
                      <a:schemeClr val="tx1"/>
                    </a:solidFill>
                    <a:prstDash val="solid"/>
                    <a:miter/>
                  </a:ln>
                </p:spPr>
                <p:txBody>
                  <a:bodyPr rtlCol="0" anchor="ctr"/>
                  <a:lstStyle/>
                  <a:p>
                    <a:endParaRPr lang="en-US"/>
                  </a:p>
                </p:txBody>
              </p:sp>
              <p:sp>
                <p:nvSpPr>
                  <p:cNvPr id="496" name="Freeform: Shape 97">
                    <a:extLst>
                      <a:ext uri="{FF2B5EF4-FFF2-40B4-BE49-F238E27FC236}">
                        <a16:creationId xmlns:a16="http://schemas.microsoft.com/office/drawing/2014/main" id="{4B013D0F-ED85-B15F-9877-187F0E7E2F36}"/>
                      </a:ext>
                    </a:extLst>
                  </p:cNvPr>
                  <p:cNvSpPr/>
                  <p:nvPr/>
                </p:nvSpPr>
                <p:spPr>
                  <a:xfrm>
                    <a:off x="6383257" y="1483621"/>
                    <a:ext cx="244062" cy="244062"/>
                  </a:xfrm>
                  <a:custGeom>
                    <a:avLst/>
                    <a:gdLst>
                      <a:gd name="connsiteX0" fmla="*/ 130968 w 130968"/>
                      <a:gd name="connsiteY0" fmla="*/ 65484 h 130968"/>
                      <a:gd name="connsiteX1" fmla="*/ 65483 w 130968"/>
                      <a:gd name="connsiteY1" fmla="*/ 130969 h 130968"/>
                      <a:gd name="connsiteX2" fmla="*/ -1 w 130968"/>
                      <a:gd name="connsiteY2" fmla="*/ 65484 h 130968"/>
                      <a:gd name="connsiteX3" fmla="*/ 65483 w 130968"/>
                      <a:gd name="connsiteY3" fmla="*/ 0 h 130968"/>
                      <a:gd name="connsiteX4" fmla="*/ 130968 w 130968"/>
                      <a:gd name="connsiteY4" fmla="*/ 65484 h 13096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0968" h="130968">
                        <a:moveTo>
                          <a:pt x="130968" y="65484"/>
                        </a:moveTo>
                        <a:cubicBezTo>
                          <a:pt x="130968" y="101650"/>
                          <a:pt x="101649" y="130969"/>
                          <a:pt x="65483" y="130969"/>
                        </a:cubicBezTo>
                        <a:cubicBezTo>
                          <a:pt x="29317" y="130969"/>
                          <a:pt x="-1" y="101650"/>
                          <a:pt x="-1" y="65484"/>
                        </a:cubicBezTo>
                        <a:cubicBezTo>
                          <a:pt x="-1" y="29318"/>
                          <a:pt x="29317" y="0"/>
                          <a:pt x="65483" y="0"/>
                        </a:cubicBezTo>
                        <a:cubicBezTo>
                          <a:pt x="101649" y="0"/>
                          <a:pt x="130968" y="29318"/>
                          <a:pt x="130968" y="65484"/>
                        </a:cubicBezTo>
                        <a:close/>
                      </a:path>
                    </a:pathLst>
                  </a:custGeom>
                  <a:solidFill>
                    <a:srgbClr val="FFFFFF"/>
                  </a:solidFill>
                  <a:ln w="28575" cap="flat">
                    <a:solidFill>
                      <a:schemeClr val="tx1"/>
                    </a:solidFill>
                    <a:prstDash val="solid"/>
                    <a:miter/>
                  </a:ln>
                </p:spPr>
                <p:txBody>
                  <a:bodyPr rtlCol="0" anchor="ctr"/>
                  <a:lstStyle/>
                  <a:p>
                    <a:endParaRPr lang="en-US"/>
                  </a:p>
                </p:txBody>
              </p:sp>
              <p:sp>
                <p:nvSpPr>
                  <p:cNvPr id="497" name="Freeform: Shape 98">
                    <a:extLst>
                      <a:ext uri="{FF2B5EF4-FFF2-40B4-BE49-F238E27FC236}">
                        <a16:creationId xmlns:a16="http://schemas.microsoft.com/office/drawing/2014/main" id="{DDAA247D-B077-17B7-0462-3D1F917800B1}"/>
                      </a:ext>
                    </a:extLst>
                  </p:cNvPr>
                  <p:cNvSpPr/>
                  <p:nvPr/>
                </p:nvSpPr>
                <p:spPr>
                  <a:xfrm>
                    <a:off x="6383257" y="1949560"/>
                    <a:ext cx="244062" cy="244062"/>
                  </a:xfrm>
                  <a:custGeom>
                    <a:avLst/>
                    <a:gdLst>
                      <a:gd name="connsiteX0" fmla="*/ 130968 w 130968"/>
                      <a:gd name="connsiteY0" fmla="*/ 65484 h 130968"/>
                      <a:gd name="connsiteX1" fmla="*/ 65483 w 130968"/>
                      <a:gd name="connsiteY1" fmla="*/ 130969 h 130968"/>
                      <a:gd name="connsiteX2" fmla="*/ -1 w 130968"/>
                      <a:gd name="connsiteY2" fmla="*/ 65484 h 130968"/>
                      <a:gd name="connsiteX3" fmla="*/ 65483 w 130968"/>
                      <a:gd name="connsiteY3" fmla="*/ 0 h 130968"/>
                      <a:gd name="connsiteX4" fmla="*/ 130968 w 130968"/>
                      <a:gd name="connsiteY4" fmla="*/ 65484 h 13096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0968" h="130968">
                        <a:moveTo>
                          <a:pt x="130968" y="65484"/>
                        </a:moveTo>
                        <a:cubicBezTo>
                          <a:pt x="130968" y="101650"/>
                          <a:pt x="101649" y="130969"/>
                          <a:pt x="65483" y="130969"/>
                        </a:cubicBezTo>
                        <a:cubicBezTo>
                          <a:pt x="29317" y="130969"/>
                          <a:pt x="-1" y="101650"/>
                          <a:pt x="-1" y="65484"/>
                        </a:cubicBezTo>
                        <a:cubicBezTo>
                          <a:pt x="-1" y="29318"/>
                          <a:pt x="29317" y="0"/>
                          <a:pt x="65483" y="0"/>
                        </a:cubicBezTo>
                        <a:cubicBezTo>
                          <a:pt x="101649" y="0"/>
                          <a:pt x="130968" y="29318"/>
                          <a:pt x="130968" y="65484"/>
                        </a:cubicBezTo>
                        <a:close/>
                      </a:path>
                    </a:pathLst>
                  </a:custGeom>
                  <a:solidFill>
                    <a:srgbClr val="FFFFFF"/>
                  </a:solidFill>
                  <a:ln w="28575" cap="flat">
                    <a:solidFill>
                      <a:schemeClr val="tx1"/>
                    </a:solidFill>
                    <a:prstDash val="solid"/>
                    <a:miter/>
                  </a:ln>
                </p:spPr>
                <p:txBody>
                  <a:bodyPr rtlCol="0" anchor="ctr"/>
                  <a:lstStyle/>
                  <a:p>
                    <a:endParaRPr lang="en-US"/>
                  </a:p>
                </p:txBody>
              </p:sp>
              <p:sp>
                <p:nvSpPr>
                  <p:cNvPr id="498" name="Freeform: Shape 99">
                    <a:extLst>
                      <a:ext uri="{FF2B5EF4-FFF2-40B4-BE49-F238E27FC236}">
                        <a16:creationId xmlns:a16="http://schemas.microsoft.com/office/drawing/2014/main" id="{2D8E7F40-BB9B-9636-E7D7-22E6E5E61FDB}"/>
                      </a:ext>
                    </a:extLst>
                  </p:cNvPr>
                  <p:cNvSpPr/>
                  <p:nvPr/>
                </p:nvSpPr>
                <p:spPr>
                  <a:xfrm>
                    <a:off x="6383257" y="2415501"/>
                    <a:ext cx="244062" cy="244062"/>
                  </a:xfrm>
                  <a:custGeom>
                    <a:avLst/>
                    <a:gdLst>
                      <a:gd name="connsiteX0" fmla="*/ 130968 w 130968"/>
                      <a:gd name="connsiteY0" fmla="*/ 65484 h 130968"/>
                      <a:gd name="connsiteX1" fmla="*/ 65483 w 130968"/>
                      <a:gd name="connsiteY1" fmla="*/ 130969 h 130968"/>
                      <a:gd name="connsiteX2" fmla="*/ -1 w 130968"/>
                      <a:gd name="connsiteY2" fmla="*/ 65484 h 130968"/>
                      <a:gd name="connsiteX3" fmla="*/ 65483 w 130968"/>
                      <a:gd name="connsiteY3" fmla="*/ 0 h 130968"/>
                      <a:gd name="connsiteX4" fmla="*/ 130968 w 130968"/>
                      <a:gd name="connsiteY4" fmla="*/ 65484 h 13096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0968" h="130968">
                        <a:moveTo>
                          <a:pt x="130968" y="65484"/>
                        </a:moveTo>
                        <a:cubicBezTo>
                          <a:pt x="130968" y="101650"/>
                          <a:pt x="101649" y="130969"/>
                          <a:pt x="65483" y="130969"/>
                        </a:cubicBezTo>
                        <a:cubicBezTo>
                          <a:pt x="29317" y="130969"/>
                          <a:pt x="-1" y="101650"/>
                          <a:pt x="-1" y="65484"/>
                        </a:cubicBezTo>
                        <a:cubicBezTo>
                          <a:pt x="-1" y="29318"/>
                          <a:pt x="29317" y="0"/>
                          <a:pt x="65483" y="0"/>
                        </a:cubicBezTo>
                        <a:cubicBezTo>
                          <a:pt x="101649" y="0"/>
                          <a:pt x="130968" y="29318"/>
                          <a:pt x="130968" y="65484"/>
                        </a:cubicBezTo>
                        <a:close/>
                      </a:path>
                    </a:pathLst>
                  </a:custGeom>
                  <a:solidFill>
                    <a:srgbClr val="FFFFFF"/>
                  </a:solidFill>
                  <a:ln w="28575" cap="flat">
                    <a:solidFill>
                      <a:schemeClr val="tx1"/>
                    </a:solidFill>
                    <a:prstDash val="solid"/>
                    <a:miter/>
                  </a:ln>
                </p:spPr>
                <p:txBody>
                  <a:bodyPr rtlCol="0" anchor="ctr"/>
                  <a:lstStyle/>
                  <a:p>
                    <a:endParaRPr lang="en-US"/>
                  </a:p>
                </p:txBody>
              </p:sp>
              <p:sp>
                <p:nvSpPr>
                  <p:cNvPr id="499" name="Freeform: Shape 100">
                    <a:extLst>
                      <a:ext uri="{FF2B5EF4-FFF2-40B4-BE49-F238E27FC236}">
                        <a16:creationId xmlns:a16="http://schemas.microsoft.com/office/drawing/2014/main" id="{34345913-3BC3-FC89-A16B-DDE54B7BB20E}"/>
                      </a:ext>
                    </a:extLst>
                  </p:cNvPr>
                  <p:cNvSpPr/>
                  <p:nvPr/>
                </p:nvSpPr>
                <p:spPr>
                  <a:xfrm>
                    <a:off x="6960135" y="1250651"/>
                    <a:ext cx="244062" cy="244062"/>
                  </a:xfrm>
                  <a:custGeom>
                    <a:avLst/>
                    <a:gdLst>
                      <a:gd name="connsiteX0" fmla="*/ 130968 w 130968"/>
                      <a:gd name="connsiteY0" fmla="*/ 65484 h 130968"/>
                      <a:gd name="connsiteX1" fmla="*/ 65483 w 130968"/>
                      <a:gd name="connsiteY1" fmla="*/ 130969 h 130968"/>
                      <a:gd name="connsiteX2" fmla="*/ -1 w 130968"/>
                      <a:gd name="connsiteY2" fmla="*/ 65484 h 130968"/>
                      <a:gd name="connsiteX3" fmla="*/ 65483 w 130968"/>
                      <a:gd name="connsiteY3" fmla="*/ 0 h 130968"/>
                      <a:gd name="connsiteX4" fmla="*/ 130968 w 130968"/>
                      <a:gd name="connsiteY4" fmla="*/ 65484 h 13096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0968" h="130968">
                        <a:moveTo>
                          <a:pt x="130968" y="65484"/>
                        </a:moveTo>
                        <a:cubicBezTo>
                          <a:pt x="130968" y="101650"/>
                          <a:pt x="101649" y="130969"/>
                          <a:pt x="65483" y="130969"/>
                        </a:cubicBezTo>
                        <a:cubicBezTo>
                          <a:pt x="29317" y="130969"/>
                          <a:pt x="-1" y="101650"/>
                          <a:pt x="-1" y="65484"/>
                        </a:cubicBezTo>
                        <a:cubicBezTo>
                          <a:pt x="-1" y="29318"/>
                          <a:pt x="29317" y="0"/>
                          <a:pt x="65483" y="0"/>
                        </a:cubicBezTo>
                        <a:cubicBezTo>
                          <a:pt x="101649" y="0"/>
                          <a:pt x="130968" y="29318"/>
                          <a:pt x="130968" y="65484"/>
                        </a:cubicBezTo>
                        <a:close/>
                      </a:path>
                    </a:pathLst>
                  </a:custGeom>
                  <a:solidFill>
                    <a:srgbClr val="FFFFFF"/>
                  </a:solidFill>
                  <a:ln w="28575" cap="flat">
                    <a:solidFill>
                      <a:schemeClr val="tx1"/>
                    </a:solidFill>
                    <a:prstDash val="solid"/>
                    <a:miter/>
                  </a:ln>
                </p:spPr>
                <p:txBody>
                  <a:bodyPr rtlCol="0" anchor="ctr"/>
                  <a:lstStyle/>
                  <a:p>
                    <a:endParaRPr lang="en-US"/>
                  </a:p>
                </p:txBody>
              </p:sp>
              <p:sp>
                <p:nvSpPr>
                  <p:cNvPr id="500" name="Freeform: Shape 101">
                    <a:extLst>
                      <a:ext uri="{FF2B5EF4-FFF2-40B4-BE49-F238E27FC236}">
                        <a16:creationId xmlns:a16="http://schemas.microsoft.com/office/drawing/2014/main" id="{D807C3DE-3483-CE6A-E2D8-CFFBA6EB4457}"/>
                      </a:ext>
                    </a:extLst>
                  </p:cNvPr>
                  <p:cNvSpPr/>
                  <p:nvPr/>
                </p:nvSpPr>
                <p:spPr>
                  <a:xfrm>
                    <a:off x="6960135" y="1716592"/>
                    <a:ext cx="244062" cy="244062"/>
                  </a:xfrm>
                  <a:custGeom>
                    <a:avLst/>
                    <a:gdLst>
                      <a:gd name="connsiteX0" fmla="*/ 130968 w 130968"/>
                      <a:gd name="connsiteY0" fmla="*/ 65484 h 130968"/>
                      <a:gd name="connsiteX1" fmla="*/ 65483 w 130968"/>
                      <a:gd name="connsiteY1" fmla="*/ 130969 h 130968"/>
                      <a:gd name="connsiteX2" fmla="*/ -1 w 130968"/>
                      <a:gd name="connsiteY2" fmla="*/ 65484 h 130968"/>
                      <a:gd name="connsiteX3" fmla="*/ 65483 w 130968"/>
                      <a:gd name="connsiteY3" fmla="*/ 0 h 130968"/>
                      <a:gd name="connsiteX4" fmla="*/ 130968 w 130968"/>
                      <a:gd name="connsiteY4" fmla="*/ 65484 h 13096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0968" h="130968">
                        <a:moveTo>
                          <a:pt x="130968" y="65484"/>
                        </a:moveTo>
                        <a:cubicBezTo>
                          <a:pt x="130968" y="101650"/>
                          <a:pt x="101649" y="130969"/>
                          <a:pt x="65483" y="130969"/>
                        </a:cubicBezTo>
                        <a:cubicBezTo>
                          <a:pt x="29317" y="130969"/>
                          <a:pt x="-1" y="101650"/>
                          <a:pt x="-1" y="65484"/>
                        </a:cubicBezTo>
                        <a:cubicBezTo>
                          <a:pt x="-1" y="29318"/>
                          <a:pt x="29317" y="0"/>
                          <a:pt x="65483" y="0"/>
                        </a:cubicBezTo>
                        <a:cubicBezTo>
                          <a:pt x="101649" y="0"/>
                          <a:pt x="130968" y="29318"/>
                          <a:pt x="130968" y="65484"/>
                        </a:cubicBezTo>
                        <a:close/>
                      </a:path>
                    </a:pathLst>
                  </a:custGeom>
                  <a:solidFill>
                    <a:srgbClr val="FFFFFF"/>
                  </a:solidFill>
                  <a:ln w="28575" cap="flat">
                    <a:solidFill>
                      <a:schemeClr val="tx1"/>
                    </a:solidFill>
                    <a:prstDash val="solid"/>
                    <a:miter/>
                  </a:ln>
                </p:spPr>
                <p:txBody>
                  <a:bodyPr rtlCol="0" anchor="ctr"/>
                  <a:lstStyle/>
                  <a:p>
                    <a:endParaRPr lang="en-US"/>
                  </a:p>
                </p:txBody>
              </p:sp>
              <p:sp>
                <p:nvSpPr>
                  <p:cNvPr id="501" name="Freeform: Shape 102">
                    <a:extLst>
                      <a:ext uri="{FF2B5EF4-FFF2-40B4-BE49-F238E27FC236}">
                        <a16:creationId xmlns:a16="http://schemas.microsoft.com/office/drawing/2014/main" id="{EA15FC52-DACF-DCCB-CB83-426D99ED451B}"/>
                      </a:ext>
                    </a:extLst>
                  </p:cNvPr>
                  <p:cNvSpPr/>
                  <p:nvPr/>
                </p:nvSpPr>
                <p:spPr>
                  <a:xfrm>
                    <a:off x="6960135" y="2182530"/>
                    <a:ext cx="244062" cy="244062"/>
                  </a:xfrm>
                  <a:custGeom>
                    <a:avLst/>
                    <a:gdLst>
                      <a:gd name="connsiteX0" fmla="*/ 130968 w 130968"/>
                      <a:gd name="connsiteY0" fmla="*/ 65484 h 130968"/>
                      <a:gd name="connsiteX1" fmla="*/ 65483 w 130968"/>
                      <a:gd name="connsiteY1" fmla="*/ 130969 h 130968"/>
                      <a:gd name="connsiteX2" fmla="*/ -1 w 130968"/>
                      <a:gd name="connsiteY2" fmla="*/ 65484 h 130968"/>
                      <a:gd name="connsiteX3" fmla="*/ 65483 w 130968"/>
                      <a:gd name="connsiteY3" fmla="*/ 0 h 130968"/>
                      <a:gd name="connsiteX4" fmla="*/ 130968 w 130968"/>
                      <a:gd name="connsiteY4" fmla="*/ 65484 h 13096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0968" h="130968">
                        <a:moveTo>
                          <a:pt x="130968" y="65484"/>
                        </a:moveTo>
                        <a:cubicBezTo>
                          <a:pt x="130968" y="101650"/>
                          <a:pt x="101649" y="130969"/>
                          <a:pt x="65483" y="130969"/>
                        </a:cubicBezTo>
                        <a:cubicBezTo>
                          <a:pt x="29317" y="130969"/>
                          <a:pt x="-1" y="101650"/>
                          <a:pt x="-1" y="65484"/>
                        </a:cubicBezTo>
                        <a:cubicBezTo>
                          <a:pt x="-1" y="29318"/>
                          <a:pt x="29317" y="0"/>
                          <a:pt x="65483" y="0"/>
                        </a:cubicBezTo>
                        <a:cubicBezTo>
                          <a:pt x="101649" y="0"/>
                          <a:pt x="130968" y="29318"/>
                          <a:pt x="130968" y="65484"/>
                        </a:cubicBezTo>
                        <a:close/>
                      </a:path>
                    </a:pathLst>
                  </a:custGeom>
                  <a:solidFill>
                    <a:srgbClr val="FFFFFF"/>
                  </a:solidFill>
                  <a:ln w="28575" cap="flat">
                    <a:solidFill>
                      <a:schemeClr val="tx1"/>
                    </a:solidFill>
                    <a:prstDash val="solid"/>
                    <a:miter/>
                  </a:ln>
                </p:spPr>
                <p:txBody>
                  <a:bodyPr rtlCol="0" anchor="ctr"/>
                  <a:lstStyle/>
                  <a:p>
                    <a:endParaRPr lang="en-US"/>
                  </a:p>
                </p:txBody>
              </p:sp>
              <p:sp>
                <p:nvSpPr>
                  <p:cNvPr id="502" name="Freeform: Shape 103">
                    <a:extLst>
                      <a:ext uri="{FF2B5EF4-FFF2-40B4-BE49-F238E27FC236}">
                        <a16:creationId xmlns:a16="http://schemas.microsoft.com/office/drawing/2014/main" id="{035AF088-9A65-D815-D4FD-E005576AEF5A}"/>
                      </a:ext>
                    </a:extLst>
                  </p:cNvPr>
                  <p:cNvSpPr/>
                  <p:nvPr/>
                </p:nvSpPr>
                <p:spPr>
                  <a:xfrm>
                    <a:off x="6960135" y="2648469"/>
                    <a:ext cx="244062" cy="244062"/>
                  </a:xfrm>
                  <a:custGeom>
                    <a:avLst/>
                    <a:gdLst>
                      <a:gd name="connsiteX0" fmla="*/ 130968 w 130968"/>
                      <a:gd name="connsiteY0" fmla="*/ 65484 h 130968"/>
                      <a:gd name="connsiteX1" fmla="*/ 65483 w 130968"/>
                      <a:gd name="connsiteY1" fmla="*/ 130969 h 130968"/>
                      <a:gd name="connsiteX2" fmla="*/ -1 w 130968"/>
                      <a:gd name="connsiteY2" fmla="*/ 65484 h 130968"/>
                      <a:gd name="connsiteX3" fmla="*/ 65483 w 130968"/>
                      <a:gd name="connsiteY3" fmla="*/ 0 h 130968"/>
                      <a:gd name="connsiteX4" fmla="*/ 130968 w 130968"/>
                      <a:gd name="connsiteY4" fmla="*/ 65484 h 13096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0968" h="130968">
                        <a:moveTo>
                          <a:pt x="130968" y="65484"/>
                        </a:moveTo>
                        <a:cubicBezTo>
                          <a:pt x="130968" y="101650"/>
                          <a:pt x="101649" y="130969"/>
                          <a:pt x="65483" y="130969"/>
                        </a:cubicBezTo>
                        <a:cubicBezTo>
                          <a:pt x="29317" y="130969"/>
                          <a:pt x="-1" y="101650"/>
                          <a:pt x="-1" y="65484"/>
                        </a:cubicBezTo>
                        <a:cubicBezTo>
                          <a:pt x="-1" y="29318"/>
                          <a:pt x="29317" y="0"/>
                          <a:pt x="65483" y="0"/>
                        </a:cubicBezTo>
                        <a:cubicBezTo>
                          <a:pt x="101649" y="0"/>
                          <a:pt x="130968" y="29318"/>
                          <a:pt x="130968" y="65484"/>
                        </a:cubicBezTo>
                        <a:close/>
                      </a:path>
                    </a:pathLst>
                  </a:custGeom>
                  <a:solidFill>
                    <a:srgbClr val="FFFFFF"/>
                  </a:solidFill>
                  <a:ln w="28575" cap="flat">
                    <a:solidFill>
                      <a:schemeClr val="tx1"/>
                    </a:solidFill>
                    <a:prstDash val="solid"/>
                    <a:miter/>
                  </a:ln>
                </p:spPr>
                <p:txBody>
                  <a:bodyPr rtlCol="0" anchor="ctr"/>
                  <a:lstStyle/>
                  <a:p>
                    <a:endParaRPr lang="en-US"/>
                  </a:p>
                </p:txBody>
              </p:sp>
              <p:sp>
                <p:nvSpPr>
                  <p:cNvPr id="503" name="Freeform: Shape 104">
                    <a:extLst>
                      <a:ext uri="{FF2B5EF4-FFF2-40B4-BE49-F238E27FC236}">
                        <a16:creationId xmlns:a16="http://schemas.microsoft.com/office/drawing/2014/main" id="{21CA3C06-ED50-CB36-D34E-BB45655F4D29}"/>
                      </a:ext>
                    </a:extLst>
                  </p:cNvPr>
                  <p:cNvSpPr/>
                  <p:nvPr/>
                </p:nvSpPr>
                <p:spPr>
                  <a:xfrm>
                    <a:off x="7537011" y="1483621"/>
                    <a:ext cx="244062" cy="244062"/>
                  </a:xfrm>
                  <a:custGeom>
                    <a:avLst/>
                    <a:gdLst>
                      <a:gd name="connsiteX0" fmla="*/ 130968 w 130968"/>
                      <a:gd name="connsiteY0" fmla="*/ 65484 h 130968"/>
                      <a:gd name="connsiteX1" fmla="*/ 65483 w 130968"/>
                      <a:gd name="connsiteY1" fmla="*/ 130969 h 130968"/>
                      <a:gd name="connsiteX2" fmla="*/ -1 w 130968"/>
                      <a:gd name="connsiteY2" fmla="*/ 65484 h 130968"/>
                      <a:gd name="connsiteX3" fmla="*/ 65483 w 130968"/>
                      <a:gd name="connsiteY3" fmla="*/ 0 h 130968"/>
                      <a:gd name="connsiteX4" fmla="*/ 130968 w 130968"/>
                      <a:gd name="connsiteY4" fmla="*/ 65484 h 13096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0968" h="130968">
                        <a:moveTo>
                          <a:pt x="130968" y="65484"/>
                        </a:moveTo>
                        <a:cubicBezTo>
                          <a:pt x="130968" y="101650"/>
                          <a:pt x="101649" y="130969"/>
                          <a:pt x="65483" y="130969"/>
                        </a:cubicBezTo>
                        <a:cubicBezTo>
                          <a:pt x="29317" y="130969"/>
                          <a:pt x="-1" y="101650"/>
                          <a:pt x="-1" y="65484"/>
                        </a:cubicBezTo>
                        <a:cubicBezTo>
                          <a:pt x="-1" y="29318"/>
                          <a:pt x="29317" y="0"/>
                          <a:pt x="65483" y="0"/>
                        </a:cubicBezTo>
                        <a:cubicBezTo>
                          <a:pt x="101649" y="0"/>
                          <a:pt x="130968" y="29318"/>
                          <a:pt x="130968" y="65484"/>
                        </a:cubicBezTo>
                        <a:close/>
                      </a:path>
                    </a:pathLst>
                  </a:custGeom>
                  <a:solidFill>
                    <a:srgbClr val="FFFFFF"/>
                  </a:solidFill>
                  <a:ln w="28575" cap="flat">
                    <a:solidFill>
                      <a:schemeClr val="tx1"/>
                    </a:solidFill>
                    <a:prstDash val="solid"/>
                    <a:miter/>
                  </a:ln>
                </p:spPr>
                <p:txBody>
                  <a:bodyPr rtlCol="0" anchor="ctr"/>
                  <a:lstStyle/>
                  <a:p>
                    <a:endParaRPr lang="en-US"/>
                  </a:p>
                </p:txBody>
              </p:sp>
              <p:sp>
                <p:nvSpPr>
                  <p:cNvPr id="504" name="Freeform: Shape 105">
                    <a:extLst>
                      <a:ext uri="{FF2B5EF4-FFF2-40B4-BE49-F238E27FC236}">
                        <a16:creationId xmlns:a16="http://schemas.microsoft.com/office/drawing/2014/main" id="{653D3F41-D9AB-251A-B49A-2148FF2C74EF}"/>
                      </a:ext>
                    </a:extLst>
                  </p:cNvPr>
                  <p:cNvSpPr/>
                  <p:nvPr/>
                </p:nvSpPr>
                <p:spPr>
                  <a:xfrm>
                    <a:off x="7537011" y="1949560"/>
                    <a:ext cx="244062" cy="244062"/>
                  </a:xfrm>
                  <a:custGeom>
                    <a:avLst/>
                    <a:gdLst>
                      <a:gd name="connsiteX0" fmla="*/ 130968 w 130968"/>
                      <a:gd name="connsiteY0" fmla="*/ 65484 h 130968"/>
                      <a:gd name="connsiteX1" fmla="*/ 65483 w 130968"/>
                      <a:gd name="connsiteY1" fmla="*/ 130969 h 130968"/>
                      <a:gd name="connsiteX2" fmla="*/ -1 w 130968"/>
                      <a:gd name="connsiteY2" fmla="*/ 65484 h 130968"/>
                      <a:gd name="connsiteX3" fmla="*/ 65483 w 130968"/>
                      <a:gd name="connsiteY3" fmla="*/ 0 h 130968"/>
                      <a:gd name="connsiteX4" fmla="*/ 130968 w 130968"/>
                      <a:gd name="connsiteY4" fmla="*/ 65484 h 13096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0968" h="130968">
                        <a:moveTo>
                          <a:pt x="130968" y="65484"/>
                        </a:moveTo>
                        <a:cubicBezTo>
                          <a:pt x="130968" y="101650"/>
                          <a:pt x="101649" y="130969"/>
                          <a:pt x="65483" y="130969"/>
                        </a:cubicBezTo>
                        <a:cubicBezTo>
                          <a:pt x="29317" y="130969"/>
                          <a:pt x="-1" y="101650"/>
                          <a:pt x="-1" y="65484"/>
                        </a:cubicBezTo>
                        <a:cubicBezTo>
                          <a:pt x="-1" y="29318"/>
                          <a:pt x="29317" y="0"/>
                          <a:pt x="65483" y="0"/>
                        </a:cubicBezTo>
                        <a:cubicBezTo>
                          <a:pt x="101649" y="0"/>
                          <a:pt x="130968" y="29318"/>
                          <a:pt x="130968" y="65484"/>
                        </a:cubicBezTo>
                        <a:close/>
                      </a:path>
                    </a:pathLst>
                  </a:custGeom>
                  <a:solidFill>
                    <a:srgbClr val="FFFFFF"/>
                  </a:solidFill>
                  <a:ln w="28575" cap="flat">
                    <a:solidFill>
                      <a:schemeClr val="tx1"/>
                    </a:solidFill>
                    <a:prstDash val="solid"/>
                    <a:miter/>
                  </a:ln>
                </p:spPr>
                <p:txBody>
                  <a:bodyPr rtlCol="0" anchor="ctr"/>
                  <a:lstStyle/>
                  <a:p>
                    <a:endParaRPr lang="en-US"/>
                  </a:p>
                </p:txBody>
              </p:sp>
              <p:sp>
                <p:nvSpPr>
                  <p:cNvPr id="505" name="Freeform: Shape 106">
                    <a:extLst>
                      <a:ext uri="{FF2B5EF4-FFF2-40B4-BE49-F238E27FC236}">
                        <a16:creationId xmlns:a16="http://schemas.microsoft.com/office/drawing/2014/main" id="{024CFAA8-590F-7DEF-7955-FF75EB350069}"/>
                      </a:ext>
                    </a:extLst>
                  </p:cNvPr>
                  <p:cNvSpPr/>
                  <p:nvPr/>
                </p:nvSpPr>
                <p:spPr>
                  <a:xfrm>
                    <a:off x="7537011" y="2415501"/>
                    <a:ext cx="244062" cy="244062"/>
                  </a:xfrm>
                  <a:custGeom>
                    <a:avLst/>
                    <a:gdLst>
                      <a:gd name="connsiteX0" fmla="*/ 130968 w 130968"/>
                      <a:gd name="connsiteY0" fmla="*/ 65484 h 130968"/>
                      <a:gd name="connsiteX1" fmla="*/ 65483 w 130968"/>
                      <a:gd name="connsiteY1" fmla="*/ 130969 h 130968"/>
                      <a:gd name="connsiteX2" fmla="*/ -1 w 130968"/>
                      <a:gd name="connsiteY2" fmla="*/ 65484 h 130968"/>
                      <a:gd name="connsiteX3" fmla="*/ 65483 w 130968"/>
                      <a:gd name="connsiteY3" fmla="*/ 0 h 130968"/>
                      <a:gd name="connsiteX4" fmla="*/ 130968 w 130968"/>
                      <a:gd name="connsiteY4" fmla="*/ 65484 h 13096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0968" h="130968">
                        <a:moveTo>
                          <a:pt x="130968" y="65484"/>
                        </a:moveTo>
                        <a:cubicBezTo>
                          <a:pt x="130968" y="101650"/>
                          <a:pt x="101649" y="130969"/>
                          <a:pt x="65483" y="130969"/>
                        </a:cubicBezTo>
                        <a:cubicBezTo>
                          <a:pt x="29317" y="130969"/>
                          <a:pt x="-1" y="101650"/>
                          <a:pt x="-1" y="65484"/>
                        </a:cubicBezTo>
                        <a:cubicBezTo>
                          <a:pt x="-1" y="29318"/>
                          <a:pt x="29317" y="0"/>
                          <a:pt x="65483" y="0"/>
                        </a:cubicBezTo>
                        <a:cubicBezTo>
                          <a:pt x="101649" y="0"/>
                          <a:pt x="130968" y="29318"/>
                          <a:pt x="130968" y="65484"/>
                        </a:cubicBezTo>
                        <a:close/>
                      </a:path>
                    </a:pathLst>
                  </a:custGeom>
                  <a:solidFill>
                    <a:srgbClr val="FFFFFF"/>
                  </a:solidFill>
                  <a:ln w="28575" cap="flat">
                    <a:solidFill>
                      <a:schemeClr val="tx1"/>
                    </a:solidFill>
                    <a:prstDash val="solid"/>
                    <a:miter/>
                  </a:ln>
                </p:spPr>
                <p:txBody>
                  <a:bodyPr rtlCol="0" anchor="ctr"/>
                  <a:lstStyle/>
                  <a:p>
                    <a:endParaRPr lang="en-US"/>
                  </a:p>
                </p:txBody>
              </p:sp>
              <p:sp>
                <p:nvSpPr>
                  <p:cNvPr id="506" name="Freeform: Shape 107">
                    <a:extLst>
                      <a:ext uri="{FF2B5EF4-FFF2-40B4-BE49-F238E27FC236}">
                        <a16:creationId xmlns:a16="http://schemas.microsoft.com/office/drawing/2014/main" id="{5AFEA04D-228D-4445-3079-8E9C95D5E34F}"/>
                      </a:ext>
                    </a:extLst>
                  </p:cNvPr>
                  <p:cNvSpPr/>
                  <p:nvPr/>
                </p:nvSpPr>
                <p:spPr>
                  <a:xfrm>
                    <a:off x="8113889" y="1949560"/>
                    <a:ext cx="244062" cy="244062"/>
                  </a:xfrm>
                  <a:custGeom>
                    <a:avLst/>
                    <a:gdLst>
                      <a:gd name="connsiteX0" fmla="*/ 130968 w 130968"/>
                      <a:gd name="connsiteY0" fmla="*/ 65484 h 130968"/>
                      <a:gd name="connsiteX1" fmla="*/ 65483 w 130968"/>
                      <a:gd name="connsiteY1" fmla="*/ 130969 h 130968"/>
                      <a:gd name="connsiteX2" fmla="*/ -1 w 130968"/>
                      <a:gd name="connsiteY2" fmla="*/ 65484 h 130968"/>
                      <a:gd name="connsiteX3" fmla="*/ 65483 w 130968"/>
                      <a:gd name="connsiteY3" fmla="*/ 0 h 130968"/>
                      <a:gd name="connsiteX4" fmla="*/ 130968 w 130968"/>
                      <a:gd name="connsiteY4" fmla="*/ 65484 h 13096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0968" h="130968">
                        <a:moveTo>
                          <a:pt x="130968" y="65484"/>
                        </a:moveTo>
                        <a:cubicBezTo>
                          <a:pt x="130968" y="101650"/>
                          <a:pt x="101649" y="130969"/>
                          <a:pt x="65483" y="130969"/>
                        </a:cubicBezTo>
                        <a:cubicBezTo>
                          <a:pt x="29317" y="130969"/>
                          <a:pt x="-1" y="101650"/>
                          <a:pt x="-1" y="65484"/>
                        </a:cubicBezTo>
                        <a:cubicBezTo>
                          <a:pt x="-1" y="29318"/>
                          <a:pt x="29317" y="0"/>
                          <a:pt x="65483" y="0"/>
                        </a:cubicBezTo>
                        <a:cubicBezTo>
                          <a:pt x="101649" y="0"/>
                          <a:pt x="130968" y="29318"/>
                          <a:pt x="130968" y="65484"/>
                        </a:cubicBezTo>
                        <a:close/>
                      </a:path>
                    </a:pathLst>
                  </a:custGeom>
                  <a:solidFill>
                    <a:srgbClr val="FFFFFF"/>
                  </a:solidFill>
                  <a:ln w="28575" cap="flat">
                    <a:solidFill>
                      <a:schemeClr val="tx1"/>
                    </a:solidFill>
                    <a:prstDash val="solid"/>
                    <a:miter/>
                  </a:ln>
                </p:spPr>
                <p:txBody>
                  <a:bodyPr rtlCol="0" anchor="ctr"/>
                  <a:lstStyle/>
                  <a:p>
                    <a:endParaRPr lang="en-US"/>
                  </a:p>
                </p:txBody>
              </p:sp>
            </p:grpSp>
          </p:grpSp>
        </p:grpSp>
        <p:grpSp>
          <p:nvGrpSpPr>
            <p:cNvPr id="610" name="Group 609">
              <a:extLst>
                <a:ext uri="{FF2B5EF4-FFF2-40B4-BE49-F238E27FC236}">
                  <a16:creationId xmlns:a16="http://schemas.microsoft.com/office/drawing/2014/main" id="{CE7CF295-262C-B5D5-87A7-FB4CD8C1E1C8}"/>
                </a:ext>
              </a:extLst>
            </p:cNvPr>
            <p:cNvGrpSpPr/>
            <p:nvPr/>
          </p:nvGrpSpPr>
          <p:grpSpPr>
            <a:xfrm>
              <a:off x="10617426" y="465014"/>
              <a:ext cx="327644" cy="312366"/>
              <a:chOff x="9424224" y="3697577"/>
              <a:chExt cx="524217" cy="499773"/>
            </a:xfrm>
          </p:grpSpPr>
          <p:sp>
            <p:nvSpPr>
              <p:cNvPr id="609" name="Rectangle 608">
                <a:extLst>
                  <a:ext uri="{FF2B5EF4-FFF2-40B4-BE49-F238E27FC236}">
                    <a16:creationId xmlns:a16="http://schemas.microsoft.com/office/drawing/2014/main" id="{22F96C4C-9956-686E-4493-BB6BE60F483C}"/>
                  </a:ext>
                </a:extLst>
              </p:cNvPr>
              <p:cNvSpPr/>
              <p:nvPr/>
            </p:nvSpPr>
            <p:spPr>
              <a:xfrm>
                <a:off x="9424224" y="3702050"/>
                <a:ext cx="506576" cy="495300"/>
              </a:xfrm>
              <a:prstGeom prst="rect">
                <a:avLst/>
              </a:prstGeom>
              <a:solidFill>
                <a:srgbClr val="F2A2A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BE"/>
              </a:p>
            </p:txBody>
          </p:sp>
          <p:sp>
            <p:nvSpPr>
              <p:cNvPr id="607" name="Freeform 606">
                <a:extLst>
                  <a:ext uri="{FF2B5EF4-FFF2-40B4-BE49-F238E27FC236}">
                    <a16:creationId xmlns:a16="http://schemas.microsoft.com/office/drawing/2014/main" id="{B7543DEE-59C9-B0AA-335F-A125720C9D49}"/>
                  </a:ext>
                </a:extLst>
              </p:cNvPr>
              <p:cNvSpPr/>
              <p:nvPr/>
            </p:nvSpPr>
            <p:spPr>
              <a:xfrm>
                <a:off x="9424224" y="3697577"/>
                <a:ext cx="524217" cy="498246"/>
              </a:xfrm>
              <a:custGeom>
                <a:avLst/>
                <a:gdLst>
                  <a:gd name="csX0" fmla="*/ 0 w 714894"/>
                  <a:gd name="csY0" fmla="*/ 0 h 708244"/>
                  <a:gd name="csX1" fmla="*/ 0 w 714894"/>
                  <a:gd name="csY1" fmla="*/ 708244 h 708244"/>
                  <a:gd name="csX2" fmla="*/ 714894 w 714894"/>
                  <a:gd name="csY2" fmla="*/ 708244 h 708244"/>
                </a:gdLst>
                <a:ahLst/>
                <a:cxnLst>
                  <a:cxn ang="0">
                    <a:pos x="csX0" y="csY0"/>
                  </a:cxn>
                  <a:cxn ang="0">
                    <a:pos x="csX1" y="csY1"/>
                  </a:cxn>
                  <a:cxn ang="0">
                    <a:pos x="csX2" y="csY2"/>
                  </a:cxn>
                </a:cxnLst>
                <a:rect l="l" t="t" r="r" b="b"/>
                <a:pathLst>
                  <a:path w="714894" h="708244">
                    <a:moveTo>
                      <a:pt x="0" y="0"/>
                    </a:moveTo>
                    <a:lnTo>
                      <a:pt x="0" y="708244"/>
                    </a:lnTo>
                    <a:lnTo>
                      <a:pt x="714894" y="708244"/>
                    </a:lnTo>
                  </a:path>
                </a:pathLst>
              </a:custGeom>
              <a:noFill/>
              <a:ln w="19050">
                <a:solidFill>
                  <a:srgbClr val="992F3F"/>
                </a:solidFill>
                <a:headEnd type="arrow" w="sm" len="sm"/>
                <a:tailEnd type="arrow" w="sm" len="sm"/>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BE"/>
              </a:p>
            </p:txBody>
          </p:sp>
          <p:sp>
            <p:nvSpPr>
              <p:cNvPr id="608" name="Freeform 607">
                <a:extLst>
                  <a:ext uri="{FF2B5EF4-FFF2-40B4-BE49-F238E27FC236}">
                    <a16:creationId xmlns:a16="http://schemas.microsoft.com/office/drawing/2014/main" id="{3709668D-CF34-C61F-CE94-DEA01F31B2E1}"/>
                  </a:ext>
                </a:extLst>
              </p:cNvPr>
              <p:cNvSpPr/>
              <p:nvPr/>
            </p:nvSpPr>
            <p:spPr>
              <a:xfrm>
                <a:off x="9424224" y="3848537"/>
                <a:ext cx="403825" cy="273050"/>
              </a:xfrm>
              <a:custGeom>
                <a:avLst/>
                <a:gdLst>
                  <a:gd name="csX0" fmla="*/ 0 w 447675"/>
                  <a:gd name="csY0" fmla="*/ 212725 h 273050"/>
                  <a:gd name="csX1" fmla="*/ 104775 w 447675"/>
                  <a:gd name="csY1" fmla="*/ 22225 h 273050"/>
                  <a:gd name="csX2" fmla="*/ 180975 w 447675"/>
                  <a:gd name="csY2" fmla="*/ 158750 h 273050"/>
                  <a:gd name="csX3" fmla="*/ 254000 w 447675"/>
                  <a:gd name="csY3" fmla="*/ 66675 h 273050"/>
                  <a:gd name="csX4" fmla="*/ 361950 w 447675"/>
                  <a:gd name="csY4" fmla="*/ 273050 h 273050"/>
                  <a:gd name="csX5" fmla="*/ 447675 w 447675"/>
                  <a:gd name="csY5" fmla="*/ 0 h 273050"/>
                </a:gdLst>
                <a:ahLst/>
                <a:cxnLst>
                  <a:cxn ang="0">
                    <a:pos x="csX0" y="csY0"/>
                  </a:cxn>
                  <a:cxn ang="0">
                    <a:pos x="csX1" y="csY1"/>
                  </a:cxn>
                  <a:cxn ang="0">
                    <a:pos x="csX2" y="csY2"/>
                  </a:cxn>
                  <a:cxn ang="0">
                    <a:pos x="csX3" y="csY3"/>
                  </a:cxn>
                  <a:cxn ang="0">
                    <a:pos x="csX4" y="csY4"/>
                  </a:cxn>
                  <a:cxn ang="0">
                    <a:pos x="csX5" y="csY5"/>
                  </a:cxn>
                </a:cxnLst>
                <a:rect l="l" t="t" r="r" b="b"/>
                <a:pathLst>
                  <a:path w="447675" h="273050">
                    <a:moveTo>
                      <a:pt x="0" y="212725"/>
                    </a:moveTo>
                    <a:lnTo>
                      <a:pt x="104775" y="22225"/>
                    </a:lnTo>
                    <a:lnTo>
                      <a:pt x="180975" y="158750"/>
                    </a:lnTo>
                    <a:lnTo>
                      <a:pt x="254000" y="66675"/>
                    </a:lnTo>
                    <a:lnTo>
                      <a:pt x="361950" y="273050"/>
                    </a:lnTo>
                    <a:lnTo>
                      <a:pt x="447675" y="0"/>
                    </a:lnTo>
                  </a:path>
                </a:pathLst>
              </a:custGeom>
              <a:noFill/>
              <a:ln w="19050">
                <a:solidFill>
                  <a:srgbClr val="992F3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BE"/>
              </a:p>
            </p:txBody>
          </p:sp>
        </p:grpSp>
        <p:grpSp>
          <p:nvGrpSpPr>
            <p:cNvPr id="614" name="Group 613">
              <a:extLst>
                <a:ext uri="{FF2B5EF4-FFF2-40B4-BE49-F238E27FC236}">
                  <a16:creationId xmlns:a16="http://schemas.microsoft.com/office/drawing/2014/main" id="{2B78BF72-DC25-6863-E6C1-A5EEE14FE1C7}"/>
                </a:ext>
              </a:extLst>
            </p:cNvPr>
            <p:cNvGrpSpPr/>
            <p:nvPr/>
          </p:nvGrpSpPr>
          <p:grpSpPr>
            <a:xfrm>
              <a:off x="7807187" y="517452"/>
              <a:ext cx="1872447" cy="779496"/>
              <a:chOff x="7402664" y="858803"/>
              <a:chExt cx="1872447" cy="779496"/>
            </a:xfrm>
          </p:grpSpPr>
          <p:sp>
            <p:nvSpPr>
              <p:cNvPr id="612" name="Right Arrow 611">
                <a:extLst>
                  <a:ext uri="{FF2B5EF4-FFF2-40B4-BE49-F238E27FC236}">
                    <a16:creationId xmlns:a16="http://schemas.microsoft.com/office/drawing/2014/main" id="{17016FB7-E6DB-2822-84A3-75EE509A3B07}"/>
                  </a:ext>
                </a:extLst>
              </p:cNvPr>
              <p:cNvSpPr/>
              <p:nvPr/>
            </p:nvSpPr>
            <p:spPr>
              <a:xfrm>
                <a:off x="7402664" y="1145639"/>
                <a:ext cx="1872447" cy="293548"/>
              </a:xfrm>
              <a:prstGeom prst="rightArrow">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BE"/>
              </a:p>
            </p:txBody>
          </p:sp>
          <p:sp>
            <p:nvSpPr>
              <p:cNvPr id="13" name="Can 12">
                <a:extLst>
                  <a:ext uri="{FF2B5EF4-FFF2-40B4-BE49-F238E27FC236}">
                    <a16:creationId xmlns:a16="http://schemas.microsoft.com/office/drawing/2014/main" id="{AE70BC0F-2F2B-0D32-9D19-E58B0601EF29}"/>
                  </a:ext>
                </a:extLst>
              </p:cNvPr>
              <p:cNvSpPr/>
              <p:nvPr/>
            </p:nvSpPr>
            <p:spPr>
              <a:xfrm>
                <a:off x="7828456" y="858803"/>
                <a:ext cx="917804" cy="777276"/>
              </a:xfrm>
              <a:prstGeom prst="can">
                <a:avLst>
                  <a:gd name="adj" fmla="val 21219"/>
                </a:avLst>
              </a:prstGeom>
              <a:solidFill>
                <a:schemeClr val="bg1">
                  <a:lumMod val="7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BE"/>
              </a:p>
            </p:txBody>
          </p:sp>
          <p:sp>
            <p:nvSpPr>
              <p:cNvPr id="613" name="TextBox 612">
                <a:extLst>
                  <a:ext uri="{FF2B5EF4-FFF2-40B4-BE49-F238E27FC236}">
                    <a16:creationId xmlns:a16="http://schemas.microsoft.com/office/drawing/2014/main" id="{0FFED1FF-0BF5-8EC5-F687-159EBD238710}"/>
                  </a:ext>
                </a:extLst>
              </p:cNvPr>
              <p:cNvSpPr txBox="1"/>
              <p:nvPr/>
            </p:nvSpPr>
            <p:spPr>
              <a:xfrm>
                <a:off x="7904881" y="1053524"/>
                <a:ext cx="764953" cy="584775"/>
              </a:xfrm>
              <a:prstGeom prst="rect">
                <a:avLst/>
              </a:prstGeom>
              <a:noFill/>
            </p:spPr>
            <p:txBody>
              <a:bodyPr wrap="none" rtlCol="0">
                <a:spAutoFit/>
              </a:bodyPr>
              <a:lstStyle/>
              <a:p>
                <a:pPr algn="ctr"/>
                <a:r>
                  <a:rPr lang="en-BE" dirty="0">
                    <a:latin typeface="+mn-lt"/>
                  </a:rPr>
                  <a:t>Training</a:t>
                </a:r>
              </a:p>
              <a:p>
                <a:pPr algn="ctr"/>
                <a:r>
                  <a:rPr lang="en-BE" dirty="0">
                    <a:latin typeface="+mn-lt"/>
                  </a:rPr>
                  <a:t>Data</a:t>
                </a:r>
              </a:p>
            </p:txBody>
          </p:sp>
        </p:grpSp>
      </p:grpSp>
      <p:grpSp>
        <p:nvGrpSpPr>
          <p:cNvPr id="615" name="Group 614">
            <a:extLst>
              <a:ext uri="{FF2B5EF4-FFF2-40B4-BE49-F238E27FC236}">
                <a16:creationId xmlns:a16="http://schemas.microsoft.com/office/drawing/2014/main" id="{BB7511D6-F871-6016-1F96-5E1420FA00C7}"/>
              </a:ext>
            </a:extLst>
          </p:cNvPr>
          <p:cNvGrpSpPr/>
          <p:nvPr/>
        </p:nvGrpSpPr>
        <p:grpSpPr>
          <a:xfrm>
            <a:off x="6938029" y="3786319"/>
            <a:ext cx="1872447" cy="779496"/>
            <a:chOff x="7402664" y="858803"/>
            <a:chExt cx="1872447" cy="779496"/>
          </a:xfrm>
        </p:grpSpPr>
        <p:sp>
          <p:nvSpPr>
            <p:cNvPr id="616" name="Right Arrow 615">
              <a:extLst>
                <a:ext uri="{FF2B5EF4-FFF2-40B4-BE49-F238E27FC236}">
                  <a16:creationId xmlns:a16="http://schemas.microsoft.com/office/drawing/2014/main" id="{3B4D45EC-4C8B-DA02-8B5D-C5A152D6EB4B}"/>
                </a:ext>
              </a:extLst>
            </p:cNvPr>
            <p:cNvSpPr/>
            <p:nvPr/>
          </p:nvSpPr>
          <p:spPr>
            <a:xfrm>
              <a:off x="7402664" y="1145639"/>
              <a:ext cx="1872447" cy="293548"/>
            </a:xfrm>
            <a:prstGeom prst="rightArrow">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BE"/>
            </a:p>
          </p:txBody>
        </p:sp>
        <p:sp>
          <p:nvSpPr>
            <p:cNvPr id="617" name="Can 616">
              <a:extLst>
                <a:ext uri="{FF2B5EF4-FFF2-40B4-BE49-F238E27FC236}">
                  <a16:creationId xmlns:a16="http://schemas.microsoft.com/office/drawing/2014/main" id="{03D7AE6E-0EC6-A657-35C2-6CBBB67C8EA1}"/>
                </a:ext>
              </a:extLst>
            </p:cNvPr>
            <p:cNvSpPr/>
            <p:nvPr/>
          </p:nvSpPr>
          <p:spPr>
            <a:xfrm>
              <a:off x="7828456" y="858803"/>
              <a:ext cx="917804" cy="777276"/>
            </a:xfrm>
            <a:prstGeom prst="can">
              <a:avLst>
                <a:gd name="adj" fmla="val 21219"/>
              </a:avLst>
            </a:prstGeom>
            <a:solidFill>
              <a:schemeClr val="bg1">
                <a:lumMod val="7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BE"/>
            </a:p>
          </p:txBody>
        </p:sp>
        <p:sp>
          <p:nvSpPr>
            <p:cNvPr id="618" name="TextBox 617">
              <a:extLst>
                <a:ext uri="{FF2B5EF4-FFF2-40B4-BE49-F238E27FC236}">
                  <a16:creationId xmlns:a16="http://schemas.microsoft.com/office/drawing/2014/main" id="{2E75CF5F-64C8-EEA8-C7CF-6BCA1980ADE3}"/>
                </a:ext>
              </a:extLst>
            </p:cNvPr>
            <p:cNvSpPr txBox="1"/>
            <p:nvPr/>
          </p:nvSpPr>
          <p:spPr>
            <a:xfrm>
              <a:off x="7904881" y="1053524"/>
              <a:ext cx="764953" cy="584775"/>
            </a:xfrm>
            <a:prstGeom prst="rect">
              <a:avLst/>
            </a:prstGeom>
            <a:noFill/>
          </p:spPr>
          <p:txBody>
            <a:bodyPr wrap="none" rtlCol="0">
              <a:spAutoFit/>
            </a:bodyPr>
            <a:lstStyle/>
            <a:p>
              <a:pPr algn="ctr"/>
              <a:r>
                <a:rPr lang="en-BE" dirty="0">
                  <a:latin typeface="+mn-lt"/>
                </a:rPr>
                <a:t>Training</a:t>
              </a:r>
            </a:p>
            <a:p>
              <a:pPr algn="ctr"/>
              <a:r>
                <a:rPr lang="en-BE" dirty="0">
                  <a:latin typeface="+mn-lt"/>
                </a:rPr>
                <a:t>Data</a:t>
              </a:r>
            </a:p>
          </p:txBody>
        </p:sp>
      </p:grpSp>
      <p:grpSp>
        <p:nvGrpSpPr>
          <p:cNvPr id="619" name="Group 618">
            <a:extLst>
              <a:ext uri="{FF2B5EF4-FFF2-40B4-BE49-F238E27FC236}">
                <a16:creationId xmlns:a16="http://schemas.microsoft.com/office/drawing/2014/main" id="{F86B4B6D-D378-939C-F3E8-ADA73926BE5A}"/>
              </a:ext>
            </a:extLst>
          </p:cNvPr>
          <p:cNvGrpSpPr/>
          <p:nvPr/>
        </p:nvGrpSpPr>
        <p:grpSpPr>
          <a:xfrm>
            <a:off x="-2302019" y="1081228"/>
            <a:ext cx="2010137" cy="1700995"/>
            <a:chOff x="1402794" y="2588150"/>
            <a:chExt cx="3632086" cy="3073503"/>
          </a:xfrm>
        </p:grpSpPr>
        <p:pic>
          <p:nvPicPr>
            <p:cNvPr id="620" name="Picture 619">
              <a:extLst>
                <a:ext uri="{FF2B5EF4-FFF2-40B4-BE49-F238E27FC236}">
                  <a16:creationId xmlns:a16="http://schemas.microsoft.com/office/drawing/2014/main" id="{36DA417A-7041-6BC3-E73F-406D63AEFD92}"/>
                </a:ext>
              </a:extLst>
            </p:cNvPr>
            <p:cNvPicPr>
              <a:picLocks noChangeAspect="1"/>
            </p:cNvPicPr>
            <p:nvPr/>
          </p:nvPicPr>
          <p:blipFill>
            <a:blip r:embed="rId3"/>
            <a:stretch>
              <a:fillRect/>
            </a:stretch>
          </p:blipFill>
          <p:spPr>
            <a:xfrm>
              <a:off x="1402794" y="3785075"/>
              <a:ext cx="3632086" cy="1876578"/>
            </a:xfrm>
            <a:prstGeom prst="rect">
              <a:avLst/>
            </a:prstGeom>
          </p:spPr>
        </p:pic>
        <p:pic>
          <p:nvPicPr>
            <p:cNvPr id="621" name="Picture 620">
              <a:extLst>
                <a:ext uri="{FF2B5EF4-FFF2-40B4-BE49-F238E27FC236}">
                  <a16:creationId xmlns:a16="http://schemas.microsoft.com/office/drawing/2014/main" id="{615A01E8-7243-7890-6CDF-C39476177C3D}"/>
                </a:ext>
              </a:extLst>
            </p:cNvPr>
            <p:cNvPicPr>
              <a:picLocks noChangeAspect="1"/>
            </p:cNvPicPr>
            <p:nvPr/>
          </p:nvPicPr>
          <p:blipFill>
            <a:blip r:embed="rId5"/>
            <a:stretch>
              <a:fillRect/>
            </a:stretch>
          </p:blipFill>
          <p:spPr>
            <a:xfrm>
              <a:off x="1907587" y="2588150"/>
              <a:ext cx="2622498" cy="1354958"/>
            </a:xfrm>
            <a:prstGeom prst="rect">
              <a:avLst/>
            </a:prstGeom>
          </p:spPr>
        </p:pic>
      </p:grpSp>
      <p:grpSp>
        <p:nvGrpSpPr>
          <p:cNvPr id="21" name="Group 20">
            <a:extLst>
              <a:ext uri="{FF2B5EF4-FFF2-40B4-BE49-F238E27FC236}">
                <a16:creationId xmlns:a16="http://schemas.microsoft.com/office/drawing/2014/main" id="{52546A88-2882-DFEF-C4B8-391646B3EBE7}"/>
              </a:ext>
            </a:extLst>
          </p:cNvPr>
          <p:cNvGrpSpPr/>
          <p:nvPr/>
        </p:nvGrpSpPr>
        <p:grpSpPr>
          <a:xfrm>
            <a:off x="1050496" y="2136001"/>
            <a:ext cx="3030136" cy="2963353"/>
            <a:chOff x="-1760977" y="3818086"/>
            <a:chExt cx="3030136" cy="2963353"/>
          </a:xfrm>
        </p:grpSpPr>
        <p:sp>
          <p:nvSpPr>
            <p:cNvPr id="22" name="Cloud 21">
              <a:extLst>
                <a:ext uri="{FF2B5EF4-FFF2-40B4-BE49-F238E27FC236}">
                  <a16:creationId xmlns:a16="http://schemas.microsoft.com/office/drawing/2014/main" id="{AE847E54-59C0-20C3-2379-D22314425801}"/>
                </a:ext>
              </a:extLst>
            </p:cNvPr>
            <p:cNvSpPr/>
            <p:nvPr/>
          </p:nvSpPr>
          <p:spPr>
            <a:xfrm rot="403758">
              <a:off x="-1760977" y="3818086"/>
              <a:ext cx="3030136" cy="2963353"/>
            </a:xfrm>
            <a:prstGeom prst="cloud">
              <a:avLst/>
            </a:prstGeom>
            <a:noFill/>
            <a:ln>
              <a:solidFill>
                <a:schemeClr val="bg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BE" dirty="0"/>
            </a:p>
          </p:txBody>
        </p:sp>
        <p:sp>
          <p:nvSpPr>
            <p:cNvPr id="23" name="Oval 22">
              <a:extLst>
                <a:ext uri="{FF2B5EF4-FFF2-40B4-BE49-F238E27FC236}">
                  <a16:creationId xmlns:a16="http://schemas.microsoft.com/office/drawing/2014/main" id="{55620A6C-A1F6-2FF5-88CE-EB3323827464}"/>
                </a:ext>
              </a:extLst>
            </p:cNvPr>
            <p:cNvSpPr/>
            <p:nvPr/>
          </p:nvSpPr>
          <p:spPr>
            <a:xfrm>
              <a:off x="476212" y="5442857"/>
              <a:ext cx="464314" cy="548640"/>
            </a:xfrm>
            <a:prstGeom prst="ellipse">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BE"/>
            </a:p>
          </p:txBody>
        </p:sp>
      </p:grpSp>
      <p:grpSp>
        <p:nvGrpSpPr>
          <p:cNvPr id="24" name="Group 23">
            <a:extLst>
              <a:ext uri="{FF2B5EF4-FFF2-40B4-BE49-F238E27FC236}">
                <a16:creationId xmlns:a16="http://schemas.microsoft.com/office/drawing/2014/main" id="{654D6B6F-D0DB-333E-BBBB-BC5AFB9BA424}"/>
              </a:ext>
            </a:extLst>
          </p:cNvPr>
          <p:cNvGrpSpPr/>
          <p:nvPr/>
        </p:nvGrpSpPr>
        <p:grpSpPr>
          <a:xfrm>
            <a:off x="1509705" y="2619203"/>
            <a:ext cx="2010137" cy="2070757"/>
            <a:chOff x="1402794" y="1920033"/>
            <a:chExt cx="3632086" cy="3741620"/>
          </a:xfrm>
        </p:grpSpPr>
        <p:pic>
          <p:nvPicPr>
            <p:cNvPr id="25" name="Picture 24">
              <a:extLst>
                <a:ext uri="{FF2B5EF4-FFF2-40B4-BE49-F238E27FC236}">
                  <a16:creationId xmlns:a16="http://schemas.microsoft.com/office/drawing/2014/main" id="{F1461382-83EE-3629-2032-59CB4B80F6CC}"/>
                </a:ext>
              </a:extLst>
            </p:cNvPr>
            <p:cNvPicPr>
              <a:picLocks noChangeAspect="1"/>
            </p:cNvPicPr>
            <p:nvPr/>
          </p:nvPicPr>
          <p:blipFill>
            <a:blip r:embed="rId3"/>
            <a:stretch>
              <a:fillRect/>
            </a:stretch>
          </p:blipFill>
          <p:spPr>
            <a:xfrm>
              <a:off x="1402794" y="3785075"/>
              <a:ext cx="3632086" cy="1876578"/>
            </a:xfrm>
            <a:prstGeom prst="rect">
              <a:avLst/>
            </a:prstGeom>
          </p:spPr>
        </p:pic>
        <p:pic>
          <p:nvPicPr>
            <p:cNvPr id="26" name="Picture 25">
              <a:extLst>
                <a:ext uri="{FF2B5EF4-FFF2-40B4-BE49-F238E27FC236}">
                  <a16:creationId xmlns:a16="http://schemas.microsoft.com/office/drawing/2014/main" id="{163F8DA8-59EC-6817-AAEE-968D4C080C33}"/>
                </a:ext>
              </a:extLst>
            </p:cNvPr>
            <p:cNvPicPr>
              <a:picLocks noChangeAspect="1"/>
            </p:cNvPicPr>
            <p:nvPr/>
          </p:nvPicPr>
          <p:blipFill>
            <a:blip r:embed="rId5"/>
            <a:stretch>
              <a:fillRect/>
            </a:stretch>
          </p:blipFill>
          <p:spPr>
            <a:xfrm>
              <a:off x="1907588" y="1920033"/>
              <a:ext cx="2622499" cy="1354958"/>
            </a:xfrm>
            <a:prstGeom prst="rect">
              <a:avLst/>
            </a:prstGeom>
          </p:spPr>
        </p:pic>
        <p:pic>
          <p:nvPicPr>
            <p:cNvPr id="27" name="Graphic 26">
              <a:extLst>
                <a:ext uri="{FF2B5EF4-FFF2-40B4-BE49-F238E27FC236}">
                  <a16:creationId xmlns:a16="http://schemas.microsoft.com/office/drawing/2014/main" id="{A9BF595B-0EAD-A462-8CCB-21935FE9308E}"/>
                </a:ext>
              </a:extLst>
            </p:cNvPr>
            <p:cNvPicPr>
              <a:picLocks noChangeAspect="1"/>
            </p:cNvPicPr>
            <p:nvPr/>
          </p:nvPicPr>
          <p:blipFill>
            <a:blip>
              <a:extLst>
                <a:ext uri="{96DAC541-7B7A-43D3-8B79-37D633B846F1}">
                  <asvg:svgBlip xmlns:asvg="http://schemas.microsoft.com/office/drawing/2016/SVG/main" r:embed="rId6"/>
                </a:ext>
              </a:extLst>
            </a:blip>
            <a:srcRect b="21577"/>
            <a:stretch>
              <a:fillRect/>
            </a:stretch>
          </p:blipFill>
          <p:spPr>
            <a:xfrm>
              <a:off x="1985934" y="3344891"/>
              <a:ext cx="2345434" cy="680641"/>
            </a:xfrm>
            <a:prstGeom prst="rect">
              <a:avLst/>
            </a:prstGeom>
          </p:spPr>
        </p:pic>
      </p:grpSp>
      <p:sp>
        <p:nvSpPr>
          <p:cNvPr id="28" name="Slide Number Placeholder 27">
            <a:extLst>
              <a:ext uri="{FF2B5EF4-FFF2-40B4-BE49-F238E27FC236}">
                <a16:creationId xmlns:a16="http://schemas.microsoft.com/office/drawing/2014/main" id="{4EA27F88-1788-7F9C-337A-9CD6CB404413}"/>
              </a:ext>
            </a:extLst>
          </p:cNvPr>
          <p:cNvSpPr>
            <a:spLocks noGrp="1"/>
          </p:cNvSpPr>
          <p:nvPr>
            <p:ph type="sldNum" sz="quarter" idx="11"/>
          </p:nvPr>
        </p:nvSpPr>
        <p:spPr/>
        <p:txBody>
          <a:bodyPr/>
          <a:lstStyle/>
          <a:p>
            <a:pPr>
              <a:defRPr/>
            </a:pPr>
            <a:fld id="{4908A2AA-746C-4DBB-9102-670E2680A299}" type="slidenum">
              <a:rPr lang="en-US" smtClean="0"/>
              <a:pPr>
                <a:defRPr/>
              </a:pPr>
              <a:t>45</a:t>
            </a:fld>
            <a:endParaRPr lang="en-US"/>
          </a:p>
        </p:txBody>
      </p:sp>
    </p:spTree>
    <p:extLst>
      <p:ext uri="{BB962C8B-B14F-4D97-AF65-F5344CB8AC3E}">
        <p14:creationId xmlns:p14="http://schemas.microsoft.com/office/powerpoint/2010/main" val="43855333"/>
      </p:ext>
    </p:extLst>
  </p:cSld>
  <p:clrMapOvr>
    <a:masterClrMapping/>
  </p:clrMapOvr>
</p:sld>
</file>

<file path=ppt/theme/theme1.xml><?xml version="1.0" encoding="utf-8"?>
<a:theme xmlns:a="http://schemas.openxmlformats.org/drawingml/2006/main" name="Presentation">
  <a:themeElements>
    <a:clrScheme name="Custom 3">
      <a:dk1>
        <a:srgbClr val="000000"/>
      </a:dk1>
      <a:lt1>
        <a:srgbClr val="FFFFFF"/>
      </a:lt1>
      <a:dk2>
        <a:srgbClr val="000000"/>
      </a:dk2>
      <a:lt2>
        <a:srgbClr val="808080"/>
      </a:lt2>
      <a:accent1>
        <a:srgbClr val="00CC99"/>
      </a:accent1>
      <a:accent2>
        <a:srgbClr val="1643A5"/>
      </a:accent2>
      <a:accent3>
        <a:srgbClr val="C00000"/>
      </a:accent3>
      <a:accent4>
        <a:srgbClr val="FFC000"/>
      </a:accent4>
      <a:accent5>
        <a:srgbClr val="AAE2CA"/>
      </a:accent5>
      <a:accent6>
        <a:srgbClr val="1E63C8"/>
      </a:accent6>
      <a:hlink>
        <a:srgbClr val="1E63C8"/>
      </a:hlink>
      <a:folHlink>
        <a:srgbClr val="727DBE"/>
      </a:folHlink>
    </a:clrScheme>
    <a:fontScheme name="UGent Panno Textt">
      <a:majorFont>
        <a:latin typeface="UGent Panno Text"/>
        <a:ea typeface=""/>
        <a:cs typeface=""/>
      </a:majorFont>
      <a:minorFont>
        <a:latin typeface="UGent Panno Text"/>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lnDef>
      <a:spPr>
        <a:ln>
          <a:solidFill>
            <a:schemeClr val="tx1"/>
          </a:solidFill>
        </a:ln>
      </a:spPr>
      <a:bodyPr/>
      <a:lstStyle/>
      <a:style>
        <a:lnRef idx="1">
          <a:schemeClr val="accent1"/>
        </a:lnRef>
        <a:fillRef idx="0">
          <a:schemeClr val="accent1"/>
        </a:fillRef>
        <a:effectRef idx="0">
          <a:schemeClr val="accent1"/>
        </a:effectRef>
        <a:fontRef idx="minor">
          <a:schemeClr val="tx1"/>
        </a:fontRef>
      </a:style>
    </a:lnDef>
  </a:objectDefaults>
  <a:extraClrSchemeLst>
    <a:extraClrScheme>
      <a:clrScheme name="Presentation 1">
        <a:dk1>
          <a:srgbClr val="000000"/>
        </a:dk1>
        <a:lt1>
          <a:srgbClr val="FFFFFF"/>
        </a:lt1>
        <a:dk2>
          <a:srgbClr val="336666"/>
        </a:dk2>
        <a:lt2>
          <a:srgbClr val="CCCC99"/>
        </a:lt2>
        <a:accent1>
          <a:srgbClr val="97CDCC"/>
        </a:accent1>
        <a:accent2>
          <a:srgbClr val="D6E0E0"/>
        </a:accent2>
        <a:accent3>
          <a:srgbClr val="FFFFFF"/>
        </a:accent3>
        <a:accent4>
          <a:srgbClr val="000000"/>
        </a:accent4>
        <a:accent5>
          <a:srgbClr val="C9E3E2"/>
        </a:accent5>
        <a:accent6>
          <a:srgbClr val="C2CBCB"/>
        </a:accent6>
        <a:hlink>
          <a:srgbClr val="99CC00"/>
        </a:hlink>
        <a:folHlink>
          <a:srgbClr val="336666"/>
        </a:folHlink>
      </a:clrScheme>
      <a:clrMap bg1="lt1" tx1="dk1" bg2="lt2" tx2="dk2" accent1="accent1" accent2="accent2" accent3="accent3" accent4="accent4" accent5="accent5" accent6="accent6" hlink="hlink" folHlink="folHlink"/>
    </a:extraClrScheme>
    <a:extraClrScheme>
      <a:clrScheme name="Presentation 2">
        <a:dk1>
          <a:srgbClr val="000000"/>
        </a:dk1>
        <a:lt1>
          <a:srgbClr val="FFFFFF"/>
        </a:lt1>
        <a:dk2>
          <a:srgbClr val="3732A0"/>
        </a:dk2>
        <a:lt2>
          <a:srgbClr val="666699"/>
        </a:lt2>
        <a:accent1>
          <a:srgbClr val="CCCCFF"/>
        </a:accent1>
        <a:accent2>
          <a:srgbClr val="009999"/>
        </a:accent2>
        <a:accent3>
          <a:srgbClr val="FFFFFF"/>
        </a:accent3>
        <a:accent4>
          <a:srgbClr val="000000"/>
        </a:accent4>
        <a:accent5>
          <a:srgbClr val="E2E2FF"/>
        </a:accent5>
        <a:accent6>
          <a:srgbClr val="008A8A"/>
        </a:accent6>
        <a:hlink>
          <a:srgbClr val="3366CC"/>
        </a:hlink>
        <a:folHlink>
          <a:srgbClr val="9094B8"/>
        </a:folHlink>
      </a:clrScheme>
      <a:clrMap bg1="lt1" tx1="dk1" bg2="lt2" tx2="dk2" accent1="accent1" accent2="accent2" accent3="accent3" accent4="accent4" accent5="accent5" accent6="accent6" hlink="hlink" folHlink="folHlink"/>
    </a:extraClrScheme>
    <a:extraClrScheme>
      <a:clrScheme name="Presentation 3">
        <a:dk1>
          <a:srgbClr val="000000"/>
        </a:dk1>
        <a:lt1>
          <a:srgbClr val="FFFFFF"/>
        </a:lt1>
        <a:dk2>
          <a:srgbClr val="CD0505"/>
        </a:dk2>
        <a:lt2>
          <a:srgbClr val="5F5F5F"/>
        </a:lt2>
        <a:accent1>
          <a:srgbClr val="D2D5DE"/>
        </a:accent1>
        <a:accent2>
          <a:srgbClr val="D55757"/>
        </a:accent2>
        <a:accent3>
          <a:srgbClr val="FFFFFF"/>
        </a:accent3>
        <a:accent4>
          <a:srgbClr val="000000"/>
        </a:accent4>
        <a:accent5>
          <a:srgbClr val="E5E7EC"/>
        </a:accent5>
        <a:accent6>
          <a:srgbClr val="C14E4E"/>
        </a:accent6>
        <a:hlink>
          <a:srgbClr val="F42D1E"/>
        </a:hlink>
        <a:folHlink>
          <a:srgbClr val="7C849E"/>
        </a:folHlink>
      </a:clrScheme>
      <a:clrMap bg1="lt1" tx1="dk1" bg2="lt2" tx2="dk2" accent1="accent1" accent2="accent2" accent3="accent3" accent4="accent4" accent5="accent5" accent6="accent6" hlink="hlink" folHlink="folHlink"/>
    </a:extraClrScheme>
    <a:extraClrScheme>
      <a:clrScheme name="Presentation 4">
        <a:dk1>
          <a:srgbClr val="000000"/>
        </a:dk1>
        <a:lt1>
          <a:srgbClr val="FFFFFF"/>
        </a:lt1>
        <a:dk2>
          <a:srgbClr val="551A07"/>
        </a:dk2>
        <a:lt2>
          <a:srgbClr val="CC3300"/>
        </a:lt2>
        <a:accent1>
          <a:srgbClr val="F4B400"/>
        </a:accent1>
        <a:accent2>
          <a:srgbClr val="993300"/>
        </a:accent2>
        <a:accent3>
          <a:srgbClr val="FFFFFF"/>
        </a:accent3>
        <a:accent4>
          <a:srgbClr val="000000"/>
        </a:accent4>
        <a:accent5>
          <a:srgbClr val="F8D6AA"/>
        </a:accent5>
        <a:accent6>
          <a:srgbClr val="8A2D00"/>
        </a:accent6>
        <a:hlink>
          <a:srgbClr val="FF3300"/>
        </a:hlink>
        <a:folHlink>
          <a:srgbClr val="666699"/>
        </a:folHlink>
      </a:clrScheme>
      <a:clrMap bg1="lt1" tx1="dk1" bg2="lt2" tx2="dk2" accent1="accent1" accent2="accent2" accent3="accent3" accent4="accent4" accent5="accent5" accent6="accent6" hlink="hlink" folHlink="folHlink"/>
    </a:extraClrScheme>
    <a:extraClrScheme>
      <a:clrScheme name="Presentation 5">
        <a:dk1>
          <a:srgbClr val="000000"/>
        </a:dk1>
        <a:lt1>
          <a:srgbClr val="FFFFFF"/>
        </a:lt1>
        <a:dk2>
          <a:srgbClr val="FF0000"/>
        </a:dk2>
        <a:lt2>
          <a:srgbClr val="FFCC00"/>
        </a:lt2>
        <a:accent1>
          <a:srgbClr val="66CCFF"/>
        </a:accent1>
        <a:accent2>
          <a:srgbClr val="009900"/>
        </a:accent2>
        <a:accent3>
          <a:srgbClr val="FFFFFF"/>
        </a:accent3>
        <a:accent4>
          <a:srgbClr val="000000"/>
        </a:accent4>
        <a:accent5>
          <a:srgbClr val="B8E2FF"/>
        </a:accent5>
        <a:accent6>
          <a:srgbClr val="008A00"/>
        </a:accent6>
        <a:hlink>
          <a:srgbClr val="FF3300"/>
        </a:hlink>
        <a:folHlink>
          <a:srgbClr val="6600FF"/>
        </a:folHlink>
      </a:clrScheme>
      <a:clrMap bg1="lt1" tx1="dk1" bg2="lt2" tx2="dk2" accent1="accent1" accent2="accent2" accent3="accent3" accent4="accent4" accent5="accent5" accent6="accent6" hlink="hlink" folHlink="folHlink"/>
    </a:extraClrScheme>
    <a:extraClrScheme>
      <a:clrScheme name="Presentation 6">
        <a:dk1>
          <a:srgbClr val="666633"/>
        </a:dk1>
        <a:lt1>
          <a:srgbClr val="FFFFFF"/>
        </a:lt1>
        <a:dk2>
          <a:srgbClr val="000000"/>
        </a:dk2>
        <a:lt2>
          <a:srgbClr val="CC3300"/>
        </a:lt2>
        <a:accent1>
          <a:srgbClr val="808000"/>
        </a:accent1>
        <a:accent2>
          <a:srgbClr val="FF9900"/>
        </a:accent2>
        <a:accent3>
          <a:srgbClr val="AAAAAA"/>
        </a:accent3>
        <a:accent4>
          <a:srgbClr val="DADADA"/>
        </a:accent4>
        <a:accent5>
          <a:srgbClr val="C0C0AA"/>
        </a:accent5>
        <a:accent6>
          <a:srgbClr val="E78A00"/>
        </a:accent6>
        <a:hlink>
          <a:srgbClr val="CC6600"/>
        </a:hlink>
        <a:folHlink>
          <a:srgbClr val="434B1F"/>
        </a:folHlink>
      </a:clrScheme>
      <a:clrMap bg1="dk2" tx1="lt1" bg2="dk1" tx2="lt2" accent1="accent1" accent2="accent2" accent3="accent3" accent4="accent4" accent5="accent5" accent6="accent6" hlink="hlink" folHlink="folHlink"/>
    </a:extraClrScheme>
    <a:extraClrScheme>
      <a:clrScheme name="Presentation 7">
        <a:dk1>
          <a:srgbClr val="766997"/>
        </a:dk1>
        <a:lt1>
          <a:srgbClr val="FFFFFF"/>
        </a:lt1>
        <a:dk2>
          <a:srgbClr val="530901"/>
        </a:dk2>
        <a:lt2>
          <a:srgbClr val="FFFFFF"/>
        </a:lt2>
        <a:accent1>
          <a:srgbClr val="FF3300"/>
        </a:accent1>
        <a:accent2>
          <a:srgbClr val="CC6600"/>
        </a:accent2>
        <a:accent3>
          <a:srgbClr val="B3AAAA"/>
        </a:accent3>
        <a:accent4>
          <a:srgbClr val="DADADA"/>
        </a:accent4>
        <a:accent5>
          <a:srgbClr val="FFADAA"/>
        </a:accent5>
        <a:accent6>
          <a:srgbClr val="B95C00"/>
        </a:accent6>
        <a:hlink>
          <a:srgbClr val="FF9900"/>
        </a:hlink>
        <a:folHlink>
          <a:srgbClr val="993300"/>
        </a:folHlink>
      </a:clrScheme>
      <a:clrMap bg1="dk2" tx1="lt1" bg2="dk1" tx2="lt2" accent1="accent1" accent2="accent2" accent3="accent3" accent4="accent4" accent5="accent5" accent6="accent6" hlink="hlink" folHlink="folHlink"/>
    </a:extraClrScheme>
    <a:extraClrScheme>
      <a:clrScheme name="Presentation 8">
        <a:dk1>
          <a:srgbClr val="666699"/>
        </a:dk1>
        <a:lt1>
          <a:srgbClr val="FFFFFF"/>
        </a:lt1>
        <a:dk2>
          <a:srgbClr val="4C004C"/>
        </a:dk2>
        <a:lt2>
          <a:srgbClr val="FFFFFF"/>
        </a:lt2>
        <a:accent1>
          <a:srgbClr val="0099CC"/>
        </a:accent1>
        <a:accent2>
          <a:srgbClr val="993366"/>
        </a:accent2>
        <a:accent3>
          <a:srgbClr val="B2AAB2"/>
        </a:accent3>
        <a:accent4>
          <a:srgbClr val="DADADA"/>
        </a:accent4>
        <a:accent5>
          <a:srgbClr val="AACAE2"/>
        </a:accent5>
        <a:accent6>
          <a:srgbClr val="8A2D5C"/>
        </a:accent6>
        <a:hlink>
          <a:srgbClr val="99CC00"/>
        </a:hlink>
        <a:folHlink>
          <a:srgbClr val="006699"/>
        </a:folHlink>
      </a:clrScheme>
      <a:clrMap bg1="dk2" tx1="lt1" bg2="dk1" tx2="lt2" accent1="accent1" accent2="accent2" accent3="accent3" accent4="accent4" accent5="accent5" accent6="accent6" hlink="hlink" folHlink="folHlink"/>
    </a:extraClrScheme>
    <a:extraClrScheme>
      <a:clrScheme name="Presentation 9">
        <a:dk1>
          <a:srgbClr val="565682"/>
        </a:dk1>
        <a:lt1>
          <a:srgbClr val="FFFFFF"/>
        </a:lt1>
        <a:dk2>
          <a:srgbClr val="1E1551"/>
        </a:dk2>
        <a:lt2>
          <a:srgbClr val="CCFFFF"/>
        </a:lt2>
        <a:accent1>
          <a:srgbClr val="33CCCC"/>
        </a:accent1>
        <a:accent2>
          <a:srgbClr val="009999"/>
        </a:accent2>
        <a:accent3>
          <a:srgbClr val="ABAAB3"/>
        </a:accent3>
        <a:accent4>
          <a:srgbClr val="DADADA"/>
        </a:accent4>
        <a:accent5>
          <a:srgbClr val="ADE2E2"/>
        </a:accent5>
        <a:accent6>
          <a:srgbClr val="008A8A"/>
        </a:accent6>
        <a:hlink>
          <a:srgbClr val="FF9900"/>
        </a:hlink>
        <a:folHlink>
          <a:srgbClr val="005986"/>
        </a:folHlink>
      </a:clrScheme>
      <a:clrMap bg1="dk2" tx1="lt1" bg2="dk1" tx2="lt2" accent1="accent1" accent2="accent2" accent3="accent3" accent4="accent4" accent5="accent5" accent6="accent6" hlink="hlink" folHlink="folHlink"/>
    </a:extraClrScheme>
    <a:extraClrScheme>
      <a:clrScheme name="Presentation 10">
        <a:dk1>
          <a:srgbClr val="CCCC99"/>
        </a:dk1>
        <a:lt1>
          <a:srgbClr val="FFFFFF"/>
        </a:lt1>
        <a:dk2>
          <a:srgbClr val="2E5D5C"/>
        </a:dk2>
        <a:lt2>
          <a:srgbClr val="FFFFFF"/>
        </a:lt2>
        <a:accent1>
          <a:srgbClr val="0099CC"/>
        </a:accent1>
        <a:accent2>
          <a:srgbClr val="D6E0E0"/>
        </a:accent2>
        <a:accent3>
          <a:srgbClr val="ADB6B5"/>
        </a:accent3>
        <a:accent4>
          <a:srgbClr val="DADADA"/>
        </a:accent4>
        <a:accent5>
          <a:srgbClr val="AACAE2"/>
        </a:accent5>
        <a:accent6>
          <a:srgbClr val="C2CBCB"/>
        </a:accent6>
        <a:hlink>
          <a:srgbClr val="CCCC99"/>
        </a:hlink>
        <a:folHlink>
          <a:srgbClr val="428A8C"/>
        </a:folHlink>
      </a:clrScheme>
      <a:clrMap bg1="dk2" tx1="lt1" bg2="dk1" tx2="lt2" accent1="accent1" accent2="accent2" accent3="accent3" accent4="accent4" accent5="accent5" accent6="accent6" hlink="hlink" folHlink="folHlink"/>
    </a:extraClrScheme>
    <a:extraClrScheme>
      <a:clrScheme name="Presentation 11">
        <a:dk1>
          <a:srgbClr val="000000"/>
        </a:dk1>
        <a:lt1>
          <a:srgbClr val="FFFFFF"/>
        </a:lt1>
        <a:dk2>
          <a:srgbClr val="CC0066"/>
        </a:dk2>
        <a:lt2>
          <a:srgbClr val="CCCC99"/>
        </a:lt2>
        <a:accent1>
          <a:srgbClr val="97CDCC"/>
        </a:accent1>
        <a:accent2>
          <a:srgbClr val="D6E0E0"/>
        </a:accent2>
        <a:accent3>
          <a:srgbClr val="FFFFFF"/>
        </a:accent3>
        <a:accent4>
          <a:srgbClr val="000000"/>
        </a:accent4>
        <a:accent5>
          <a:srgbClr val="C9E3E2"/>
        </a:accent5>
        <a:accent6>
          <a:srgbClr val="C2CBCB"/>
        </a:accent6>
        <a:hlink>
          <a:srgbClr val="99CC00"/>
        </a:hlink>
        <a:folHlink>
          <a:srgbClr val="336666"/>
        </a:folHlink>
      </a:clrScheme>
      <a:clrMap bg1="lt1" tx1="dk1" bg2="lt2" tx2="dk2" accent1="accent1" accent2="accent2" accent3="accent3" accent4="accent4" accent5="accent5" accent6="accent6" hlink="hlink" folHlink="folHlink"/>
    </a:extraClrScheme>
    <a:extraClrScheme>
      <a:clrScheme name="Presentation 12">
        <a:dk1>
          <a:srgbClr val="000000"/>
        </a:dk1>
        <a:lt1>
          <a:srgbClr val="FFFFFF"/>
        </a:lt1>
        <a:dk2>
          <a:srgbClr val="CC0066"/>
        </a:dk2>
        <a:lt2>
          <a:srgbClr val="BFB5B3"/>
        </a:lt2>
        <a:accent1>
          <a:srgbClr val="97CDCC"/>
        </a:accent1>
        <a:accent2>
          <a:srgbClr val="D6E0E0"/>
        </a:accent2>
        <a:accent3>
          <a:srgbClr val="FFFFFF"/>
        </a:accent3>
        <a:accent4>
          <a:srgbClr val="000000"/>
        </a:accent4>
        <a:accent5>
          <a:srgbClr val="C9E3E2"/>
        </a:accent5>
        <a:accent6>
          <a:srgbClr val="C2CBCB"/>
        </a:accent6>
        <a:hlink>
          <a:srgbClr val="99CC00"/>
        </a:hlink>
        <a:folHlink>
          <a:srgbClr val="336666"/>
        </a:folHlink>
      </a:clrScheme>
      <a:clrMap bg1="lt1" tx1="dk1" bg2="lt2" tx2="dk2" accent1="accent1" accent2="accent2" accent3="accent3" accent4="accent4" accent5="accent5" accent6="accent6" hlink="hlink" folHlink="folHlink"/>
    </a:extraClrScheme>
    <a:extraClrScheme>
      <a:clrScheme name="Presentation 13">
        <a:dk1>
          <a:srgbClr val="000000"/>
        </a:dk1>
        <a:lt1>
          <a:srgbClr val="FFFFFF"/>
        </a:lt1>
        <a:dk2>
          <a:srgbClr val="CC0066"/>
        </a:dk2>
        <a:lt2>
          <a:srgbClr val="BFB5B3"/>
        </a:lt2>
        <a:accent1>
          <a:srgbClr val="97CDCC"/>
        </a:accent1>
        <a:accent2>
          <a:srgbClr val="D6E0E0"/>
        </a:accent2>
        <a:accent3>
          <a:srgbClr val="FFFFFF"/>
        </a:accent3>
        <a:accent4>
          <a:srgbClr val="000000"/>
        </a:accent4>
        <a:accent5>
          <a:srgbClr val="C9E3E2"/>
        </a:accent5>
        <a:accent6>
          <a:srgbClr val="C2CBCB"/>
        </a:accent6>
        <a:hlink>
          <a:srgbClr val="BED649"/>
        </a:hlink>
        <a:folHlink>
          <a:srgbClr val="8EA325"/>
        </a:folHlink>
      </a:clrScheme>
      <a:clrMap bg1="lt1" tx1="dk1" bg2="lt2" tx2="dk2" accent1="accent1" accent2="accent2" accent3="accent3" accent4="accent4" accent5="accent5" accent6="accent6" hlink="hlink" folHlink="folHlink"/>
    </a:extraClrScheme>
    <a:extraClrScheme>
      <a:clrScheme name="Presentation 14">
        <a:dk1>
          <a:srgbClr val="000000"/>
        </a:dk1>
        <a:lt1>
          <a:srgbClr val="FFFFFF"/>
        </a:lt1>
        <a:dk2>
          <a:srgbClr val="CC0066"/>
        </a:dk2>
        <a:lt2>
          <a:srgbClr val="BFB5B3"/>
        </a:lt2>
        <a:accent1>
          <a:srgbClr val="BED649"/>
        </a:accent1>
        <a:accent2>
          <a:srgbClr val="FF3300"/>
        </a:accent2>
        <a:accent3>
          <a:srgbClr val="FFFFFF"/>
        </a:accent3>
        <a:accent4>
          <a:srgbClr val="000000"/>
        </a:accent4>
        <a:accent5>
          <a:srgbClr val="DBE8B1"/>
        </a:accent5>
        <a:accent6>
          <a:srgbClr val="E72D00"/>
        </a:accent6>
        <a:hlink>
          <a:srgbClr val="CC0066"/>
        </a:hlink>
        <a:folHlink>
          <a:srgbClr val="FF9900"/>
        </a:folHlink>
      </a:clrScheme>
      <a:clrMap bg1="lt1" tx1="dk1" bg2="lt2" tx2="dk2" accent1="accent1" accent2="accent2" accent3="accent3" accent4="accent4" accent5="accent5" accent6="accent6" hlink="hlink" folHlink="folHlink"/>
    </a:extraClrScheme>
    <a:extraClrScheme>
      <a:clrScheme name="Presentation 15">
        <a:dk1>
          <a:srgbClr val="000000"/>
        </a:dk1>
        <a:lt1>
          <a:srgbClr val="FFFFFF"/>
        </a:lt1>
        <a:dk2>
          <a:srgbClr val="D40056"/>
        </a:dk2>
        <a:lt2>
          <a:srgbClr val="BFB5B3"/>
        </a:lt2>
        <a:accent1>
          <a:srgbClr val="BED649"/>
        </a:accent1>
        <a:accent2>
          <a:srgbClr val="FF3300"/>
        </a:accent2>
        <a:accent3>
          <a:srgbClr val="FFFFFF"/>
        </a:accent3>
        <a:accent4>
          <a:srgbClr val="000000"/>
        </a:accent4>
        <a:accent5>
          <a:srgbClr val="DBE8B1"/>
        </a:accent5>
        <a:accent6>
          <a:srgbClr val="E72D00"/>
        </a:accent6>
        <a:hlink>
          <a:srgbClr val="C81E73"/>
        </a:hlink>
        <a:folHlink>
          <a:srgbClr val="FF9900"/>
        </a:folHlink>
      </a:clrScheme>
      <a:clrMap bg1="lt1" tx1="dk1" bg2="lt2" tx2="dk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Office Theme">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Theme_UGent</Template>
  <TotalTime>77231</TotalTime>
  <Words>4130</Words>
  <Application>Microsoft Macintosh PowerPoint</Application>
  <PresentationFormat>Widescreen</PresentationFormat>
  <Paragraphs>641</Paragraphs>
  <Slides>45</Slides>
  <Notes>32</Notes>
  <HiddenSlides>5</HiddenSlides>
  <MMClips>0</MMClips>
  <ScaleCrop>false</ScaleCrop>
  <HeadingPairs>
    <vt:vector size="6" baseType="variant">
      <vt:variant>
        <vt:lpstr>Fonts Used</vt:lpstr>
      </vt:variant>
      <vt:variant>
        <vt:i4>11</vt:i4>
      </vt:variant>
      <vt:variant>
        <vt:lpstr>Theme</vt:lpstr>
      </vt:variant>
      <vt:variant>
        <vt:i4>1</vt:i4>
      </vt:variant>
      <vt:variant>
        <vt:lpstr>Slide Titles</vt:lpstr>
      </vt:variant>
      <vt:variant>
        <vt:i4>45</vt:i4>
      </vt:variant>
    </vt:vector>
  </HeadingPairs>
  <TitlesOfParts>
    <vt:vector size="57" baseType="lpstr">
      <vt:lpstr>Arial</vt:lpstr>
      <vt:lpstr>Cabin</vt:lpstr>
      <vt:lpstr>Calibri</vt:lpstr>
      <vt:lpstr>Caveat</vt:lpstr>
      <vt:lpstr>Gill Sans MT</vt:lpstr>
      <vt:lpstr>Gill Sans MT Medium</vt:lpstr>
      <vt:lpstr>Google Sans</vt:lpstr>
      <vt:lpstr>Myriad Pro</vt:lpstr>
      <vt:lpstr>Times New Roman</vt:lpstr>
      <vt:lpstr>UGent Panno Text</vt:lpstr>
      <vt:lpstr>Wingdings</vt:lpstr>
      <vt:lpstr>Presentation</vt:lpstr>
      <vt:lpstr>AI for Energy: Data-efficient and explainable algorithms to exploit energy flexibility</vt:lpstr>
      <vt:lpstr>Energy Transition</vt:lpstr>
      <vt:lpstr>AI4E: VISION</vt:lpstr>
      <vt:lpstr>AI4E: FIT-FOR-PURPOSE &amp; HOLISTIC SOLUTIONS</vt:lpstr>
      <vt:lpstr>AI4E Research Tracks</vt:lpstr>
      <vt:lpstr>Data-efficient learning to control:  Physics-informed RL for residential heat pumps</vt:lpstr>
      <vt:lpstr>Reinforcement Learning: Heat pump control</vt:lpstr>
      <vt:lpstr>Reinforcement Learning: Agent acts in an environment</vt:lpstr>
      <vt:lpstr>Reinforcement Learning: Agent acts in an environment</vt:lpstr>
      <vt:lpstr>PhysQ: A physics-informed reinforcement learning framework</vt:lpstr>
      <vt:lpstr>PhysQ: A physics-informed reinforcement learning framework</vt:lpstr>
      <vt:lpstr>Simulation results</vt:lpstr>
      <vt:lpstr>Simulation results</vt:lpstr>
      <vt:lpstr>Interpretable decision trees distilled from black-box RL policies</vt:lpstr>
      <vt:lpstr>Black-box Reinforcement Learning</vt:lpstr>
      <vt:lpstr>Black-box Reinforcement Learning</vt:lpstr>
      <vt:lpstr>Enhancing explainability: Differentiable Decision Trees</vt:lpstr>
      <vt:lpstr>Sample result: Home battery control under time-varying pricing</vt:lpstr>
      <vt:lpstr>Sample result: Heat-pump control </vt:lpstr>
      <vt:lpstr>Scalable Attention-based RL for Multi-asset Control</vt:lpstr>
      <vt:lpstr>Controlling EV charging</vt:lpstr>
      <vt:lpstr>Step 1: Charging session characterization</vt:lpstr>
      <vt:lpstr>Step 2: Scalable RL controller</vt:lpstr>
      <vt:lpstr>Step 2: Attention-based state representations for scalable RL</vt:lpstr>
      <vt:lpstr>Simulation Results</vt:lpstr>
      <vt:lpstr>Simulation Results</vt:lpstr>
      <vt:lpstr>Imbalance price prediction with Monte Carlo Tree Search (MCTS)</vt:lpstr>
      <vt:lpstr>Maintaining System Balance</vt:lpstr>
      <vt:lpstr>Imbalance Price Publication</vt:lpstr>
      <vt:lpstr>MCTS Based Imbalance Price Forecasting</vt:lpstr>
      <vt:lpstr>Results: Price prediction within the quarter</vt:lpstr>
      <vt:lpstr>Results: Overall error distributions</vt:lpstr>
      <vt:lpstr>A real-world testbed environment:  HomeLabGym</vt:lpstr>
      <vt:lpstr>PowerPoint Presentation</vt:lpstr>
      <vt:lpstr>PowerPoint Presentation</vt:lpstr>
      <vt:lpstr>HomeLabGym</vt:lpstr>
      <vt:lpstr>HomeLabGym</vt:lpstr>
      <vt:lpstr>HomeLabGym</vt:lpstr>
      <vt:lpstr>HomeLabGym</vt:lpstr>
      <vt:lpstr>HomeLabGym</vt:lpstr>
      <vt:lpstr>Example use case for HomeLabGym: Validation of RL for energy arbitrage</vt:lpstr>
      <vt:lpstr>Thank you! Any questions?</vt:lpstr>
      <vt:lpstr>The AI4E team at IDLab, Ghent University – imec </vt:lpstr>
      <vt:lpstr>Simulation Setup</vt:lpstr>
      <vt:lpstr>MCTS based imbalance price forecasting</vt:lpstr>
    </vt:vector>
  </TitlesOfParts>
  <Company>INTEC-UGENT</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IBBT-UGent template simple</dc:title>
  <dc:creator>Chris Develder</dc:creator>
  <cp:lastModifiedBy>Chris Develder (UGent-imec)</cp:lastModifiedBy>
  <cp:revision>1404</cp:revision>
  <cp:lastPrinted>2026-08-27T06:45:35Z</cp:lastPrinted>
  <dcterms:created xsi:type="dcterms:W3CDTF">2008-06-23T13:32:26Z</dcterms:created>
  <dcterms:modified xsi:type="dcterms:W3CDTF">2026-10-02T07:23:59Z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Version">
    <vt:i4>5</vt:i4>
  </property>
</Properties>
</file>